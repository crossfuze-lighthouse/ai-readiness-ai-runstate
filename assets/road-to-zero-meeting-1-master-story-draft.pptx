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5114" r:id="rId1"/>
    <p:sldMasterId id="2147485256" r:id="rId2"/>
  </p:sldMasterIdLst>
  <p:notesMasterIdLst>
    <p:notesMasterId r:id="rId53"/>
  </p:notesMasterIdLst>
  <p:handoutMasterIdLst>
    <p:handoutMasterId r:id="rId54"/>
  </p:handoutMasterIdLst>
  <p:sldIdLst>
    <p:sldId id="2147483645" r:id="rId3"/>
    <p:sldId id="281" r:id="rId4"/>
    <p:sldId id="269" r:id="rId5"/>
    <p:sldId id="268" r:id="rId6"/>
    <p:sldId id="398" r:id="rId7"/>
    <p:sldId id="397" r:id="rId8"/>
    <p:sldId id="284" r:id="rId9"/>
    <p:sldId id="2147483647" r:id="rId10"/>
    <p:sldId id="267" r:id="rId11"/>
    <p:sldId id="409" r:id="rId12"/>
    <p:sldId id="298" r:id="rId13"/>
    <p:sldId id="2147483644" r:id="rId14"/>
    <p:sldId id="265" r:id="rId15"/>
    <p:sldId id="278" r:id="rId16"/>
    <p:sldId id="313" r:id="rId17"/>
    <p:sldId id="261" r:id="rId18"/>
    <p:sldId id="260" r:id="rId19"/>
    <p:sldId id="258" r:id="rId20"/>
    <p:sldId id="257" r:id="rId21"/>
    <p:sldId id="315" r:id="rId22"/>
    <p:sldId id="279" r:id="rId23"/>
    <p:sldId id="283" r:id="rId24"/>
    <p:sldId id="271" r:id="rId25"/>
    <p:sldId id="272" r:id="rId26"/>
    <p:sldId id="277" r:id="rId27"/>
    <p:sldId id="270" r:id="rId28"/>
    <p:sldId id="275" r:id="rId29"/>
    <p:sldId id="294" r:id="rId30"/>
    <p:sldId id="295" r:id="rId31"/>
    <p:sldId id="296" r:id="rId32"/>
    <p:sldId id="292" r:id="rId33"/>
    <p:sldId id="262" r:id="rId34"/>
    <p:sldId id="384" r:id="rId35"/>
    <p:sldId id="289" r:id="rId36"/>
    <p:sldId id="259" r:id="rId37"/>
    <p:sldId id="290" r:id="rId38"/>
    <p:sldId id="291" r:id="rId39"/>
    <p:sldId id="263" r:id="rId40"/>
    <p:sldId id="2147483607" r:id="rId41"/>
    <p:sldId id="285" r:id="rId42"/>
    <p:sldId id="282" r:id="rId43"/>
    <p:sldId id="273" r:id="rId44"/>
    <p:sldId id="264" r:id="rId45"/>
    <p:sldId id="280" r:id="rId46"/>
    <p:sldId id="286" r:id="rId47"/>
    <p:sldId id="288" r:id="rId48"/>
    <p:sldId id="287" r:id="rId49"/>
    <p:sldId id="266" r:id="rId50"/>
    <p:sldId id="256" r:id="rId51"/>
    <p:sldId id="276" r:id="rId52"/>
  </p:sldIdLst>
  <p:sldSz cx="12188825" cy="6858000"/>
  <p:notesSz cx="7010400" cy="9236075"/>
  <p:defaultTex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 Industry" id="{5FF8E679-32DA-414F-86F3-36D52067895D}">
          <p14:sldIdLst>
            <p14:sldId id="2147483645"/>
          </p14:sldIdLst>
        </p14:section>
        <p14:section name="Default Section" id="{B516BF6C-ADF4-EC43-B25E-26145F0E7EBF}">
          <p14:sldIdLst>
            <p14:sldId id="281"/>
            <p14:sldId id="269"/>
            <p14:sldId id="268"/>
            <p14:sldId id="398"/>
            <p14:sldId id="397"/>
            <p14:sldId id="284"/>
            <p14:sldId id="2147483647"/>
            <p14:sldId id="267"/>
            <p14:sldId id="409"/>
            <p14:sldId id="298"/>
            <p14:sldId id="2147483644"/>
            <p14:sldId id="265"/>
            <p14:sldId id="278"/>
            <p14:sldId id="313"/>
            <p14:sldId id="261"/>
            <p14:sldId id="260"/>
            <p14:sldId id="258"/>
            <p14:sldId id="257"/>
            <p14:sldId id="315"/>
            <p14:sldId id="279"/>
            <p14:sldId id="283"/>
            <p14:sldId id="271"/>
            <p14:sldId id="272"/>
            <p14:sldId id="277"/>
            <p14:sldId id="270"/>
            <p14:sldId id="275"/>
            <p14:sldId id="294"/>
            <p14:sldId id="295"/>
            <p14:sldId id="296"/>
            <p14:sldId id="292"/>
            <p14:sldId id="262"/>
            <p14:sldId id="384"/>
            <p14:sldId id="289"/>
            <p14:sldId id="259"/>
            <p14:sldId id="290"/>
            <p14:sldId id="291"/>
            <p14:sldId id="263"/>
            <p14:sldId id="2147483607"/>
            <p14:sldId id="285"/>
            <p14:sldId id="282"/>
            <p14:sldId id="273"/>
            <p14:sldId id="264"/>
            <p14:sldId id="280"/>
            <p14:sldId id="286"/>
            <p14:sldId id="288"/>
            <p14:sldId id="287"/>
            <p14:sldId id="266"/>
            <p14:sldId id="256"/>
          </p14:sldIdLst>
        </p14:section>
        <p14:section name="Appendix - Platform" id="{9BB54A59-449B-464D-A4BD-295335E862D5}">
          <p14:sldIdLst>
            <p14:sldId id="27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29" userDrawn="1">
          <p15:clr>
            <a:srgbClr val="A4A3A4"/>
          </p15:clr>
        </p15:guide>
        <p15:guide id="2" pos="26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FFDB"/>
    <a:srgbClr val="6CE7EF"/>
    <a:srgbClr val="1F4F73"/>
    <a:srgbClr val="F5BB64"/>
    <a:srgbClr val="ED4B69"/>
    <a:srgbClr val="B895F5"/>
    <a:srgbClr val="D8F1F7"/>
    <a:srgbClr val="8FFFDB"/>
    <a:srgbClr val="286A9C"/>
    <a:srgbClr val="286A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3"/>
    <p:restoredTop sz="82805"/>
  </p:normalViewPr>
  <p:slideViewPr>
    <p:cSldViewPr snapToGrid="0">
      <p:cViewPr varScale="1">
        <p:scale>
          <a:sx n="94" d="100"/>
          <a:sy n="94" d="100"/>
        </p:scale>
        <p:origin x="1288" y="18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429"/>
        <p:guide pos="26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125770"/>
            <a:ext cx="3037840" cy="461804"/>
          </a:xfrm>
          <a:prstGeom prst="rect">
            <a:avLst/>
          </a:prstGeom>
        </p:spPr>
        <p:txBody>
          <a:bodyPr vert="horz" lIns="93387" tIns="46695" rIns="93387" bIns="46695" rtlCol="0"/>
          <a:lstStyle>
            <a:lvl1pPr algn="l">
              <a:defRPr sz="1200"/>
            </a:lvl1pPr>
          </a:lstStyle>
          <a:p>
            <a:endParaRPr lang="en-US" b="1">
              <a:latin typeface="Source Sans 3" panose="020B0504040101010104" pitchFamily="34" charset="0"/>
            </a:endParaRPr>
          </a:p>
        </p:txBody>
      </p:sp>
      <p:sp>
        <p:nvSpPr>
          <p:cNvPr id="3" name="Date Placeholder 2"/>
          <p:cNvSpPr>
            <a:spLocks noGrp="1"/>
          </p:cNvSpPr>
          <p:nvPr>
            <p:ph type="dt" sz="quarter" idx="1"/>
          </p:nvPr>
        </p:nvSpPr>
        <p:spPr>
          <a:xfrm>
            <a:off x="3970942" y="125770"/>
            <a:ext cx="3037840" cy="461804"/>
          </a:xfrm>
          <a:prstGeom prst="rect">
            <a:avLst/>
          </a:prstGeom>
        </p:spPr>
        <p:txBody>
          <a:bodyPr vert="horz" lIns="93387" tIns="46695" rIns="93387" bIns="46695" rtlCol="0"/>
          <a:lstStyle>
            <a:lvl1pPr algn="r">
              <a:defRPr sz="1200"/>
            </a:lvl1pPr>
          </a:lstStyle>
          <a:p>
            <a:fld id="{E17B2DBE-960A-614B-B965-BE0EA04CC77A}" type="datetimeFigureOut">
              <a:rPr lang="en-US" b="1" smtClean="0">
                <a:latin typeface="Source Sans 3" panose="020B0504040101010104" pitchFamily="34" charset="0"/>
              </a:rPr>
              <a:pPr/>
              <a:t>10/14/26</a:t>
            </a:fld>
            <a:endParaRPr lang="en-US" b="1">
              <a:latin typeface="Source Sans 3" panose="020B0504040101010104" pitchFamily="34" charset="0"/>
            </a:endParaRPr>
          </a:p>
        </p:txBody>
      </p:sp>
      <p:sp>
        <p:nvSpPr>
          <p:cNvPr id="4" name="Footer Placeholder 3"/>
          <p:cNvSpPr>
            <a:spLocks noGrp="1"/>
          </p:cNvSpPr>
          <p:nvPr>
            <p:ph type="ftr" sz="quarter" idx="2"/>
          </p:nvPr>
        </p:nvSpPr>
        <p:spPr>
          <a:xfrm>
            <a:off x="3" y="8701316"/>
            <a:ext cx="3037840" cy="461804"/>
          </a:xfrm>
          <a:prstGeom prst="rect">
            <a:avLst/>
          </a:prstGeom>
        </p:spPr>
        <p:txBody>
          <a:bodyPr vert="horz" lIns="93387" tIns="46695" rIns="93387" bIns="46695" rtlCol="0" anchor="b"/>
          <a:lstStyle>
            <a:lvl1pPr algn="l">
              <a:defRPr sz="1200"/>
            </a:lvl1pPr>
          </a:lstStyle>
          <a:p>
            <a:endParaRPr lang="en-US" b="1">
              <a:latin typeface="Source Sans 3" panose="020B0504040101010104" pitchFamily="34" charset="0"/>
            </a:endParaRPr>
          </a:p>
        </p:txBody>
      </p:sp>
      <p:sp>
        <p:nvSpPr>
          <p:cNvPr id="5" name="Slide Number Placeholder 4"/>
          <p:cNvSpPr>
            <a:spLocks noGrp="1"/>
          </p:cNvSpPr>
          <p:nvPr>
            <p:ph type="sldNum" sz="quarter" idx="3"/>
          </p:nvPr>
        </p:nvSpPr>
        <p:spPr>
          <a:xfrm>
            <a:off x="3970942" y="8701316"/>
            <a:ext cx="3037840" cy="461804"/>
          </a:xfrm>
          <a:prstGeom prst="rect">
            <a:avLst/>
          </a:prstGeom>
        </p:spPr>
        <p:txBody>
          <a:bodyPr vert="horz" lIns="93387" tIns="46695" rIns="93387" bIns="46695" rtlCol="0" anchor="b"/>
          <a:lstStyle>
            <a:lvl1pPr algn="r">
              <a:defRPr sz="1200"/>
            </a:lvl1pPr>
          </a:lstStyle>
          <a:p>
            <a:fld id="{1339C423-F22A-3B4E-A9CE-1A814546B4AA}" type="slidenum">
              <a:rPr lang="en-US" b="1" smtClean="0">
                <a:latin typeface="Source Sans 3" panose="020B0504040101010104" pitchFamily="34" charset="0"/>
              </a:rPr>
              <a:pPr/>
              <a:t>‹#›</a:t>
            </a:fld>
            <a:endParaRPr lang="en-US" b="1">
              <a:latin typeface="Source Sans 3" panose="020B0504040101010104" pitchFamily="34" charset="0"/>
            </a:endParaRPr>
          </a:p>
        </p:txBody>
      </p:sp>
      <p:pic>
        <p:nvPicPr>
          <p:cNvPr id="35" name="Picture 34">
            <a:extLst>
              <a:ext uri="{FF2B5EF4-FFF2-40B4-BE49-F238E27FC236}">
                <a16:creationId xmlns:a16="http://schemas.microsoft.com/office/drawing/2014/main" id="{4A211A8A-C369-4D94-B82B-7F72C8DB38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799086" y="8816101"/>
            <a:ext cx="1372537" cy="394946"/>
          </a:xfrm>
          <a:prstGeom prst="rect">
            <a:avLst/>
          </a:prstGeom>
        </p:spPr>
      </p:pic>
    </p:spTree>
    <p:extLst>
      <p:ext uri="{BB962C8B-B14F-4D97-AF65-F5344CB8AC3E}">
        <p14:creationId xmlns:p14="http://schemas.microsoft.com/office/powerpoint/2010/main" val="201849686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909"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3037840" cy="461804"/>
          </a:xfrm>
          <a:prstGeom prst="rect">
            <a:avLst/>
          </a:prstGeom>
        </p:spPr>
        <p:txBody>
          <a:bodyPr vert="horz" lIns="93387" tIns="46695" rIns="93387" bIns="46695" rtlCol="0"/>
          <a:lstStyle>
            <a:lvl1pPr algn="l">
              <a:defRPr sz="1200" b="1" i="0">
                <a:solidFill>
                  <a:schemeClr val="bg1"/>
                </a:solidFill>
                <a:latin typeface="Source Sans 3" panose="020B0504040101010104" pitchFamily="34" charset="0"/>
              </a:defRPr>
            </a:lvl1pPr>
          </a:lstStyle>
          <a:p>
            <a:endParaRPr lang="en-US"/>
          </a:p>
        </p:txBody>
      </p:sp>
      <p:sp>
        <p:nvSpPr>
          <p:cNvPr id="3" name="Date Placeholder 2"/>
          <p:cNvSpPr>
            <a:spLocks noGrp="1"/>
          </p:cNvSpPr>
          <p:nvPr>
            <p:ph type="dt" idx="1"/>
          </p:nvPr>
        </p:nvSpPr>
        <p:spPr>
          <a:xfrm>
            <a:off x="3970942" y="0"/>
            <a:ext cx="3037840" cy="461804"/>
          </a:xfrm>
          <a:prstGeom prst="rect">
            <a:avLst/>
          </a:prstGeom>
        </p:spPr>
        <p:txBody>
          <a:bodyPr vert="horz" lIns="93387" tIns="46695" rIns="93387" bIns="46695" rtlCol="0"/>
          <a:lstStyle>
            <a:lvl1pPr algn="r">
              <a:defRPr sz="1200" b="1" i="0">
                <a:solidFill>
                  <a:schemeClr val="bg1"/>
                </a:solidFill>
                <a:latin typeface="Source Sans 3" panose="020B0504040101010104" pitchFamily="34" charset="0"/>
              </a:defRPr>
            </a:lvl1pPr>
          </a:lstStyle>
          <a:p>
            <a:fld id="{546148A2-A49E-4B44-80FB-1D231F249F30}" type="datetimeFigureOut">
              <a:rPr lang="en-US" smtClean="0"/>
              <a:pPr/>
              <a:t>10/14/26</a:t>
            </a:fld>
            <a:endParaRPr lang="en-US"/>
          </a:p>
        </p:txBody>
      </p:sp>
      <p:sp>
        <p:nvSpPr>
          <p:cNvPr id="4" name="Slide Image Placeholder 3"/>
          <p:cNvSpPr>
            <a:spLocks noGrp="1" noRot="1" noChangeAspect="1"/>
          </p:cNvSpPr>
          <p:nvPr>
            <p:ph type="sldImg" idx="2"/>
          </p:nvPr>
        </p:nvSpPr>
        <p:spPr>
          <a:xfrm>
            <a:off x="428625" y="692150"/>
            <a:ext cx="6153150" cy="3462338"/>
          </a:xfrm>
          <a:prstGeom prst="rect">
            <a:avLst/>
          </a:prstGeom>
          <a:noFill/>
          <a:ln w="12700">
            <a:solidFill>
              <a:prstClr val="black"/>
            </a:solidFill>
          </a:ln>
        </p:spPr>
        <p:txBody>
          <a:bodyPr vert="horz" lIns="93387" tIns="46695" rIns="93387" bIns="46695" rtlCol="0" anchor="ctr"/>
          <a:lstStyle/>
          <a:p>
            <a:endParaRPr lang="en-US"/>
          </a:p>
        </p:txBody>
      </p:sp>
      <p:sp>
        <p:nvSpPr>
          <p:cNvPr id="5" name="Notes Placeholder 4"/>
          <p:cNvSpPr>
            <a:spLocks noGrp="1"/>
          </p:cNvSpPr>
          <p:nvPr>
            <p:ph type="body" sz="quarter" idx="3"/>
          </p:nvPr>
        </p:nvSpPr>
        <p:spPr>
          <a:xfrm>
            <a:off x="438151" y="4387136"/>
            <a:ext cx="6134100" cy="4156234"/>
          </a:xfrm>
          <a:prstGeom prst="rect">
            <a:avLst/>
          </a:prstGeom>
        </p:spPr>
        <p:txBody>
          <a:bodyPr vert="horz" lIns="93387" tIns="46695" rIns="93387" bIns="46695" rtlCol="0"/>
          <a:lstStyle/>
          <a:p>
            <a:pPr lvl="0"/>
            <a:r>
              <a:rPr lang="en-US"/>
              <a:t>Click to edit Master text styles</a:t>
            </a:r>
          </a:p>
          <a:p>
            <a:pPr lvl="1"/>
            <a:r>
              <a:rPr lang="en-US"/>
              <a:t>Second level</a:t>
            </a:r>
          </a:p>
        </p:txBody>
      </p:sp>
      <p:sp>
        <p:nvSpPr>
          <p:cNvPr id="6" name="Footer Placeholder 5"/>
          <p:cNvSpPr>
            <a:spLocks noGrp="1"/>
          </p:cNvSpPr>
          <p:nvPr>
            <p:ph type="ftr" sz="quarter" idx="4"/>
          </p:nvPr>
        </p:nvSpPr>
        <p:spPr>
          <a:xfrm>
            <a:off x="3" y="8728227"/>
            <a:ext cx="3037840" cy="461804"/>
          </a:xfrm>
          <a:prstGeom prst="rect">
            <a:avLst/>
          </a:prstGeom>
        </p:spPr>
        <p:txBody>
          <a:bodyPr vert="horz" lIns="93387" tIns="46695" rIns="93387" bIns="46695" rtlCol="0" anchor="b"/>
          <a:lstStyle>
            <a:lvl1pPr algn="l">
              <a:defRPr sz="1200" b="1" i="0">
                <a:solidFill>
                  <a:schemeClr val="bg1"/>
                </a:solidFill>
                <a:latin typeface="Source Sans 3" panose="020B0504040101010104" pitchFamily="34" charset="0"/>
              </a:defRPr>
            </a:lvl1pPr>
          </a:lstStyle>
          <a:p>
            <a:endParaRPr lang="en-US"/>
          </a:p>
        </p:txBody>
      </p:sp>
      <p:sp>
        <p:nvSpPr>
          <p:cNvPr id="7" name="Slide Number Placeholder 6"/>
          <p:cNvSpPr>
            <a:spLocks noGrp="1"/>
          </p:cNvSpPr>
          <p:nvPr>
            <p:ph type="sldNum" sz="quarter" idx="5"/>
          </p:nvPr>
        </p:nvSpPr>
        <p:spPr>
          <a:xfrm>
            <a:off x="3970942" y="8728227"/>
            <a:ext cx="3037840" cy="461804"/>
          </a:xfrm>
          <a:prstGeom prst="rect">
            <a:avLst/>
          </a:prstGeom>
        </p:spPr>
        <p:txBody>
          <a:bodyPr vert="horz" lIns="93387" tIns="46695" rIns="93387" bIns="46695" rtlCol="0" anchor="b"/>
          <a:lstStyle>
            <a:lvl1pPr algn="r">
              <a:defRPr sz="1200" b="1" i="0">
                <a:solidFill>
                  <a:schemeClr val="bg1"/>
                </a:solidFill>
                <a:latin typeface="Source Sans 3" panose="020B0504040101010104" pitchFamily="34" charset="0"/>
              </a:defRPr>
            </a:lvl1pPr>
          </a:lstStyle>
          <a:p>
            <a:fld id="{074299CD-3469-7241-AD37-C0E01E3A61D2}" type="slidenum">
              <a:rPr lang="en-US" smtClean="0"/>
              <a:pPr/>
              <a:t>‹#›</a:t>
            </a:fld>
            <a:endParaRPr lang="en-US"/>
          </a:p>
        </p:txBody>
      </p:sp>
      <p:pic>
        <p:nvPicPr>
          <p:cNvPr id="35" name="Picture 34">
            <a:extLst>
              <a:ext uri="{FF2B5EF4-FFF2-40B4-BE49-F238E27FC236}">
                <a16:creationId xmlns:a16="http://schemas.microsoft.com/office/drawing/2014/main" id="{AF8886D2-769E-403B-933D-6CB77F4C4F92}"/>
              </a:ext>
            </a:extLst>
          </p:cNvPr>
          <p:cNvPicPr>
            <a:picLocks noChangeAspect="1"/>
          </p:cNvPicPr>
          <p:nvPr/>
        </p:nvPicPr>
        <p:blipFill>
          <a:blip r:embed="rId2"/>
          <a:stretch>
            <a:fillRect/>
          </a:stretch>
        </p:blipFill>
        <p:spPr>
          <a:xfrm>
            <a:off x="2799086" y="8816101"/>
            <a:ext cx="1372537" cy="394946"/>
          </a:xfrm>
          <a:prstGeom prst="rect">
            <a:avLst/>
          </a:prstGeom>
        </p:spPr>
      </p:pic>
    </p:spTree>
    <p:extLst>
      <p:ext uri="{BB962C8B-B14F-4D97-AF65-F5344CB8AC3E}">
        <p14:creationId xmlns:p14="http://schemas.microsoft.com/office/powerpoint/2010/main" val="22557597"/>
      </p:ext>
    </p:extLst>
  </p:cSld>
  <p:clrMap bg1="lt1" tx1="dk1" bg2="lt2" tx2="dk2" accent1="accent1" accent2="accent2" accent3="accent3" accent4="accent4" accent5="accent5" accent6="accent6" hlink="hlink" folHlink="folHlink"/>
  <p:hf hdr="0" ftr="0" dt="0"/>
  <p:notesStyle>
    <a:lvl1pPr marL="171450" indent="-171450" algn="l" defTabSz="457040" rtl="0" eaLnBrk="1" latinLnBrk="0" hangingPunct="1">
      <a:lnSpc>
        <a:spcPct val="95000"/>
      </a:lnSpc>
      <a:spcAft>
        <a:spcPts val="600"/>
      </a:spcAft>
      <a:buFont typeface="Source Sans 3" panose="020B0504040101010104" pitchFamily="34" charset="0"/>
      <a:buChar char="•"/>
      <a:defRPr sz="1200" b="0" i="0" kern="1200">
        <a:solidFill>
          <a:schemeClr val="bg1"/>
        </a:solidFill>
        <a:latin typeface="Source Sans 3" panose="020B0504040101010104" pitchFamily="34" charset="0"/>
        <a:ea typeface="+mn-ea"/>
        <a:cs typeface="Source Sans 3" panose="020B0504040101010104" pitchFamily="34" charset="0"/>
      </a:defRPr>
    </a:lvl1pPr>
    <a:lvl2pPr marL="398384" indent="-171450" algn="l" defTabSz="457040" rtl="0" eaLnBrk="1" latinLnBrk="0" hangingPunct="1">
      <a:lnSpc>
        <a:spcPct val="95000"/>
      </a:lnSpc>
      <a:spcAft>
        <a:spcPts val="600"/>
      </a:spcAft>
      <a:buFont typeface="Source Sans 3" panose="020B0504040101010104" pitchFamily="34" charset="0"/>
      <a:buChar char="•"/>
      <a:defRPr sz="1100" b="0" i="0" kern="1200">
        <a:solidFill>
          <a:schemeClr val="bg1"/>
        </a:solidFill>
        <a:latin typeface="Source Sans 3" panose="020B0504040101010104" pitchFamily="34" charset="0"/>
        <a:ea typeface="+mn-ea"/>
        <a:cs typeface="Source Sans 3" panose="020B0504040101010104" pitchFamily="34" charset="0"/>
      </a:defRPr>
    </a:lvl2pPr>
    <a:lvl3pPr marL="914080" algn="l" defTabSz="457040" rtl="0" eaLnBrk="1" latinLnBrk="0" hangingPunct="1">
      <a:defRPr sz="1200" kern="1200">
        <a:solidFill>
          <a:schemeClr val="tx1"/>
        </a:solidFill>
        <a:latin typeface="+mn-lt"/>
        <a:ea typeface="+mn-ea"/>
        <a:cs typeface="+mn-cs"/>
      </a:defRPr>
    </a:lvl3pPr>
    <a:lvl4pPr marL="1371120" algn="l" defTabSz="457040" rtl="0" eaLnBrk="1" latinLnBrk="0" hangingPunct="1">
      <a:defRPr sz="1200" kern="1200">
        <a:solidFill>
          <a:schemeClr val="tx1"/>
        </a:solidFill>
        <a:latin typeface="+mn-lt"/>
        <a:ea typeface="+mn-ea"/>
        <a:cs typeface="+mn-cs"/>
      </a:defRPr>
    </a:lvl4pPr>
    <a:lvl5pPr marL="1828160" algn="l" defTabSz="457040" rtl="0" eaLnBrk="1" latinLnBrk="0" hangingPunct="1">
      <a:defRPr sz="1200" kern="1200">
        <a:solidFill>
          <a:schemeClr val="tx1"/>
        </a:solidFill>
        <a:latin typeface="+mn-lt"/>
        <a:ea typeface="+mn-ea"/>
        <a:cs typeface="+mn-cs"/>
      </a:defRPr>
    </a:lvl5pPr>
    <a:lvl6pPr marL="2285200" algn="l" defTabSz="457040" rtl="0" eaLnBrk="1" latinLnBrk="0" hangingPunct="1">
      <a:defRPr sz="1200" kern="1200">
        <a:solidFill>
          <a:schemeClr val="tx1"/>
        </a:solidFill>
        <a:latin typeface="+mn-lt"/>
        <a:ea typeface="+mn-ea"/>
        <a:cs typeface="+mn-cs"/>
      </a:defRPr>
    </a:lvl6pPr>
    <a:lvl7pPr marL="2742240" algn="l" defTabSz="457040" rtl="0" eaLnBrk="1" latinLnBrk="0" hangingPunct="1">
      <a:defRPr sz="1200" kern="1200">
        <a:solidFill>
          <a:schemeClr val="tx1"/>
        </a:solidFill>
        <a:latin typeface="+mn-lt"/>
        <a:ea typeface="+mn-ea"/>
        <a:cs typeface="+mn-cs"/>
      </a:defRPr>
    </a:lvl7pPr>
    <a:lvl8pPr marL="3199280" algn="l" defTabSz="457040" rtl="0" eaLnBrk="1" latinLnBrk="0" hangingPunct="1">
      <a:defRPr sz="1200" kern="1200">
        <a:solidFill>
          <a:schemeClr val="tx1"/>
        </a:solidFill>
        <a:latin typeface="+mn-lt"/>
        <a:ea typeface="+mn-ea"/>
        <a:cs typeface="+mn-cs"/>
      </a:defRPr>
    </a:lvl8pPr>
    <a:lvl9pPr marL="3656320" algn="l" defTabSz="45704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09" userDrawn="1">
          <p15:clr>
            <a:srgbClr val="F26B43"/>
          </p15:clr>
        </p15:guide>
        <p15:guide id="2" pos="2208"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FACILITATOR PAGE — DO NOT PRESENT. This slide is intentionally hidden.</a:t>
            </a:r>
          </a:p>
          <a:p>
            <a:endParaRPr/>
          </a:p>
          <a:p>
            <a:r>
              <a:t>Sales process: (1) Meeting 1 is the original 30-slide executive AI Readiness narrative. Aim to secure consent for the 90-minute assessment, not to close RunState in the first conversation. (2) The assessment is evidence-led; the free self-serve tools can be used before it. Record evidence, limitations, owners, risks, possible first outcome, and indicative Assist consumption in the AI Readiness Decision Brief. (3) Meeting 2 is this separate technical/commercial follow-up. Confirm the use case, technical dependencies, Permission to Automate, measures, workload and first 90 days. Invite CIO/platform owner, process owner and governance/commercial decision makers as appropriate. (4) AI RunState is a paid 12-month advisory, backlog and Extend delivery engagement: 2 advisory reviews, up to 4 backlog cycles, and Extend 80 hours per month for 9 months.</a:t>
            </a:r>
          </a:p>
          <a:p>
            <a:endParaRPr/>
          </a:p>
          <a:p>
            <a:r>
              <a:t>Commercial stage gates are suggested sales guidance, not agreed customer commitments. Keep results provisional until verified. Do not share this hidden internal overview page with customers. Begin Meeting 1 on slide 2; use the separate 14-slide Meeting 2 presentation after the assessment.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 Buyer situation, not technology catalogue. 'You've invested in ServiceNow and AI. Where are results proving difficult? Today we'll focus on which operating outcome matters first, what might be stopping safe execution and whether a 90-minute assessment would help.' Keep the cover's approved Road to Zero framing.</a:t>
            </a:r>
          </a:p>
          <a:p>
            <a:endParaRPr/>
          </a:p>
          <a:p>
            <a:r>
              <a:t>--- EXISTING FACILITATOR NOTES ---</a:t>
            </a:r>
          </a:p>
          <a:p>
            <a:endParaRPr/>
          </a:p>
        </p:txBody>
      </p:sp>
      <p:sp>
        <p:nvSpPr>
          <p:cNvPr id="4" name="Slide Number Placeholder 3"/>
          <p:cNvSpPr>
            <a:spLocks noGrp="1"/>
          </p:cNvSpPr>
          <p:nvPr>
            <p:ph type="sldNum" sz="quarter" idx="5"/>
          </p:nvPr>
        </p:nvSpPr>
        <p:spPr/>
        <p:txBody>
          <a:bodyPr/>
          <a:lstStyle/>
          <a:p>
            <a:fld id="{074299CD-3469-7241-AD37-C0E01E3A61D2}" type="slidenum">
              <a:rPr lang="en-US" smtClean="0"/>
              <a:pPr/>
              <a:t>2</a:t>
            </a:fld>
            <a:endParaRPr lang="en-US"/>
          </a:p>
        </p:txBody>
      </p:sp>
    </p:spTree>
    <p:extLst>
      <p:ext uri="{BB962C8B-B14F-4D97-AF65-F5344CB8AC3E}">
        <p14:creationId xmlns:p14="http://schemas.microsoft.com/office/powerpoint/2010/main" val="1995136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BUYER PRIORITIES | Ask which of strategy, risk or innovation is currently most visible to their leadership. Let the buyer rank the pressures. Do not assume all three are equally urgent.</a:t>
            </a:r>
          </a:p>
          <a:p>
            <a:endParaRPr/>
          </a:p>
          <a:p>
            <a:r>
              <a:t>--- EXISTING FACILITATOR NOTES ---</a:t>
            </a:r>
          </a:p>
          <a:p>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68A498C-1479-A64E-A690-1C7AAB4BE94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5173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B7583-FEC9-2DEF-550F-3F95AF8AF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E28FC-0309-F9CE-B6A9-4E27CEF32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4E48B-517C-8DC5-A6F6-9D9B869A171C}"/>
              </a:ext>
            </a:extLst>
          </p:cNvPr>
          <p:cNvSpPr>
            <a:spLocks noGrp="1"/>
          </p:cNvSpPr>
          <p:nvPr>
            <p:ph type="body" idx="1"/>
          </p:nvPr>
        </p:nvSpPr>
        <p:spPr/>
        <p:txBody>
          <a:bodyPr/>
          <a:lstStyle/>
          <a:p>
            <a:r>
              <a:t>BUYER SCORECARD | Invite current baselines: pilots reaching production, safe data coverage, owned knowledge, known agents, consumption estimates and measurable value. All question marks are prompts, not claims.</a:t>
            </a:r>
          </a:p>
          <a:p>
            <a:endParaRPr/>
          </a:p>
          <a:p>
            <a:r>
              <a:t>--- EXISTING FACILITATOR NOTES ---</a:t>
            </a:r>
          </a:p>
          <a:p>
            <a:r>
              <a:t>THE AI SCORECARD</a:t>
            </a:r>
          </a:p>
          <a:p>
            <a:endParaRPr/>
          </a:p>
          <a:p>
            <a:r>
              <a:t>Ask the audience what is on their current AI scorecard. How many pilots reach production? How much of the data can the agents safely trust? Can they identify and govern their agents? Do they know the likely Assist consumption and tier fit? Can they show measurable outcomes?</a:t>
            </a:r>
          </a:p>
          <a:p>
            <a:endParaRPr/>
          </a:p>
          <a:p>
            <a:r>
              <a:t>The challenge is not a shortage of potential use cases; it is knowing which use cases can be run safely and economically. The five placeholders are questions, not invented measurements.</a:t>
            </a:r>
          </a:p>
        </p:txBody>
      </p:sp>
      <p:sp>
        <p:nvSpPr>
          <p:cNvPr id="4" name="Slide Number Placeholder 3">
            <a:extLst>
              <a:ext uri="{FF2B5EF4-FFF2-40B4-BE49-F238E27FC236}">
                <a16:creationId xmlns:a16="http://schemas.microsoft.com/office/drawing/2014/main" id="{ADA23C92-E77D-D029-5BD7-A469F1C2A4C2}"/>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u="none" strike="noStrike" kern="1200" cap="none" spc="0" normalizeH="0" baseline="0" noProof="0" smtClean="0">
                <a:ln>
                  <a:noFill/>
                </a:ln>
                <a:solidFill>
                  <a:srgbClr val="293E40"/>
                </a:solidFill>
                <a:effectLst/>
                <a:uLnTx/>
                <a:uFillTx/>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4</a:t>
            </a:fld>
            <a:endParaRPr kumimoji="0" lang="en-US" sz="1200" u="none" strike="noStrike" kern="1200" cap="none" spc="0" normalizeH="0" baseline="0" noProof="0">
              <a:ln>
                <a:noFill/>
              </a:ln>
              <a:solidFill>
                <a:srgbClr val="293E40"/>
              </a:solidFill>
              <a:effectLst/>
              <a:uLnTx/>
              <a:uFillTx/>
              <a:ea typeface="+mn-ea"/>
              <a:cs typeface="+mn-cs"/>
            </a:endParaRPr>
          </a:p>
        </p:txBody>
      </p:sp>
    </p:spTree>
    <p:extLst>
      <p:ext uri="{BB962C8B-B14F-4D97-AF65-F5344CB8AC3E}">
        <p14:creationId xmlns:p14="http://schemas.microsoft.com/office/powerpoint/2010/main" val="414730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12010-D063-7180-3B92-5742A1988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80106-D264-4399-EEE0-9AC96DD3EB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25B5E1-9855-0298-5B5A-24F3CB14E04B}"/>
              </a:ext>
            </a:extLst>
          </p:cNvPr>
          <p:cNvSpPr>
            <a:spLocks noGrp="1"/>
          </p:cNvSpPr>
          <p:nvPr>
            <p:ph type="body" idx="1"/>
          </p:nvPr>
        </p:nvSpPr>
        <p:spPr/>
        <p:txBody>
          <a:bodyPr/>
          <a:lstStyle/>
          <a:p>
            <a:r>
              <a:t>BUYER-FIRST OPEN | Ask: 'We've invested in AI. Where are the results?' Invite the CIO to describe the business pressure behind AI investment: incidents and requests still arriving, pilots not in governed production, unclear outcome evidence and Assist economics. Use the five role cards as conversation prompts, never as facts about this customer. Do not imply the customer's teams are the problem.</a:t>
            </a:r>
          </a:p>
          <a:p>
            <a:endParaRPr/>
          </a:p>
          <a:p>
            <a:r>
              <a:t>--- EXISTING FACILITATOR NOTES ---</a:t>
            </a:r>
          </a:p>
          <a:p>
            <a:r>
              <a:t>AI LEADERSHIP IS STRUGGLING</a:t>
            </a:r>
          </a:p>
          <a:p>
            <a:endParaRPr/>
          </a:p>
          <a:p>
            <a:r>
              <a:t>These are the practical symptoms we hear: three promising pilots but none in production; CMDB and service data cannot be relied on; knowledge is unowned or outdated; leaders cannot account for every agent; and Finance cannot explain the projected consumption or value.</a:t>
            </a:r>
          </a:p>
          <a:p>
            <a:endParaRPr/>
          </a:p>
          <a:p>
            <a:r>
              <a:t>These are common diagnostic prompts, not a claim that every customer experiences all five. The customer is the hero in this story; avoid implying their teams are the problem. The underlying readiness of the estate determines how safely they can deploy AI.</a:t>
            </a:r>
          </a:p>
        </p:txBody>
      </p:sp>
      <p:sp>
        <p:nvSpPr>
          <p:cNvPr id="4" name="Slide Number Placeholder 3">
            <a:extLst>
              <a:ext uri="{FF2B5EF4-FFF2-40B4-BE49-F238E27FC236}">
                <a16:creationId xmlns:a16="http://schemas.microsoft.com/office/drawing/2014/main" id="{D034B533-2063-66F9-4ECE-EB26B2CCD375}"/>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1284115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C8BA7-DF0D-5B61-8C3E-BF432FC52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FCB41-9F6E-00E3-BECC-CAC4043780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D7F397-66F3-0C0F-00CD-69C92B5CEE1F}"/>
              </a:ext>
            </a:extLst>
          </p:cNvPr>
          <p:cNvSpPr>
            <a:spLocks noGrp="1"/>
          </p:cNvSpPr>
          <p:nvPr>
            <p:ph type="body" idx="1"/>
          </p:nvPr>
        </p:nvSpPr>
        <p:spPr/>
        <p:txBody>
          <a:bodyPr/>
          <a:lstStyle/>
          <a:p>
            <a:r>
              <a:t>BUYER VALUE | Map each operational problem to a prerequisite the customer would recognise: a first target use case, dependable data, owned knowledge, Permission to Automate and consumption/value modelling. The green checks show capabilities to validate, not evidence of readiness.</a:t>
            </a:r>
          </a:p>
          <a:p>
            <a:endParaRPr/>
          </a:p>
          <a:p>
            <a:r>
              <a:t>--- EXISTING FACILITATOR NOTES ---</a:t>
            </a:r>
          </a:p>
          <a:p>
            <a:r>
              <a:t>AI IS THE PROMISE. READINESS MAKES IT REAL.</a:t>
            </a:r>
          </a:p>
          <a:p>
            <a:endParaRPr/>
          </a:p>
          <a:p>
            <a:r>
              <a:t>Each problem has an achievable next step: pick one valuable use case; prove that the data is dependable; put ownership around knowledge and agents; define Permission to Automate; and model Assist consumption alongside the outcome.</a:t>
            </a:r>
          </a:p>
          <a:p>
            <a:endParaRPr/>
          </a:p>
          <a:p>
            <a:r>
              <a:t>This is evidence-led progression, not a claim of zero risk or automatic production readiness. The green checks mean prerequisites to investigate and satisfy. Crossfuze measures readiness and identifies the limiting foundation.</a:t>
            </a:r>
          </a:p>
        </p:txBody>
      </p:sp>
      <p:sp>
        <p:nvSpPr>
          <p:cNvPr id="4" name="Slide Number Placeholder 3">
            <a:extLst>
              <a:ext uri="{FF2B5EF4-FFF2-40B4-BE49-F238E27FC236}">
                <a16:creationId xmlns:a16="http://schemas.microsoft.com/office/drawing/2014/main" id="{19241A18-58B3-2957-3F28-28251F910429}"/>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777672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BACF-6BAA-C91B-B424-E954EC35F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54CAB-1CC7-D4D0-2215-989A59AE31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63A9C5-03AD-8B08-597C-91A7007AE84D}"/>
              </a:ext>
            </a:extLst>
          </p:cNvPr>
          <p:cNvSpPr>
            <a:spLocks noGrp="1"/>
          </p:cNvSpPr>
          <p:nvPr>
            <p:ph type="body" idx="1"/>
          </p:nvPr>
        </p:nvSpPr>
        <p:spPr/>
        <p:txBody>
          <a:bodyPr/>
          <a:lstStyle/>
          <a:p>
            <a:r>
              <a:t>FIVE ZEROS | Invite the customer to select the operating pain they would reduce first. ServiceNow's Five Zeros are directional outcomes, not a promise of literal zero. Preserve the approved Five Zero names and 'Autonomy Is Earned'.</a:t>
            </a:r>
          </a:p>
          <a:p>
            <a:endParaRPr/>
          </a:p>
          <a:p>
            <a:r>
              <a:t>--- EXISTING FACILITATOR NOTES ---</a:t>
            </a:r>
          </a:p>
          <a:p>
            <a:r>
              <a:t>AUTONOMY IS EARNED — FIVE ZEROS TO PURSUE</a:t>
            </a:r>
          </a:p>
          <a:p>
            <a:endParaRPr/>
          </a:p>
          <a:p>
            <a:r>
              <a:t>Preserve ServiceNow's Five Zeros: Zero-Touch Support; Zero Service Outages; Zero Asset Issues; Zero Severe Breaches; Zero Misaligned Investments. These are directional north stars, not guaranteed results. Every step towards Zero returns capacity to a team.</a:t>
            </a:r>
          </a:p>
          <a:p>
            <a:endParaRPr/>
          </a:p>
          <a:p>
            <a:r>
              <a:t>The sensible first Zero is not necessarily the most dramatic. Start where business value is high and the readiness gap is smaller. Crossfuze's readiness approach also serves Business Re-Invention across functions such as HR, Finance and Procurement, without renaming the IT-specific Five Zeros.</a:t>
            </a:r>
          </a:p>
        </p:txBody>
      </p:sp>
      <p:sp>
        <p:nvSpPr>
          <p:cNvPr id="4" name="Slide Number Placeholder 3">
            <a:extLst>
              <a:ext uri="{FF2B5EF4-FFF2-40B4-BE49-F238E27FC236}">
                <a16:creationId xmlns:a16="http://schemas.microsoft.com/office/drawing/2014/main" id="{4FC9B135-3B3C-377D-88CB-4109499E4A1B}"/>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2900366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8E41-B75D-ACAE-EE3F-E4423D5D5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3CB3F-11C2-046B-62B3-414F11BB0E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27F04D-D3E1-5A36-252C-6B00536D99E5}"/>
              </a:ext>
            </a:extLst>
          </p:cNvPr>
          <p:cNvSpPr>
            <a:spLocks noGrp="1"/>
          </p:cNvSpPr>
          <p:nvPr>
            <p:ph type="body" idx="1"/>
          </p:nvPr>
        </p:nvSpPr>
        <p:spPr/>
        <p:txBody>
          <a:bodyPr/>
          <a:lstStyle/>
          <a:p>
            <a:pPr marL="0" marR="0" lvl="0" indent="0" algn="l" defTabSz="457040" rtl="0" eaLnBrk="1" fontAlgn="auto" latinLnBrk="0" hangingPunct="1">
              <a:lnSpc>
                <a:spcPct val="115000"/>
              </a:lnSpc>
              <a:spcBef>
                <a:spcPts val="0"/>
              </a:spcBef>
              <a:spcAft>
                <a:spcPts val="800"/>
              </a:spcAft>
              <a:buClrTx/>
              <a:buSzTx/>
              <a:buNone/>
              <a:tabLst/>
              <a:defRPr/>
            </a:pPr>
            <a:r>
              <a:rPr lang="en-US" dirty="0"/>
              <a:t>Confidence Monitor:</a:t>
            </a:r>
          </a:p>
          <a:p>
            <a:pPr marL="0" marR="0" lvl="0" indent="0" algn="l" defTabSz="457040" rtl="0" eaLnBrk="1" fontAlgn="auto" latinLnBrk="0" hangingPunct="1">
              <a:lnSpc>
                <a:spcPct val="115000"/>
              </a:lnSpc>
              <a:spcBef>
                <a:spcPts val="0"/>
              </a:spcBef>
              <a:spcAft>
                <a:spcPts val="800"/>
              </a:spcAft>
              <a:buClrTx/>
              <a:buSzTx/>
              <a:buNone/>
              <a:tabLst/>
              <a:defRPr/>
            </a:pPr>
            <a:r>
              <a:rPr lang="en-US" dirty="0"/>
              <a:t>• Walk bottom-up — Insight → Automate → Autonomous</a:t>
            </a:r>
          </a:p>
          <a:p>
            <a:pPr marL="0" marR="0" lvl="0" indent="0" algn="l" defTabSz="457040" rtl="0" eaLnBrk="1" fontAlgn="auto" latinLnBrk="0" hangingPunct="1">
              <a:lnSpc>
                <a:spcPct val="115000"/>
              </a:lnSpc>
              <a:spcBef>
                <a:spcPts val="0"/>
              </a:spcBef>
              <a:spcAft>
                <a:spcPts val="800"/>
              </a:spcAft>
              <a:buClrTx/>
              <a:buSzTx/>
              <a:buNone/>
              <a:tabLst/>
              <a:defRPr/>
            </a:pPr>
            <a:r>
              <a:rPr lang="en-US" dirty="0"/>
              <a:t>• Most customers live in the bottom two rows today</a:t>
            </a:r>
          </a:p>
          <a:p>
            <a:pPr marL="0" marR="0" lvl="0" indent="0" algn="l" defTabSz="457040" rtl="0" eaLnBrk="1" fontAlgn="auto" latinLnBrk="0" hangingPunct="1">
              <a:lnSpc>
                <a:spcPct val="115000"/>
              </a:lnSpc>
              <a:spcBef>
                <a:spcPts val="0"/>
              </a:spcBef>
              <a:spcAft>
                <a:spcPts val="800"/>
              </a:spcAft>
              <a:buClrTx/>
              <a:buSzTx/>
              <a:buNone/>
              <a:tabLst/>
              <a:defRPr/>
            </a:pPr>
            <a:r>
              <a:rPr lang="en-US" dirty="0"/>
              <a:t>• Business value grows as you move up</a:t>
            </a:r>
          </a:p>
          <a:p>
            <a:pPr marL="0" marR="0" lvl="0" indent="0" algn="l" defTabSz="457040" rtl="0" eaLnBrk="1" fontAlgn="auto" latinLnBrk="0" hangingPunct="1">
              <a:lnSpc>
                <a:spcPct val="115000"/>
              </a:lnSpc>
              <a:spcBef>
                <a:spcPts val="0"/>
              </a:spcBef>
              <a:spcAft>
                <a:spcPts val="800"/>
              </a:spcAft>
              <a:buClrTx/>
              <a:buSzTx/>
              <a:buNone/>
              <a:tabLst/>
              <a:defRPr/>
            </a:pPr>
            <a:r>
              <a:rPr lang="en-US" dirty="0"/>
              <a:t>• We can layer AI as fast — or measured — as they want</a:t>
            </a:r>
          </a:p>
          <a:p>
            <a:pPr marL="0" marR="0" lvl="0" indent="0" algn="l" defTabSz="457040" rtl="0" eaLnBrk="1" fontAlgn="auto" latinLnBrk="0" hangingPunct="1">
              <a:lnSpc>
                <a:spcPct val="115000"/>
              </a:lnSpc>
              <a:spcBef>
                <a:spcPts val="0"/>
              </a:spcBef>
              <a:spcAft>
                <a:spcPts val="800"/>
              </a:spcAft>
              <a:buClrTx/>
              <a:buSzTx/>
              <a:buNone/>
              <a:tabLst/>
              <a:defRPr/>
            </a:pPr>
            <a:r>
              <a:rPr lang="en-US" dirty="0"/>
              <a:t>• End state: self-healing, self-learning, self-defending</a:t>
            </a:r>
          </a:p>
          <a:p>
            <a:pPr marL="0" marR="0" lvl="0" indent="0" algn="l" defTabSz="457040" rtl="0" eaLnBrk="1" fontAlgn="auto" latinLnBrk="0" hangingPunct="1">
              <a:lnSpc>
                <a:spcPct val="115000"/>
              </a:lnSpc>
              <a:spcBef>
                <a:spcPts val="0"/>
              </a:spcBef>
              <a:spcAft>
                <a:spcPts val="800"/>
              </a:spcAft>
              <a:buClrTx/>
              <a:buSzTx/>
              <a:buNone/>
              <a:tabLst/>
              <a:defRPr/>
            </a:pPr>
            <a:endParaRPr lang="en-US" dirty="0"/>
          </a:p>
          <a:p>
            <a:pPr marL="0" marR="0" lvl="0" indent="0" algn="l" defTabSz="457040" rtl="0" eaLnBrk="1" fontAlgn="auto" latinLnBrk="0" hangingPunct="1">
              <a:lnSpc>
                <a:spcPct val="115000"/>
              </a:lnSpc>
              <a:spcBef>
                <a:spcPts val="0"/>
              </a:spcBef>
              <a:spcAft>
                <a:spcPts val="800"/>
              </a:spcAft>
              <a:buClrTx/>
              <a:buSzTx/>
              <a:buNone/>
              <a:tabLst/>
              <a:defRPr/>
            </a:pPr>
            <a:r>
              <a:rPr lang="en-US" dirty="0"/>
              <a:t>Practice Script:</a:t>
            </a:r>
          </a:p>
          <a:p>
            <a:pPr marL="171450" marR="0" lvl="0" indent="-171450" algn="l" defTabSz="457040" rtl="0" eaLnBrk="1" fontAlgn="auto" latinLnBrk="0" hangingPunct="1">
              <a:lnSpc>
                <a:spcPct val="115000"/>
              </a:lnSpc>
              <a:spcBef>
                <a:spcPts val="0"/>
              </a:spcBef>
              <a:spcAft>
                <a:spcPts val="800"/>
              </a:spcAft>
              <a:buClrTx/>
              <a:buSzTx/>
              <a:tabLst/>
              <a:defRPr/>
            </a:pPr>
            <a:r>
              <a:rPr lang="en-US" dirty="0"/>
              <a:t>Five columns, one per persona. Let’s walk this from the bottom-up.</a:t>
            </a:r>
          </a:p>
          <a:p>
            <a:pPr marL="171450" marR="0" lvl="0" indent="-171450" algn="l" defTabSz="457040" rtl="0" eaLnBrk="1" fontAlgn="auto" latinLnBrk="0" hangingPunct="1">
              <a:lnSpc>
                <a:spcPct val="115000"/>
              </a:lnSpc>
              <a:spcBef>
                <a:spcPts val="0"/>
              </a:spcBef>
              <a:spcAft>
                <a:spcPts val="800"/>
              </a:spcAft>
              <a:buClrTx/>
              <a:buSzTx/>
              <a:tabLst/>
              <a:defRPr/>
            </a:pPr>
            <a:endParaRPr lang="en-US" dirty="0"/>
          </a:p>
          <a:p>
            <a:pPr marL="171450" marR="0" lvl="0" indent="-171450" algn="l" defTabSz="457040" rtl="0" eaLnBrk="1" fontAlgn="auto" latinLnBrk="0" hangingPunct="1">
              <a:lnSpc>
                <a:spcPct val="115000"/>
              </a:lnSpc>
              <a:spcBef>
                <a:spcPts val="0"/>
              </a:spcBef>
              <a:spcAft>
                <a:spcPts val="800"/>
              </a:spcAft>
              <a:buClrTx/>
              <a:buSzTx/>
              <a:tabLst/>
              <a:defRPr/>
            </a:pPr>
            <a:r>
              <a:rPr lang="en-US" dirty="0"/>
              <a:t>Most organizations are somewhere between Insight and Automate today. The Autonomous row is the destination — AI Specialists handling work end-to-end, the system learning and improving with every resolution.</a:t>
            </a:r>
          </a:p>
          <a:p>
            <a:pPr marL="171450" marR="0" lvl="0" indent="-171450" algn="l" defTabSz="457040" rtl="0" eaLnBrk="1" fontAlgn="auto" latinLnBrk="0" hangingPunct="1">
              <a:lnSpc>
                <a:spcPct val="115000"/>
              </a:lnSpc>
              <a:spcBef>
                <a:spcPts val="0"/>
              </a:spcBef>
              <a:spcAft>
                <a:spcPts val="800"/>
              </a:spcAft>
              <a:buClrTx/>
              <a:buSzTx/>
              <a:tabLst/>
              <a:defRPr/>
            </a:pPr>
            <a:endParaRPr lang="en-US" dirty="0"/>
          </a:p>
          <a:p>
            <a:pPr marL="171450" marR="0" lvl="0" indent="-171450" algn="l" defTabSz="457040" rtl="0" eaLnBrk="1" fontAlgn="auto" latinLnBrk="0" hangingPunct="1">
              <a:lnSpc>
                <a:spcPct val="115000"/>
              </a:lnSpc>
              <a:spcBef>
                <a:spcPts val="0"/>
              </a:spcBef>
              <a:spcAft>
                <a:spcPts val="800"/>
              </a:spcAft>
              <a:buClrTx/>
              <a:buSzTx/>
              <a:tabLst/>
              <a:defRPr/>
            </a:pPr>
            <a:r>
              <a:rPr lang="en-US" dirty="0"/>
              <a:t>The good news: you don't have to get there all at once. We have ways to layer in AI capability that match your pace — whether you want to start focused and expand, or move aggressively toward full autonomy from the start. How fast you want to move and how much value you want to realize sooner rather than later is a conversation worth having.</a:t>
            </a:r>
          </a:p>
          <a:p>
            <a:pPr marL="171450" marR="0" lvl="0" indent="-171450" algn="l" defTabSz="457040" rtl="0" eaLnBrk="1" fontAlgn="auto" latinLnBrk="0" hangingPunct="1">
              <a:lnSpc>
                <a:spcPct val="115000"/>
              </a:lnSpc>
              <a:spcBef>
                <a:spcPts val="0"/>
              </a:spcBef>
              <a:spcAft>
                <a:spcPts val="800"/>
              </a:spcAft>
              <a:buClrTx/>
              <a:buSzTx/>
              <a:tabLst/>
              <a:defRPr/>
            </a:pPr>
            <a:endParaRPr lang="en-US" dirty="0"/>
          </a:p>
          <a:p>
            <a:pPr marL="171450" marR="0" lvl="0" indent="-171450" algn="l" defTabSz="457040" rtl="0" eaLnBrk="1" fontAlgn="auto" latinLnBrk="0" hangingPunct="1">
              <a:lnSpc>
                <a:spcPct val="115000"/>
              </a:lnSpc>
              <a:spcBef>
                <a:spcPts val="0"/>
              </a:spcBef>
              <a:spcAft>
                <a:spcPts val="800"/>
              </a:spcAft>
              <a:buClrTx/>
              <a:buSzTx/>
              <a:tabLst/>
              <a:defRPr/>
            </a:pPr>
            <a:r>
              <a:rPr lang="en-US" dirty="0"/>
              <a:t>That's what self-healing, self-learning, and self-defending looks like in practice. </a:t>
            </a:r>
            <a:br>
              <a:rPr lang="en-US" dirty="0"/>
            </a:br>
            <a:endParaRPr lang="en-US" sz="1200" kern="1200" dirty="0">
              <a:solidFill>
                <a:schemeClr val="bg1"/>
              </a:solidFill>
              <a:effectLst/>
              <a:ea typeface="+mn-ea"/>
              <a:cs typeface="ServiceNow Sans" panose="020B0504040101010104" pitchFamily="34" charset="0"/>
            </a:endParaRPr>
          </a:p>
          <a:p>
            <a:pPr marL="171450" marR="0" lvl="0" indent="-171450" algn="l" defTabSz="457040" rtl="0" eaLnBrk="1" fontAlgn="auto" latinLnBrk="0" hangingPunct="1">
              <a:lnSpc>
                <a:spcPct val="115000"/>
              </a:lnSpc>
              <a:spcBef>
                <a:spcPts val="0"/>
              </a:spcBef>
              <a:spcAft>
                <a:spcPts val="800"/>
              </a:spcAft>
              <a:buClrTx/>
              <a:buSzTx/>
              <a:tabLst/>
              <a:defRPr/>
            </a:pPr>
            <a:endParaRPr lang="en-US" sz="1200" kern="1200" dirty="0">
              <a:solidFill>
                <a:schemeClr val="bg1"/>
              </a:solidFill>
              <a:effectLst/>
              <a:ea typeface="+mn-ea"/>
              <a:cs typeface="ServiceNow Sans" panose="020B0504040101010104" pitchFamily="34" charset="0"/>
            </a:endParaRPr>
          </a:p>
          <a:p>
            <a:pPr marL="0" marR="0" lvl="0" indent="0" algn="l" defTabSz="457040" rtl="0" eaLnBrk="1" fontAlgn="auto" latinLnBrk="0" hangingPunct="1">
              <a:lnSpc>
                <a:spcPct val="115000"/>
              </a:lnSpc>
              <a:spcBef>
                <a:spcPts val="0"/>
              </a:spcBef>
              <a:spcAft>
                <a:spcPts val="800"/>
              </a:spcAft>
              <a:buClrTx/>
              <a:buSzTx/>
              <a:buNone/>
              <a:tabLst/>
              <a:defRPr/>
            </a:pPr>
            <a:r>
              <a:rPr lang="en-US" sz="1200" kern="1200" dirty="0">
                <a:solidFill>
                  <a:schemeClr val="bg1"/>
                </a:solidFill>
                <a:effectLst/>
                <a:ea typeface="+mn-ea"/>
                <a:cs typeface="ServiceNow Sans" panose="020B0504040101010104" pitchFamily="34" charset="0"/>
              </a:rPr>
              <a:t>[CLICK]</a:t>
            </a:r>
          </a:p>
          <a:p>
            <a:endParaRPr lang="en-US" dirty="0"/>
          </a:p>
          <a:p>
            <a:endParaRPr lang="en-US" dirty="0"/>
          </a:p>
        </p:txBody>
      </p:sp>
      <p:sp>
        <p:nvSpPr>
          <p:cNvPr id="4" name="Slide Number Placeholder 3">
            <a:extLst>
              <a:ext uri="{FF2B5EF4-FFF2-40B4-BE49-F238E27FC236}">
                <a16:creationId xmlns:a16="http://schemas.microsoft.com/office/drawing/2014/main" id="{5BD39B1D-8E8F-3213-09C5-59D9D08312EC}"/>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erviceNow Sans"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ServiceNow Sans" panose="020B0504040101010104" pitchFamily="34" charset="77"/>
              <a:ea typeface="+mn-ea"/>
              <a:cs typeface="+mn-cs"/>
            </a:endParaRPr>
          </a:p>
        </p:txBody>
      </p:sp>
    </p:spTree>
    <p:extLst>
      <p:ext uri="{BB962C8B-B14F-4D97-AF65-F5344CB8AC3E}">
        <p14:creationId xmlns:p14="http://schemas.microsoft.com/office/powerpoint/2010/main" val="2301523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61D8F-A1F9-6375-B171-2310160C7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97C67-1CAE-A71F-8647-03D48826DC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540DFE-62B2-B88A-4E1A-4EB3EC5BC2E6}"/>
              </a:ext>
            </a:extLst>
          </p:cNvPr>
          <p:cNvSpPr>
            <a:spLocks noGrp="1"/>
          </p:cNvSpPr>
          <p:nvPr>
            <p:ph type="body" idx="1"/>
          </p:nvPr>
        </p:nvSpPr>
        <p:spPr/>
        <p:txBody>
          <a:bodyPr/>
          <a:lstStyle/>
          <a:p>
            <a:r>
              <a:t>THINK BEYOND PILOTS. AIM FOR TRANSFORMATION.</a:t>
            </a:r>
          </a:p>
          <a:p>
            <a:endParaRPr/>
          </a:p>
          <a:p>
            <a:r>
              <a:t>The real shift is from agents that demonstrate capability to AI that completes work under known rules. That requires trusted data and knowledge, dependable workflows, and policies that make clear what AI may act on, when it must ask for approval, how it hands over, and how to stop or reverse actions.</a:t>
            </a:r>
          </a:p>
          <a:p>
            <a:endParaRPr/>
          </a:p>
          <a:p>
            <a:r>
              <a:t>TRANSITION TO ACT TWO: ServiceNow brings the AI capability. Crossfuze helps the enterprise decide what it can safely do, then turns that decision into an ongoing delivery plan through AI RunState.</a:t>
            </a:r>
          </a:p>
        </p:txBody>
      </p:sp>
      <p:sp>
        <p:nvSpPr>
          <p:cNvPr id="4" name="Slide Number Placeholder 3">
            <a:extLst>
              <a:ext uri="{FF2B5EF4-FFF2-40B4-BE49-F238E27FC236}">
                <a16:creationId xmlns:a16="http://schemas.microsoft.com/office/drawing/2014/main" id="{90F55D20-834E-3F2E-1713-0AABD2AE46C5}"/>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1" i="0" u="none" strike="noStrike" kern="1200" cap="none" spc="0" normalizeH="0" baseline="0" noProof="0" smtClean="0">
                <a:ln>
                  <a:noFill/>
                </a:ln>
                <a:solidFill>
                  <a:srgbClr val="000000"/>
                </a:solidFill>
                <a:effectLst/>
                <a:uLnTx/>
                <a:uFillTx/>
                <a:latin typeface="Source Sans 3" panose="020B0504040101010104" pitchFamily="34" charset="0"/>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9</a:t>
            </a:fld>
            <a:endParaRPr kumimoji="0" lang="en-US" sz="1200" b="1" i="0" u="none" strike="noStrike" kern="1200" cap="none" spc="0" normalizeH="0" baseline="0" noProof="0">
              <a:ln>
                <a:noFill/>
              </a:ln>
              <a:solidFill>
                <a:srgbClr val="000000"/>
              </a:solidFill>
              <a:effectLst/>
              <a:uLnTx/>
              <a:uFillTx/>
              <a:latin typeface="Source Sans 3" panose="020B0504040101010104" pitchFamily="34" charset="0"/>
              <a:ea typeface="+mn-ea"/>
              <a:cs typeface="+mn-cs"/>
            </a:endParaRPr>
          </a:p>
        </p:txBody>
      </p:sp>
    </p:spTree>
    <p:extLst>
      <p:ext uri="{BB962C8B-B14F-4D97-AF65-F5344CB8AC3E}">
        <p14:creationId xmlns:p14="http://schemas.microsoft.com/office/powerpoint/2010/main" val="1662653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448F0-0865-0F90-04F5-6D55B3C20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4B0DF9-EC3A-35D6-8F72-64D147098A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6A0CF0-51BD-3EC0-FC05-5468845288C2}"/>
              </a:ext>
            </a:extLst>
          </p:cNvPr>
          <p:cNvSpPr>
            <a:spLocks noGrp="1"/>
          </p:cNvSpPr>
          <p:nvPr>
            <p:ph type="body" idx="1"/>
          </p:nvPr>
        </p:nvSpPr>
        <p:spPr/>
        <p:txBody>
          <a:bodyPr/>
          <a:lstStyle/>
          <a:p>
            <a:r>
              <a:t>BUYER-FIRST POSITION | This is a credibility bridge, not the reason the buyer is here. Start with their first outcome and the barriers to delivering it. Crossfuze experience provides supporting evidence, not a customer-specific guarantee. Confirm the current approved proof points before external publication.</a:t>
            </a:r>
          </a:p>
          <a:p>
            <a:endParaRPr/>
          </a:p>
          <a:p>
            <a:r>
              <a:t>--- EXISTING FACILITATOR NOTES ---</a:t>
            </a:r>
          </a:p>
          <a:p>
            <a:r>
              <a:t>ACT 2 — SERVICE NOW BUILT FOR THIS MOMENT</a:t>
            </a:r>
          </a:p>
          <a:p>
            <a:endParaRPr/>
          </a:p>
          <a:p>
            <a:r>
              <a:t>ServiceNow's published figures establish the scale of its platform: 85%+ of the Fortune 500, 100K+ enterprise AI apps in production, 95B+ workflows powered annually, and a 97%+ renewal rate over 20+ quarters. These are ServiceNow's published claims, not Crossfuze results. Verify the latest ServiceNow proof and approved use before external distribution.</a:t>
            </a:r>
          </a:p>
          <a:p>
            <a:endParaRPr/>
          </a:p>
          <a:p>
            <a:r>
              <a:t>THE CROSSFUZE BRIDGE</a:t>
            </a:r>
          </a:p>
          <a:p>
            <a:r>
              <a:t>Scale proves the platform opportunity. It does not prove the maturity of any customer's individual implementation. The difference between what the AI Platform can do and what an enterprise can responsibly permit AI to do is the starting point for Crossfuze AI Readiness.</a:t>
            </a:r>
          </a:p>
          <a:p>
            <a:endParaRPr/>
          </a:p>
          <a:p>
            <a:r>
              <a:t>Transition: If the platform has the capacity, what kind of work is the Autonomous Workforce able to take on?</a:t>
            </a:r>
          </a:p>
        </p:txBody>
      </p:sp>
      <p:sp>
        <p:nvSpPr>
          <p:cNvPr id="4" name="Slide Number Placeholder 3">
            <a:extLst>
              <a:ext uri="{FF2B5EF4-FFF2-40B4-BE49-F238E27FC236}">
                <a16:creationId xmlns:a16="http://schemas.microsoft.com/office/drawing/2014/main" id="{2D6ED8B8-4A33-2FF9-07C8-BFFC0B39C3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5A0638-D244-41C1-80CC-61EB94A79260}" type="slidenum">
              <a:rPr kumimoji="0" lang="en-US" sz="1200" b="0" u="none" strike="noStrike" kern="1200" cap="none" spc="0" normalizeH="0" baseline="0" noProof="0" smtClean="0">
                <a:ln>
                  <a:noFill/>
                </a:ln>
                <a:solidFill>
                  <a:prstClr val="black"/>
                </a:solidFill>
                <a:effectLst/>
                <a:uLnTx/>
                <a:uFillTx/>
                <a:latin typeface="Source Sans 3" panose="020B05040401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u="none" strike="noStrike" kern="1200" cap="none" spc="0" normalizeH="0" baseline="0" noProof="0">
              <a:ln>
                <a:noFill/>
              </a:ln>
              <a:solidFill>
                <a:prstClr val="black"/>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3997060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3E87C-9ECA-7EA2-6CAD-4A0FF393D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7282B5-639A-3739-B88C-F259B5ACE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D59496-11B9-E34E-F8F1-0D38A852588D}"/>
              </a:ext>
            </a:extLst>
          </p:cNvPr>
          <p:cNvSpPr>
            <a:spLocks noGrp="1"/>
          </p:cNvSpPr>
          <p:nvPr>
            <p:ph type="body" idx="1"/>
          </p:nvPr>
        </p:nvSpPr>
        <p:spPr/>
        <p:txBody>
          <a:bodyPr/>
          <a:lstStyle/>
          <a:p>
            <a:r>
              <a:t>BUYER SITUATION | Before showing ServiceNow Autonomous Workforce, ask which tasks remain high-volume, expensive or risky. Present platform capabilities as possible answers, subject to estate readiness and contracted rights.</a:t>
            </a:r>
          </a:p>
          <a:p>
            <a:endParaRPr/>
          </a:p>
          <a:p>
            <a:r>
              <a:t>--- EXISTING FACILITATOR NOTES ---</a:t>
            </a:r>
          </a:p>
          <a:p>
            <a:r>
              <a:t>MEET YOUR AUTONOMOUS WORKFORCE</a:t>
            </a:r>
          </a:p>
          <a:p>
            <a:endParaRPr/>
          </a:p>
          <a:p>
            <a:r>
              <a:t>Preserve the ServiceNow hierarchy as shown: AI Agents (2024), Agentic Workflows (2025) and AI Specialists (2026). The source slide describes AI specialists as agents that do jobs end-to-end, coordinate AI agents and tools, have assigned roles and rules, and learn over time. Present these as platform capabilities rather than guaranteed outcomes of any customer installation.</a:t>
            </a:r>
          </a:p>
          <a:p>
            <a:endParaRPr/>
          </a:p>
          <a:p>
            <a:r>
              <a:t>Crossfuze implication: an agent's technical capability is not the same as permission to act in a particular business. The customer's data, knowledge, workflows, controls and operating ownership set the current ceiling.</a:t>
            </a:r>
          </a:p>
          <a:p>
            <a:endParaRPr/>
          </a:p>
          <a:p>
            <a:r>
              <a:t>Transition: A specialist can do more than suggest — it can complete work. What makes that compelling?</a:t>
            </a:r>
          </a:p>
        </p:txBody>
      </p:sp>
      <p:sp>
        <p:nvSpPr>
          <p:cNvPr id="4" name="Slide Number Placeholder 3">
            <a:extLst>
              <a:ext uri="{FF2B5EF4-FFF2-40B4-BE49-F238E27FC236}">
                <a16:creationId xmlns:a16="http://schemas.microsoft.com/office/drawing/2014/main" id="{674F94F4-6B99-8685-BAAB-87E9FCB612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0" u="none" strike="noStrike" kern="1200" cap="none" spc="0" normalizeH="0" baseline="0" noProof="0" smtClean="0">
                <a:ln>
                  <a:noFill/>
                </a:ln>
                <a:solidFill>
                  <a:prstClr val="black"/>
                </a:solidFill>
                <a:effectLst/>
                <a:uLnTx/>
                <a:uFillTx/>
                <a:latin typeface="Source Sans 3" panose="020B05040401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u="none" strike="noStrike" kern="1200" cap="none" spc="0" normalizeH="0" baseline="0" noProof="0">
              <a:ln>
                <a:noFill/>
              </a:ln>
              <a:solidFill>
                <a:prstClr val="black"/>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4098592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BB82D-8E01-C4E9-303B-0ACE37F36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AEDD3-AEDA-987F-A29D-7690BFBF1791}"/>
              </a:ext>
            </a:extLst>
          </p:cNvPr>
          <p:cNvSpPr>
            <a:spLocks noGrp="1" noRot="1" noChangeAspect="1"/>
          </p:cNvSpPr>
          <p:nvPr>
            <p:ph type="sldImg"/>
          </p:nvPr>
        </p:nvSpPr>
        <p:spPr>
          <a:xfrm>
            <a:off x="428625" y="692150"/>
            <a:ext cx="6153150" cy="3462338"/>
          </a:xfrm>
          <a:prstGeom prst="rect">
            <a:avLst/>
          </a:prstGeom>
        </p:spPr>
        <p:txBody>
          <a:bodyPr/>
          <a:lstStyle/>
          <a:p>
            <a:endParaRPr lang="en-US"/>
          </a:p>
        </p:txBody>
      </p:sp>
      <p:sp>
        <p:nvSpPr>
          <p:cNvPr id="3" name="Notes Placeholder 2">
            <a:extLst>
              <a:ext uri="{FF2B5EF4-FFF2-40B4-BE49-F238E27FC236}">
                <a16:creationId xmlns:a16="http://schemas.microsoft.com/office/drawing/2014/main" id="{D545C5E5-FB50-0623-2B60-7DE1AD544D63}"/>
              </a:ext>
            </a:extLst>
          </p:cNvPr>
          <p:cNvSpPr>
            <a:spLocks noGrp="1"/>
          </p:cNvSpPr>
          <p:nvPr>
            <p:ph type="body" idx="1"/>
          </p:nvPr>
        </p:nvSpPr>
        <p:spPr/>
        <p:txBody>
          <a:bodyPr/>
          <a:lstStyle/>
          <a:p>
            <a:r>
              <a:t>BUYER-FIRST FRAME | Ask which repetitive or constrained work is absorbing capacity in the customer's IT operation. The autonomous workforce is a possible capability, but the buyer's desired result, ownership and constraints come first. Do not imply instantaneous capacity or deployment.</a:t>
            </a:r>
          </a:p>
          <a:p>
            <a:endParaRPr/>
          </a:p>
          <a:p>
            <a:r>
              <a:t>--- EXISTING FACILITATOR NOTES ---</a:t>
            </a:r>
          </a:p>
          <a:p>
            <a:r>
              <a:t>SCALE YOUR TEAM WITH INSTANT CAPACITY</a:t>
            </a:r>
          </a:p>
          <a:p>
            <a:endParaRPr/>
          </a:p>
          <a:p>
            <a:r>
              <a:t>ServiceNow's product story is compelling: domain-specific AI specialists can perform jobs rather than simply make task suggestions, learn and improve with use, and be deployed with existing security and context.</a:t>
            </a:r>
          </a:p>
          <a:p>
            <a:endParaRPr/>
          </a:p>
          <a:p>
            <a:r>
              <a:t>For Crossfuze, the buyer's practical questions are: which use cases do we permit first; what data may the specialist access; whose approval is needed before a sensitive action; how do we trace and stop it; and who is accountable when exceptions occur?</a:t>
            </a:r>
          </a:p>
          <a:p>
            <a:endParaRPr/>
          </a:p>
          <a:p>
            <a:r>
              <a:t>Avoid implying that out-of-the-box availability means a customer's estate has been assessed, configured, governed or licensed for every workload.</a:t>
            </a:r>
          </a:p>
        </p:txBody>
      </p:sp>
      <p:sp>
        <p:nvSpPr>
          <p:cNvPr id="4" name="Slide Number Placeholder 3">
            <a:extLst>
              <a:ext uri="{FF2B5EF4-FFF2-40B4-BE49-F238E27FC236}">
                <a16:creationId xmlns:a16="http://schemas.microsoft.com/office/drawing/2014/main" id="{559D8F3E-1043-4D22-B209-360AF68593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0" u="none" strike="noStrike" kern="1200" cap="none" spc="0" normalizeH="0" baseline="0" noProof="0" smtClean="0">
                <a:ln>
                  <a:noFill/>
                </a:ln>
                <a:solidFill>
                  <a:prstClr val="black"/>
                </a:solidFill>
                <a:effectLst/>
                <a:uLnTx/>
                <a:uFillTx/>
                <a:latin typeface="Source Sans 3" panose="020B05040401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u="none" strike="noStrike" kern="1200" cap="none" spc="0" normalizeH="0" baseline="0" noProof="0">
              <a:ln>
                <a:noFill/>
              </a:ln>
              <a:solidFill>
                <a:prstClr val="black"/>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3770209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6AFE1-8389-F13C-F321-0C25FBB71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46E0D-ABF8-06ED-29D0-52A349789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FE884-0B92-1C57-A3EC-2E393B9FC4A0}"/>
              </a:ext>
            </a:extLst>
          </p:cNvPr>
          <p:cNvSpPr>
            <a:spLocks noGrp="1"/>
          </p:cNvSpPr>
          <p:nvPr>
            <p:ph type="body" idx="1"/>
          </p:nvPr>
        </p:nvSpPr>
        <p:spPr/>
        <p:txBody>
          <a:bodyPr/>
          <a:lstStyle/>
          <a:p>
            <a:r>
              <a:t>BUYER EXAMPLES | Use these use cases as prompts. Ask which one is relevant to the customer's operational backlog; do not assume feasibility, entitlement or delivery timing.</a:t>
            </a:r>
          </a:p>
          <a:p>
            <a:endParaRPr/>
          </a:p>
          <a:p>
            <a:r>
              <a:t>--- EXISTING FACILITATOR NOTES ---</a:t>
            </a:r>
          </a:p>
          <a:p>
            <a:r>
              <a:t>DO THE WORK THAT MATTERS MOST</a:t>
            </a:r>
          </a:p>
          <a:p>
            <a:endParaRPr/>
          </a:p>
          <a:p>
            <a:r>
              <a:t>The source contrasts tasks an AI specialist can perform — updates, triage, password resets, routing, provisioning, vulnerability scanning — with what the IT team gets back: service quality, faster responses, less complexity, fewer staffing constraints, better cybersecurity outcomes.</a:t>
            </a:r>
          </a:p>
          <a:p>
            <a:endParaRPr/>
          </a:p>
          <a:p>
            <a:r>
              <a:t>ASK: Which of these workflows would be the most useful in your organisation? Then ask the harder question: can you show enough evidence to allow AI to execute this workflow safely?</a:t>
            </a:r>
          </a:p>
          <a:p>
            <a:endParaRPr/>
          </a:p>
          <a:p>
            <a:r>
              <a:t>Crossfuze identifies the first use case at the intersection of business value and readiness, rather than declaring all the workflows ready because ServiceNow can technically support them.</a:t>
            </a:r>
          </a:p>
          <a:p>
            <a:endParaRPr/>
          </a:p>
          <a:p>
            <a:r>
              <a:t>The same decision logic also applies outside IT, but these examples intentionally preserve the original ServiceNow Autonomous IT frame.</a:t>
            </a:r>
          </a:p>
        </p:txBody>
      </p:sp>
      <p:sp>
        <p:nvSpPr>
          <p:cNvPr id="4" name="Slide Number Placeholder 3">
            <a:extLst>
              <a:ext uri="{FF2B5EF4-FFF2-40B4-BE49-F238E27FC236}">
                <a16:creationId xmlns:a16="http://schemas.microsoft.com/office/drawing/2014/main" id="{8AEB3CCD-07E4-C17A-33A9-56870A2CA866}"/>
              </a:ext>
            </a:extLst>
          </p:cNvPr>
          <p:cNvSpPr>
            <a:spLocks noGrp="1"/>
          </p:cNvSpPr>
          <p:nvPr>
            <p:ph type="sldNum" sz="quarter" idx="5"/>
          </p:nvPr>
        </p:nvSpPr>
        <p:spPr/>
        <p:txBody>
          <a:bodyPr/>
          <a:lstStyle/>
          <a:p>
            <a:fld id="{074299CD-3469-7241-AD37-C0E01E3A61D2}" type="slidenum">
              <a:rPr lang="en-US" smtClean="0"/>
              <a:pPr/>
              <a:t>13</a:t>
            </a:fld>
            <a:endParaRPr lang="en-US"/>
          </a:p>
        </p:txBody>
      </p:sp>
    </p:spTree>
    <p:extLst>
      <p:ext uri="{BB962C8B-B14F-4D97-AF65-F5344CB8AC3E}">
        <p14:creationId xmlns:p14="http://schemas.microsoft.com/office/powerpoint/2010/main" val="687098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892FA-EB2F-13D3-1068-16B94F1A3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B53EC-EE9B-F95E-2F7C-61916A63E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29E54-8DAA-05C5-0F47-A4CFD3300DFA}"/>
              </a:ext>
            </a:extLst>
          </p:cNvPr>
          <p:cNvSpPr>
            <a:spLocks noGrp="1"/>
          </p:cNvSpPr>
          <p:nvPr>
            <p:ph type="body" idx="1"/>
          </p:nvPr>
        </p:nvSpPr>
        <p:spPr/>
        <p:txBody>
          <a:bodyPr/>
          <a:lstStyle/>
          <a:p>
            <a:r>
              <a:t>PROOF HANDLING | External company success examples illustrate market possibility, not guaranteed Crossfuze or customer results. Attribute any case-study numbers and distinguish observed results from projected outcomes.</a:t>
            </a:r>
          </a:p>
          <a:p>
            <a:endParaRPr/>
          </a:p>
          <a:p>
            <a:r>
              <a:t>--- EXISTING FACILITATOR NOTES ---</a:t>
            </a:r>
          </a:p>
          <a:p>
            <a:r>
              <a:t>SERVICE NOW AI PACESETTER EVIDENCE</a:t>
            </a:r>
          </a:p>
          <a:p>
            <a:endParaRPr/>
          </a:p>
          <a:p>
            <a:r>
              <a:t>The original ServiceNow presentation contains a nine-tile grid of customer outcome examples, including reductions in event tickets and mean time to resolve, automated ticket handling, savings in staff hours, self-service gains and employee productivity. The figures and logos are retained from the supplied source. These are ServiceNow/customer proof points, not Crossfuze results.</a:t>
            </a:r>
          </a:p>
          <a:p>
            <a:endParaRPr/>
          </a:p>
          <a:p>
            <a:r>
              <a:t>Important: proof of potential does not mean a different customer's instance will deliver the same results. Verify approved attribution, definitions and source dates before external sales use. Do not combine metrics from different customers into one guaranteed outcome.</a:t>
            </a:r>
          </a:p>
          <a:p>
            <a:endParaRPr/>
          </a:p>
          <a:p>
            <a:r>
              <a:t>TRANSITION: Enterprise AI value is measurable. Which outcome should the customer's readiness investment target first?</a:t>
            </a:r>
          </a:p>
        </p:txBody>
      </p:sp>
      <p:sp>
        <p:nvSpPr>
          <p:cNvPr id="4" name="Slide Number Placeholder 3">
            <a:extLst>
              <a:ext uri="{FF2B5EF4-FFF2-40B4-BE49-F238E27FC236}">
                <a16:creationId xmlns:a16="http://schemas.microsoft.com/office/drawing/2014/main" id="{0066DAE2-FA1C-6E87-64D5-FF8DE820E7A9}"/>
              </a:ext>
            </a:extLst>
          </p:cNvPr>
          <p:cNvSpPr>
            <a:spLocks noGrp="1"/>
          </p:cNvSpPr>
          <p:nvPr>
            <p:ph type="sldNum" sz="quarter" idx="5"/>
          </p:nvPr>
        </p:nvSpPr>
        <p:spPr/>
        <p:txBody>
          <a:bodyPr/>
          <a:lstStyle/>
          <a:p>
            <a:fld id="{074299CD-3469-7241-AD37-C0E01E3A61D2}" type="slidenum">
              <a:rPr lang="en-US" smtClean="0"/>
              <a:pPr/>
              <a:t>14</a:t>
            </a:fld>
            <a:endParaRPr lang="en-US"/>
          </a:p>
        </p:txBody>
      </p:sp>
    </p:spTree>
    <p:extLst>
      <p:ext uri="{BB962C8B-B14F-4D97-AF65-F5344CB8AC3E}">
        <p14:creationId xmlns:p14="http://schemas.microsoft.com/office/powerpoint/2010/main" val="3863077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542FD-206D-0D1D-42DB-0178048ABF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30360-3B63-F129-C79B-1AD79226CD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B4CBE2-C88B-A4E6-C7E6-2265FBBCDC89}"/>
              </a:ext>
            </a:extLst>
          </p:cNvPr>
          <p:cNvSpPr>
            <a:spLocks noGrp="1"/>
          </p:cNvSpPr>
          <p:nvPr>
            <p:ph type="body" idx="1"/>
          </p:nvPr>
        </p:nvSpPr>
        <p:spPr/>
        <p:txBody>
          <a:bodyPr/>
          <a:lstStyle/>
          <a:p>
            <a:r>
              <a:t>SERVICE MANAGEMENT — THE STARTING SCORECARD</a:t>
            </a:r>
          </a:p>
          <a:p>
            <a:endParaRPr/>
          </a:p>
          <a:p>
            <a:r>
              <a:t>Source slide shows ~30% potential reduction in Tier 1 tickets in Service Management. It is a directional ServiceNow benchmark. It is not a Crossfuze delivery forecast and should not be presented as automatic.</a:t>
            </a:r>
          </a:p>
          <a:p>
            <a:endParaRPr/>
          </a:p>
          <a:p>
            <a:r>
              <a:t>This is the first step of a useful visual contrast. Later slides build from service-management automation to broader Autonomous IT outcomes.</a:t>
            </a:r>
          </a:p>
          <a:p>
            <a:endParaRPr/>
          </a:p>
          <a:p>
            <a:r>
              <a:t>For the customer, start with current incident volumes, ticket mix, deflection eligibility, workflow complexity, quality of knowledge, staffing baseline and Assist entitlement. Even a promising ROI estimate is not credible without those facts.</a:t>
            </a:r>
          </a:p>
          <a:p>
            <a:endParaRPr/>
          </a:p>
          <a:p>
            <a:r>
              <a:t>Crossfuze connects that readiness evidence to a realistic priority and implementation backlog.</a:t>
            </a:r>
          </a:p>
        </p:txBody>
      </p:sp>
      <p:sp>
        <p:nvSpPr>
          <p:cNvPr id="4" name="Slide Number Placeholder 3">
            <a:extLst>
              <a:ext uri="{FF2B5EF4-FFF2-40B4-BE49-F238E27FC236}">
                <a16:creationId xmlns:a16="http://schemas.microsoft.com/office/drawing/2014/main" id="{D1B015AA-7D46-DC39-B756-2689E0F8D60F}"/>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62294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06B99-AD14-5AE0-EE7E-BD0854455F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9CA08-EAE6-E474-0444-127FFF39F8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64E37-8645-DC73-7608-4E8A21B7A4A8}"/>
              </a:ext>
            </a:extLst>
          </p:cNvPr>
          <p:cNvSpPr>
            <a:spLocks noGrp="1"/>
          </p:cNvSpPr>
          <p:nvPr>
            <p:ph type="body" idx="1"/>
          </p:nvPr>
        </p:nvSpPr>
        <p:spPr/>
        <p:txBody>
          <a:bodyPr/>
          <a:lstStyle/>
          <a:p>
            <a:r>
              <a:t>SERVICE MANAGEMENT — THE STARTING SCORECARD</a:t>
            </a:r>
          </a:p>
          <a:p>
            <a:endParaRPr/>
          </a:p>
          <a:p>
            <a:r>
              <a:t>Source slide shows ~30% potential reduction in Tier 1 tickets in Service Management. It is a directional ServiceNow benchmark. It is not a Crossfuze delivery forecast and should not be presented as automatic.</a:t>
            </a:r>
          </a:p>
          <a:p>
            <a:endParaRPr/>
          </a:p>
          <a:p>
            <a:r>
              <a:t>This is the first step of a useful visual contrast. Later slides build from service-management automation to broader Autonomous IT outcomes.</a:t>
            </a:r>
          </a:p>
          <a:p>
            <a:endParaRPr/>
          </a:p>
          <a:p>
            <a:r>
              <a:t>For the customer, start with current incident volumes, ticket mix, deflection eligibility, workflow complexity, quality of knowledge, staffing baseline and Assist entitlement. Even a promising ROI estimate is not credible without those facts.</a:t>
            </a:r>
          </a:p>
          <a:p>
            <a:endParaRPr/>
          </a:p>
          <a:p>
            <a:r>
              <a:t>Crossfuze connects that readiness evidence to a realistic priority and implementation backlog.</a:t>
            </a:r>
          </a:p>
        </p:txBody>
      </p:sp>
      <p:sp>
        <p:nvSpPr>
          <p:cNvPr id="4" name="Slide Number Placeholder 3">
            <a:extLst>
              <a:ext uri="{FF2B5EF4-FFF2-40B4-BE49-F238E27FC236}">
                <a16:creationId xmlns:a16="http://schemas.microsoft.com/office/drawing/2014/main" id="{4DB8319D-D6D4-2328-B822-5CB7D16808B7}"/>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1595124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F4F76-58CD-E58E-2420-BC5348E67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9150F3-04D3-AE67-6681-21D236178EA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0E8319-A8EB-39CB-6966-DF96AA8CE2E0}"/>
              </a:ext>
            </a:extLst>
          </p:cNvPr>
          <p:cNvSpPr>
            <a:spLocks noGrp="1"/>
          </p:cNvSpPr>
          <p:nvPr>
            <p:ph type="body" idx="1"/>
          </p:nvPr>
        </p:nvSpPr>
        <p:spPr/>
        <p:txBody>
          <a:bodyPr/>
          <a:lstStyle/>
          <a:p>
            <a:r>
              <a:t>SERVICE MANAGEMENT — THE STARTING SCORECARD</a:t>
            </a:r>
          </a:p>
          <a:p>
            <a:endParaRPr/>
          </a:p>
          <a:p>
            <a:r>
              <a:t>Source slide shows ~30% potential reduction in Tier 1 tickets in Service Management. It is a directional ServiceNow benchmark. It is not a Crossfuze delivery forecast and should not be presented as automatic.</a:t>
            </a:r>
          </a:p>
          <a:p>
            <a:endParaRPr/>
          </a:p>
          <a:p>
            <a:r>
              <a:t>This is the first step of a useful visual contrast. Later slides build from service-management automation to broader Autonomous IT outcomes.</a:t>
            </a:r>
          </a:p>
          <a:p>
            <a:endParaRPr/>
          </a:p>
          <a:p>
            <a:r>
              <a:t>For the customer, start with current incident volumes, ticket mix, deflection eligibility, workflow complexity, quality of knowledge, staffing baseline and Assist entitlement. Even a promising ROI estimate is not credible without those facts.</a:t>
            </a:r>
          </a:p>
          <a:p>
            <a:endParaRPr/>
          </a:p>
          <a:p>
            <a:r>
              <a:t>Crossfuze connects that readiness evidence to a realistic priority and implementation backlog.</a:t>
            </a:r>
          </a:p>
        </p:txBody>
      </p:sp>
      <p:sp>
        <p:nvSpPr>
          <p:cNvPr id="4" name="Slide Number Placeholder 3">
            <a:extLst>
              <a:ext uri="{FF2B5EF4-FFF2-40B4-BE49-F238E27FC236}">
                <a16:creationId xmlns:a16="http://schemas.microsoft.com/office/drawing/2014/main" id="{75FEEB08-A1C6-9708-7A2E-CE0717FD4B9D}"/>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2662281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70AED-574D-427C-61B6-4B3069201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44463-1CE8-D50F-14CA-F6652EB428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ABCEAE-0736-C656-E0C1-43B90F3016DC}"/>
              </a:ext>
            </a:extLst>
          </p:cNvPr>
          <p:cNvSpPr>
            <a:spLocks noGrp="1"/>
          </p:cNvSpPr>
          <p:nvPr>
            <p:ph type="body" idx="1"/>
          </p:nvPr>
        </p:nvSpPr>
        <p:spPr/>
        <p:txBody>
          <a:bodyPr/>
          <a:lstStyle/>
          <a:p>
            <a:r>
              <a:t>SERVICE MANAGEMENT — THE STARTING SCORECARD</a:t>
            </a:r>
          </a:p>
          <a:p>
            <a:endParaRPr/>
          </a:p>
          <a:p>
            <a:r>
              <a:t>Source slide shows ~30% potential reduction in Tier 1 tickets in Service Management. It is a directional ServiceNow benchmark. It is not a Crossfuze delivery forecast and should not be presented as automatic.</a:t>
            </a:r>
          </a:p>
          <a:p>
            <a:endParaRPr/>
          </a:p>
          <a:p>
            <a:r>
              <a:t>This is the first step of a useful visual contrast. Later slides build from service-management automation to broader Autonomous IT outcomes.</a:t>
            </a:r>
          </a:p>
          <a:p>
            <a:endParaRPr/>
          </a:p>
          <a:p>
            <a:r>
              <a:t>For the customer, start with current incident volumes, ticket mix, deflection eligibility, workflow complexity, quality of knowledge, staffing baseline and Assist entitlement. Even a promising ROI estimate is not credible without those facts.</a:t>
            </a:r>
          </a:p>
          <a:p>
            <a:endParaRPr/>
          </a:p>
          <a:p>
            <a:r>
              <a:t>Crossfuze connects that readiness evidence to a realistic priority and implementation backlog.</a:t>
            </a:r>
          </a:p>
        </p:txBody>
      </p:sp>
      <p:sp>
        <p:nvSpPr>
          <p:cNvPr id="4" name="Slide Number Placeholder 3">
            <a:extLst>
              <a:ext uri="{FF2B5EF4-FFF2-40B4-BE49-F238E27FC236}">
                <a16:creationId xmlns:a16="http://schemas.microsoft.com/office/drawing/2014/main" id="{C2AF7157-8964-6D35-F985-F1C652720A85}"/>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3591042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F4575-675D-28B5-BB6C-7D5BEFB0B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BE64D-DC94-FB79-62CC-BC522896825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20960B-82F3-7695-A27D-DDC6B6688EAF}"/>
              </a:ext>
            </a:extLst>
          </p:cNvPr>
          <p:cNvSpPr>
            <a:spLocks noGrp="1"/>
          </p:cNvSpPr>
          <p:nvPr>
            <p:ph type="body" idx="1"/>
          </p:nvPr>
        </p:nvSpPr>
        <p:spPr/>
        <p:txBody>
          <a:bodyPr/>
          <a:lstStyle/>
          <a:p>
            <a:r>
              <a:t>SERVICE MANAGEMENT — THE STARTING SCORECARD</a:t>
            </a:r>
          </a:p>
          <a:p>
            <a:endParaRPr/>
          </a:p>
          <a:p>
            <a:r>
              <a:t>Source slide shows ~30% potential reduction in Tier 1 tickets in Service Management. It is a directional ServiceNow benchmark. It is not a Crossfuze delivery forecast and should not be presented as automatic.</a:t>
            </a:r>
          </a:p>
          <a:p>
            <a:endParaRPr/>
          </a:p>
          <a:p>
            <a:r>
              <a:t>This is the first step of a useful visual contrast. Later slides build from service-management automation to broader Autonomous IT outcomes.</a:t>
            </a:r>
          </a:p>
          <a:p>
            <a:endParaRPr/>
          </a:p>
          <a:p>
            <a:r>
              <a:t>For the customer, start with current incident volumes, ticket mix, deflection eligibility, workflow complexity, quality of knowledge, staffing baseline and Assist entitlement. Even a promising ROI estimate is not credible without those facts.</a:t>
            </a:r>
          </a:p>
          <a:p>
            <a:endParaRPr/>
          </a:p>
          <a:p>
            <a:r>
              <a:t>Crossfuze connects that readiness evidence to a realistic priority and implementation backlog.</a:t>
            </a:r>
          </a:p>
        </p:txBody>
      </p:sp>
      <p:sp>
        <p:nvSpPr>
          <p:cNvPr id="4" name="Slide Number Placeholder 3">
            <a:extLst>
              <a:ext uri="{FF2B5EF4-FFF2-40B4-BE49-F238E27FC236}">
                <a16:creationId xmlns:a16="http://schemas.microsoft.com/office/drawing/2014/main" id="{B61B7A5B-252D-9955-C739-692DB144AB57}"/>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2575281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60BF-EFE1-BDB7-91DC-17B6758665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F6274-AE28-2DB8-6C23-6D47ABC96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B603C-7B37-368C-30BF-96CC6B8F50D8}"/>
              </a:ext>
            </a:extLst>
          </p:cNvPr>
          <p:cNvSpPr>
            <a:spLocks noGrp="1"/>
          </p:cNvSpPr>
          <p:nvPr>
            <p:ph type="body" idx="1"/>
          </p:nvPr>
        </p:nvSpPr>
        <p:spPr/>
        <p:txBody>
          <a:bodyPr/>
          <a:lstStyle/>
          <a:p>
            <a:r>
              <a:t>PLATFORM PROOF | Now on Now demonstrates a vendor example, not the customer's future result. Ask whether the same process, data and control conditions are present before translating benchmarks.</a:t>
            </a:r>
          </a:p>
          <a:p>
            <a:endParaRPr/>
          </a:p>
          <a:p>
            <a:r>
              <a:t>--- EXISTING FACILITATOR NOTES ---</a:t>
            </a:r>
          </a:p>
          <a:p>
            <a:r>
              <a:t>NOW ON NOW — SERVICE NOW'S OWN OPERATING EVIDENCE</a:t>
            </a:r>
          </a:p>
          <a:p>
            <a:endParaRPr/>
          </a:p>
          <a:p>
            <a:r>
              <a:t>This slide shows ServiceNow's own published Now on Now figures. Its nine tiles illustrate operational throughput, self-service, staffing leverage, incident closure and estimated agentic value. These are vendor-specific figures and are not a proxy for customer or Crossfuze results. Some values and dates may have evolved since the source was produced; verify before external presentation.</a:t>
            </a:r>
          </a:p>
          <a:p>
            <a:endParaRPr/>
          </a:p>
          <a:p>
            <a:r>
              <a:t>The business point is not that every organisation will replicate this scale. It is that the platform has demonstrated the potential for AI to carry real work, subject to suitable foundations.</a:t>
            </a:r>
          </a:p>
          <a:p>
            <a:endParaRPr/>
          </a:p>
          <a:p>
            <a:r>
              <a:t>Segue to the Crossfuze proposition: ServiceNow has established the capability and possible value. What is the current customer's evidence — and where can it safely begin?</a:t>
            </a:r>
          </a:p>
        </p:txBody>
      </p:sp>
      <p:sp>
        <p:nvSpPr>
          <p:cNvPr id="4" name="Slide Number Placeholder 3">
            <a:extLst>
              <a:ext uri="{FF2B5EF4-FFF2-40B4-BE49-F238E27FC236}">
                <a16:creationId xmlns:a16="http://schemas.microsoft.com/office/drawing/2014/main" id="{5296BB41-7932-FF29-38E7-602337148924}"/>
              </a:ext>
            </a:extLst>
          </p:cNvPr>
          <p:cNvSpPr>
            <a:spLocks noGrp="1"/>
          </p:cNvSpPr>
          <p:nvPr>
            <p:ph type="sldNum" sz="quarter" idx="5"/>
          </p:nvPr>
        </p:nvSpPr>
        <p:spPr/>
        <p:txBody>
          <a:bodyPr/>
          <a:lstStyle/>
          <a:p>
            <a:fld id="{074299CD-3469-7241-AD37-C0E01E3A61D2}" type="slidenum">
              <a:rPr lang="en-US" smtClean="0"/>
              <a:pPr/>
              <a:t>20</a:t>
            </a:fld>
            <a:endParaRPr lang="en-US"/>
          </a:p>
        </p:txBody>
      </p:sp>
    </p:spTree>
    <p:extLst>
      <p:ext uri="{BB962C8B-B14F-4D97-AF65-F5344CB8AC3E}">
        <p14:creationId xmlns:p14="http://schemas.microsoft.com/office/powerpoint/2010/main" val="3331121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61371-EB22-FE50-D0AE-81570C47E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6A711-7F28-FF50-C6FF-9661F15E38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12A7A1-560A-D3D5-AFAC-D44A9E0A1F85}"/>
              </a:ext>
            </a:extLst>
          </p:cNvPr>
          <p:cNvSpPr>
            <a:spLocks noGrp="1"/>
          </p:cNvSpPr>
          <p:nvPr>
            <p:ph type="body" idx="1"/>
          </p:nvPr>
        </p:nvSpPr>
        <p:spPr/>
        <p:txBody>
          <a:bodyPr/>
          <a:lstStyle/>
          <a:p>
            <a:r>
              <a:t>PLATFORM FIT | Translate Control Tower and other governance capabilities into the buyer's question: Who can authorise an autonomous action, see why it ran and stop or reverse it? Validate product entitlements and actual configuration.</a:t>
            </a:r>
          </a:p>
          <a:p>
            <a:endParaRPr/>
          </a:p>
          <a:p>
            <a:r>
              <a:t>--- EXISTING FACILITATOR NOTES ---</a:t>
            </a:r>
          </a:p>
          <a:p>
            <a:r>
              <a:t>SLIDE 20 — SENSE → DECIDE → ACT → SECURE</a:t>
            </a:r>
          </a:p>
          <a:p>
            <a:endParaRPr/>
          </a:p>
          <a:p>
            <a:r>
              <a:t>Keep the full ServiceNow platform flow shown in the source diagram. Sense consumes trustworthy enterprise data; Decide grounds and reasons using approved knowledge and governed AI; Act executes through enterprise workflows; Secure limits and monitors activity across each step.</a:t>
            </a:r>
          </a:p>
          <a:p>
            <a:endParaRPr/>
          </a:p>
          <a:p>
            <a:r>
              <a:t>Crossfuze uses the architecture as a readiness check: do the foundations actually support the proposed transaction safely, in the target customer estate? This is not a new competing product architecture.</a:t>
            </a:r>
          </a:p>
          <a:p>
            <a:endParaRPr/>
          </a:p>
          <a:p>
            <a:r>
              <a:t>For every proposed autonomous use case, specify what the agent can read, what decision is allowed, what action it can perform and who can intervene.</a:t>
            </a:r>
          </a:p>
          <a:p>
            <a:endParaRPr/>
          </a:p>
          <a:p>
            <a:endParaRPr/>
          </a:p>
        </p:txBody>
      </p:sp>
      <p:sp>
        <p:nvSpPr>
          <p:cNvPr id="4" name="Slide Number Placeholder 3">
            <a:extLst>
              <a:ext uri="{FF2B5EF4-FFF2-40B4-BE49-F238E27FC236}">
                <a16:creationId xmlns:a16="http://schemas.microsoft.com/office/drawing/2014/main" id="{C4D56327-7EEC-AF0D-ECA4-CE25D86482CC}"/>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1" i="0" u="none" strike="noStrike" kern="1200" cap="none" spc="0" normalizeH="0" baseline="0" noProof="0" smtClean="0">
                <a:ln>
                  <a:noFill/>
                </a:ln>
                <a:solidFill>
                  <a:srgbClr val="000000"/>
                </a:solidFill>
                <a:effectLst/>
                <a:uLnTx/>
                <a:uFillTx/>
                <a:latin typeface="Source Sans 3" panose="020B0504040101010104" pitchFamily="34" charset="0"/>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21</a:t>
            </a:fld>
            <a:endParaRPr kumimoji="0" lang="en-US" sz="1200" b="1" i="0" u="none" strike="noStrike" kern="1200" cap="none" spc="0" normalizeH="0" baseline="0" noProof="0">
              <a:ln>
                <a:noFill/>
              </a:ln>
              <a:solidFill>
                <a:srgbClr val="000000"/>
              </a:solidFill>
              <a:effectLst/>
              <a:uLnTx/>
              <a:uFillTx/>
              <a:latin typeface="Source Sans 3" panose="020B0504040101010104" pitchFamily="34" charset="0"/>
              <a:ea typeface="+mn-ea"/>
              <a:cs typeface="+mn-cs"/>
            </a:endParaRPr>
          </a:p>
        </p:txBody>
      </p:sp>
    </p:spTree>
    <p:extLst>
      <p:ext uri="{BB962C8B-B14F-4D97-AF65-F5344CB8AC3E}">
        <p14:creationId xmlns:p14="http://schemas.microsoft.com/office/powerpoint/2010/main" val="816638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23EAD-EBAF-DA5A-BF38-A54754807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80EC8-DDE6-AFF9-EEC2-E7529B1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B2D58-B278-75A7-DDDF-ED03F1FF1859}"/>
              </a:ext>
            </a:extLst>
          </p:cNvPr>
          <p:cNvSpPr>
            <a:spLocks noGrp="1"/>
          </p:cNvSpPr>
          <p:nvPr>
            <p:ph type="body" idx="1"/>
          </p:nvPr>
        </p:nvSpPr>
        <p:spPr/>
        <p:txBody>
          <a:bodyPr/>
          <a:lstStyle/>
          <a:p>
            <a:r>
              <a:t>BUYER-FIRST READINESS GAP | Ask the customer which high-value action they still would not let AI execute. Probe the real constraint: record/data quality, approved knowledge, workflow determinism, authority / Permission to Automate, accountability or Assist economics. The ServiceNow AI Readiness Gap is an explanatory framework, not evidence of this customer's maturity. The trajectory is illustrative.</a:t>
            </a:r>
          </a:p>
          <a:p>
            <a:endParaRPr/>
          </a:p>
          <a:p>
            <a:r>
              <a:t>--- EXISTING FACILITATOR NOTES ---</a:t>
            </a:r>
          </a:p>
          <a:p>
            <a:r>
              <a:t>SLIDE 17 — THE SERVICENOW AI READINESS GAP</a:t>
            </a:r>
          </a:p>
          <a:p>
            <a:endParaRPr/>
          </a:p>
          <a:p>
            <a:r>
              <a:t>ServiceNow AI is ready. The question is whether your organisation is. The ServiceNow AI Readiness Gap is the distance between what ServiceNow AI can do and what your organisation can safely let it do. The distance is determined by data, AI and agents, workflows and governance. More product capability alone does not close it.</a:t>
            </a:r>
          </a:p>
          <a:p>
            <a:endParaRPr/>
          </a:p>
          <a:p>
            <a:r>
              <a:t>ASK: What is the one action you would like AI to take today but are not yet comfortable permitting?</a:t>
            </a:r>
          </a:p>
          <a:p>
            <a:endParaRPr/>
          </a:p>
          <a:p>
            <a:r>
              <a:t>Crossfuze assesses the evidence, names the limiting foundation and recommends the first responsible outcome.</a:t>
            </a:r>
          </a:p>
          <a:p>
            <a:endParaRPr/>
          </a:p>
          <a:p>
            <a:r>
              <a:t>Source: The Crossfuze AI Readiness Assessment, October 2026, p.06.</a:t>
            </a:r>
          </a:p>
        </p:txBody>
      </p:sp>
      <p:sp>
        <p:nvSpPr>
          <p:cNvPr id="4" name="Slide Number Placeholder 3">
            <a:extLst>
              <a:ext uri="{FF2B5EF4-FFF2-40B4-BE49-F238E27FC236}">
                <a16:creationId xmlns:a16="http://schemas.microsoft.com/office/drawing/2014/main" id="{B8E0E2CC-8770-C935-3148-58126FFF19AD}"/>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u="none" strike="noStrike" kern="1200" cap="none" spc="0" normalizeH="0" baseline="0" noProof="0" smtClean="0">
                <a:ln>
                  <a:noFill/>
                </a:ln>
                <a:solidFill>
                  <a:srgbClr val="293E40"/>
                </a:solidFill>
                <a:effectLst/>
                <a:uLnTx/>
                <a:uFillTx/>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22</a:t>
            </a:fld>
            <a:endParaRPr kumimoji="0" lang="en-US" sz="1200" u="none" strike="noStrike" kern="1200" cap="none" spc="0" normalizeH="0" baseline="0" noProof="0">
              <a:ln>
                <a:noFill/>
              </a:ln>
              <a:solidFill>
                <a:srgbClr val="293E40"/>
              </a:solidFill>
              <a:effectLst/>
              <a:uLnTx/>
              <a:uFillTx/>
              <a:ea typeface="+mn-ea"/>
              <a:cs typeface="+mn-cs"/>
            </a:endParaRPr>
          </a:p>
        </p:txBody>
      </p:sp>
    </p:spTree>
    <p:extLst>
      <p:ext uri="{BB962C8B-B14F-4D97-AF65-F5344CB8AC3E}">
        <p14:creationId xmlns:p14="http://schemas.microsoft.com/office/powerpoint/2010/main" val="3390827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B0D11-4417-33E3-EBF1-4A4F494F6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1AB52-C914-7DC5-FA29-E1810BBD05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BA292A-175E-BC4F-3743-9B25051B1DC6}"/>
              </a:ext>
            </a:extLst>
          </p:cNvPr>
          <p:cNvSpPr>
            <a:spLocks noGrp="1"/>
          </p:cNvSpPr>
          <p:nvPr>
            <p:ph type="body" idx="1"/>
          </p:nvPr>
        </p:nvSpPr>
        <p:spPr/>
        <p:txBody>
          <a:bodyPr/>
          <a:lstStyle/>
          <a:p>
            <a:r>
              <a:t>READINESS FOUNDATION | Four foundations are a diagnostic lens. Ask which is the first blocker to the buyer's desired workflow, rather than treating every foundation as equally important.</a:t>
            </a:r>
          </a:p>
          <a:p>
            <a:endParaRPr/>
          </a:p>
          <a:p>
            <a:r>
              <a:t>--- EXISTING FACILITATOR NOTES ---</a:t>
            </a:r>
          </a:p>
          <a:p>
            <a:r>
              <a:t>SLIDE 19 — EVIDENCE BEFORE AUTONOMY</a:t>
            </a:r>
          </a:p>
          <a:p>
            <a:endParaRPr/>
          </a:p>
          <a:p>
            <a:r>
              <a:t>The guide sets group shares: Data 20%; AI and agents 15%; Workflows 30%; Governance 25%. These are aggregations of the seven weighted dimensions. A further 10% is Platform and Entitlement, evaluated per Zero and with Assist allocation fit.</a:t>
            </a:r>
          </a:p>
          <a:p>
            <a:endParaRPr/>
          </a:p>
          <a:p>
            <a:r>
              <a:t>Examples of “ready” include CMDB alignment to CSDM, review-owned knowledge, standard request/change paths with rollback, and explicit actions/approval boundaries with tested stops.</a:t>
            </a:r>
          </a:p>
          <a:p>
            <a:endParaRPr/>
          </a:p>
          <a:p>
            <a:r>
              <a:t>Do not label a foundation ready from an interview alone; evidence must be observed, calculated, inferred or assumed, and statuses remain visible. Source: Crossfuze guide pp.07–09.</a:t>
            </a:r>
          </a:p>
        </p:txBody>
      </p:sp>
      <p:sp>
        <p:nvSpPr>
          <p:cNvPr id="4" name="Slide Number Placeholder 3">
            <a:extLst>
              <a:ext uri="{FF2B5EF4-FFF2-40B4-BE49-F238E27FC236}">
                <a16:creationId xmlns:a16="http://schemas.microsoft.com/office/drawing/2014/main" id="{3A915A2E-C791-94B7-83FE-B61B48D9FFC1}"/>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7D5A0638-D244-41C1-80CC-61EB94A79260}" type="slidenum">
              <a:rPr kumimoji="0" lang="en-US" sz="1200" b="1" i="0" u="none" strike="noStrike" kern="1200" cap="none" spc="0" normalizeH="0" baseline="0" noProof="0" smtClean="0">
                <a:ln>
                  <a:noFill/>
                </a:ln>
                <a:solidFill>
                  <a:srgbClr val="000000"/>
                </a:solidFill>
                <a:effectLst/>
                <a:uLnTx/>
                <a:uFillTx/>
                <a:latin typeface="Source Sans 3" panose="020B0504040101010104" pitchFamily="34" charset="0"/>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23</a:t>
            </a:fld>
            <a:endParaRPr kumimoji="0" lang="en-US" sz="1200" b="1" i="0" u="none" strike="noStrike" kern="1200" cap="none" spc="0" normalizeH="0" baseline="0" noProof="0">
              <a:ln>
                <a:noFill/>
              </a:ln>
              <a:solidFill>
                <a:srgbClr val="000000"/>
              </a:solidFill>
              <a:effectLst/>
              <a:uLnTx/>
              <a:uFillTx/>
              <a:latin typeface="Source Sans 3" panose="020B0504040101010104" pitchFamily="34" charset="0"/>
              <a:ea typeface="+mn-ea"/>
              <a:cs typeface="+mn-cs"/>
            </a:endParaRPr>
          </a:p>
        </p:txBody>
      </p:sp>
    </p:spTree>
    <p:extLst>
      <p:ext uri="{BB962C8B-B14F-4D97-AF65-F5344CB8AC3E}">
        <p14:creationId xmlns:p14="http://schemas.microsoft.com/office/powerpoint/2010/main" val="3101200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21B5-C35F-A5CB-00D6-51D34A280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14673-1F23-3010-F534-8A9A18BDC1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B1873C-93F8-3C27-50A7-2FACF40ECA1A}"/>
              </a:ext>
            </a:extLst>
          </p:cNvPr>
          <p:cNvSpPr>
            <a:spLocks noGrp="1"/>
          </p:cNvSpPr>
          <p:nvPr>
            <p:ph type="body" idx="1"/>
          </p:nvPr>
        </p:nvSpPr>
        <p:spPr/>
        <p:txBody>
          <a:bodyPr/>
          <a:lstStyle/>
          <a:p>
            <a:r>
              <a:t>READINESS CEILING | Explain the limiting foundation in practical terms: if the required knowledge, data, workflow or control isn't dependable, AI should not act autonomously. This is a workflow-specific decision, not a score of the customer without assessment evidence.</a:t>
            </a:r>
          </a:p>
          <a:p>
            <a:endParaRPr/>
          </a:p>
          <a:p>
            <a:r>
              <a:t>--- EXISTING FACILITATOR NOTES ---</a:t>
            </a:r>
          </a:p>
          <a:p>
            <a:r>
              <a:t>SLIDE 19 — EVIDENCE BEFORE AUTONOMY</a:t>
            </a:r>
          </a:p>
          <a:p>
            <a:endParaRPr/>
          </a:p>
          <a:p>
            <a:r>
              <a:t>The guide sets group shares: Data 20%; AI and agents 15%; Workflows 30%; Governance 25%. These are aggregations of the seven weighted dimensions. A further 10% is Platform and Entitlement, evaluated per Zero and with Assist allocation fit.</a:t>
            </a:r>
          </a:p>
          <a:p>
            <a:endParaRPr/>
          </a:p>
          <a:p>
            <a:r>
              <a:t>Examples of “ready” include CMDB alignment to CSDM, review-owned knowledge, standard request/change paths with rollback, and explicit actions/approval boundaries with tested stops.</a:t>
            </a:r>
          </a:p>
          <a:p>
            <a:endParaRPr/>
          </a:p>
          <a:p>
            <a:r>
              <a:t>Do not label a foundation ready from an interview alone; evidence must be observed, calculated, inferred or assumed, and statuses remain visible. Source: Crossfuze guide pp.07–09.</a:t>
            </a:r>
          </a:p>
        </p:txBody>
      </p:sp>
      <p:sp>
        <p:nvSpPr>
          <p:cNvPr id="4" name="Slide Number Placeholder 3">
            <a:extLst>
              <a:ext uri="{FF2B5EF4-FFF2-40B4-BE49-F238E27FC236}">
                <a16:creationId xmlns:a16="http://schemas.microsoft.com/office/drawing/2014/main" id="{652FEA5A-D3BE-F787-D13B-B2937DA73BE1}"/>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7D5A0638-D244-41C1-80CC-61EB94A79260}" type="slidenum">
              <a:rPr kumimoji="0" lang="en-US" sz="1200" b="1" i="0" u="none" strike="noStrike" kern="1200" cap="none" spc="0" normalizeH="0" baseline="0" noProof="0" smtClean="0">
                <a:ln>
                  <a:noFill/>
                </a:ln>
                <a:solidFill>
                  <a:srgbClr val="000000"/>
                </a:solidFill>
                <a:effectLst/>
                <a:uLnTx/>
                <a:uFillTx/>
                <a:latin typeface="Source Sans 3" panose="020B0504040101010104" pitchFamily="34" charset="0"/>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24</a:t>
            </a:fld>
            <a:endParaRPr kumimoji="0" lang="en-US" sz="1200" b="1" i="0" u="none" strike="noStrike" kern="1200" cap="none" spc="0" normalizeH="0" baseline="0" noProof="0">
              <a:ln>
                <a:noFill/>
              </a:ln>
              <a:solidFill>
                <a:srgbClr val="000000"/>
              </a:solidFill>
              <a:effectLst/>
              <a:uLnTx/>
              <a:uFillTx/>
              <a:latin typeface="Source Sans 3" panose="020B0504040101010104" pitchFamily="34" charset="0"/>
              <a:ea typeface="+mn-ea"/>
              <a:cs typeface="+mn-cs"/>
            </a:endParaRPr>
          </a:p>
        </p:txBody>
      </p:sp>
    </p:spTree>
    <p:extLst>
      <p:ext uri="{BB962C8B-B14F-4D97-AF65-F5344CB8AC3E}">
        <p14:creationId xmlns:p14="http://schemas.microsoft.com/office/powerpoint/2010/main" val="4122121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B973-2A8A-1CBA-FA8B-105859841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E880A-DC47-E44E-0628-ADCBEC659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80071-AEB6-269B-C694-F544BD29E4CA}"/>
              </a:ext>
            </a:extLst>
          </p:cNvPr>
          <p:cNvSpPr>
            <a:spLocks noGrp="1"/>
          </p:cNvSpPr>
          <p:nvPr>
            <p:ph type="body" idx="1"/>
          </p:nvPr>
        </p:nvSpPr>
        <p:spPr/>
        <p:txBody>
          <a:bodyPr/>
          <a:lstStyle/>
          <a:p>
            <a:r>
              <a:t>OUTCOME OPTIONS | Invite the buyer to compare potential operational benefit and prerequisite readiness. These are possible first-Zero destinations, not guaranteed projects.</a:t>
            </a:r>
          </a:p>
          <a:p>
            <a:endParaRPr/>
          </a:p>
          <a:p>
            <a:r>
              <a:t>--- EXISTING FACILITATOR NOTES ---</a:t>
            </a:r>
          </a:p>
          <a:p>
            <a:r>
              <a:t>SLIDE 23 — AUTONOMY IS EARNED</a:t>
            </a:r>
          </a:p>
          <a:p>
            <a:endParaRPr/>
          </a:p>
          <a:p>
            <a:r>
              <a:t>The Five Zeros remain the ServiceNow Autonomous IT destination: Zero-Touch Support, Zero Service Outages, Zero Asset Issues, Zero Severe Breaches and Zero Misaligned Investments. The word Zero describes the North Star, not an unconditional promise.</a:t>
            </a:r>
          </a:p>
          <a:p>
            <a:endParaRPr/>
          </a:p>
          <a:p>
            <a:r>
              <a:t>Here is the contrast: without trusted data, defined workflows, owners and governance, an AI action is a risk. With these foundations and control evidence, the organisation can permit an appropriate, bounded action and earn greater autonomy.</a:t>
            </a:r>
          </a:p>
          <a:p>
            <a:endParaRPr/>
          </a:p>
          <a:p>
            <a:r>
              <a:t>Permission must expand in line with observed outcomes and safe controls, not just because another AI feature has been purchased.</a:t>
            </a:r>
          </a:p>
          <a:p>
            <a:endParaRPr/>
          </a:p>
          <a:p>
            <a:r>
              <a:t>Crossfuze works backwards from a measurable desired outcome to a readiness decision and a first delivery backlog.</a:t>
            </a:r>
          </a:p>
        </p:txBody>
      </p:sp>
      <p:sp>
        <p:nvSpPr>
          <p:cNvPr id="4" name="Slide Number Placeholder 3">
            <a:extLst>
              <a:ext uri="{FF2B5EF4-FFF2-40B4-BE49-F238E27FC236}">
                <a16:creationId xmlns:a16="http://schemas.microsoft.com/office/drawing/2014/main" id="{FEE03475-FC8F-41AE-4C36-120C31B05890}"/>
              </a:ext>
            </a:extLst>
          </p:cNvPr>
          <p:cNvSpPr>
            <a:spLocks noGrp="1"/>
          </p:cNvSpPr>
          <p:nvPr>
            <p:ph type="sldNum" sz="quarter" idx="5"/>
          </p:nvPr>
        </p:nvSpPr>
        <p:spPr/>
        <p:txBody>
          <a:bodyPr/>
          <a:lstStyle/>
          <a:p>
            <a:fld id="{AC99737D-32E8-4B52-9546-A4BD6A7EE8EF}" type="slidenum">
              <a:rPr lang="en-US" smtClean="0"/>
              <a:t>25</a:t>
            </a:fld>
            <a:endParaRPr lang="en-US"/>
          </a:p>
        </p:txBody>
      </p:sp>
    </p:spTree>
    <p:extLst>
      <p:ext uri="{BB962C8B-B14F-4D97-AF65-F5344CB8AC3E}">
        <p14:creationId xmlns:p14="http://schemas.microsoft.com/office/powerpoint/2010/main" val="20733161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7DA9-223C-6944-1F6C-B55ECE1DFF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828B80-AFEC-268C-D6B5-BEE8C7CFB9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3658F1-55EA-FD91-2444-2BFED3029893}"/>
              </a:ext>
            </a:extLst>
          </p:cNvPr>
          <p:cNvSpPr>
            <a:spLocks noGrp="1"/>
          </p:cNvSpPr>
          <p:nvPr>
            <p:ph type="body" idx="1"/>
          </p:nvPr>
        </p:nvSpPr>
        <p:spPr/>
        <p:txBody>
          <a:bodyPr/>
          <a:lstStyle/>
          <a:p>
            <a:r>
              <a:t>BUYER DECISION | 'Where could we remove the most operational friction, without taking on risk or Assist consumption we do not understand?' Compare business value, readiness evidence, Permission to Automate and expected usage. This is a candidate starting point; the 90-minute assessment provides the next layer of evidence, not a guaranteed outcome.</a:t>
            </a:r>
          </a:p>
          <a:p>
            <a:endParaRPr/>
          </a:p>
          <a:p>
            <a:r>
              <a:t>--- EXISTING FACILITATOR NOTES ---</a:t>
            </a:r>
          </a:p>
          <a:p>
            <a:r>
              <a:t>SLIDE 24 — PICK YOUR STARTING POINT</a:t>
            </a:r>
          </a:p>
          <a:p>
            <a:endParaRPr/>
          </a:p>
          <a:p>
            <a:r>
              <a:t>Use ServiceNow’s five Zero options. But instead of the largest promised ROI, choose the FIRST outcome based on (1) meaningful measurable business value, (2) smallest critical readiness gaps, (3) governance/permission for the proposed actions, and (4) the likely Assist consumption and package/entitlement fit.</a:t>
            </a:r>
          </a:p>
          <a:p>
            <a:endParaRPr/>
          </a:p>
          <a:p>
            <a:r>
              <a:t>Outcome choices: Zero-Touch Support, Zero Service Outages, Zero Asset Issues, Zero Severe Breaches, Zero Misaligned Investments. All source outcome figures are directional, not guaranteed. The same readiness and value/consumption logic may be applied to business workflows in HR, Finance, Procurement and other ServiceNow processes, without renaming the IT-specific Five Zeros.</a:t>
            </a:r>
          </a:p>
          <a:p>
            <a:endParaRPr/>
          </a:p>
          <a:p>
            <a:r>
              <a:t>ASK: What would be the most useful first demonstrably safe production outcome?</a:t>
            </a:r>
          </a:p>
          <a:p>
            <a:endParaRPr/>
          </a:p>
          <a:p>
            <a:r>
              <a:t>BRIDGE TO ACT 4: The free tools and the 90-minute Crossfuze Readiness Assessment produce an initial AI Readiness Decision Brief. AI RunState is then the 12-month mechanism to plan, prioritise and ship approved outcomes through the AI Action Plan, backlog cycles and Extend Services.</a:t>
            </a:r>
          </a:p>
        </p:txBody>
      </p:sp>
      <p:sp>
        <p:nvSpPr>
          <p:cNvPr id="4" name="Slide Number Placeholder 3">
            <a:extLst>
              <a:ext uri="{FF2B5EF4-FFF2-40B4-BE49-F238E27FC236}">
                <a16:creationId xmlns:a16="http://schemas.microsoft.com/office/drawing/2014/main" id="{5A53AC79-53E1-4E3A-5D42-C661337ADB93}"/>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1327704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9DC2-2B8D-EB50-8E71-4FD8B544D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C964A-EDDA-51F1-6E85-CB3FB48BA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E32E7-13F6-2D09-B536-50C55294D988}"/>
              </a:ext>
            </a:extLst>
          </p:cNvPr>
          <p:cNvSpPr>
            <a:spLocks noGrp="1"/>
          </p:cNvSpPr>
          <p:nvPr>
            <p:ph type="body" idx="1"/>
          </p:nvPr>
        </p:nvSpPr>
        <p:spPr/>
        <p:txBody>
          <a:bodyPr/>
          <a:lstStyle/>
          <a:p>
            <a:r>
              <a:t>BUYER JOURNEY | The buyer needs three decisions, not three product pitches: (1) Is there a readiness signal? Optional free self-serve Benchmark/Estimator are directional. (2) Where should we begin? The free 90-minute assessment creates an initial AI Readiness Decision Brief with assumptions and limitations. (3) How can it be delivered? If justified, a separately scoped paid AI RunState engagement provides advisory, backlog and Extend delivery capacity. Do not imply that paid AI RunState is automatically agreed or that production is guaranteed in 90 days.</a:t>
            </a:r>
          </a:p>
          <a:p>
            <a:endParaRPr/>
          </a:p>
          <a:p>
            <a:r>
              <a:t>--- EXISTING FACILITATOR NOTES ---</a:t>
            </a:r>
          </a:p>
          <a:p>
            <a:r>
              <a:t>SLIDE 27 — THREE STEPS. THE FIRST TWO ARE FREE</a:t>
            </a:r>
          </a:p>
          <a:p>
            <a:endParaRPr/>
          </a:p>
          <a:p>
            <a:r>
              <a:t>01 SELF-SERVE TOOLS: free AI Readiness Benchmark and Assist Estimator + Tier Map. Approximately ten minutes if used before the call. They are optional, not required prework.</a:t>
            </a:r>
          </a:p>
          <a:p>
            <a:endParaRPr/>
          </a:p>
          <a:p>
            <a:r>
              <a:t>02 90-MINUTE AI READINESS ASSESSMENT: a free, facilitated session with the Crossfuze AI practice. Based on available evidence, it produces an initial AI Readiness Decision Brief. It is not a full platform configuration inspection or technical validation and provisional findings remain visible.</a:t>
            </a:r>
          </a:p>
          <a:p>
            <a:endParaRPr/>
          </a:p>
          <a:p>
            <a:r>
              <a:t>03 CROSSFUZE AI RUNSTATE: the paid, 12-month engagement turning selected outcomes into delivery: AI Action Plan, backlog cycles and Extend Services. User controls priorities and acceptance.</a:t>
            </a:r>
          </a:p>
          <a:p>
            <a:endParaRPr/>
          </a:p>
          <a:p>
            <a:r>
              <a:t>Keep these as three distinct products/steps. The self-serve online benchmark is not the same as the facilitated assessment.</a:t>
            </a:r>
          </a:p>
          <a:p>
            <a:endParaRPr/>
          </a:p>
          <a:p>
            <a:r>
              <a:t>Source: Crossfuze guide pp.04,16–19,20.</a:t>
            </a:r>
          </a:p>
        </p:txBody>
      </p:sp>
      <p:sp>
        <p:nvSpPr>
          <p:cNvPr id="4" name="Slide Number Placeholder 3">
            <a:extLst>
              <a:ext uri="{FF2B5EF4-FFF2-40B4-BE49-F238E27FC236}">
                <a16:creationId xmlns:a16="http://schemas.microsoft.com/office/drawing/2014/main" id="{76FC6C7D-D993-18A5-6252-C19A898595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922090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8E41-B75D-ACAE-EE3F-E4423D5D5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3CB3F-11C2-046B-62B3-414F11BB0E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27F04D-D3E1-5A36-252C-6B00536D99E5}"/>
              </a:ext>
            </a:extLst>
          </p:cNvPr>
          <p:cNvSpPr>
            <a:spLocks noGrp="1"/>
          </p:cNvSpPr>
          <p:nvPr>
            <p:ph type="body" idx="1"/>
          </p:nvPr>
        </p:nvSpPr>
        <p:spPr/>
        <p:txBody>
          <a:bodyPr/>
          <a:lstStyle/>
          <a:p>
            <a:r>
              <a:t>Illustrative score only: This is NOT the customer’s readiness assessment. Explain that the initial assessment evaluates seven weighted dimensions, identifies the limiting prerequisite and records evidence confidence. The 5.2/10 example and knowledge ceiling must not be presented as customer facts.</a:t>
            </a:r>
          </a:p>
        </p:txBody>
      </p:sp>
      <p:sp>
        <p:nvSpPr>
          <p:cNvPr id="4" name="Slide Number Placeholder 3">
            <a:extLst>
              <a:ext uri="{FF2B5EF4-FFF2-40B4-BE49-F238E27FC236}">
                <a16:creationId xmlns:a16="http://schemas.microsoft.com/office/drawing/2014/main" id="{5BD39B1D-8E8F-3213-09C5-59D9D08312EC}"/>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2301523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Buyer economic question: What will usage cost, and will the outcome justify it? The 25/50/150 Assist examples and 1.5M total are planning illustrations only, not contracted rates or customer forecasts. Tier choice also depends on capability, entitlements, P90 usage and the actual ServiceNow agreement. Confirm separately with ServiceNow.</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42454-87FC-687B-61A2-1371E3A31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F1BB7-AAF8-A88D-B6F7-25455C1FB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2A612-6E96-A839-36D4-141E243DE152}"/>
              </a:ext>
            </a:extLst>
          </p:cNvPr>
          <p:cNvSpPr>
            <a:spLocks noGrp="1"/>
          </p:cNvSpPr>
          <p:nvPr>
            <p:ph type="body" idx="1"/>
          </p:nvPr>
        </p:nvSpPr>
        <p:spPr/>
        <p:txBody>
          <a:bodyPr/>
          <a:lstStyle/>
          <a:p>
            <a:r>
              <a:t>Free 90-minute assessment output: a provisional AI Readiness Decision Brief identifying where the evidence points, limitations, indicative Assist/tier findings, a candidate first outcome and initial 90-day priorities. Do not represent this as a completed technical audit, production validation or the detailed 90-day roadmap produced under the paid Action Plan.</a:t>
            </a:r>
          </a:p>
        </p:txBody>
      </p:sp>
      <p:sp>
        <p:nvSpPr>
          <p:cNvPr id="4" name="Slide Number Placeholder 3">
            <a:extLst>
              <a:ext uri="{FF2B5EF4-FFF2-40B4-BE49-F238E27FC236}">
                <a16:creationId xmlns:a16="http://schemas.microsoft.com/office/drawing/2014/main" id="{8A7BC2C7-2918-11E9-8BB9-C2B5B32D4F9D}"/>
              </a:ext>
            </a:extLst>
          </p:cNvPr>
          <p:cNvSpPr>
            <a:spLocks noGrp="1"/>
          </p:cNvSpPr>
          <p:nvPr>
            <p:ph type="sldNum" sz="quarter" idx="5"/>
          </p:nvPr>
        </p:nvSpPr>
        <p:spPr/>
        <p:txBody>
          <a:bodyPr/>
          <a:lstStyle/>
          <a:p>
            <a:fld id="{7DBFE203-3816-D140-BE21-2503F399308C}" type="slidenum">
              <a:rPr lang="en-US" smtClean="0"/>
              <a:t>30</a:t>
            </a:fld>
            <a:endParaRPr lang="en-US"/>
          </a:p>
        </p:txBody>
      </p:sp>
    </p:spTree>
    <p:extLst>
      <p:ext uri="{BB962C8B-B14F-4D97-AF65-F5344CB8AC3E}">
        <p14:creationId xmlns:p14="http://schemas.microsoft.com/office/powerpoint/2010/main" val="23519009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AI RunState after the Decision Brief. This is not the assessment and is not a licence. The SOW describes an annual service of three connected components: AI Action Plan to decide what matters and in what order; Backlog Prioritization to turn agreed outcomes and demand into delivery-ready stories; Extend to deliver accepted stories within contracted monthly capacity. Customer owns prioritization, UAT and production approval. This is a proposed paid engagement after Meeting 2 and agreement of scope and commercial terms. Avoid promises of production outcomes or delivery speed.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AC8DB-829A-51E0-2C52-6FC454595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CFF81-7840-6F82-CDCB-D78063AA50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202BC-58AD-F9D1-DED7-B86597BBC40F}"/>
              </a:ext>
            </a:extLst>
          </p:cNvPr>
          <p:cNvSpPr>
            <a:spLocks noGrp="1"/>
          </p:cNvSpPr>
          <p:nvPr>
            <p:ph type="body" idx="1"/>
          </p:nvPr>
        </p:nvSpPr>
        <p:spPr/>
        <p:txBody>
          <a:bodyPr/>
          <a:lstStyle/>
          <a:p>
            <a:r>
              <a:t>OPEN — HOW READY ARE YOU TO LET AI ACT?</a:t>
            </a:r>
          </a:p>
          <a:p>
            <a:endParaRPr/>
          </a:p>
          <a:p>
            <a:r>
              <a:t>ServiceNow has made powerful AI capabilities available. The hard question for an enterprise isn't just whether the technology can act. It's whether your data, workflows, knowledge and governance are ready to let it act safely. Today is about moving from AI potential to evidence-led decisions — and then continuing to deliver outcomes.</a:t>
            </a:r>
          </a:p>
          <a:p>
            <a:endParaRPr/>
          </a:p>
          <a:p>
            <a:r>
              <a:t>Core theme: Autonomy Is Earned. Part of Preparing for the Autonomous Enterprise.</a:t>
            </a:r>
          </a:p>
          <a:p>
            <a:endParaRPr/>
          </a:p>
          <a:p>
            <a:endParaRPr/>
          </a:p>
        </p:txBody>
      </p:sp>
      <p:sp>
        <p:nvSpPr>
          <p:cNvPr id="4" name="Slide Number Placeholder 3">
            <a:extLst>
              <a:ext uri="{FF2B5EF4-FFF2-40B4-BE49-F238E27FC236}">
                <a16:creationId xmlns:a16="http://schemas.microsoft.com/office/drawing/2014/main" id="{8CDDB455-C77B-95EF-20D0-11AE090A0902}"/>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u="none" strike="noStrike" kern="1200" cap="none" spc="0" normalizeH="0" baseline="0" noProof="0" smtClean="0">
                <a:ln>
                  <a:noFill/>
                </a:ln>
                <a:solidFill>
                  <a:srgbClr val="293E40"/>
                </a:solidFill>
                <a:effectLst/>
                <a:uLnTx/>
                <a:uFillTx/>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32</a:t>
            </a:fld>
            <a:endParaRPr kumimoji="0" lang="en-US" sz="1200" u="none" strike="noStrike" kern="1200" cap="none" spc="0" normalizeH="0" baseline="0" noProof="0">
              <a:ln>
                <a:noFill/>
              </a:ln>
              <a:solidFill>
                <a:srgbClr val="293E40"/>
              </a:solidFill>
              <a:effectLst/>
              <a:uLnTx/>
              <a:uFillTx/>
              <a:ea typeface="+mn-ea"/>
              <a:cs typeface="+mn-cs"/>
            </a:endParaRPr>
          </a:p>
        </p:txBody>
      </p:sp>
    </p:spTree>
    <p:extLst>
      <p:ext uri="{BB962C8B-B14F-4D97-AF65-F5344CB8AC3E}">
        <p14:creationId xmlns:p14="http://schemas.microsoft.com/office/powerpoint/2010/main" val="3661002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SOW alignment: Crossfuze AI Run State is a 12-month paid service. Its AI Action Plan establishes a baseline, prioritises AI opportunities and produces a 90-day roadmap, with two advisory reviews over the term. Up to four Backlog Prioritization cycles reconcile demand from the Action Plan AND existing customer sources, refine stories, assess feasibility, estimate and sequence work, and prepare customer-approved delivery backlogs. Extend Services provides 80 contracted hours per month for nine months after onboarding, with no monthly rollover, to review/configure/test eligible approved backlog work including ServiceNow enhancements, platform administration, defects and support. It does not promise to clear the entire existing backlog or guarantee every proposed story or a fixed rate of deployment. New-module implementations, professional-services projects and any single item &gt;40 hours are out of scope and need separate contract. Customer retains priorities, decisions, licensing, UAT and production approval. AI-specific oversight remains with customer. Meeting 1 goal is agreement to the free 90-minute AI Readiness Assessment, not the paid engagement.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42454-87FC-687B-61A2-1371E3A31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F1BB7-AAF8-A88D-B6F7-25455C1FB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2A612-6E96-A839-36D4-141E243DE152}"/>
              </a:ext>
            </a:extLst>
          </p:cNvPr>
          <p:cNvSpPr>
            <a:spLocks noGrp="1"/>
          </p:cNvSpPr>
          <p:nvPr>
            <p:ph type="body" idx="1"/>
          </p:nvPr>
        </p:nvSpPr>
        <p:spPr/>
        <p:txBody>
          <a:bodyPr/>
          <a:lstStyle/>
          <a:p>
            <a:r>
              <a:t>AI RUNSTATE | SOW-ALIGNED DELIVERY TIMELINE</a:t>
            </a:r>
          </a:p>
          <a:p>
            <a:endParaRPr/>
          </a:p>
          <a:p>
            <a:r>
              <a:t>Source: 2026_10 AI Run State_US_DRAFTv1.0 4a.docx, Timeline pages 6-7.</a:t>
            </a:r>
          </a:p>
          <a:p>
            <a:r>
              <a:t>Months 1-2 AI Action Plan (initial advisory approximately 8 weeks). Month 3 onboarding and Backlog Cycle 1 (cycle spans months 3-4). Months 4-12 Extend delivery at 80 hours per month for nine months; unused monthly hours expire and never roll over. Further cycles months 6-7, 9-10 and 12. Second advisory review months 7-8.</a:t>
            </a:r>
          </a:p>
          <a:p>
            <a:endParaRPr/>
          </a:p>
          <a:p>
            <a:r>
              <a:t>This supersedes the earlier illustrative 90-day progression that implied delivery/production within 90 days of service commencement. Product owner approval and Crossfuze TL acceptance required. Fourth backlog cycle can prepare a subsequent quarter or potential renewal, but renewal is not automatic. Calendar depends on prerequisites. No specific customer use case is guaranteed to be shipped.</a:t>
            </a:r>
          </a:p>
        </p:txBody>
      </p:sp>
      <p:sp>
        <p:nvSpPr>
          <p:cNvPr id="4" name="Slide Number Placeholder 3">
            <a:extLst>
              <a:ext uri="{FF2B5EF4-FFF2-40B4-BE49-F238E27FC236}">
                <a16:creationId xmlns:a16="http://schemas.microsoft.com/office/drawing/2014/main" id="{8A7BC2C7-2918-11E9-8BB9-C2B5B32D4F9D}"/>
              </a:ext>
            </a:extLst>
          </p:cNvPr>
          <p:cNvSpPr>
            <a:spLocks noGrp="1"/>
          </p:cNvSpPr>
          <p:nvPr>
            <p:ph type="sldNum" sz="quarter" idx="5"/>
          </p:nvPr>
        </p:nvSpPr>
        <p:spPr/>
        <p:txBody>
          <a:bodyPr/>
          <a:lstStyle/>
          <a:p>
            <a:fld id="{7DBFE203-3816-D140-BE21-2503F399308C}" type="slidenum">
              <a:rPr lang="en-US" smtClean="0"/>
              <a:t>34</a:t>
            </a:fld>
            <a:endParaRPr lang="en-US"/>
          </a:p>
        </p:txBody>
      </p:sp>
    </p:spTree>
    <p:extLst>
      <p:ext uri="{BB962C8B-B14F-4D97-AF65-F5344CB8AC3E}">
        <p14:creationId xmlns:p14="http://schemas.microsoft.com/office/powerpoint/2010/main" val="23519009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Meeting 1 conversion objective: ask agreement to a FREE 90-minute AI Readiness Assessment. Explain the three elements of the working session: candidate first outcome, readiness/control evidence, and indicative Assist demand. Outcome is an initial Decision Brief, not a final quoted implementation plan.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Stage 02 recap: populate each bracketed finding from the actual 90-minute AI Readiness Decision Brief. Quote whether the evidence is full/provisional/unavailable. Do not invent a score, tier fit, value forecast or customer agreement. Use the summary to introduce the proposed first Zero.</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904930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recommended first Zero from the assessment, not as an assumed result. Replace selected Zero and workflow placeholders. Justify with three decision criteria: business value, actual readiness evidence, and first measurable proof. Obtain customer agreement or record the amendments required. Other Zeros remain destinations. Transition to existing evidence-validation slide: "Now let us test the dependencies for that workflow."</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768968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AEFB5-36A8-3074-8987-9438F0DA3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BCB02-094B-6C3E-EEF2-4573FFB3F1A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D4D7B53-4392-1B2D-BF19-A20475081144}"/>
              </a:ext>
            </a:extLst>
          </p:cNvPr>
          <p:cNvSpPr>
            <a:spLocks noGrp="1"/>
          </p:cNvSpPr>
          <p:nvPr>
            <p:ph type="body" idx="1"/>
          </p:nvPr>
        </p:nvSpPr>
        <p:spPr/>
        <p:txBody>
          <a:bodyPr/>
          <a:lstStyle/>
          <a:p>
            <a:r>
              <a:t>SLIDE 29 — AI RUNSTATE. PLAN IT. PRIORITISE IT. SHIP IT.</a:t>
            </a:r>
          </a:p>
          <a:p>
            <a:endParaRPr/>
          </a:p>
          <a:p>
            <a:r>
              <a:t>Crossfuze AI RunState is one 12-month engagement for ServiceNow AI across Autonomous IT and Business Re-Invention. The exact customer scope is confirmed by the SOW.</a:t>
            </a:r>
          </a:p>
          <a:p>
            <a:endParaRPr/>
          </a:p>
          <a:p>
            <a:r>
              <a:t>PLAN — AI ACTION PLAN: advisory at the start (Month 1, approximately eight weeks) and a second advisory review in Month 7. Facilitated workshop-led baseline, gaps and dependencies, prioritised use cases, current/future-state experience, draft user stories and an AI Action Plan with a first 90-day roadmap.</a:t>
            </a:r>
          </a:p>
          <a:p>
            <a:endParaRPr/>
          </a:p>
          <a:p>
            <a:r>
              <a:t>PRIORITISE — BACKLOG CYCLES: up to four planning cycles (approximately six weeks each) from Month 3 and quarterly afterward. They resolve requirements, acceptance criteria, dependencies, effort, sequencing and capacity; the customer Product Owner approves the backlog.</a:t>
            </a:r>
          </a:p>
          <a:p>
            <a:endParaRPr/>
          </a:p>
          <a:p>
            <a:r>
              <a:t>SHIP — EXTEND SERVICES: 80 hours per month for nine months. A named Technical Lead and Crossfuze capacity build, configure, test and remediate against approved user stories. The customer retains approval and acceptance. Scope/hours are SOW-dependent.</a:t>
            </a:r>
          </a:p>
          <a:p>
            <a:endParaRPr/>
          </a:p>
          <a:p>
            <a:r>
              <a:t>Do not equate 80 hours/month with the full 12 months; Extend is scheduled for 9 months in the source guide.</a:t>
            </a:r>
          </a:p>
          <a:p>
            <a:endParaRPr/>
          </a:p>
          <a:p>
            <a:r>
              <a:t>Source: Crossfuze AI Readiness Guide pp.18–19.</a:t>
            </a:r>
          </a:p>
        </p:txBody>
      </p:sp>
      <p:sp>
        <p:nvSpPr>
          <p:cNvPr id="4" name="Slide Number Placeholder 3">
            <a:extLst>
              <a:ext uri="{FF2B5EF4-FFF2-40B4-BE49-F238E27FC236}">
                <a16:creationId xmlns:a16="http://schemas.microsoft.com/office/drawing/2014/main" id="{CA529E06-7A0B-B7CF-BAA7-7770678AAA49}"/>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0" u="none" strike="noStrike" kern="1200" cap="none" spc="0" normalizeH="0" baseline="0" noProof="0" smtClean="0">
                <a:ln>
                  <a:noFill/>
                </a:ln>
                <a:solidFill>
                  <a:srgbClr val="293E40"/>
                </a:solidFill>
                <a:effectLst/>
                <a:uLnTx/>
                <a:uFillTx/>
                <a:latin typeface="Source Sans 3" panose="020B0504040101010104" pitchFamily="34" charset="77"/>
                <a:ea typeface="+mn-ea"/>
                <a:cs typeface="Source Sans 3"/>
                <a:sym typeface="Source Sans 3"/>
              </a:rPr>
              <a:pPr marL="0" marR="0" lvl="0" indent="0" algn="r" defTabSz="457040" rtl="0" eaLnBrk="1" fontAlgn="auto" latinLnBrk="0" hangingPunct="1">
                <a:lnSpc>
                  <a:spcPct val="100000"/>
                </a:lnSpc>
                <a:spcBef>
                  <a:spcPts val="0"/>
                </a:spcBef>
                <a:spcAft>
                  <a:spcPts val="0"/>
                </a:spcAft>
                <a:buClrTx/>
                <a:buSzTx/>
                <a:buFontTx/>
                <a:buNone/>
                <a:tabLst/>
                <a:defRPr/>
              </a:pPr>
              <a:t>38</a:t>
            </a:fld>
            <a:endParaRPr kumimoji="0" lang="en-US" sz="1200" b="0" u="none" strike="noStrike" kern="1200" cap="none" spc="0" normalizeH="0" baseline="0" noProof="0">
              <a:ln>
                <a:noFill/>
              </a:ln>
              <a:solidFill>
                <a:srgbClr val="293E40"/>
              </a:solidFill>
              <a:effectLst/>
              <a:uLnTx/>
              <a:uFillTx/>
              <a:latin typeface="Source Sans 3" panose="020B0504040101010104" pitchFamily="34" charset="77"/>
              <a:ea typeface="+mn-ea"/>
              <a:cs typeface="Source Sans 3"/>
              <a:sym typeface="Source Sans 3"/>
            </a:endParaRPr>
          </a:p>
        </p:txBody>
      </p:sp>
    </p:spTree>
    <p:extLst>
      <p:ext uri="{BB962C8B-B14F-4D97-AF65-F5344CB8AC3E}">
        <p14:creationId xmlns:p14="http://schemas.microsoft.com/office/powerpoint/2010/main" val="34500692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US DRAFT COMMERCIAL REFERENCE - DO NOT PRESENT</a:t>
            </a:r>
          </a:p>
          <a:p>
            <a:endParaRPr/>
          </a:p>
          <a:p>
            <a:r>
              <a:t>Source draft SOW pages 7-8: $15,500 per month, 12 months, total $186,000 USD, excl applicable taxes. Paid monthly from service commencement. Valid for 30 days after delivery of formal SOW. Licences/AI Assist balances are customer-provided, expenses and change orders separate. Noncancellable for convenience. Renewal/change only by signed change order. This is a regional draft not universal commercial packaging. Verify before quoting. This slide is hidden in PowerPoint Show.</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MEETING 1 CLOSE | Ask for a specific 90-minute assessment date and the platform/process/ownership stakeholders needed. Explain the input and output briefly: candidate Zero, evidence, limiting foundation, Permission to Automate and indicative consumption; a documented initial Decision Brief with unknowns. Do not close the paid 12-month engagement at Meeting 1.</a:t>
            </a:r>
          </a:p>
          <a:p>
            <a:endParaRPr/>
          </a:p>
          <a:p>
            <a:r>
              <a:t>--- EXISTING FACILITATOR NOTES ---</a:t>
            </a:r>
          </a:p>
          <a:p>
            <a:r>
              <a:t>Close on the free 90-minute AI Readiness Assessment — not a commitment to a paid AI RunState engagement. In the session, explore candidate outcomes, evidence across the seven readiness dimensions, permission and governance controls, and indicative Assist consumption and tier assumptions. The initial AI Readiness Decision Brief records limitations and further validation required, the first candidate outcome and first 90-day priorities. AI RunState is a separately scoped and quoted 12-month engagement discussed after Meeting 2.</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CTA | Preserve 'The Confidence to Keep Evolving' and 'Autonomy Is Earned'. Close on booking the free 90-minute assessment. The detailed AI RunState service is a later commercial decision, subject to scoping and approval.</a:t>
            </a:r>
          </a:p>
          <a:p>
            <a:endParaRPr/>
          </a:p>
          <a:p>
            <a:r>
              <a:t>--- EXISTING FACILITATOR NOTES ---</a:t>
            </a:r>
          </a:p>
          <a:p>
            <a:r>
              <a:t>SLIDE 30 — THE CONFIDENCE TO KEEP EVOLVING</a:t>
            </a:r>
          </a:p>
          <a:p>
            <a:endParaRPr/>
          </a:p>
          <a:p>
            <a:r>
              <a:t>This is the approved Crossfuze promise, not a claim that safe autonomy can be guaranteed from a single session.</a:t>
            </a:r>
          </a:p>
          <a:p>
            <a:endParaRPr/>
          </a:p>
          <a:p>
            <a:r>
              <a:t>Closing script: ServiceNow provides the AI. The readiness of your data, agents, workflows and governance determines what that AI can safely do today. The Crossfuze AI Readiness Assessment gives you an evidence-led starting decision. Crossfuze AI RunState makes delivery continuous: an AI Action Plan, backlog planning that adapts and Extend capacity to ship the chosen outcomes.</a:t>
            </a:r>
          </a:p>
          <a:p>
            <a:endParaRPr/>
          </a:p>
          <a:p>
            <a:r>
              <a:t>Autonomy Is Earned. The Confidence to Keep Evolving.</a:t>
            </a:r>
          </a:p>
          <a:p>
            <a:endParaRPr/>
          </a:p>
          <a:p>
            <a:r>
              <a:t>Primary CTA: book the free 90-minute assessment. Secondary: use the AI Readiness Benchmark and Assist Estimator.</a:t>
            </a:r>
          </a:p>
          <a:p>
            <a:endParaRPr/>
          </a:p>
          <a:p>
            <a:r>
              <a:t>No customer proof is implied by this closing visual.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49AE9-B3E2-B641-473C-D6FB51767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B6AF0-32FD-93C0-E02A-80E045F476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DD6F890-63C4-DC61-FB4C-05D3106B3B85}"/>
              </a:ext>
            </a:extLst>
          </p:cNvPr>
          <p:cNvSpPr>
            <a:spLocks noGrp="1"/>
          </p:cNvSpPr>
          <p:nvPr>
            <p:ph type="body" sz="quarter" idx="3"/>
          </p:nvPr>
        </p:nvSpPr>
        <p:spPr/>
        <p:txBody>
          <a:bodyPr/>
          <a:lstStyle/>
          <a:p>
            <a:r>
              <a:t>SLIDE 30 — THE CONFIDENCE TO KEEP EVOLVING</a:t>
            </a:r>
          </a:p>
          <a:p>
            <a:endParaRPr/>
          </a:p>
          <a:p>
            <a:r>
              <a:t>This is the approved Crossfuze promise, not a claim that safe autonomy can be guaranteed from a single session.</a:t>
            </a:r>
          </a:p>
          <a:p>
            <a:endParaRPr/>
          </a:p>
          <a:p>
            <a:r>
              <a:t>Closing script: ServiceNow provides the AI. The readiness of your data, agents, workflows and governance determines what that AI can safely do today. The Crossfuze AI Readiness Assessment gives you an evidence-led starting decision. Crossfuze AI RunState makes delivery continuous: an AI Action Plan, backlog planning that adapts and Extend capacity to ship the chosen outcomes.</a:t>
            </a:r>
          </a:p>
          <a:p>
            <a:endParaRPr/>
          </a:p>
          <a:p>
            <a:r>
              <a:t>Autonomy Is Earned. The Confidence to Keep Evolving.</a:t>
            </a:r>
          </a:p>
          <a:p>
            <a:endParaRPr/>
          </a:p>
          <a:p>
            <a:r>
              <a:t>Primary CTA: book the free 90-minute assessment. Secondary: use the AI Readiness Benchmark and Assist Estimator.</a:t>
            </a:r>
          </a:p>
          <a:p>
            <a:endParaRPr/>
          </a:p>
          <a:p>
            <a:r>
              <a:t>No customer proof is implied by this closing visual.</a:t>
            </a:r>
          </a:p>
        </p:txBody>
      </p:sp>
      <p:sp>
        <p:nvSpPr>
          <p:cNvPr id="4" name="Slide Number Placeholder 3">
            <a:extLst>
              <a:ext uri="{FF2B5EF4-FFF2-40B4-BE49-F238E27FC236}">
                <a16:creationId xmlns:a16="http://schemas.microsoft.com/office/drawing/2014/main" id="{2A4F37D3-3BD5-1685-F93B-4828DF794A21}"/>
              </a:ext>
            </a:extLst>
          </p:cNvPr>
          <p:cNvSpPr>
            <a:spLocks noGrp="1"/>
          </p:cNvSpPr>
          <p:nvPr>
            <p:ph type="sldNum" sz="quarter" idx="5"/>
          </p:nvPr>
        </p:nvSpPr>
        <p:spPr/>
      </p:sp>
    </p:spTree>
    <p:extLst>
      <p:ext uri="{BB962C8B-B14F-4D97-AF65-F5344CB8AC3E}">
        <p14:creationId xmlns:p14="http://schemas.microsoft.com/office/powerpoint/2010/main" val="13080572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3315D-A516-702C-EB68-CE63595D4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4A283-7F07-807C-B76D-859BBF5783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A56A0-3858-D7D0-A61E-43101DEDBA23}"/>
              </a:ext>
            </a:extLst>
          </p:cNvPr>
          <p:cNvSpPr>
            <a:spLocks noGrp="1"/>
          </p:cNvSpPr>
          <p:nvPr>
            <p:ph type="body" idx="1"/>
          </p:nvPr>
        </p:nvSpPr>
        <p:spPr/>
        <p:txBody>
          <a:bodyPr/>
          <a:lstStyle/>
          <a:p>
            <a:r>
              <a:t>ACT 2 CLOSE — WHAT WOULD YOUR AI READINESS SCORECARD SHOW?</a:t>
            </a:r>
          </a:p>
          <a:p>
            <a:endParaRPr/>
          </a:p>
          <a:p>
            <a:r>
              <a:t>This slide is deliberately adapted from ServiceNow's Five Zeros scorecard. The question marks mean NOT YET ASSESSED; they are not zero scores or evidence of failure. The five prompts help begin a practical discovery: AI in production, trusted data, governed agents, Assist consumption, and measurable outcomes.</a:t>
            </a:r>
          </a:p>
          <a:p>
            <a:endParaRPr/>
          </a:p>
          <a:p>
            <a:r>
              <a:t>The formal Crossfuze Readiness Assessment goes deeper than these opening questions. The assessment evaluates weighted, evidence-backed readiness dimensions and identifies the limiting foundation (the autonomy ceiling), alongside technical constraints, governance gaps, a priority use case and indicative consumption.</a:t>
            </a:r>
          </a:p>
          <a:p>
            <a:endParaRPr/>
          </a:p>
          <a:p>
            <a:r>
              <a:t>ASK: Which of these five questions can you answer with evidence today? Which is still a guess?</a:t>
            </a:r>
          </a:p>
          <a:p>
            <a:endParaRPr/>
          </a:p>
          <a:p>
            <a:r>
              <a:t>HANDOFF TO ACT 3: ServiceNow AI is ready. The question is whether the enterprise foundations are ready to support safe action. That is the ServiceNow AI Readiness Gap and why the Crossfuze 90-minute Assessment is an appropriate first decision step. AI RunState is the ongoing delivery engagement after the decision.</a:t>
            </a:r>
          </a:p>
        </p:txBody>
      </p:sp>
      <p:sp>
        <p:nvSpPr>
          <p:cNvPr id="4" name="Slide Number Placeholder 3">
            <a:extLst>
              <a:ext uri="{FF2B5EF4-FFF2-40B4-BE49-F238E27FC236}">
                <a16:creationId xmlns:a16="http://schemas.microsoft.com/office/drawing/2014/main" id="{48094B5C-15A8-C465-A3AD-8F1C2AFC339A}"/>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AC99737D-32E8-4B52-9546-A4BD6A7EE8EF}" type="slidenum">
              <a:rPr kumimoji="0" lang="en-US" sz="1200" b="0" i="0" u="none" strike="noStrike" kern="1200" cap="none" spc="0" normalizeH="0" baseline="0" noProof="0" smtClean="0">
                <a:ln>
                  <a:noFill/>
                </a:ln>
                <a:solidFill>
                  <a:srgbClr val="000000"/>
                </a:solidFill>
                <a:effectLst/>
                <a:uLnTx/>
                <a:uFillTx/>
                <a:latin typeface="Source Sans 3" panose="020B0504040101010104" pitchFamily="34" charset="77"/>
                <a:ea typeface="+mn-ea"/>
                <a:cs typeface="+mn-cs"/>
              </a:rPr>
              <a:pPr marL="0" marR="0" lvl="0" indent="0" algn="r" defTabSz="45704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srgbClr val="000000"/>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40805576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11FF3-0016-8CC1-A31B-D8C15F319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612B3-2D50-72E1-8040-7CA0C13EE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35C81-2953-6A6C-28A1-E16B2E9D5E11}"/>
              </a:ext>
            </a:extLst>
          </p:cNvPr>
          <p:cNvSpPr>
            <a:spLocks noGrp="1"/>
          </p:cNvSpPr>
          <p:nvPr>
            <p:ph type="body" idx="1"/>
          </p:nvPr>
        </p:nvSpPr>
        <p:spPr/>
        <p:txBody>
          <a:bodyPr/>
          <a:lstStyle/>
          <a:p>
            <a:r>
              <a:t>SLIDE 26 — TOGETHER, WE TURN READINESS INTO MOMENTUM</a:t>
            </a:r>
          </a:p>
          <a:p>
            <a:endParaRPr/>
          </a:p>
          <a:p>
            <a:r>
              <a:t>This is an adaptation of the ServiceNow commitment-to-success slide. Do not retain the original 24% and 21% claims here: those metrics refer to ServiceNow Impact success plans, not Crossfuze AI RunState. The two figures now describe the Crossfuze engagement structure: a first 90-day roadmap, and a twelve-month AI RunState engagement.</a:t>
            </a:r>
          </a:p>
          <a:p>
            <a:endParaRPr/>
          </a:p>
          <a:p>
            <a:r>
              <a:t>This customer story connects assessment to delivery. The Decision Brief tells us where to start; advisory designs the AI Action Plan; backlog planning reacts to shifting priorities; Extend builds, configures and tests approved items.</a:t>
            </a:r>
          </a:p>
          <a:p>
            <a:endParaRPr/>
          </a:p>
          <a:p>
            <a:r>
              <a:t>In the Crossfuze guide, the first 90-minute assessment is free and the self-serve benchmark/estimator is free. AI RunState is a separately scoped delivery offer.</a:t>
            </a:r>
          </a:p>
          <a:p>
            <a:endParaRPr/>
          </a:p>
          <a:p>
            <a:r>
              <a:t>Source: Crossfuze Readiness Guide, October 2026, pp.16–19.</a:t>
            </a:r>
          </a:p>
        </p:txBody>
      </p:sp>
      <p:sp>
        <p:nvSpPr>
          <p:cNvPr id="4" name="Slide Number Placeholder 3">
            <a:extLst>
              <a:ext uri="{FF2B5EF4-FFF2-40B4-BE49-F238E27FC236}">
                <a16:creationId xmlns:a16="http://schemas.microsoft.com/office/drawing/2014/main" id="{05948BD8-1BF6-E7DE-EE44-ED7CC78F9B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031961-1ECE-C444-BF55-AC1DD21E9334}" type="slidenum">
              <a:rPr kumimoji="0" lang="en-US" sz="1200" b="0" u="none" strike="noStrike" kern="1200" cap="none" spc="0" normalizeH="0" baseline="0" noProof="0" smtClean="0">
                <a:ln>
                  <a:noFill/>
                </a:ln>
                <a:solidFill>
                  <a:prstClr val="black"/>
                </a:solidFill>
                <a:effectLst/>
                <a:uLnTx/>
                <a:uFillTx/>
                <a:latin typeface="Source Sans 3" panose="020B05040401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u="none" strike="noStrike" kern="1200" cap="none" spc="0" normalizeH="0" baseline="0" noProof="0">
              <a:ln>
                <a:noFill/>
              </a:ln>
              <a:solidFill>
                <a:prstClr val="black"/>
              </a:solidFill>
              <a:effectLst/>
              <a:uLnTx/>
              <a:uFillTx/>
              <a:latin typeface="Source Sans 3" panose="020B0504040101010104" pitchFamily="34" charset="77"/>
              <a:ea typeface="+mn-ea"/>
              <a:cs typeface="+mn-cs"/>
            </a:endParaRPr>
          </a:p>
        </p:txBody>
      </p:sp>
    </p:spTree>
    <p:extLst>
      <p:ext uri="{BB962C8B-B14F-4D97-AF65-F5344CB8AC3E}">
        <p14:creationId xmlns:p14="http://schemas.microsoft.com/office/powerpoint/2010/main" val="8639811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7EABD-C979-6D56-BE25-CD68D2D97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13397-72E2-787E-DD27-4893D50B2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7163B-4EB9-1899-B821-80EA5220A58A}"/>
              </a:ext>
            </a:extLst>
          </p:cNvPr>
          <p:cNvSpPr>
            <a:spLocks noGrp="1"/>
          </p:cNvSpPr>
          <p:nvPr>
            <p:ph type="body" idx="1"/>
          </p:nvPr>
        </p:nvSpPr>
        <p:spPr/>
        <p:txBody>
          <a:bodyPr/>
          <a:lstStyle/>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24156631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357E4-5741-43C1-82CA-28B42BB6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743E1-DABF-D2FA-8CD5-834BE94D8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EB535-354D-17E4-259A-C572E9562CF2}"/>
              </a:ext>
            </a:extLst>
          </p:cNvPr>
          <p:cNvSpPr>
            <a:spLocks noGrp="1"/>
          </p:cNvSpPr>
          <p:nvPr>
            <p:ph type="body" idx="1"/>
          </p:nvPr>
        </p:nvSpPr>
        <p:spPr/>
        <p:txBody>
          <a:bodyPr/>
          <a:lstStyle/>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25380468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A1492-3540-1A82-269D-C55199896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BA10E-A482-1B38-5AB6-57509F81C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640D07-E949-B5C9-4ABD-D86706D27FB5}"/>
              </a:ext>
            </a:extLst>
          </p:cNvPr>
          <p:cNvSpPr>
            <a:spLocks noGrp="1"/>
          </p:cNvSpPr>
          <p:nvPr>
            <p:ph type="body" idx="1"/>
          </p:nvPr>
        </p:nvSpPr>
        <p:spPr/>
        <p:txBody>
          <a:bodyPr/>
          <a:lstStyle/>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32108060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4FECA-61C8-0732-CBC6-0E7287102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23579-1536-9A98-81B7-05CE7D0EE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8B30F-DD0E-4915-5E13-C8D3D892CE04}"/>
              </a:ext>
            </a:extLst>
          </p:cNvPr>
          <p:cNvSpPr>
            <a:spLocks noGrp="1"/>
          </p:cNvSpPr>
          <p:nvPr>
            <p:ph type="body" idx="1"/>
          </p:nvPr>
        </p:nvSpPr>
        <p:spPr/>
        <p:txBody>
          <a:bodyPr/>
          <a:lstStyle/>
          <a:p>
            <a:r>
              <a:t>SLIDE 21 — PERMISSION TO AUTOMATE</a:t>
            </a:r>
          </a:p>
          <a:p>
            <a:endParaRPr/>
          </a:p>
          <a:p>
            <a:r>
              <a:t>Seven named controls must be checked before an agent executes actions without a human in the loop: (1) Inventory, (2) Risk tier, (3) Authority, (4) Explainability, (5) Exception handling, (6) Kill switch, (7) Rollback.</a:t>
            </a:r>
          </a:p>
          <a:p>
            <a:endParaRPr/>
          </a:p>
          <a:p>
            <a:r>
              <a:t>Find it: know what agents exist and classify risk. Bound it: specify explicit limits, log why actions happen and define escalation to a person. Stop it: test the stop and know who can reverse the action.</a:t>
            </a:r>
          </a:p>
          <a:p>
            <a:endParaRPr/>
          </a:p>
          <a:p>
            <a:r>
              <a:t>If a required control is missing, AI may recommend, but should not take the autonomous action. This is a boundary decision, not a broad prediction of success.</a:t>
            </a:r>
          </a:p>
          <a:p>
            <a:endParaRPr/>
          </a:p>
          <a:p>
            <a:r>
              <a:t>Source: Crossfuze Readiness Assessment, Permission to Automate, p.10.</a:t>
            </a:r>
          </a:p>
        </p:txBody>
      </p:sp>
    </p:spTree>
    <p:extLst>
      <p:ext uri="{BB962C8B-B14F-4D97-AF65-F5344CB8AC3E}">
        <p14:creationId xmlns:p14="http://schemas.microsoft.com/office/powerpoint/2010/main" val="2713966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25 — AI IN EVERY PACKAGE. USAGE THAT SCALES</a:t>
            </a:r>
          </a:p>
          <a:p>
            <a:endParaRPr/>
          </a:p>
          <a:p>
            <a:r>
              <a:t>The Crossfuze source guide describes Foundation (Assisted), Advanced (Agentic), and Prime (Autonomous) packages, while emphasizing that allocation and entitlement vary by product and package. Do not suggest that every function is included at every tier or that every customer has the same allocation.</a:t>
            </a:r>
          </a:p>
          <a:p>
            <a:endParaRPr/>
          </a:p>
          <a:p>
            <a:r>
              <a:t>Assist consumption is based on agentic run complexity: 25 Assists for a narrow run of 0–4 tools; 50 for a medium run with 5–8 tools; 150 for a wide run with 9–20 tools. A wide run consumes six times a narrow run. These are the planning run sizes in the source guide, not a universal bill.</a:t>
            </a:r>
          </a:p>
          <a:p>
            <a:endParaRPr/>
          </a:p>
          <a:p>
            <a:r>
              <a:t>ILLUSTRATIVE ONLY: 30,000 narrow × 25 + 5,000 wide × 150 = 1.5M Assists annually. This must be replaced by customer-specific run volumes, tool counts, configuration and allocation. Assist consumption and Data Fabric credits are separate meters.</a:t>
            </a:r>
          </a:p>
          <a:p>
            <a:endParaRPr/>
          </a:p>
          <a:p>
            <a:r>
              <a:t>Why readiness matters: clean data, owned knowledge and deterministic workflows help reduce waste and rework. Crossfuze models the value and consumption of the chosen Zero before renewal.</a:t>
            </a:r>
          </a:p>
          <a:p>
            <a:endParaRPr/>
          </a:p>
          <a:p>
            <a:r>
              <a:t>Source: Crossfuze Readiness Guide, October 2026, pp.13–14; ServiceNow commercial model referenced by guide.</a:t>
            </a:r>
          </a:p>
          <a:p>
            <a:endParaRPr/>
          </a:p>
          <a:p>
            <a:r>
              <a:t>TRANSITION: Estimation is important, but estimates alone do not put governed AI into production.</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34FF2-F812-2C76-7EFB-DE472DEAB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26927-7ED6-86BA-6015-31BF0B20F8C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F450B85-FAE3-352D-8BE7-424CAAFED86E}"/>
              </a:ext>
            </a:extLst>
          </p:cNvPr>
          <p:cNvSpPr>
            <a:spLocks noGrp="1"/>
          </p:cNvSpPr>
          <p:nvPr>
            <p:ph type="body" idx="1"/>
          </p:nvPr>
        </p:nvSpPr>
        <p:spPr/>
        <p:txBody>
          <a:bodyPr/>
          <a:lstStyle/>
          <a:p>
            <a:r>
              <a:t>SLIDE 29 — AI RUNSTATE. PLAN IT. PRIORITISE IT. SHIP IT.</a:t>
            </a:r>
          </a:p>
          <a:p>
            <a:endParaRPr/>
          </a:p>
          <a:p>
            <a:r>
              <a:t>Crossfuze AI RunState is one 12-month engagement for ServiceNow AI across Autonomous IT and Business Re-Invention. The exact customer scope is confirmed by the SOW.</a:t>
            </a:r>
          </a:p>
          <a:p>
            <a:endParaRPr/>
          </a:p>
          <a:p>
            <a:r>
              <a:t>PLAN — AI ACTION PLAN: advisory at the start (Month 1, approximately eight weeks) and a second advisory review in Month 7. Facilitated workshop-led baseline, gaps and dependencies, prioritised use cases, current/future-state experience, draft user stories and an AI Action Plan with a first 90-day roadmap.</a:t>
            </a:r>
          </a:p>
          <a:p>
            <a:endParaRPr/>
          </a:p>
          <a:p>
            <a:r>
              <a:t>PRIORITISE — BACKLOG CYCLES: up to four planning cycles (approximately six weeks each) from Month 3 and quarterly afterward. They resolve requirements, acceptance criteria, dependencies, effort, sequencing and capacity; the customer Product Owner approves the backlog.</a:t>
            </a:r>
          </a:p>
          <a:p>
            <a:endParaRPr/>
          </a:p>
          <a:p>
            <a:r>
              <a:t>SHIP — EXTEND SERVICES: 80 hours per month for nine months. A named Technical Lead and Crossfuze capacity build, configure, test and remediate against approved user stories. The customer retains approval and acceptance. Scope/hours are SOW-dependent.</a:t>
            </a:r>
          </a:p>
          <a:p>
            <a:endParaRPr/>
          </a:p>
          <a:p>
            <a:r>
              <a:t>Do not equate 80 hours/month with the full 12 months; Extend is scheduled for 9 months in the source guide.</a:t>
            </a:r>
          </a:p>
          <a:p>
            <a:endParaRPr/>
          </a:p>
          <a:p>
            <a:r>
              <a:t>Source: Crossfuze AI Readiness Guide pp.18–19.</a:t>
            </a:r>
          </a:p>
        </p:txBody>
      </p:sp>
      <p:sp>
        <p:nvSpPr>
          <p:cNvPr id="4" name="Slide Number Placeholder 3">
            <a:extLst>
              <a:ext uri="{FF2B5EF4-FFF2-40B4-BE49-F238E27FC236}">
                <a16:creationId xmlns:a16="http://schemas.microsoft.com/office/drawing/2014/main" id="{C7D33CC9-B167-C4E0-0B21-25DF84AFE896}"/>
              </a:ext>
            </a:extLst>
          </p:cNvPr>
          <p:cNvSpPr>
            <a:spLocks noGrp="1"/>
          </p:cNvSpPr>
          <p:nvPr>
            <p:ph type="sldNum" sz="quarter" idx="5"/>
          </p:nvPr>
        </p:nvSpPr>
        <p:spPr/>
        <p:txBody>
          <a:bodyPr/>
          <a:lstStyle/>
          <a:p>
            <a:pPr marL="0" marR="0" lvl="0" indent="0" algn="r" defTabSz="457040" rtl="0" eaLnBrk="1" fontAlgn="auto" latinLnBrk="0" hangingPunct="1">
              <a:lnSpc>
                <a:spcPct val="100000"/>
              </a:lnSpc>
              <a:spcBef>
                <a:spcPts val="0"/>
              </a:spcBef>
              <a:spcAft>
                <a:spcPts val="0"/>
              </a:spcAft>
              <a:buClrTx/>
              <a:buSzTx/>
              <a:buFontTx/>
              <a:buNone/>
              <a:tabLst/>
              <a:defRPr/>
            </a:pPr>
            <a:fld id="{074299CD-3469-7241-AD37-C0E01E3A61D2}" type="slidenum">
              <a:rPr kumimoji="0" lang="en-US" sz="1200" b="0" u="none" strike="noStrike" kern="1200" cap="none" spc="0" normalizeH="0" baseline="0" noProof="0" smtClean="0">
                <a:ln>
                  <a:noFill/>
                </a:ln>
                <a:solidFill>
                  <a:srgbClr val="293E40"/>
                </a:solidFill>
                <a:effectLst/>
                <a:uLnTx/>
                <a:uFillTx/>
                <a:latin typeface="Source Sans 3" panose="020B0504040101010104" pitchFamily="34" charset="77"/>
                <a:ea typeface="+mn-ea"/>
                <a:cs typeface="Source Sans 3"/>
                <a:sym typeface="Source Sans 3"/>
              </a:rPr>
              <a:pPr marL="0" marR="0" lvl="0" indent="0" algn="r" defTabSz="457040" rtl="0" eaLnBrk="1" fontAlgn="auto" latinLnBrk="0" hangingPunct="1">
                <a:lnSpc>
                  <a:spcPct val="100000"/>
                </a:lnSpc>
                <a:spcBef>
                  <a:spcPts val="0"/>
                </a:spcBef>
                <a:spcAft>
                  <a:spcPts val="0"/>
                </a:spcAft>
                <a:buClrTx/>
                <a:buSzTx/>
                <a:buFontTx/>
                <a:buNone/>
                <a:tabLst/>
                <a:defRPr/>
              </a:pPr>
              <a:t>50</a:t>
            </a:fld>
            <a:endParaRPr kumimoji="0" lang="en-US" sz="1200" b="0" u="none" strike="noStrike" kern="1200" cap="none" spc="0" normalizeH="0" baseline="0" noProof="0">
              <a:ln>
                <a:noFill/>
              </a:ln>
              <a:solidFill>
                <a:srgbClr val="293E40"/>
              </a:solidFill>
              <a:effectLst/>
              <a:uLnTx/>
              <a:uFillTx/>
              <a:latin typeface="Source Sans 3" panose="020B0504040101010104" pitchFamily="34" charset="77"/>
              <a:ea typeface="+mn-ea"/>
              <a:cs typeface="Source Sans 3"/>
              <a:sym typeface="Source Sans 3"/>
            </a:endParaRPr>
          </a:p>
        </p:txBody>
      </p:sp>
    </p:spTree>
    <p:extLst>
      <p:ext uri="{BB962C8B-B14F-4D97-AF65-F5344CB8AC3E}">
        <p14:creationId xmlns:p14="http://schemas.microsoft.com/office/powerpoint/2010/main" val="41215613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pic>
        <p:nvPicPr>
          <p:cNvPr id="2" name="Picture 1" descr="A blue and green background&#10;&#10;AI-generated content may be incorrect.">
            <a:extLst>
              <a:ext uri="{FF2B5EF4-FFF2-40B4-BE49-F238E27FC236}">
                <a16:creationId xmlns:a16="http://schemas.microsoft.com/office/drawing/2014/main" id="{426570CD-46A2-132F-F02E-1600C115ECAA}"/>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6" name="Title 5">
            <a:extLst>
              <a:ext uri="{FF2B5EF4-FFF2-40B4-BE49-F238E27FC236}">
                <a16:creationId xmlns:a16="http://schemas.microsoft.com/office/drawing/2014/main" id="{E262DFF5-1404-0C6A-FF51-4932C17F84AB}"/>
              </a:ext>
            </a:extLst>
          </p:cNvPr>
          <p:cNvSpPr>
            <a:spLocks noGrp="1"/>
          </p:cNvSpPr>
          <p:nvPr>
            <p:ph type="title"/>
          </p:nvPr>
        </p:nvSpPr>
        <p:spPr>
          <a:xfrm>
            <a:off x="548640" y="530352"/>
            <a:ext cx="11082973" cy="1304863"/>
          </a:xfrm>
        </p:spPr>
        <p:txBody>
          <a:bodyPr/>
          <a:lstStyle>
            <a:lvl1pPr marL="0" algn="l" defTabSz="914400" rtl="0" eaLnBrk="1" latinLnBrk="0" hangingPunct="1">
              <a:lnSpc>
                <a:spcPct val="85000"/>
              </a:lnSpc>
              <a:spcBef>
                <a:spcPct val="0"/>
              </a:spcBef>
              <a:buNone/>
              <a:defRPr lang="en-US" sz="4000" b="1" i="0" kern="1200" spc="0" baseline="0" dirty="0">
                <a:solidFill>
                  <a:schemeClr val="bg1"/>
                </a:solidFill>
                <a:latin typeface="+mj-lt"/>
                <a:ea typeface="+mj-ea"/>
                <a:cs typeface="Source Sans 3" panose="020B0504040101010104" pitchFamily="34" charset="77"/>
              </a:defRPr>
            </a:lvl1pPr>
          </a:lstStyle>
          <a:p>
            <a:endParaRPr lang="en-US"/>
          </a:p>
        </p:txBody>
      </p:sp>
      <p:pic>
        <p:nvPicPr>
          <p:cNvPr id="5" name="Picture 15">
            <a:extLst>
              <a:ext uri="{FF2B5EF4-FFF2-40B4-BE49-F238E27FC236}">
                <a16:creationId xmlns:a16="http://schemas.microsoft.com/office/drawing/2014/main" id="{6E69A9D9-1C98-2197-D9B4-B9C547E76536}"/>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7" name="Slide Number Placeholder 5">
            <a:extLst>
              <a:ext uri="{FF2B5EF4-FFF2-40B4-BE49-F238E27FC236}">
                <a16:creationId xmlns:a16="http://schemas.microsoft.com/office/drawing/2014/main" id="{BFA29C7A-B1AE-8891-ED91-E4AFA3B4AE54}"/>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
        <p:nvSpPr>
          <p:cNvPr id="8" name="Text Placeholder 7">
            <a:extLst>
              <a:ext uri="{FF2B5EF4-FFF2-40B4-BE49-F238E27FC236}">
                <a16:creationId xmlns:a16="http://schemas.microsoft.com/office/drawing/2014/main" id="{5CEEEB95-D4DA-F72B-3644-E0474322CD12}"/>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39122737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Subtitle">
    <p:bg>
      <p:bgPr>
        <a:solidFill>
          <a:schemeClr val="bg2"/>
        </a:solidFill>
        <a:effectLst/>
      </p:bgPr>
    </p:bg>
    <p:spTree>
      <p:nvGrpSpPr>
        <p:cNvPr id="1" name=""/>
        <p:cNvGrpSpPr/>
        <p:nvPr/>
      </p:nvGrpSpPr>
      <p:grpSpPr>
        <a:xfrm>
          <a:off x="0" y="0"/>
          <a:ext cx="0" cy="0"/>
          <a:chOff x="0" y="0"/>
          <a:chExt cx="0" cy="0"/>
        </a:xfrm>
      </p:grpSpPr>
      <p:pic>
        <p:nvPicPr>
          <p:cNvPr id="3" name="Picture 2" descr="A blue and green background&#10;&#10;AI-generated content may be incorrect.">
            <a:extLst>
              <a:ext uri="{FF2B5EF4-FFF2-40B4-BE49-F238E27FC236}">
                <a16:creationId xmlns:a16="http://schemas.microsoft.com/office/drawing/2014/main" id="{26518D85-6842-C7A1-8213-93232E2CE473}"/>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2" name="Title 5">
            <a:extLst>
              <a:ext uri="{FF2B5EF4-FFF2-40B4-BE49-F238E27FC236}">
                <a16:creationId xmlns:a16="http://schemas.microsoft.com/office/drawing/2014/main" id="{233C28E9-77FE-F84E-09CD-A6DD572E35A7}"/>
              </a:ext>
            </a:extLst>
          </p:cNvPr>
          <p:cNvSpPr>
            <a:spLocks noGrp="1"/>
          </p:cNvSpPr>
          <p:nvPr>
            <p:ph type="title"/>
          </p:nvPr>
        </p:nvSpPr>
        <p:spPr>
          <a:xfrm>
            <a:off x="548640" y="530352"/>
            <a:ext cx="11082973" cy="594360"/>
          </a:xfrm>
        </p:spPr>
        <p:txBody>
          <a:bodyPr/>
          <a:lstStyle>
            <a:lvl1pPr>
              <a:defRPr b="1" i="0">
                <a:solidFill>
                  <a:schemeClr val="bg1"/>
                </a:solidFill>
                <a:latin typeface="+mj-lt"/>
                <a:cs typeface="Source Sans 3" panose="020B0504040101010104" pitchFamily="34" charset="77"/>
              </a:defRPr>
            </a:lvl1pPr>
          </a:lstStyle>
          <a:p>
            <a:endParaRPr lang="en-US"/>
          </a:p>
        </p:txBody>
      </p:sp>
      <p:sp>
        <p:nvSpPr>
          <p:cNvPr id="4" name="Subtitle 2">
            <a:extLst>
              <a:ext uri="{FF2B5EF4-FFF2-40B4-BE49-F238E27FC236}">
                <a16:creationId xmlns:a16="http://schemas.microsoft.com/office/drawing/2014/main" id="{AAD0785D-E493-828F-0904-70EE36464C4E}"/>
              </a:ext>
            </a:extLst>
          </p:cNvPr>
          <p:cNvSpPr>
            <a:spLocks noGrp="1"/>
          </p:cNvSpPr>
          <p:nvPr>
            <p:ph type="subTitle" idx="1"/>
          </p:nvPr>
        </p:nvSpPr>
        <p:spPr>
          <a:xfrm>
            <a:off x="548639" y="1097280"/>
            <a:ext cx="11091545" cy="696849"/>
          </a:xfrm>
          <a:prstGeom prst="rect">
            <a:avLst/>
          </a:prstGeom>
        </p:spPr>
        <p:txBody>
          <a:bodyPr/>
          <a:lstStyle>
            <a:lvl1pPr marL="0" indent="0" algn="l">
              <a:lnSpc>
                <a:spcPct val="90000"/>
              </a:lnSpc>
              <a:buNone/>
              <a:defRPr sz="2000">
                <a:solidFill>
                  <a:schemeClr val="bg1"/>
                </a:solidFill>
                <a:latin typeface="Source Sans 3" panose="020B05040401010101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15">
            <a:extLst>
              <a:ext uri="{FF2B5EF4-FFF2-40B4-BE49-F238E27FC236}">
                <a16:creationId xmlns:a16="http://schemas.microsoft.com/office/drawing/2014/main" id="{BD68D6C5-6FA4-F7AE-B09B-EF7682601D3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6" name="Slide Number Placeholder 5">
            <a:extLst>
              <a:ext uri="{FF2B5EF4-FFF2-40B4-BE49-F238E27FC236}">
                <a16:creationId xmlns:a16="http://schemas.microsoft.com/office/drawing/2014/main" id="{9A698FF4-6C4D-06ED-B374-625462A63AB8}"/>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
        <p:nvSpPr>
          <p:cNvPr id="11" name="Text Placeholder 7">
            <a:extLst>
              <a:ext uri="{FF2B5EF4-FFF2-40B4-BE49-F238E27FC236}">
                <a16:creationId xmlns:a16="http://schemas.microsoft.com/office/drawing/2014/main" id="{A1C70AF7-D1AB-1022-E56A-2DFD941E2A68}"/>
              </a:ext>
            </a:extLst>
          </p:cNvPr>
          <p:cNvSpPr>
            <a:spLocks noGrp="1"/>
          </p:cNvSpPr>
          <p:nvPr>
            <p:ph type="body" sz="quarter" idx="11" hasCustomPrompt="1"/>
          </p:nvPr>
        </p:nvSpPr>
        <p:spPr>
          <a:xfrm>
            <a:off x="1828798" y="6468451"/>
            <a:ext cx="9253538" cy="109728"/>
          </a:xfrm>
        </p:spPr>
        <p:txBody>
          <a:bodyPr anchor="b"/>
          <a:lstStyle>
            <a:lvl1pPr>
              <a:defRPr sz="800"/>
            </a:lvl1pPr>
            <a:lvl2pPr>
              <a:defRPr sz="600"/>
            </a:lvl2pPr>
            <a:lvl3pPr>
              <a:defRPr sz="600"/>
            </a:lvl3pPr>
            <a:lvl4pPr>
              <a:defRPr sz="600"/>
            </a:lvl4pPr>
            <a:lvl5pPr>
              <a:defRPr sz="600"/>
            </a:lvl5pPr>
          </a:lstStyle>
          <a:p>
            <a:pPr lvl="0"/>
            <a:r>
              <a:rPr lang="en-US"/>
              <a:t>Footer</a:t>
            </a:r>
          </a:p>
        </p:txBody>
      </p:sp>
    </p:spTree>
    <p:extLst>
      <p:ext uri="{BB962C8B-B14F-4D97-AF65-F5344CB8AC3E}">
        <p14:creationId xmlns:p14="http://schemas.microsoft.com/office/powerpoint/2010/main" val="357543089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rossfuze Statement Green">
    <p:bg>
      <p:bgPr>
        <a:solidFill>
          <a:schemeClr val="bg2"/>
        </a:solidFill>
        <a:effectLst/>
      </p:bgPr>
    </p:bg>
    <p:spTree>
      <p:nvGrpSpPr>
        <p:cNvPr id="1" name=""/>
        <p:cNvGrpSpPr/>
        <p:nvPr/>
      </p:nvGrpSpPr>
      <p:grpSpPr>
        <a:xfrm>
          <a:off x="0" y="0"/>
          <a:ext cx="0" cy="0"/>
          <a:chOff x="0" y="0"/>
          <a:chExt cx="0" cy="0"/>
        </a:xfrm>
      </p:grpSpPr>
      <p:pic>
        <p:nvPicPr>
          <p:cNvPr id="2" name="Picture 1" descr="A blue and green gradient&#10;&#10;AI-generated content may be incorrect.">
            <a:extLst>
              <a:ext uri="{FF2B5EF4-FFF2-40B4-BE49-F238E27FC236}">
                <a16:creationId xmlns:a16="http://schemas.microsoft.com/office/drawing/2014/main" id="{F577923B-7558-B9AA-DFC4-AE1DD0B1B2D7}"/>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F2D0E2A-4C8C-9EC2-9988-E3271D612A21}"/>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1" i="0" kern="1200" spc="0" baseline="0" dirty="0">
                <a:solidFill>
                  <a:schemeClr val="bg1"/>
                </a:solidFill>
                <a:latin typeface="Source Sans 3" panose="020B0804040101010104" pitchFamily="34" charset="0"/>
                <a:ea typeface="+mn-ea"/>
                <a:cs typeface="Source Sans 3" panose="020B0804040101010104" pitchFamily="34" charset="0"/>
              </a:defRPr>
            </a:lvl1pPr>
          </a:lstStyle>
          <a:p>
            <a:endParaRPr lang="en-US"/>
          </a:p>
        </p:txBody>
      </p:sp>
      <p:pic>
        <p:nvPicPr>
          <p:cNvPr id="4" name="Picture 15">
            <a:extLst>
              <a:ext uri="{FF2B5EF4-FFF2-40B4-BE49-F238E27FC236}">
                <a16:creationId xmlns:a16="http://schemas.microsoft.com/office/drawing/2014/main" id="{60E6181D-A3AE-D946-7C54-181E38476DEC}"/>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9EBBFA8E-87E9-FC94-2D65-A655EB2E5D4C}"/>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318154838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rossfuze Statement Blue">
    <p:bg>
      <p:bgPr>
        <a:solidFill>
          <a:schemeClr val="bg2"/>
        </a:solidFill>
        <a:effectLst/>
      </p:bgPr>
    </p:bg>
    <p:spTree>
      <p:nvGrpSpPr>
        <p:cNvPr id="1" name=""/>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id="{AFCA4208-EB0C-030C-F79E-0C9FF6BD91AD}"/>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F2D0E2A-4C8C-9EC2-9988-E3271D612A21}"/>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1" i="0" kern="1200" spc="0" baseline="0" dirty="0">
                <a:solidFill>
                  <a:schemeClr val="bg1"/>
                </a:solidFill>
                <a:latin typeface="Source Sans 3" panose="020B0804040101010104" pitchFamily="34" charset="0"/>
                <a:ea typeface="+mn-ea"/>
                <a:cs typeface="Source Sans 3" panose="020B0804040101010104" pitchFamily="34" charset="0"/>
              </a:defRPr>
            </a:lvl1pPr>
          </a:lstStyle>
          <a:p>
            <a:endParaRPr lang="en-US"/>
          </a:p>
        </p:txBody>
      </p:sp>
      <p:pic>
        <p:nvPicPr>
          <p:cNvPr id="4" name="Picture 15">
            <a:extLst>
              <a:ext uri="{FF2B5EF4-FFF2-40B4-BE49-F238E27FC236}">
                <a16:creationId xmlns:a16="http://schemas.microsoft.com/office/drawing/2014/main" id="{B7019559-BF9D-880A-8815-48DFE5ECF3F1}"/>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88D8A5D-E217-9E4B-C115-1E17D5AC32C2}"/>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88657883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rossfuze Statement">
    <p:bg>
      <p:bgPr>
        <a:solidFill>
          <a:schemeClr val="bg2"/>
        </a:solidFill>
        <a:effectLst/>
      </p:bgPr>
    </p:bg>
    <p:spTree>
      <p:nvGrpSpPr>
        <p:cNvPr id="1" name=""/>
        <p:cNvGrpSpPr/>
        <p:nvPr/>
      </p:nvGrpSpPr>
      <p:grpSpPr>
        <a:xfrm>
          <a:off x="0" y="0"/>
          <a:ext cx="0" cy="0"/>
          <a:chOff x="0" y="0"/>
          <a:chExt cx="0" cy="0"/>
        </a:xfrm>
      </p:grpSpPr>
      <p:pic>
        <p:nvPicPr>
          <p:cNvPr id="2" name="Picture 1" descr="A blue and purple background&#10;&#10;AI-generated content may be incorrect.">
            <a:extLst>
              <a:ext uri="{FF2B5EF4-FFF2-40B4-BE49-F238E27FC236}">
                <a16:creationId xmlns:a16="http://schemas.microsoft.com/office/drawing/2014/main" id="{D147C0E5-A43C-9EAE-1D73-2A853520D2C9}"/>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E49F5C0-51B8-9C94-473E-5AB10D41B80B}"/>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1" i="0" kern="1200" spc="0" baseline="0" dirty="0">
                <a:solidFill>
                  <a:schemeClr val="bg1"/>
                </a:solidFill>
                <a:latin typeface="Source Sans 3" panose="020B0804040101010104" pitchFamily="34" charset="0"/>
                <a:ea typeface="+mn-ea"/>
                <a:cs typeface="Source Sans 3" panose="020B0804040101010104" pitchFamily="34" charset="0"/>
              </a:defRPr>
            </a:lvl1pPr>
          </a:lstStyle>
          <a:p>
            <a:endParaRPr lang="en-US"/>
          </a:p>
        </p:txBody>
      </p:sp>
      <p:pic>
        <p:nvPicPr>
          <p:cNvPr id="4" name="Picture 15">
            <a:extLst>
              <a:ext uri="{FF2B5EF4-FFF2-40B4-BE49-F238E27FC236}">
                <a16:creationId xmlns:a16="http://schemas.microsoft.com/office/drawing/2014/main" id="{6ED21447-F91B-027A-A985-5F5FEE79565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1E2C641-C770-23C5-B4F2-382C52453F31}"/>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2733950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46736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rossfuze Cover">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4B14B0B4-835A-BFCE-1021-F56A27D88230}"/>
              </a:ext>
            </a:extLst>
          </p:cNvPr>
          <p:cNvSpPr txBox="1">
            <a:spLocks/>
          </p:cNvSpPr>
          <p:nvPr userDrawn="1"/>
        </p:nvSpPr>
        <p:spPr>
          <a:xfrm>
            <a:off x="482018" y="3089271"/>
            <a:ext cx="7053315" cy="3525310"/>
          </a:xfrm>
          <a:prstGeom prst="rect">
            <a:avLst/>
          </a:prstGeom>
        </p:spPr>
        <p:txBody>
          <a:bodyPr/>
          <a:lstStyle>
            <a:lvl1pPr marL="0" algn="l" defTabSz="914400" rtl="0" eaLnBrk="1" latinLnBrk="0" hangingPunct="1">
              <a:lnSpc>
                <a:spcPct val="90000"/>
              </a:lnSpc>
              <a:spcBef>
                <a:spcPct val="0"/>
              </a:spcBef>
              <a:buNone/>
              <a:defRPr lang="en-US" sz="4000" b="1" i="0" kern="1200" spc="0" baseline="0" dirty="0">
                <a:solidFill>
                  <a:schemeClr val="tx1"/>
                </a:solidFill>
                <a:latin typeface="Source Sans 3" panose="020B0504040101010104" pitchFamily="34" charset="77"/>
                <a:ea typeface="+mj-ea"/>
                <a:cs typeface="Source Sans 3" panose="020B0504040101010104" pitchFamily="34" charset="77"/>
              </a:defRPr>
            </a:lvl1pPr>
          </a:lstStyle>
          <a:p>
            <a:pPr>
              <a:lnSpc>
                <a:spcPct val="68000"/>
              </a:lnSpc>
            </a:pPr>
            <a:r>
              <a:rPr lang="en-US" sz="10800" b="0">
                <a:solidFill>
                  <a:schemeClr val="accent1"/>
                </a:solidFill>
                <a:latin typeface="+mj-lt"/>
              </a:rPr>
              <a:t>Put AI</a:t>
            </a:r>
            <a:br>
              <a:rPr lang="en-US" sz="10800" b="0">
                <a:solidFill>
                  <a:schemeClr val="accent1"/>
                </a:solidFill>
                <a:latin typeface="+mj-lt"/>
              </a:rPr>
            </a:br>
            <a:r>
              <a:rPr lang="en-US" sz="10800" b="0">
                <a:solidFill>
                  <a:schemeClr val="accent1"/>
                </a:solidFill>
                <a:latin typeface="+mj-lt"/>
              </a:rPr>
              <a:t>to work</a:t>
            </a:r>
            <a:br>
              <a:rPr lang="en-US" sz="10800" b="0">
                <a:latin typeface="+mj-lt"/>
              </a:rPr>
            </a:br>
            <a:r>
              <a:rPr lang="en-US" sz="10800" b="0">
                <a:solidFill>
                  <a:schemeClr val="bg1"/>
                </a:solidFill>
                <a:latin typeface="+mj-lt"/>
              </a:rPr>
              <a:t>for people</a:t>
            </a:r>
          </a:p>
        </p:txBody>
      </p:sp>
      <p:pic>
        <p:nvPicPr>
          <p:cNvPr id="5" name="Picture 15">
            <a:extLst>
              <a:ext uri="{FF2B5EF4-FFF2-40B4-BE49-F238E27FC236}">
                <a16:creationId xmlns:a16="http://schemas.microsoft.com/office/drawing/2014/main" id="{D6FBC2C5-ED6F-206E-7A07-AD82EDB28731}"/>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414703" y="342901"/>
            <a:ext cx="1683544" cy="481012"/>
          </a:xfrm>
          <a:prstGeom prst="rect">
            <a:avLst/>
          </a:prstGeom>
        </p:spPr>
      </p:pic>
    </p:spTree>
    <p:extLst>
      <p:ext uri="{BB962C8B-B14F-4D97-AF65-F5344CB8AC3E}">
        <p14:creationId xmlns:p14="http://schemas.microsoft.com/office/powerpoint/2010/main" val="112042630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tatement Indigo">
    <p:bg>
      <p:bgPr>
        <a:solidFill>
          <a:schemeClr val="bg2"/>
        </a:solidFill>
        <a:effectLst/>
      </p:bgPr>
    </p:bg>
    <p:spTree>
      <p:nvGrpSpPr>
        <p:cNvPr id="1" name=""/>
        <p:cNvGrpSpPr/>
        <p:nvPr/>
      </p:nvGrpSpPr>
      <p:grpSpPr>
        <a:xfrm>
          <a:off x="0" y="0"/>
          <a:ext cx="0" cy="0"/>
          <a:chOff x="0" y="0"/>
          <a:chExt cx="0" cy="0"/>
        </a:xfrm>
      </p:grpSpPr>
      <p:pic>
        <p:nvPicPr>
          <p:cNvPr id="2" name="Picture 1" descr="A blue and purple background&#10;&#10;AI-generated content may be incorrect.">
            <a:extLst>
              <a:ext uri="{FF2B5EF4-FFF2-40B4-BE49-F238E27FC236}">
                <a16:creationId xmlns:a16="http://schemas.microsoft.com/office/drawing/2014/main" id="{D147C0E5-A43C-9EAE-1D73-2A853520D2C9}"/>
              </a:ext>
            </a:extLst>
          </p:cNvPr>
          <p:cNvPicPr>
            <a:picLocks noGrp="1" noRot="1" noMove="1" noResize="1" noEditPoints="1" noAdjustHandles="1" noChangeArrowheads="1" noChangeShapeType="1" noCrop="1"/>
          </p:cNvPicPr>
          <p:nvPr userDrawn="1"/>
        </p:nvPicPr>
        <p:blipFill>
          <a:blip r:embed="rId2"/>
          <a:stretch>
            <a:fillRect/>
          </a:stretch>
        </p:blipFill>
        <p:spPr>
          <a:xfrm>
            <a:off x="-1" y="891"/>
            <a:ext cx="12190415" cy="6867144"/>
          </a:xfrm>
          <a:prstGeom prst="rect">
            <a:avLst/>
          </a:prstGeom>
        </p:spPr>
      </p:pic>
      <p:sp>
        <p:nvSpPr>
          <p:cNvPr id="3" name="Title 1">
            <a:extLst>
              <a:ext uri="{FF2B5EF4-FFF2-40B4-BE49-F238E27FC236}">
                <a16:creationId xmlns:a16="http://schemas.microsoft.com/office/drawing/2014/main" id="{3E49F5C0-51B8-9C94-473E-5AB10D41B80B}"/>
              </a:ext>
            </a:extLst>
          </p:cNvPr>
          <p:cNvSpPr>
            <a:spLocks noGrp="1"/>
          </p:cNvSpPr>
          <p:nvPr>
            <p:ph type="title"/>
          </p:nvPr>
        </p:nvSpPr>
        <p:spPr>
          <a:xfrm>
            <a:off x="548640" y="549274"/>
            <a:ext cx="11089323" cy="5635625"/>
          </a:xfrm>
          <a:prstGeom prst="rect">
            <a:avLst/>
          </a:prstGeom>
        </p:spPr>
        <p:txBody>
          <a:bodyPr lIns="0" tIns="0" rIns="0" bIns="0" anchor="ctr" anchorCtr="0">
            <a:noAutofit/>
          </a:bodyPr>
          <a:lstStyle>
            <a:lvl1pPr>
              <a:lnSpc>
                <a:spcPct val="85000"/>
              </a:lnSpc>
              <a:defRPr lang="en-US" sz="7200" b="0" i="0" kern="1200" spc="0" baseline="0" dirty="0">
                <a:solidFill>
                  <a:schemeClr val="bg1"/>
                </a:solidFill>
                <a:latin typeface="ServiceNow Sans Display Bold" panose="020B0804040101010104" pitchFamily="34" charset="0"/>
                <a:ea typeface="+mn-ea"/>
                <a:cs typeface="ServiceNow Sans Display Bold" panose="020B0804040101010104" pitchFamily="34" charset="0"/>
              </a:defRPr>
            </a:lvl1pPr>
          </a:lstStyle>
          <a:p>
            <a:endParaRPr lang="en-US"/>
          </a:p>
        </p:txBody>
      </p:sp>
      <p:pic>
        <p:nvPicPr>
          <p:cNvPr id="4" name="Picture 15">
            <a:extLst>
              <a:ext uri="{FF2B5EF4-FFF2-40B4-BE49-F238E27FC236}">
                <a16:creationId xmlns:a16="http://schemas.microsoft.com/office/drawing/2014/main" id="{6ED21447-F91B-027A-A985-5F5FEE79565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5" name="Slide Number Placeholder 5">
            <a:extLst>
              <a:ext uri="{FF2B5EF4-FFF2-40B4-BE49-F238E27FC236}">
                <a16:creationId xmlns:a16="http://schemas.microsoft.com/office/drawing/2014/main" id="{51E2C641-C770-23C5-B4F2-382C52453F31}"/>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357581501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271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 to Action Midnight">
    <p:bg>
      <p:bgPr>
        <a:solidFill>
          <a:schemeClr val="tx2"/>
        </a:solidFill>
        <a:effectLst/>
      </p:bgPr>
    </p:bg>
    <p:spTree>
      <p:nvGrpSpPr>
        <p:cNvPr id="1" name=""/>
        <p:cNvGrpSpPr/>
        <p:nvPr/>
      </p:nvGrpSpPr>
      <p:grpSpPr>
        <a:xfrm>
          <a:off x="0" y="0"/>
          <a:ext cx="0" cy="0"/>
          <a:chOff x="0" y="0"/>
          <a:chExt cx="0" cy="0"/>
        </a:xfrm>
      </p:grpSpPr>
      <p:sp>
        <p:nvSpPr>
          <p:cNvPr id="8" name="Rounded Rectangle 9">
            <a:extLst>
              <a:ext uri="{FF2B5EF4-FFF2-40B4-BE49-F238E27FC236}">
                <a16:creationId xmlns:a16="http://schemas.microsoft.com/office/drawing/2014/main" id="{532B0014-4526-0B15-8F89-C27887C0E616}"/>
              </a:ext>
            </a:extLst>
          </p:cNvPr>
          <p:cNvSpPr/>
          <p:nvPr userDrawn="1"/>
        </p:nvSpPr>
        <p:spPr>
          <a:xfrm>
            <a:off x="779987" y="2291644"/>
            <a:ext cx="3430938" cy="3499556"/>
          </a:xfrm>
          <a:prstGeom prst="roundRect">
            <a:avLst>
              <a:gd name="adj" fmla="val 7745"/>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182784" tIns="274178" rIns="182784" bIns="274178" rtlCol="0" anchor="ctr"/>
          <a:lstStyle/>
          <a:p>
            <a:pPr algn="ctr" defTabSz="913852">
              <a:defRPr/>
            </a:pPr>
            <a:endParaRPr lang="en-US" sz="3198" b="1" dirty="0">
              <a:solidFill>
                <a:schemeClr val="bg2"/>
              </a:solidFill>
              <a:latin typeface="+mj-lt"/>
            </a:endParaRPr>
          </a:p>
        </p:txBody>
      </p:sp>
      <p:sp>
        <p:nvSpPr>
          <p:cNvPr id="9" name="Rounded Rectangle 10">
            <a:extLst>
              <a:ext uri="{FF2B5EF4-FFF2-40B4-BE49-F238E27FC236}">
                <a16:creationId xmlns:a16="http://schemas.microsoft.com/office/drawing/2014/main" id="{670D88A0-DDC0-9381-C9AF-C0AC46ECA01E}"/>
              </a:ext>
            </a:extLst>
          </p:cNvPr>
          <p:cNvSpPr/>
          <p:nvPr userDrawn="1"/>
        </p:nvSpPr>
        <p:spPr>
          <a:xfrm>
            <a:off x="4377356" y="2291644"/>
            <a:ext cx="3430938" cy="3499556"/>
          </a:xfrm>
          <a:prstGeom prst="roundRect">
            <a:avLst>
              <a:gd name="adj" fmla="val 7745"/>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182784" tIns="274178" rIns="182784" bIns="274178" rtlCol="0" anchor="ctr"/>
          <a:lstStyle/>
          <a:p>
            <a:pPr algn="ctr" defTabSz="913852">
              <a:defRPr/>
            </a:pPr>
            <a:endParaRPr lang="en-US" sz="3198" dirty="0">
              <a:solidFill>
                <a:srgbClr val="FFFFFF"/>
              </a:solidFill>
              <a:latin typeface="ServiceNow Sans Display Medium" panose="020B0504040101010104" pitchFamily="34" charset="77"/>
            </a:endParaRPr>
          </a:p>
        </p:txBody>
      </p:sp>
      <p:sp>
        <p:nvSpPr>
          <p:cNvPr id="10" name="Rounded Rectangle 11">
            <a:extLst>
              <a:ext uri="{FF2B5EF4-FFF2-40B4-BE49-F238E27FC236}">
                <a16:creationId xmlns:a16="http://schemas.microsoft.com/office/drawing/2014/main" id="{8DC55F27-CD52-9317-04C0-571F66AF1C24}"/>
              </a:ext>
            </a:extLst>
          </p:cNvPr>
          <p:cNvSpPr/>
          <p:nvPr userDrawn="1"/>
        </p:nvSpPr>
        <p:spPr>
          <a:xfrm>
            <a:off x="7974725" y="2291644"/>
            <a:ext cx="3430938" cy="3499556"/>
          </a:xfrm>
          <a:prstGeom prst="roundRect">
            <a:avLst>
              <a:gd name="adj" fmla="val 7745"/>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182784" tIns="274178" rIns="182784" bIns="274178" rtlCol="0" anchor="ctr"/>
          <a:lstStyle/>
          <a:p>
            <a:pPr algn="ctr" defTabSz="913852">
              <a:defRPr/>
            </a:pPr>
            <a:endParaRPr lang="en-US" sz="3198" dirty="0">
              <a:solidFill>
                <a:srgbClr val="FFFFFF"/>
              </a:solidFill>
              <a:latin typeface="ServiceNow Sans Display Medium" panose="020B0504040101010104" pitchFamily="34" charset="77"/>
            </a:endParaRPr>
          </a:p>
        </p:txBody>
      </p:sp>
      <p:sp>
        <p:nvSpPr>
          <p:cNvPr id="21" name="Text Placeholder 6">
            <a:extLst>
              <a:ext uri="{FF2B5EF4-FFF2-40B4-BE49-F238E27FC236}">
                <a16:creationId xmlns:a16="http://schemas.microsoft.com/office/drawing/2014/main" id="{8D16FD30-699D-6260-4F94-51FEEBF153B7}"/>
              </a:ext>
            </a:extLst>
          </p:cNvPr>
          <p:cNvSpPr>
            <a:spLocks noGrp="1"/>
          </p:cNvSpPr>
          <p:nvPr>
            <p:ph type="body" sz="quarter" idx="11" hasCustomPrompt="1"/>
          </p:nvPr>
        </p:nvSpPr>
        <p:spPr>
          <a:xfrm>
            <a:off x="779988" y="2600166"/>
            <a:ext cx="3430938" cy="2943384"/>
          </a:xfrm>
          <a:prstGeom prst="rect">
            <a:avLst/>
          </a:prstGeom>
        </p:spPr>
        <p:txBody>
          <a:bodyPr anchor="ctr"/>
          <a:lstStyle>
            <a:lvl1pPr marL="0" indent="0" algn="ctr">
              <a:buNone/>
              <a:defRPr lang="en-US" sz="3199" b="1" kern="1200" dirty="0" smtClean="0">
                <a:solidFill>
                  <a:schemeClr val="bg1"/>
                </a:solidFill>
                <a:latin typeface="Source Sans Pro Semibold" panose="020B0503030403020204" pitchFamily="34" charset="0"/>
                <a:ea typeface="Source Sans Pro Semibold" panose="020B0503030403020204" pitchFamily="34" charset="0"/>
                <a:cs typeface="Poppins Semi-Bold"/>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call to action here</a:t>
            </a:r>
          </a:p>
        </p:txBody>
      </p:sp>
      <p:sp>
        <p:nvSpPr>
          <p:cNvPr id="22" name="Text Placeholder 6">
            <a:extLst>
              <a:ext uri="{FF2B5EF4-FFF2-40B4-BE49-F238E27FC236}">
                <a16:creationId xmlns:a16="http://schemas.microsoft.com/office/drawing/2014/main" id="{23D42905-D15C-6303-6E68-DD7F9D677AED}"/>
              </a:ext>
            </a:extLst>
          </p:cNvPr>
          <p:cNvSpPr>
            <a:spLocks noGrp="1"/>
          </p:cNvSpPr>
          <p:nvPr>
            <p:ph type="body" sz="quarter" idx="12" hasCustomPrompt="1"/>
          </p:nvPr>
        </p:nvSpPr>
        <p:spPr>
          <a:xfrm>
            <a:off x="4399628" y="2600166"/>
            <a:ext cx="3408667" cy="2943384"/>
          </a:xfrm>
          <a:prstGeom prst="rect">
            <a:avLst/>
          </a:prstGeom>
        </p:spPr>
        <p:txBody>
          <a:bodyPr anchor="ctr"/>
          <a:lstStyle>
            <a:lvl1pPr marL="0" indent="0" algn="ctr">
              <a:buNone/>
              <a:defRPr lang="en-US" sz="3199" b="1" kern="1200" dirty="0" smtClean="0">
                <a:solidFill>
                  <a:schemeClr val="bg1"/>
                </a:solidFill>
                <a:latin typeface="Source Sans Pro Semibold" panose="020B0503030403020204" pitchFamily="34" charset="0"/>
                <a:ea typeface="Source Sans Pro Semibold" panose="020B0503030403020204" pitchFamily="34" charset="0"/>
                <a:cs typeface="Poppins Semi-Bold"/>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call to action here</a:t>
            </a:r>
          </a:p>
        </p:txBody>
      </p:sp>
      <p:sp>
        <p:nvSpPr>
          <p:cNvPr id="23" name="Text Placeholder 6">
            <a:extLst>
              <a:ext uri="{FF2B5EF4-FFF2-40B4-BE49-F238E27FC236}">
                <a16:creationId xmlns:a16="http://schemas.microsoft.com/office/drawing/2014/main" id="{8E2740DE-11A1-72AC-EC66-84E05258BB6B}"/>
              </a:ext>
            </a:extLst>
          </p:cNvPr>
          <p:cNvSpPr>
            <a:spLocks noGrp="1"/>
          </p:cNvSpPr>
          <p:nvPr>
            <p:ph type="body" sz="quarter" idx="13" hasCustomPrompt="1"/>
          </p:nvPr>
        </p:nvSpPr>
        <p:spPr>
          <a:xfrm>
            <a:off x="7974724" y="2600166"/>
            <a:ext cx="3408667" cy="2943384"/>
          </a:xfrm>
          <a:prstGeom prst="rect">
            <a:avLst/>
          </a:prstGeom>
        </p:spPr>
        <p:txBody>
          <a:bodyPr anchor="ctr"/>
          <a:lstStyle>
            <a:lvl1pPr marL="0" indent="0" algn="ctr">
              <a:buNone/>
              <a:defRPr lang="en-US" sz="3199" b="1" kern="1200" dirty="0" smtClean="0">
                <a:solidFill>
                  <a:schemeClr val="bg1"/>
                </a:solidFill>
                <a:latin typeface="Source Sans Pro Semibold" panose="020B0503030403020204" pitchFamily="34" charset="0"/>
                <a:ea typeface="Source Sans Pro Semibold" panose="020B0503030403020204" pitchFamily="34" charset="0"/>
                <a:cs typeface="Poppins Semi-Bold"/>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call to action here</a:t>
            </a:r>
          </a:p>
        </p:txBody>
      </p:sp>
      <p:sp>
        <p:nvSpPr>
          <p:cNvPr id="2" name="Title 1">
            <a:extLst>
              <a:ext uri="{FF2B5EF4-FFF2-40B4-BE49-F238E27FC236}">
                <a16:creationId xmlns:a16="http://schemas.microsoft.com/office/drawing/2014/main" id="{C5DA55EB-876F-4954-D756-5BE43DEB9F37}"/>
              </a:ext>
            </a:extLst>
          </p:cNvPr>
          <p:cNvSpPr>
            <a:spLocks noGrp="1"/>
          </p:cNvSpPr>
          <p:nvPr>
            <p:ph type="title" hasCustomPrompt="1"/>
          </p:nvPr>
        </p:nvSpPr>
        <p:spPr>
          <a:xfrm>
            <a:off x="677154" y="921090"/>
            <a:ext cx="10512862" cy="771109"/>
          </a:xfrm>
          <a:prstGeom prst="rect">
            <a:avLst/>
          </a:prstGeom>
        </p:spPr>
        <p:txBody>
          <a:bodyPr anchor="b" anchorCtr="0">
            <a:spAutoFit/>
          </a:bodyPr>
          <a:lstStyle>
            <a:lvl1pPr algn="l">
              <a:defRPr lang="en-US" sz="5398" b="1" i="0" kern="1200" dirty="0">
                <a:solidFill>
                  <a:schemeClr val="accent3"/>
                </a:solidFill>
                <a:latin typeface="Source Sans Pro" panose="020B0503030403020204" pitchFamily="34" charset="0"/>
                <a:ea typeface="Source Sans Pro" panose="020B0503030403020204" pitchFamily="34" charset="0"/>
                <a:cs typeface="Poppins Medium"/>
              </a:defRPr>
            </a:lvl1pPr>
          </a:lstStyle>
          <a:p>
            <a:r>
              <a:rPr lang="en-US" dirty="0"/>
              <a:t>Slide Title</a:t>
            </a:r>
          </a:p>
        </p:txBody>
      </p:sp>
      <p:sp>
        <p:nvSpPr>
          <p:cNvPr id="4" name="Text Placeholder 3">
            <a:extLst>
              <a:ext uri="{FF2B5EF4-FFF2-40B4-BE49-F238E27FC236}">
                <a16:creationId xmlns:a16="http://schemas.microsoft.com/office/drawing/2014/main" id="{B199E805-E71C-7525-D91A-AC9F791B0F29}"/>
              </a:ext>
            </a:extLst>
          </p:cNvPr>
          <p:cNvSpPr>
            <a:spLocks noGrp="1"/>
          </p:cNvSpPr>
          <p:nvPr>
            <p:ph type="body" sz="quarter" idx="16" hasCustomPrompt="1"/>
          </p:nvPr>
        </p:nvSpPr>
        <p:spPr>
          <a:xfrm>
            <a:off x="745271" y="1561177"/>
            <a:ext cx="10512861" cy="313932"/>
          </a:xfrm>
        </p:spPr>
        <p:txBody>
          <a:bodyPr>
            <a:spAutoFit/>
          </a:bodyPr>
          <a:lstStyle>
            <a:lvl1pPr>
              <a:defRPr lang="en-US" sz="1600" kern="1200" spc="600" dirty="0" smtClean="0">
                <a:solidFill>
                  <a:schemeClr val="bg1"/>
                </a:solidFill>
                <a:latin typeface="Source Sans Pro Bold" panose="020B0703030403020204" pitchFamily="34" charset="0"/>
                <a:ea typeface="Source Sans Pro Bold" panose="020B0703030403020204" pitchFamily="34" charset="0"/>
                <a:cs typeface="+mn-cs"/>
              </a:defRPr>
            </a:lvl1pPr>
            <a:lvl2pPr>
              <a:defRPr lang="en-US" sz="1600" kern="1200" spc="600" dirty="0" smtClean="0">
                <a:solidFill>
                  <a:schemeClr val="bg1"/>
                </a:solidFill>
                <a:latin typeface="Source Sans Pro Bold" panose="020B0703030403020204" pitchFamily="34" charset="0"/>
                <a:ea typeface="Source Sans Pro Bold" panose="020B0703030403020204" pitchFamily="34" charset="0"/>
                <a:cs typeface="+mn-cs"/>
              </a:defRPr>
            </a:lvl2pPr>
          </a:lstStyle>
          <a:p>
            <a:pPr lvl="0"/>
            <a:r>
              <a:rPr lang="en-US" dirty="0"/>
              <a:t>ALL CAPS SUBTITLE</a:t>
            </a:r>
          </a:p>
        </p:txBody>
      </p:sp>
    </p:spTree>
    <p:extLst>
      <p:ext uri="{BB962C8B-B14F-4D97-AF65-F5344CB8AC3E}">
        <p14:creationId xmlns:p14="http://schemas.microsoft.com/office/powerpoint/2010/main" val="3878334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pic>
        <p:nvPicPr>
          <p:cNvPr id="5" name="Picture 15">
            <a:extLst>
              <a:ext uri="{FF2B5EF4-FFF2-40B4-BE49-F238E27FC236}">
                <a16:creationId xmlns:a16="http://schemas.microsoft.com/office/drawing/2014/main" id="{B202667E-F2B1-8603-E5EB-3F0EDB4888CD}"/>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a:stretch/>
        </p:blipFill>
        <p:spPr>
          <a:xfrm>
            <a:off x="478373" y="6355437"/>
            <a:ext cx="980589" cy="280168"/>
          </a:xfrm>
          <a:prstGeom prst="rect">
            <a:avLst/>
          </a:prstGeom>
        </p:spPr>
      </p:pic>
      <p:sp>
        <p:nvSpPr>
          <p:cNvPr id="2" name="Title Placeholder 1">
            <a:extLst>
              <a:ext uri="{FF2B5EF4-FFF2-40B4-BE49-F238E27FC236}">
                <a16:creationId xmlns:a16="http://schemas.microsoft.com/office/drawing/2014/main" id="{3D9BDB30-A827-7C46-A7B6-E25C62B40224}"/>
              </a:ext>
            </a:extLst>
          </p:cNvPr>
          <p:cNvSpPr>
            <a:spLocks noGrp="1"/>
          </p:cNvSpPr>
          <p:nvPr>
            <p:ph type="title"/>
          </p:nvPr>
        </p:nvSpPr>
        <p:spPr>
          <a:xfrm>
            <a:off x="548640" y="530352"/>
            <a:ext cx="11089323" cy="753889"/>
          </a:xfrm>
          <a:prstGeom prst="rect">
            <a:avLst/>
          </a:prstGeom>
        </p:spPr>
        <p:txBody>
          <a:bodyPr vert="horz" lIns="0" tIns="0" rIns="0" bIns="0" rtlCol="0" anchor="t" anchorCtr="0">
            <a:noAutofit/>
          </a:bodyPr>
          <a:lstStyle/>
          <a:p>
            <a:pPr lvl="0"/>
            <a:endParaRPr lang="en-US"/>
          </a:p>
        </p:txBody>
      </p:sp>
      <p:sp>
        <p:nvSpPr>
          <p:cNvPr id="3" name="Text Placeholder 2">
            <a:extLst>
              <a:ext uri="{FF2B5EF4-FFF2-40B4-BE49-F238E27FC236}">
                <a16:creationId xmlns:a16="http://schemas.microsoft.com/office/drawing/2014/main" id="{D618F93C-99A7-3249-8F96-D441C75B6275}"/>
              </a:ext>
            </a:extLst>
          </p:cNvPr>
          <p:cNvSpPr>
            <a:spLocks noGrp="1"/>
          </p:cNvSpPr>
          <p:nvPr>
            <p:ph type="body" idx="1"/>
          </p:nvPr>
        </p:nvSpPr>
        <p:spPr>
          <a:xfrm>
            <a:off x="548640" y="1736920"/>
            <a:ext cx="11106785" cy="4292405"/>
          </a:xfrm>
          <a:prstGeom prst="rect">
            <a:avLst/>
          </a:prstGeom>
        </p:spPr>
        <p:txBody>
          <a:bodyPr vert="horz" lIns="0" tIns="0" rIns="0" bIns="0" rtlCol="0">
            <a:noAutofit/>
          </a:bodyPr>
          <a:lstStyle/>
          <a:p>
            <a:pPr lvl="0"/>
            <a:r>
              <a:rPr lang="en-US"/>
              <a:t>Click to edit Master</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Slide Number Placeholder 5">
            <a:extLst>
              <a:ext uri="{FF2B5EF4-FFF2-40B4-BE49-F238E27FC236}">
                <a16:creationId xmlns:a16="http://schemas.microsoft.com/office/drawing/2014/main" id="{55D9431A-535C-126F-A14B-68FD458A7A50}"/>
              </a:ext>
            </a:extLst>
          </p:cNvPr>
          <p:cNvSpPr txBox="1">
            <a:spLocks/>
          </p:cNvSpPr>
          <p:nvPr userDrawn="1"/>
        </p:nvSpPr>
        <p:spPr>
          <a:xfrm>
            <a:off x="11057990" y="6413253"/>
            <a:ext cx="578385" cy="228600"/>
          </a:xfrm>
          <a:prstGeom prst="rect">
            <a:avLst/>
          </a:prstGeom>
        </p:spPr>
        <p:txBody>
          <a:bodyPr lIns="0" rIns="0"/>
          <a:lstStyle>
            <a:defPPr>
              <a:defRPr lang="en-US"/>
            </a:defPPr>
            <a:lvl1pPr marL="0" algn="l" defTabSz="457040" rtl="0" eaLnBrk="1" latinLnBrk="0" hangingPunct="1">
              <a:defRPr sz="1799" kern="1200">
                <a:solidFill>
                  <a:schemeClr val="tx1"/>
                </a:solidFill>
                <a:latin typeface="+mn-lt"/>
                <a:ea typeface="+mn-ea"/>
                <a:cs typeface="+mn-cs"/>
              </a:defRPr>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algn="r"/>
            <a:fld id="{A9B9714D-1B27-0B43-A9CC-9EF2921F49DC}" type="slidenum">
              <a:rPr lang="en-US" sz="800" b="0" kern="1200" smtClean="0">
                <a:solidFill>
                  <a:schemeClr val="bg1"/>
                </a:solidFill>
                <a:ea typeface="+mn-ea"/>
                <a:cs typeface="+mn-cs"/>
              </a:rPr>
              <a:pPr algn="r"/>
              <a:t>‹#›</a:t>
            </a:fld>
            <a:endParaRPr lang="en-US" sz="800" b="0" kern="1200">
              <a:solidFill>
                <a:schemeClr val="bg1"/>
              </a:solidFill>
              <a:ea typeface="+mn-ea"/>
              <a:cs typeface="+mn-cs"/>
            </a:endParaRPr>
          </a:p>
        </p:txBody>
      </p:sp>
    </p:spTree>
    <p:extLst>
      <p:ext uri="{BB962C8B-B14F-4D97-AF65-F5344CB8AC3E}">
        <p14:creationId xmlns:p14="http://schemas.microsoft.com/office/powerpoint/2010/main" val="292190733"/>
      </p:ext>
    </p:extLst>
  </p:cSld>
  <p:clrMap bg1="lt1" tx1="dk1" bg2="lt2" tx2="dk2" accent1="accent1" accent2="accent2" accent3="accent3" accent4="accent4" accent5="accent5" accent6="accent6" hlink="hlink" folHlink="folHlink"/>
  <p:sldLayoutIdLst>
    <p:sldLayoutId id="2147485128" r:id="rId1"/>
    <p:sldLayoutId id="2147485129" r:id="rId2"/>
    <p:sldLayoutId id="2147485123" r:id="rId3"/>
    <p:sldLayoutId id="2147485202" r:id="rId4"/>
    <p:sldLayoutId id="2147485124" r:id="rId5"/>
    <p:sldLayoutId id="2147485156" r:id="rId6"/>
    <p:sldLayoutId id="2147485255" r:id="rId7"/>
    <p:sldLayoutId id="2147485258" r:id="rId8"/>
    <p:sldLayoutId id="2147485259" r:id="rId9"/>
  </p:sldLayoutIdLst>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hf sldNum="0" hdr="0" ftr="0" dt="0"/>
  <p:txStyles>
    <p:titleStyle>
      <a:lvl1pPr marL="0" algn="l" defTabSz="914400" rtl="0" eaLnBrk="1" latinLnBrk="0" hangingPunct="1">
        <a:lnSpc>
          <a:spcPct val="85000"/>
        </a:lnSpc>
        <a:spcBef>
          <a:spcPct val="0"/>
        </a:spcBef>
        <a:buNone/>
        <a:tabLst>
          <a:tab pos="398463" algn="l"/>
        </a:tabLst>
        <a:defRPr lang="en-US" sz="4000" b="1" i="0" kern="1200" spc="0" baseline="0" dirty="0">
          <a:solidFill>
            <a:schemeClr val="bg1"/>
          </a:solidFill>
          <a:latin typeface="+mj-lt"/>
          <a:ea typeface="+mj-ea"/>
          <a:cs typeface="Source Sans 3" panose="020B0504040101010104" pitchFamily="34" charset="77"/>
        </a:defRPr>
      </a:lvl1pPr>
    </p:titleStyle>
    <p:bodyStyle>
      <a:lvl1pPr marL="0" indent="0" algn="l" defTabSz="914400" rtl="0" eaLnBrk="1" latinLnBrk="0" hangingPunct="1">
        <a:lnSpc>
          <a:spcPct val="100000"/>
        </a:lnSpc>
        <a:spcBef>
          <a:spcPts val="0"/>
        </a:spcBef>
        <a:spcAft>
          <a:spcPts val="1000"/>
        </a:spcAft>
        <a:buFont typeface="Source Sans 3" panose="020B0404040101010104" pitchFamily="34" charset="0"/>
        <a:buChar char="​"/>
        <a:defRPr lang="en-US" sz="1800" b="0" i="0" kern="1200" spc="0" baseline="0" dirty="0">
          <a:solidFill>
            <a:schemeClr val="bg1"/>
          </a:solidFill>
          <a:latin typeface="+mn-lt"/>
          <a:ea typeface="+mn-ea"/>
          <a:cs typeface="Source Sans 3" panose="020B0404040101010104" pitchFamily="34" charset="77"/>
        </a:defRPr>
      </a:lvl1pPr>
      <a:lvl2pPr marL="18288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600" b="0" i="0" kern="1200" spc="0" baseline="0">
          <a:solidFill>
            <a:schemeClr val="bg1"/>
          </a:solidFill>
          <a:latin typeface="+mn-lt"/>
          <a:ea typeface="+mn-ea"/>
          <a:cs typeface="Source Sans 3" panose="020B0404040101010104" pitchFamily="34" charset="77"/>
        </a:defRPr>
      </a:lvl2pPr>
      <a:lvl3pPr marL="36576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b="0" i="0" kern="1200" spc="0" baseline="0">
          <a:solidFill>
            <a:schemeClr val="bg1"/>
          </a:solidFill>
          <a:latin typeface="+mn-lt"/>
          <a:ea typeface="+mn-ea"/>
          <a:cs typeface="Source Sans 3" panose="020B0404040101010104" pitchFamily="34" charset="77"/>
        </a:defRPr>
      </a:lvl3pPr>
      <a:lvl4pPr marL="548640" marR="0" indent="-182880" algn="l" defTabSz="914400" rtl="0" eaLnBrk="1" fontAlgn="auto" latinLnBrk="0" hangingPunct="1">
        <a:lnSpc>
          <a:spcPct val="100000"/>
        </a:lnSpc>
        <a:spcBef>
          <a:spcPts val="0"/>
        </a:spcBef>
        <a:spcAft>
          <a:spcPts val="1000"/>
        </a:spcAft>
        <a:buClrTx/>
        <a:buSzPct val="110000"/>
        <a:buFont typeface="Source Sans 3" panose="020B0404040101010104" pitchFamily="34" charset="0"/>
        <a:buChar char="•"/>
        <a:tabLst/>
        <a:defRPr lang="en-US" sz="1400" b="0" i="0" kern="1200" spc="0" baseline="0" dirty="0">
          <a:solidFill>
            <a:schemeClr val="bg1"/>
          </a:solidFill>
          <a:latin typeface="+mn-lt"/>
          <a:ea typeface="+mn-ea"/>
          <a:cs typeface="Source Sans 3" panose="020B0704040101010104" pitchFamily="34" charset="0"/>
        </a:defRPr>
      </a:lvl4pPr>
      <a:lvl5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b="0" i="0" kern="1200" spc="0" baseline="0">
          <a:solidFill>
            <a:schemeClr val="bg1"/>
          </a:solidFill>
          <a:latin typeface="+mn-lt"/>
          <a:ea typeface="+mn-ea"/>
          <a:cs typeface="Source Sans 3" panose="020B0704040101010104" pitchFamily="34" charset="0"/>
        </a:defRPr>
      </a:lvl5pPr>
      <a:lvl6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b="0" i="0" kern="1200">
          <a:solidFill>
            <a:schemeClr val="bg1"/>
          </a:solidFill>
          <a:latin typeface="+mn-lt"/>
          <a:ea typeface="+mn-ea"/>
          <a:cs typeface="Source Sans 3" panose="020B0504040101010104" pitchFamily="34" charset="77"/>
        </a:defRPr>
      </a:lvl6pPr>
      <a:lvl7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kern="1200">
          <a:solidFill>
            <a:schemeClr val="bg1"/>
          </a:solidFill>
          <a:latin typeface="+mn-lt"/>
          <a:ea typeface="+mn-ea"/>
          <a:cs typeface="+mn-cs"/>
        </a:defRPr>
      </a:lvl7pPr>
      <a:lvl8pPr marL="731520" indent="-182880" algn="l" defTabSz="914400" rtl="0" eaLnBrk="1" latinLnBrk="0" hangingPunct="1">
        <a:lnSpc>
          <a:spcPct val="100000"/>
        </a:lnSpc>
        <a:spcBef>
          <a:spcPts val="0"/>
        </a:spcBef>
        <a:spcAft>
          <a:spcPts val="1000"/>
        </a:spcAft>
        <a:buSzPct val="110000"/>
        <a:buFont typeface="Source Sans 3" panose="020B0404040101010104" pitchFamily="34" charset="0"/>
        <a:buChar char="•"/>
        <a:defRPr sz="1400" kern="1200">
          <a:solidFill>
            <a:schemeClr val="bg1"/>
          </a:solidFill>
          <a:latin typeface="+mn-lt"/>
          <a:ea typeface="+mn-ea"/>
          <a:cs typeface="+mn-cs"/>
        </a:defRPr>
      </a:lvl8pPr>
      <a:lvl9pPr marL="731520" marR="0" indent="-182880" algn="l" defTabSz="914400" rtl="0" eaLnBrk="1" fontAlgn="auto" latinLnBrk="0" hangingPunct="1">
        <a:lnSpc>
          <a:spcPct val="100000"/>
        </a:lnSpc>
        <a:spcBef>
          <a:spcPts val="0"/>
        </a:spcBef>
        <a:spcAft>
          <a:spcPts val="1000"/>
        </a:spcAft>
        <a:buClrTx/>
        <a:buSzPct val="110000"/>
        <a:buFont typeface="Source Sans 3" panose="020B0404040101010104" pitchFamily="34" charset="0"/>
        <a:buChar char="•"/>
        <a:tabLst/>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6" userDrawn="1">
          <p15:clr>
            <a:srgbClr val="F65275"/>
          </p15:clr>
        </p15:guide>
        <p15:guide id="2" pos="7330" userDrawn="1">
          <p15:clr>
            <a:srgbClr val="F65275"/>
          </p15:clr>
        </p15:guide>
        <p15:guide id="3" pos="815" userDrawn="1">
          <p15:clr>
            <a:srgbClr val="F65275"/>
          </p15:clr>
        </p15:guide>
        <p15:guide id="5" pos="935" userDrawn="1">
          <p15:clr>
            <a:srgbClr val="F65275"/>
          </p15:clr>
        </p15:guide>
        <p15:guide id="6" pos="1415" userDrawn="1">
          <p15:clr>
            <a:srgbClr val="F65275"/>
          </p15:clr>
        </p15:guide>
        <p15:guide id="7" pos="1535" userDrawn="1">
          <p15:clr>
            <a:srgbClr val="F65275"/>
          </p15:clr>
        </p15:guide>
        <p15:guide id="10" pos="2004" userDrawn="1">
          <p15:clr>
            <a:srgbClr val="F65275"/>
          </p15:clr>
        </p15:guide>
        <p15:guide id="11" pos="2121" userDrawn="1">
          <p15:clr>
            <a:srgbClr val="F65275"/>
          </p15:clr>
        </p15:guide>
        <p15:guide id="12" orient="horz" pos="690" userDrawn="1">
          <p15:clr>
            <a:srgbClr val="F65275"/>
          </p15:clr>
        </p15:guide>
        <p15:guide id="13" orient="horz" pos="788" userDrawn="1">
          <p15:clr>
            <a:srgbClr val="F65275"/>
          </p15:clr>
        </p15:guide>
        <p15:guide id="14" orient="horz" pos="346" userDrawn="1">
          <p15:clr>
            <a:srgbClr val="F65275"/>
          </p15:clr>
        </p15:guide>
        <p15:guide id="15" orient="horz" pos="1128" userDrawn="1">
          <p15:clr>
            <a:srgbClr val="F65275"/>
          </p15:clr>
        </p15:guide>
        <p15:guide id="16" orient="horz" pos="1232" userDrawn="1">
          <p15:clr>
            <a:srgbClr val="F65275"/>
          </p15:clr>
        </p15:guide>
        <p15:guide id="17" orient="horz" pos="1577" userDrawn="1">
          <p15:clr>
            <a:srgbClr val="F65275"/>
          </p15:clr>
        </p15:guide>
        <p15:guide id="18" orient="horz" pos="1680" userDrawn="1">
          <p15:clr>
            <a:srgbClr val="F65275"/>
          </p15:clr>
        </p15:guide>
        <p15:guide id="19" orient="horz" pos="4242" userDrawn="1">
          <p15:clr>
            <a:srgbClr val="F65275"/>
          </p15:clr>
        </p15:guide>
        <p15:guide id="20" pos="2591" userDrawn="1">
          <p15:clr>
            <a:srgbClr val="F65275"/>
          </p15:clr>
        </p15:guide>
        <p15:guide id="22" pos="2714" userDrawn="1">
          <p15:clr>
            <a:srgbClr val="F65275"/>
          </p15:clr>
        </p15:guide>
        <p15:guide id="24" pos="3184" userDrawn="1">
          <p15:clr>
            <a:srgbClr val="F65275"/>
          </p15:clr>
        </p15:guide>
        <p15:guide id="25" pos="3310" userDrawn="1">
          <p15:clr>
            <a:srgbClr val="F65275"/>
          </p15:clr>
        </p15:guide>
        <p15:guide id="26" pos="3785" userDrawn="1">
          <p15:clr>
            <a:srgbClr val="F65275"/>
          </p15:clr>
        </p15:guide>
        <p15:guide id="27" pos="3898" userDrawn="1">
          <p15:clr>
            <a:srgbClr val="F65275"/>
          </p15:clr>
        </p15:guide>
        <p15:guide id="28" pos="4369" userDrawn="1">
          <p15:clr>
            <a:srgbClr val="F65275"/>
          </p15:clr>
        </p15:guide>
        <p15:guide id="29" pos="4490" userDrawn="1">
          <p15:clr>
            <a:srgbClr val="F65275"/>
          </p15:clr>
        </p15:guide>
        <p15:guide id="30" pos="4965" userDrawn="1">
          <p15:clr>
            <a:srgbClr val="F65275"/>
          </p15:clr>
        </p15:guide>
        <p15:guide id="31" pos="5079" userDrawn="1">
          <p15:clr>
            <a:srgbClr val="F65275"/>
          </p15:clr>
        </p15:guide>
        <p15:guide id="34" pos="5557" userDrawn="1">
          <p15:clr>
            <a:srgbClr val="F65275"/>
          </p15:clr>
        </p15:guide>
        <p15:guide id="35" pos="5671" userDrawn="1">
          <p15:clr>
            <a:srgbClr val="F65275"/>
          </p15:clr>
        </p15:guide>
        <p15:guide id="36" pos="6145" userDrawn="1">
          <p15:clr>
            <a:srgbClr val="F65275"/>
          </p15:clr>
        </p15:guide>
        <p15:guide id="37" pos="6263" userDrawn="1">
          <p15:clr>
            <a:srgbClr val="F65275"/>
          </p15:clr>
        </p15:guide>
        <p15:guide id="38" pos="6738" userDrawn="1">
          <p15:clr>
            <a:srgbClr val="F65275"/>
          </p15:clr>
        </p15:guide>
        <p15:guide id="39" pos="6855" userDrawn="1">
          <p15:clr>
            <a:srgbClr val="F65275"/>
          </p15:clr>
        </p15:guide>
        <p15:guide id="41" orient="horz" pos="2024" userDrawn="1">
          <p15:clr>
            <a:srgbClr val="F65275"/>
          </p15:clr>
        </p15:guide>
        <p15:guide id="42" orient="horz" pos="2124" userDrawn="1">
          <p15:clr>
            <a:srgbClr val="F65275"/>
          </p15:clr>
        </p15:guide>
        <p15:guide id="43" orient="horz" pos="2468" userDrawn="1">
          <p15:clr>
            <a:srgbClr val="F65275"/>
          </p15:clr>
        </p15:guide>
        <p15:guide id="44" orient="horz" pos="2566" userDrawn="1">
          <p15:clr>
            <a:srgbClr val="F65275"/>
          </p15:clr>
        </p15:guide>
        <p15:guide id="45" orient="horz" pos="2912" userDrawn="1">
          <p15:clr>
            <a:srgbClr val="F65275"/>
          </p15:clr>
        </p15:guide>
        <p15:guide id="46" orient="horz" pos="3010" userDrawn="1">
          <p15:clr>
            <a:srgbClr val="F65275"/>
          </p15:clr>
        </p15:guide>
        <p15:guide id="47" orient="horz" pos="3356" userDrawn="1">
          <p15:clr>
            <a:srgbClr val="F65275"/>
          </p15:clr>
        </p15:guide>
        <p15:guide id="48" orient="horz" pos="3453" userDrawn="1">
          <p15:clr>
            <a:srgbClr val="F65275"/>
          </p15:clr>
        </p15:guide>
        <p15:guide id="49" orient="horz" pos="3798" userDrawn="1">
          <p15:clr>
            <a:srgbClr val="F65275"/>
          </p15:clr>
        </p15:guide>
        <p15:guide id="50" orient="horz" pos="3896" userDrawn="1">
          <p15:clr>
            <a:srgbClr val="F6527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95B490-632F-2CE2-27FC-52E7D8D88C71}"/>
              </a:ext>
            </a:extLst>
          </p:cNvPr>
          <p:cNvSpPr txBox="1"/>
          <p:nvPr userDrawn="1"/>
        </p:nvSpPr>
        <p:spPr>
          <a:xfrm>
            <a:off x="9944772" y="6472299"/>
            <a:ext cx="1919740" cy="261610"/>
          </a:xfrm>
          <a:prstGeom prst="rect">
            <a:avLst/>
          </a:prstGeom>
          <a:noFill/>
        </p:spPr>
        <p:txBody>
          <a:bodyPr wrap="square" rtlCol="0">
            <a:spAutoFit/>
          </a:bodyPr>
          <a:lstStyle/>
          <a:p>
            <a:pPr defTabSz="609447">
              <a:defRPr/>
            </a:pPr>
            <a:r>
              <a:rPr lang="en-US" sz="1100" dirty="0">
                <a:solidFill>
                  <a:schemeClr val="bg1"/>
                </a:solidFill>
                <a:latin typeface="Source Sans Pro" panose="020B0503030403020204" pitchFamily="34" charset="0"/>
                <a:ea typeface="Source Sans Pro" panose="020B0503030403020204" pitchFamily="34" charset="0"/>
              </a:rPr>
              <a:t>Copyright © 2026 Crossfuze | </a:t>
            </a:r>
          </a:p>
        </p:txBody>
      </p:sp>
      <p:pic>
        <p:nvPicPr>
          <p:cNvPr id="3" name="Picture 2">
            <a:extLst>
              <a:ext uri="{FF2B5EF4-FFF2-40B4-BE49-F238E27FC236}">
                <a16:creationId xmlns:a16="http://schemas.microsoft.com/office/drawing/2014/main" id="{DC13A378-544A-3005-2A61-1D61F71C573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570345" y="224853"/>
            <a:ext cx="321793" cy="314794"/>
          </a:xfrm>
          <a:prstGeom prst="rect">
            <a:avLst/>
          </a:prstGeom>
        </p:spPr>
      </p:pic>
      <p:sp>
        <p:nvSpPr>
          <p:cNvPr id="4" name="Rectangle: Rounded Corners 31">
            <a:extLst>
              <a:ext uri="{FF2B5EF4-FFF2-40B4-BE49-F238E27FC236}">
                <a16:creationId xmlns:a16="http://schemas.microsoft.com/office/drawing/2014/main" id="{4D34883D-5BB3-C8F9-006B-3D435D6C0382}"/>
              </a:ext>
            </a:extLst>
          </p:cNvPr>
          <p:cNvSpPr/>
          <p:nvPr userDrawn="1"/>
        </p:nvSpPr>
        <p:spPr>
          <a:xfrm>
            <a:off x="253934" y="6592888"/>
            <a:ext cx="9598700" cy="27432"/>
          </a:xfrm>
          <a:prstGeom prst="roundRect">
            <a:avLst/>
          </a:prstGeom>
          <a:gradFill flip="none" rotWithShape="1">
            <a:gsLst>
              <a:gs pos="0">
                <a:schemeClr val="accent2"/>
              </a:gs>
              <a:gs pos="100000">
                <a:schemeClr val="accent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447">
              <a:defRPr/>
            </a:pPr>
            <a:endParaRPr lang="en-US" sz="1200">
              <a:solidFill>
                <a:prstClr val="white"/>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29700FDA-AD8F-A5A8-3E10-9324E7385C83}"/>
              </a:ext>
            </a:extLst>
          </p:cNvPr>
          <p:cNvSpPr txBox="1"/>
          <p:nvPr userDrawn="1"/>
        </p:nvSpPr>
        <p:spPr>
          <a:xfrm rot="10800000" flipV="1">
            <a:off x="10930198" y="6478396"/>
            <a:ext cx="1064951" cy="261610"/>
          </a:xfrm>
          <a:prstGeom prst="rect">
            <a:avLst/>
          </a:prstGeom>
          <a:noFill/>
        </p:spPr>
        <p:txBody>
          <a:bodyPr wrap="square" rtlCol="0">
            <a:spAutoFit/>
          </a:bodyPr>
          <a:lstStyle/>
          <a:p>
            <a:pPr algn="r"/>
            <a:fld id="{260E2A6B-A809-4840-BF14-8648BC0BDF87}" type="slidenum">
              <a:rPr lang="id-ID" sz="1050" i="0" smtClean="0">
                <a:solidFill>
                  <a:schemeClr val="bg1"/>
                </a:solidFill>
                <a:latin typeface="Source Sans Pro" panose="020B0503030403020204" pitchFamily="34" charset="0"/>
                <a:ea typeface="Source Sans Pro" panose="020B0503030403020204" pitchFamily="34" charset="0"/>
                <a:cs typeface="Lato" panose="020F0502020204030203" pitchFamily="34" charset="0"/>
              </a:rPr>
              <a:pPr algn="r"/>
              <a:t>‹#›</a:t>
            </a:fld>
            <a:endParaRPr lang="id-ID" sz="1999" i="0" dirty="0">
              <a:solidFill>
                <a:schemeClr val="bg1"/>
              </a:solidFill>
              <a:latin typeface="Source Sans Pro" panose="020B0503030403020204" pitchFamily="34" charset="0"/>
              <a:ea typeface="Source Sans Pro" panose="020B0503030403020204" pitchFamily="34" charset="0"/>
              <a:cs typeface="Lato" panose="020F0502020204030203" pitchFamily="34" charset="0"/>
            </a:endParaRPr>
          </a:p>
        </p:txBody>
      </p:sp>
      <p:sp>
        <p:nvSpPr>
          <p:cNvPr id="6" name="Text Placeholder 2">
            <a:extLst>
              <a:ext uri="{FF2B5EF4-FFF2-40B4-BE49-F238E27FC236}">
                <a16:creationId xmlns:a16="http://schemas.microsoft.com/office/drawing/2014/main" id="{FC0F4D70-EF2A-07AB-A09D-C49CC8B2DCC2}"/>
              </a:ext>
            </a:extLst>
          </p:cNvPr>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D2A8E0DD-B3CB-0E18-E1BA-0439EC88CD20}"/>
              </a:ext>
            </a:extLst>
          </p:cNvPr>
          <p:cNvSpPr>
            <a:spLocks noGrp="1"/>
          </p:cNvSpPr>
          <p:nvPr>
            <p:ph type="title"/>
          </p:nvPr>
        </p:nvSpPr>
        <p:spPr>
          <a:xfrm>
            <a:off x="837982" y="626530"/>
            <a:ext cx="10512862" cy="384048"/>
          </a:xfrm>
          <a:prstGeom prst="rect">
            <a:avLst/>
          </a:prstGeom>
        </p:spPr>
        <p:txBody>
          <a:bodyPr vert="horz" lIns="91440" tIns="45720" rIns="91440" bIns="45720" rtlCol="0" anchor="ctr">
            <a:noAutofit/>
          </a:bodyPr>
          <a:lstStyle/>
          <a:p>
            <a:r>
              <a:rPr lang="en-US" dirty="0"/>
              <a:t>Slide Title</a:t>
            </a:r>
          </a:p>
        </p:txBody>
      </p:sp>
    </p:spTree>
    <p:extLst>
      <p:ext uri="{BB962C8B-B14F-4D97-AF65-F5344CB8AC3E}">
        <p14:creationId xmlns:p14="http://schemas.microsoft.com/office/powerpoint/2010/main" val="3393066364"/>
      </p:ext>
    </p:extLst>
  </p:cSld>
  <p:clrMap bg1="lt1" tx1="dk1" bg2="lt2" tx2="dk2" accent1="accent1" accent2="accent2" accent3="accent3" accent4="accent4" accent5="accent5" accent6="accent6" hlink="hlink" folHlink="folHlink"/>
  <p:sldLayoutIdLst>
    <p:sldLayoutId id="2147485257" r:id="rId1"/>
  </p:sldLayoutIdLst>
  <p:txStyles>
    <p:titleStyle>
      <a:lvl1pPr algn="l" defTabSz="914126" rtl="0" eaLnBrk="1" latinLnBrk="0" hangingPunct="1">
        <a:lnSpc>
          <a:spcPct val="80000"/>
        </a:lnSpc>
        <a:spcBef>
          <a:spcPct val="0"/>
        </a:spcBef>
        <a:buNone/>
        <a:defRPr sz="4799" kern="1200">
          <a:solidFill>
            <a:schemeClr val="bg1"/>
          </a:solidFill>
          <a:latin typeface="Source Sans Pro Bold" panose="020B0703030403020204" pitchFamily="34" charset="0"/>
          <a:ea typeface="Source Sans Pro Bold" panose="020B0703030403020204" pitchFamily="34" charset="0"/>
          <a:cs typeface="+mj-cs"/>
        </a:defRPr>
      </a:lvl1pPr>
    </p:titleStyle>
    <p:bodyStyle>
      <a:lvl1pPr marL="0" indent="0" algn="l" defTabSz="914126" rtl="0" eaLnBrk="1" latinLnBrk="0" hangingPunct="1">
        <a:lnSpc>
          <a:spcPct val="90000"/>
        </a:lnSpc>
        <a:spcBef>
          <a:spcPts val="1000"/>
        </a:spcBef>
        <a:buFont typeface="Arial" panose="020B0604020202020204" pitchFamily="34" charset="0"/>
        <a:buNone/>
        <a:defRPr sz="2399" kern="1200">
          <a:solidFill>
            <a:schemeClr val="bg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bg1"/>
          </a:solidFill>
          <a:latin typeface="+mn-lt"/>
          <a:ea typeface="+mn-ea"/>
          <a:cs typeface="+mn-cs"/>
        </a:defRPr>
      </a:lvl2pPr>
      <a:lvl3pPr marL="1142657" indent="-228531" algn="l" defTabSz="914126" rtl="0" eaLnBrk="1" latinLnBrk="0" hangingPunct="1">
        <a:lnSpc>
          <a:spcPct val="90000"/>
        </a:lnSpc>
        <a:spcBef>
          <a:spcPts val="500"/>
        </a:spcBef>
        <a:buFont typeface="Source Sans Pro" panose="020B0503030403020204" pitchFamily="34" charset="0"/>
        <a:buChar char="-"/>
        <a:defRPr sz="1999" kern="1200">
          <a:solidFill>
            <a:schemeClr val="bg1"/>
          </a:solidFill>
          <a:latin typeface="+mn-lt"/>
          <a:ea typeface="+mn-ea"/>
          <a:cs typeface="+mn-cs"/>
        </a:defRPr>
      </a:lvl3pPr>
      <a:lvl4pPr marL="1599720" indent="-228531" algn="l" defTabSz="914126" rtl="0" eaLnBrk="1" latinLnBrk="0" hangingPunct="1">
        <a:lnSpc>
          <a:spcPct val="90000"/>
        </a:lnSpc>
        <a:spcBef>
          <a:spcPts val="500"/>
        </a:spcBef>
        <a:buSzPct val="70000"/>
        <a:buFont typeface="Courier New" panose="02070309020205020404" pitchFamily="49" charset="0"/>
        <a:buChar char="o"/>
        <a:defRPr sz="1999" kern="1200">
          <a:solidFill>
            <a:schemeClr val="bg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999" kern="1200">
          <a:solidFill>
            <a:schemeClr val="bg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04">
          <p15:clr>
            <a:srgbClr val="F26B43"/>
          </p15:clr>
        </p15:guide>
        <p15:guide id="2" pos="574">
          <p15:clr>
            <a:srgbClr val="F26B43"/>
          </p15:clr>
        </p15:guide>
        <p15:guide id="3" pos="7106">
          <p15:clr>
            <a:srgbClr val="F26B43"/>
          </p15:clr>
        </p15:guide>
        <p15:guide id="4" orient="horz" pos="38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5.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2.png"/><Relationship Id="rId11" Type="http://schemas.openxmlformats.org/officeDocument/2006/relationships/image" Target="../media/image27.png"/><Relationship Id="rId5" Type="http://schemas.microsoft.com/office/2007/relationships/hdphoto" Target="../media/hdphoto1.wdp"/><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jpeg"/><Relationship Id="rId18" Type="http://schemas.openxmlformats.org/officeDocument/2006/relationships/image" Target="../media/image45.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4.png"/><Relationship Id="rId2" Type="http://schemas.openxmlformats.org/officeDocument/2006/relationships/notesSlide" Target="../notesSlides/notesSlide8.xml"/><Relationship Id="rId16" Type="http://schemas.openxmlformats.org/officeDocument/2006/relationships/image" Target="../media/image43.png"/><Relationship Id="rId1" Type="http://schemas.openxmlformats.org/officeDocument/2006/relationships/slideLayout" Target="../slideLayouts/slideLayout8.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2.png"/><Relationship Id="rId10" Type="http://schemas.openxmlformats.org/officeDocument/2006/relationships/image" Target="../media/image38.png"/><Relationship Id="rId19" Type="http://schemas.openxmlformats.org/officeDocument/2006/relationships/image" Target="../media/image46.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9.png"/><Relationship Id="rId5" Type="http://schemas.microsoft.com/office/2007/relationships/hdphoto" Target="../media/hdphoto2.wdp"/><Relationship Id="rId4" Type="http://schemas.openxmlformats.org/officeDocument/2006/relationships/image" Target="../media/image48.pn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image" Target="../media/image52.jpeg"/><Relationship Id="rId4" Type="http://schemas.openxmlformats.org/officeDocument/2006/relationships/image" Target="../media/image1.svg"/></Relationships>
</file>

<file path=ppt/slides/_rels/slide1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2.png"/><Relationship Id="rId5" Type="http://schemas.microsoft.com/office/2007/relationships/hdphoto" Target="../media/hdphoto3.wdp"/><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60.svg"/><Relationship Id="rId18" Type="http://schemas.microsoft.com/office/2007/relationships/hdphoto" Target="../media/hdphoto8.wdp"/><Relationship Id="rId3" Type="http://schemas.openxmlformats.org/officeDocument/2006/relationships/image" Target="../media/image47.jpeg"/><Relationship Id="rId7" Type="http://schemas.openxmlformats.org/officeDocument/2006/relationships/image" Target="../media/image57.png"/><Relationship Id="rId12" Type="http://schemas.microsoft.com/office/2007/relationships/hdphoto" Target="../media/hdphoto6.wdp"/><Relationship Id="rId17" Type="http://schemas.openxmlformats.org/officeDocument/2006/relationships/image" Target="../media/image62.png"/><Relationship Id="rId2" Type="http://schemas.openxmlformats.org/officeDocument/2006/relationships/notesSlide" Target="../notesSlides/notesSlide14.xml"/><Relationship Id="rId16"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59.png"/><Relationship Id="rId5" Type="http://schemas.microsoft.com/office/2007/relationships/hdphoto" Target="../media/hdphoto2.wdp"/><Relationship Id="rId15" Type="http://schemas.microsoft.com/office/2007/relationships/hdphoto" Target="../media/hdphoto7.wdp"/><Relationship Id="rId10" Type="http://schemas.microsoft.com/office/2007/relationships/hdphoto" Target="../media/hdphoto5.wdp"/><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8.png"/><Relationship Id="rId14" Type="http://schemas.openxmlformats.org/officeDocument/2006/relationships/image" Target="../media/image61.png"/></Relationships>
</file>

<file path=ppt/slides/_rels/slide15.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47.jpeg"/><Relationship Id="rId7" Type="http://schemas.microsoft.com/office/2007/relationships/hdphoto" Target="../media/hdphoto9.wdp"/><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7.png"/></Relationships>
</file>

<file path=ppt/slides/_rels/slide16.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47.jpeg"/><Relationship Id="rId7" Type="http://schemas.microsoft.com/office/2007/relationships/hdphoto" Target="../media/hdphoto9.wdp"/><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8.png"/></Relationships>
</file>

<file path=ppt/slides/_rels/slide17.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47.jpeg"/><Relationship Id="rId7" Type="http://schemas.microsoft.com/office/2007/relationships/hdphoto" Target="../media/hdphoto9.wdp"/><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69.png"/></Relationships>
</file>

<file path=ppt/slides/_rels/slide18.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47.jpeg"/><Relationship Id="rId7" Type="http://schemas.microsoft.com/office/2007/relationships/hdphoto" Target="../media/hdphoto9.wdp"/><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70.png"/></Relationships>
</file>

<file path=ppt/slides/_rels/slide19.xml.rels><?xml version="1.0" encoding="UTF-8" standalone="yes"?>
<Relationships xmlns="http://schemas.openxmlformats.org/package/2006/relationships"><Relationship Id="rId8" Type="http://schemas.openxmlformats.org/officeDocument/2006/relationships/image" Target="../media/image1.svg"/><Relationship Id="rId3" Type="http://schemas.openxmlformats.org/officeDocument/2006/relationships/image" Target="../media/image47.jpeg"/><Relationship Id="rId7" Type="http://schemas.microsoft.com/office/2007/relationships/hdphoto" Target="../media/hdphoto9.wdp"/><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9" Type="http://schemas.openxmlformats.org/officeDocument/2006/relationships/image" Target="../media/image71.png"/></Relationships>
</file>

<file path=ppt/slides/_rels/slide20.xml.rels><?xml version="1.0" encoding="UTF-8" standalone="yes"?>
<Relationships xmlns="http://schemas.openxmlformats.org/package/2006/relationships"><Relationship Id="rId3" Type="http://schemas.openxmlformats.org/officeDocument/2006/relationships/image" Target="../media/image47.jpeg"/><Relationship Id="rId7"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8.png"/><Relationship Id="rId4" Type="http://schemas.openxmlformats.org/officeDocument/2006/relationships/image" Target="../media/image1.svg"/></Relationships>
</file>

<file path=ppt/slides/_rels/slide21.xml.rels><?xml version="1.0" encoding="UTF-8" standalone="yes"?>
<Relationships xmlns="http://schemas.openxmlformats.org/package/2006/relationships"><Relationship Id="rId13" Type="http://schemas.openxmlformats.org/officeDocument/2006/relationships/image" Target="../media/image78.png"/><Relationship Id="rId18" Type="http://schemas.openxmlformats.org/officeDocument/2006/relationships/image" Target="../media/image81.png"/><Relationship Id="rId26" Type="http://schemas.openxmlformats.org/officeDocument/2006/relationships/image" Target="../media/image85.png"/><Relationship Id="rId39" Type="http://schemas.microsoft.com/office/2007/relationships/hdphoto" Target="../media/hdphoto24.wdp"/><Relationship Id="rId21" Type="http://schemas.microsoft.com/office/2007/relationships/hdphoto" Target="../media/hdphoto16.wdp"/><Relationship Id="rId34" Type="http://schemas.openxmlformats.org/officeDocument/2006/relationships/image" Target="../media/image89.png"/><Relationship Id="rId42" Type="http://schemas.openxmlformats.org/officeDocument/2006/relationships/image" Target="../media/image93.svg"/><Relationship Id="rId47" Type="http://schemas.openxmlformats.org/officeDocument/2006/relationships/image" Target="../media/image98.png"/><Relationship Id="rId50" Type="http://schemas.microsoft.com/office/2007/relationships/hdphoto" Target="../media/hdphoto26.wdp"/><Relationship Id="rId55" Type="http://schemas.openxmlformats.org/officeDocument/2006/relationships/image" Target="../media/image105.png"/><Relationship Id="rId7" Type="http://schemas.microsoft.com/office/2007/relationships/hdphoto" Target="../media/hdphoto11.wdp"/><Relationship Id="rId2" Type="http://schemas.openxmlformats.org/officeDocument/2006/relationships/notesSlide" Target="../notesSlides/notesSlide21.xml"/><Relationship Id="rId16" Type="http://schemas.openxmlformats.org/officeDocument/2006/relationships/image" Target="../media/image80.png"/><Relationship Id="rId29" Type="http://schemas.microsoft.com/office/2007/relationships/hdphoto" Target="../media/hdphoto19.wdp"/><Relationship Id="rId11" Type="http://schemas.microsoft.com/office/2007/relationships/hdphoto" Target="../media/hdphoto13.wdp"/><Relationship Id="rId24" Type="http://schemas.microsoft.com/office/2007/relationships/hdphoto" Target="../media/hdphoto17.wdp"/><Relationship Id="rId32" Type="http://schemas.openxmlformats.org/officeDocument/2006/relationships/image" Target="../media/image88.png"/><Relationship Id="rId37" Type="http://schemas.microsoft.com/office/2007/relationships/hdphoto" Target="../media/hdphoto23.wdp"/><Relationship Id="rId40" Type="http://schemas.microsoft.com/office/2007/relationships/hdphoto" Target="../media/hdphoto25.wdp"/><Relationship Id="rId45" Type="http://schemas.openxmlformats.org/officeDocument/2006/relationships/image" Target="../media/image96.svg"/><Relationship Id="rId53" Type="http://schemas.openxmlformats.org/officeDocument/2006/relationships/image" Target="../media/image103.png"/><Relationship Id="rId58" Type="http://schemas.openxmlformats.org/officeDocument/2006/relationships/image" Target="../media/image108.png"/><Relationship Id="rId5" Type="http://schemas.microsoft.com/office/2007/relationships/hdphoto" Target="../media/hdphoto10.wdp"/><Relationship Id="rId61" Type="http://schemas.openxmlformats.org/officeDocument/2006/relationships/image" Target="../media/image111.png"/><Relationship Id="rId19" Type="http://schemas.microsoft.com/office/2007/relationships/hdphoto" Target="../media/hdphoto15.wdp"/><Relationship Id="rId14" Type="http://schemas.openxmlformats.org/officeDocument/2006/relationships/image" Target="../media/image79.png"/><Relationship Id="rId22" Type="http://schemas.openxmlformats.org/officeDocument/2006/relationships/image" Target="../media/image1.svg"/><Relationship Id="rId27" Type="http://schemas.microsoft.com/office/2007/relationships/hdphoto" Target="../media/hdphoto18.wdp"/><Relationship Id="rId30" Type="http://schemas.openxmlformats.org/officeDocument/2006/relationships/image" Target="../media/image87.png"/><Relationship Id="rId35" Type="http://schemas.microsoft.com/office/2007/relationships/hdphoto" Target="../media/hdphoto22.wdp"/><Relationship Id="rId43" Type="http://schemas.openxmlformats.org/officeDocument/2006/relationships/image" Target="../media/image94.png"/><Relationship Id="rId48" Type="http://schemas.openxmlformats.org/officeDocument/2006/relationships/image" Target="../media/image99.png"/><Relationship Id="rId56" Type="http://schemas.openxmlformats.org/officeDocument/2006/relationships/image" Target="../media/image106.png"/><Relationship Id="rId8" Type="http://schemas.openxmlformats.org/officeDocument/2006/relationships/image" Target="../media/image75.png"/><Relationship Id="rId51" Type="http://schemas.openxmlformats.org/officeDocument/2006/relationships/image" Target="../media/image101.png"/><Relationship Id="rId3" Type="http://schemas.openxmlformats.org/officeDocument/2006/relationships/image" Target="../media/image72.png"/><Relationship Id="rId12" Type="http://schemas.openxmlformats.org/officeDocument/2006/relationships/image" Target="../media/image77.png"/><Relationship Id="rId17" Type="http://schemas.microsoft.com/office/2007/relationships/hdphoto" Target="../media/hdphoto14.wdp"/><Relationship Id="rId25" Type="http://schemas.openxmlformats.org/officeDocument/2006/relationships/image" Target="../media/image84.png"/><Relationship Id="rId33" Type="http://schemas.microsoft.com/office/2007/relationships/hdphoto" Target="../media/hdphoto21.wdp"/><Relationship Id="rId38" Type="http://schemas.openxmlformats.org/officeDocument/2006/relationships/image" Target="../media/image91.png"/><Relationship Id="rId46" Type="http://schemas.openxmlformats.org/officeDocument/2006/relationships/image" Target="../media/image97.svg"/><Relationship Id="rId59" Type="http://schemas.openxmlformats.org/officeDocument/2006/relationships/image" Target="../media/image109.png"/><Relationship Id="rId20" Type="http://schemas.openxmlformats.org/officeDocument/2006/relationships/image" Target="../media/image82.png"/><Relationship Id="rId41" Type="http://schemas.openxmlformats.org/officeDocument/2006/relationships/image" Target="../media/image92.svg"/><Relationship Id="rId54" Type="http://schemas.openxmlformats.org/officeDocument/2006/relationships/image" Target="../media/image104.png"/><Relationship Id="rId62" Type="http://schemas.openxmlformats.org/officeDocument/2006/relationships/image" Target="../media/image112.png"/><Relationship Id="rId1" Type="http://schemas.openxmlformats.org/officeDocument/2006/relationships/slideLayout" Target="../slideLayouts/slideLayout4.xml"/><Relationship Id="rId6" Type="http://schemas.openxmlformats.org/officeDocument/2006/relationships/image" Target="../media/image74.png"/><Relationship Id="rId15" Type="http://schemas.openxmlformats.org/officeDocument/2006/relationships/image" Target="../media/image22.png"/><Relationship Id="rId23" Type="http://schemas.openxmlformats.org/officeDocument/2006/relationships/image" Target="../media/image83.png"/><Relationship Id="rId28" Type="http://schemas.openxmlformats.org/officeDocument/2006/relationships/image" Target="../media/image86.png"/><Relationship Id="rId36" Type="http://schemas.openxmlformats.org/officeDocument/2006/relationships/image" Target="../media/image90.png"/><Relationship Id="rId49" Type="http://schemas.openxmlformats.org/officeDocument/2006/relationships/image" Target="../media/image100.png"/><Relationship Id="rId57" Type="http://schemas.openxmlformats.org/officeDocument/2006/relationships/image" Target="../media/image107.png"/><Relationship Id="rId10" Type="http://schemas.openxmlformats.org/officeDocument/2006/relationships/image" Target="../media/image76.png"/><Relationship Id="rId31" Type="http://schemas.microsoft.com/office/2007/relationships/hdphoto" Target="../media/hdphoto20.wdp"/><Relationship Id="rId44" Type="http://schemas.openxmlformats.org/officeDocument/2006/relationships/image" Target="../media/image95.png"/><Relationship Id="rId52" Type="http://schemas.openxmlformats.org/officeDocument/2006/relationships/image" Target="../media/image102.png"/><Relationship Id="rId60" Type="http://schemas.openxmlformats.org/officeDocument/2006/relationships/image" Target="../media/image110.png"/><Relationship Id="rId4" Type="http://schemas.openxmlformats.org/officeDocument/2006/relationships/image" Target="../media/image73.png"/><Relationship Id="rId9" Type="http://schemas.microsoft.com/office/2007/relationships/hdphoto" Target="../media/hdphoto12.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13.png"/></Relationships>
</file>

<file path=ppt/slides/_rels/slide2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15.png"/><Relationship Id="rId4" Type="http://schemas.openxmlformats.org/officeDocument/2006/relationships/image" Target="../media/image1.svg"/></Relationships>
</file>

<file path=ppt/slides/_rels/slide25.xml.rels><?xml version="1.0" encoding="UTF-8" standalone="yes"?>
<Relationships xmlns="http://schemas.openxmlformats.org/package/2006/relationships"><Relationship Id="rId3" Type="http://schemas.openxmlformats.org/officeDocument/2006/relationships/image" Target="../media/image116.jpeg"/><Relationship Id="rId7" Type="http://schemas.openxmlformats.org/officeDocument/2006/relationships/image" Target="../media/image1.sv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17.png"/><Relationship Id="rId4"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21.png"/><Relationship Id="rId4" Type="http://schemas.openxmlformats.org/officeDocument/2006/relationships/image" Target="../media/image120.png"/></Relationships>
</file>

<file path=ppt/slides/_rels/slide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22.png"/><Relationship Id="rId5" Type="http://schemas.microsoft.com/office/2007/relationships/hdphoto" Target="../media/hdphoto27.wdp"/><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123.png"/></Relationships>
</file>

<file path=ppt/slides/_rels/slide3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123.png"/></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26.png"/></Relationships>
</file>

<file path=ppt/slides/_rels/slide3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123.png"/></Relationships>
</file>

<file path=ppt/slides/_rels/slide3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123.png"/></Relationships>
</file>

<file path=ppt/slides/_rels/slide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131.png"/><Relationship Id="rId4" Type="http://schemas.openxmlformats.org/officeDocument/2006/relationships/image" Target="../media/image1.svg"/></Relationships>
</file>

<file path=ppt/slides/_rels/slide3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image" Target="../media/image123.png"/></Relationships>
</file>

<file path=ppt/slides/_rels/slide4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svg"/></Relationships>
</file>

<file path=ppt/slides/_rels/slide4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133.png"/></Relationships>
</file>

<file path=ppt/slides/_rels/slide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7.xml"/><Relationship Id="rId1" Type="http://schemas.openxmlformats.org/officeDocument/2006/relationships/slideLayout" Target="../slideLayouts/slideLayout4.xml"/><Relationship Id="rId5" Type="http://schemas.openxmlformats.org/officeDocument/2006/relationships/image" Target="../media/image134.png"/><Relationship Id="rId4" Type="http://schemas.openxmlformats.org/officeDocument/2006/relationships/image" Target="../media/image133.png"/></Relationships>
</file>

<file path=ppt/slides/_rels/slide4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1.svg"/></Relationships>
</file>

<file path=ppt/slides/_rels/slide4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1.svg"/></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rgbClr val="040E3D"/>
        </a:solidFill>
        <a:effectLst/>
      </p:bgPr>
    </p:bg>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71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41148" cy="6858000"/>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84048" y="246888"/>
            <a:ext cx="64008" cy="283464"/>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30352" y="256032"/>
            <a:ext cx="5486400" cy="292608"/>
          </a:xfrm>
          <a:prstGeom prst="rect">
            <a:avLst/>
          </a:prstGeom>
          <a:noFill/>
        </p:spPr>
        <p:txBody>
          <a:bodyPr wrap="square" lIns="0" tIns="0" rIns="0" bIns="0" anchor="t">
            <a:spAutoFit/>
          </a:bodyPr>
          <a:lstStyle/>
          <a:p>
            <a:pPr algn="l">
              <a:spcAft>
                <a:spcPts val="100"/>
              </a:spcAft>
            </a:pPr>
            <a:r>
              <a:rPr sz="1100" b="1">
                <a:solidFill>
                  <a:srgbClr val="71F1F7"/>
                </a:solidFill>
                <a:latin typeface="Source Sans 3"/>
              </a:rPr>
              <a:t>CROSSFUZE  /  SALES ENABLEMENT</a:t>
            </a:r>
          </a:p>
        </p:txBody>
      </p:sp>
      <p:sp>
        <p:nvSpPr>
          <p:cNvPr id="6" name="Rounded Rectangle 5"/>
          <p:cNvSpPr/>
          <p:nvPr/>
        </p:nvSpPr>
        <p:spPr>
          <a:xfrm>
            <a:off x="8869680" y="219456"/>
            <a:ext cx="2843784" cy="365760"/>
          </a:xfrm>
          <a:prstGeom prst="roundRect">
            <a:avLst>
              <a:gd name="adj" fmla="val 10000"/>
            </a:avLst>
          </a:prstGeom>
          <a:solidFill>
            <a:srgbClr val="040E3D"/>
          </a:solidFill>
          <a:ln w="12700">
            <a:solidFill>
              <a:srgbClr val="F652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51976" y="301752"/>
            <a:ext cx="2660904" cy="210312"/>
          </a:xfrm>
          <a:prstGeom prst="rect">
            <a:avLst/>
          </a:prstGeom>
          <a:noFill/>
        </p:spPr>
        <p:txBody>
          <a:bodyPr wrap="square" lIns="0" tIns="0" rIns="0" bIns="0" anchor="t">
            <a:spAutoFit/>
          </a:bodyPr>
          <a:lstStyle/>
          <a:p>
            <a:pPr algn="ctr">
              <a:spcAft>
                <a:spcPts val="100"/>
              </a:spcAft>
            </a:pPr>
            <a:r>
              <a:rPr sz="919" b="1">
                <a:solidFill>
                  <a:srgbClr val="F2F2F4"/>
                </a:solidFill>
                <a:latin typeface="Source Sans 3"/>
              </a:rPr>
              <a:t>INTERNAL ONLY  ·  DO NOT PRESENT</a:t>
            </a:r>
          </a:p>
        </p:txBody>
      </p:sp>
      <p:sp>
        <p:nvSpPr>
          <p:cNvPr id="8" name="TextBox 7"/>
          <p:cNvSpPr txBox="1"/>
          <p:nvPr/>
        </p:nvSpPr>
        <p:spPr>
          <a:xfrm>
            <a:off x="512064" y="740664"/>
            <a:ext cx="10789920" cy="548640"/>
          </a:xfrm>
          <a:prstGeom prst="rect">
            <a:avLst/>
          </a:prstGeom>
          <a:noFill/>
        </p:spPr>
        <p:txBody>
          <a:bodyPr wrap="square" lIns="0" tIns="0" rIns="0" bIns="0" anchor="t">
            <a:spAutoFit/>
          </a:bodyPr>
          <a:lstStyle/>
          <a:p>
            <a:pPr algn="l">
              <a:spcAft>
                <a:spcPts val="100"/>
              </a:spcAft>
            </a:pPr>
            <a:r>
              <a:rPr sz="3150" b="1">
                <a:solidFill>
                  <a:srgbClr val="FFFFFF"/>
                </a:solidFill>
                <a:latin typeface="Source Sans 3"/>
              </a:rPr>
              <a:t>Meeting breakdown &amp; sales process</a:t>
            </a:r>
          </a:p>
        </p:txBody>
      </p:sp>
      <p:sp>
        <p:nvSpPr>
          <p:cNvPr id="9" name="TextBox 8"/>
          <p:cNvSpPr txBox="1"/>
          <p:nvPr/>
        </p:nvSpPr>
        <p:spPr>
          <a:xfrm>
            <a:off x="521207" y="1335024"/>
            <a:ext cx="10972800" cy="438912"/>
          </a:xfrm>
          <a:prstGeom prst="rect">
            <a:avLst/>
          </a:prstGeom>
          <a:noFill/>
        </p:spPr>
        <p:txBody>
          <a:bodyPr wrap="square" lIns="0" tIns="0" rIns="0" bIns="0" anchor="t">
            <a:spAutoFit/>
          </a:bodyPr>
          <a:lstStyle/>
          <a:p>
            <a:pPr algn="l">
              <a:spcAft>
                <a:spcPts val="100"/>
              </a:spcAft>
            </a:pPr>
            <a:r>
              <a:rPr sz="1450" b="0">
                <a:solidFill>
                  <a:srgbClr val="F2F2F4"/>
                </a:solidFill>
                <a:latin typeface="Source Sans 3"/>
              </a:rPr>
              <a:t>From an executive AI readiness conversation to an evidence-led, paid delivery engagement.</a:t>
            </a:r>
          </a:p>
        </p:txBody>
      </p:sp>
      <p:sp>
        <p:nvSpPr>
          <p:cNvPr id="10" name="Rounded Rectangle 9"/>
          <p:cNvSpPr/>
          <p:nvPr/>
        </p:nvSpPr>
        <p:spPr>
          <a:xfrm>
            <a:off x="502920"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6072" y="2130552"/>
            <a:ext cx="50292" cy="521207"/>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2148840"/>
            <a:ext cx="393192" cy="265176"/>
          </a:xfrm>
          <a:prstGeom prst="rect">
            <a:avLst/>
          </a:prstGeom>
          <a:noFill/>
        </p:spPr>
        <p:txBody>
          <a:bodyPr wrap="square" lIns="0" tIns="0" rIns="0" bIns="0" anchor="t">
            <a:spAutoFit/>
          </a:bodyPr>
          <a:lstStyle/>
          <a:p>
            <a:pPr algn="l">
              <a:spcAft>
                <a:spcPts val="100"/>
              </a:spcAft>
            </a:pPr>
            <a:r>
              <a:rPr sz="1300" b="1">
                <a:solidFill>
                  <a:srgbClr val="8FFFDB"/>
                </a:solidFill>
                <a:latin typeface="Source Sans 3"/>
              </a:rPr>
              <a:t>01</a:t>
            </a:r>
          </a:p>
        </p:txBody>
      </p:sp>
      <p:sp>
        <p:nvSpPr>
          <p:cNvPr id="13" name="TextBox 12"/>
          <p:cNvSpPr txBox="1"/>
          <p:nvPr/>
        </p:nvSpPr>
        <p:spPr>
          <a:xfrm>
            <a:off x="1133856"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MEETING 1</a:t>
            </a:r>
          </a:p>
        </p:txBody>
      </p:sp>
      <p:sp>
        <p:nvSpPr>
          <p:cNvPr id="14" name="TextBox 13"/>
          <p:cNvSpPr txBox="1"/>
          <p:nvPr/>
        </p:nvSpPr>
        <p:spPr>
          <a:xfrm>
            <a:off x="685800"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Executive discovery  ·  30–45 min</a:t>
            </a:r>
          </a:p>
        </p:txBody>
      </p:sp>
      <p:sp>
        <p:nvSpPr>
          <p:cNvPr id="15" name="Rectangle 14"/>
          <p:cNvSpPr/>
          <p:nvPr/>
        </p:nvSpPr>
        <p:spPr>
          <a:xfrm>
            <a:off x="676656"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Create the case for readiness</a:t>
            </a:r>
          </a:p>
        </p:txBody>
      </p:sp>
      <p:sp>
        <p:nvSpPr>
          <p:cNvPr id="17" name="TextBox 16"/>
          <p:cNvSpPr txBox="1"/>
          <p:nvPr/>
        </p:nvSpPr>
        <p:spPr>
          <a:xfrm>
            <a:off x="685800"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Connect AI ambition to the ServiceNow AI Readiness Gap. Establish business priorities, risks and a potential first outcome.</a:t>
            </a:r>
          </a:p>
        </p:txBody>
      </p:sp>
      <p:sp>
        <p:nvSpPr>
          <p:cNvPr id="18" name="Rounded Rectangle 17"/>
          <p:cNvSpPr/>
          <p:nvPr/>
        </p:nvSpPr>
        <p:spPr>
          <a:xfrm>
            <a:off x="667512"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8952" y="5010912"/>
            <a:ext cx="1984248" cy="155448"/>
          </a:xfrm>
          <a:prstGeom prst="rect">
            <a:avLst/>
          </a:prstGeom>
          <a:noFill/>
        </p:spPr>
        <p:txBody>
          <a:bodyPr wrap="square" lIns="0" tIns="0" rIns="0" bIns="0" anchor="t">
            <a:spAutoFit/>
          </a:bodyPr>
          <a:lstStyle/>
          <a:p>
            <a:pPr algn="l">
              <a:spcAft>
                <a:spcPts val="100"/>
              </a:spcAft>
            </a:pPr>
            <a:r>
              <a:rPr sz="800" b="1">
                <a:solidFill>
                  <a:srgbClr val="8FFFDB"/>
                </a:solidFill>
                <a:latin typeface="Source Sans 3"/>
              </a:rPr>
              <a:t>ADVANCE WHEN</a:t>
            </a:r>
          </a:p>
        </p:txBody>
      </p:sp>
      <p:sp>
        <p:nvSpPr>
          <p:cNvPr id="20" name="TextBox 19"/>
          <p:cNvSpPr txBox="1"/>
          <p:nvPr/>
        </p:nvSpPr>
        <p:spPr>
          <a:xfrm>
            <a:off x="758952"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90-minute assessment agreed</a:t>
            </a:r>
          </a:p>
        </p:txBody>
      </p:sp>
      <p:sp>
        <p:nvSpPr>
          <p:cNvPr id="21" name="Rounded Rectangle 20"/>
          <p:cNvSpPr/>
          <p:nvPr/>
        </p:nvSpPr>
        <p:spPr>
          <a:xfrm>
            <a:off x="3410712"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83864" y="2130552"/>
            <a:ext cx="50292" cy="521207"/>
          </a:xfrm>
          <a:prstGeom prst="rect">
            <a:avLst/>
          </a:prstGeom>
          <a:solidFill>
            <a:srgbClr val="71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593592" y="2148840"/>
            <a:ext cx="393192" cy="265176"/>
          </a:xfrm>
          <a:prstGeom prst="rect">
            <a:avLst/>
          </a:prstGeom>
          <a:noFill/>
        </p:spPr>
        <p:txBody>
          <a:bodyPr wrap="square" lIns="0" tIns="0" rIns="0" bIns="0" anchor="t">
            <a:spAutoFit/>
          </a:bodyPr>
          <a:lstStyle/>
          <a:p>
            <a:pPr algn="l">
              <a:spcAft>
                <a:spcPts val="100"/>
              </a:spcAft>
            </a:pPr>
            <a:r>
              <a:rPr sz="1300" b="1">
                <a:solidFill>
                  <a:srgbClr val="71F1F7"/>
                </a:solidFill>
                <a:latin typeface="Source Sans 3"/>
              </a:rPr>
              <a:t>02</a:t>
            </a:r>
          </a:p>
        </p:txBody>
      </p:sp>
      <p:sp>
        <p:nvSpPr>
          <p:cNvPr id="24" name="TextBox 23"/>
          <p:cNvSpPr txBox="1"/>
          <p:nvPr/>
        </p:nvSpPr>
        <p:spPr>
          <a:xfrm>
            <a:off x="4041648"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ASSESSMENT</a:t>
            </a:r>
          </a:p>
        </p:txBody>
      </p:sp>
      <p:sp>
        <p:nvSpPr>
          <p:cNvPr id="25" name="TextBox 24"/>
          <p:cNvSpPr txBox="1"/>
          <p:nvPr/>
        </p:nvSpPr>
        <p:spPr>
          <a:xfrm>
            <a:off x="3593592"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Evidence-led workshop  ·  90 min</a:t>
            </a:r>
          </a:p>
        </p:txBody>
      </p:sp>
      <p:sp>
        <p:nvSpPr>
          <p:cNvPr id="26" name="Rectangle 25"/>
          <p:cNvSpPr/>
          <p:nvPr/>
        </p:nvSpPr>
        <p:spPr>
          <a:xfrm>
            <a:off x="3584448"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93592"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Establish the first decision</a:t>
            </a:r>
          </a:p>
        </p:txBody>
      </p:sp>
      <p:sp>
        <p:nvSpPr>
          <p:cNvPr id="28" name="TextBox 27"/>
          <p:cNvSpPr txBox="1"/>
          <p:nvPr/>
        </p:nvSpPr>
        <p:spPr>
          <a:xfrm>
            <a:off x="3593592"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Review seven readiness dimensions, controls and indicative consumption. Capture uncertainties, owners and a candidate use case.</a:t>
            </a:r>
          </a:p>
        </p:txBody>
      </p:sp>
      <p:sp>
        <p:nvSpPr>
          <p:cNvPr id="29" name="Rounded Rectangle 28"/>
          <p:cNvSpPr/>
          <p:nvPr/>
        </p:nvSpPr>
        <p:spPr>
          <a:xfrm>
            <a:off x="3575304"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66744" y="5010912"/>
            <a:ext cx="1984248" cy="155448"/>
          </a:xfrm>
          <a:prstGeom prst="rect">
            <a:avLst/>
          </a:prstGeom>
          <a:noFill/>
        </p:spPr>
        <p:txBody>
          <a:bodyPr wrap="square" lIns="0" tIns="0" rIns="0" bIns="0" anchor="t">
            <a:spAutoFit/>
          </a:bodyPr>
          <a:lstStyle/>
          <a:p>
            <a:pPr algn="l">
              <a:spcAft>
                <a:spcPts val="100"/>
              </a:spcAft>
            </a:pPr>
            <a:r>
              <a:rPr sz="800" b="1">
                <a:solidFill>
                  <a:srgbClr val="71F1F7"/>
                </a:solidFill>
                <a:latin typeface="Source Sans 3"/>
              </a:rPr>
              <a:t>OUTPUT</a:t>
            </a:r>
          </a:p>
        </p:txBody>
      </p:sp>
      <p:sp>
        <p:nvSpPr>
          <p:cNvPr id="31" name="TextBox 30"/>
          <p:cNvSpPr txBox="1"/>
          <p:nvPr/>
        </p:nvSpPr>
        <p:spPr>
          <a:xfrm>
            <a:off x="3666744"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AI Readiness Decision Brief</a:t>
            </a:r>
          </a:p>
        </p:txBody>
      </p:sp>
      <p:sp>
        <p:nvSpPr>
          <p:cNvPr id="32" name="Rounded Rectangle 31"/>
          <p:cNvSpPr/>
          <p:nvPr/>
        </p:nvSpPr>
        <p:spPr>
          <a:xfrm>
            <a:off x="6318504"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391656" y="2130552"/>
            <a:ext cx="50292" cy="521207"/>
          </a:xfrm>
          <a:prstGeom prst="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01384" y="2148840"/>
            <a:ext cx="393192" cy="265176"/>
          </a:xfrm>
          <a:prstGeom prst="rect">
            <a:avLst/>
          </a:prstGeom>
          <a:noFill/>
        </p:spPr>
        <p:txBody>
          <a:bodyPr wrap="square" lIns="0" tIns="0" rIns="0" bIns="0" anchor="t">
            <a:spAutoFit/>
          </a:bodyPr>
          <a:lstStyle/>
          <a:p>
            <a:pPr algn="l">
              <a:spcAft>
                <a:spcPts val="100"/>
              </a:spcAft>
            </a:pPr>
            <a:r>
              <a:rPr sz="1300" b="1">
                <a:solidFill>
                  <a:srgbClr val="C0A6FF"/>
                </a:solidFill>
                <a:latin typeface="Source Sans 3"/>
              </a:rPr>
              <a:t>03</a:t>
            </a:r>
          </a:p>
        </p:txBody>
      </p:sp>
      <p:sp>
        <p:nvSpPr>
          <p:cNvPr id="35" name="TextBox 34"/>
          <p:cNvSpPr txBox="1"/>
          <p:nvPr/>
        </p:nvSpPr>
        <p:spPr>
          <a:xfrm>
            <a:off x="6949440"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MEETING 2</a:t>
            </a:r>
          </a:p>
        </p:txBody>
      </p:sp>
      <p:sp>
        <p:nvSpPr>
          <p:cNvPr id="36" name="TextBox 35"/>
          <p:cNvSpPr txBox="1"/>
          <p:nvPr/>
        </p:nvSpPr>
        <p:spPr>
          <a:xfrm>
            <a:off x="6501384"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Working session  ·  45–60 min</a:t>
            </a:r>
          </a:p>
        </p:txBody>
      </p:sp>
      <p:sp>
        <p:nvSpPr>
          <p:cNvPr id="37" name="Rectangle 36"/>
          <p:cNvSpPr/>
          <p:nvPr/>
        </p:nvSpPr>
        <p:spPr>
          <a:xfrm>
            <a:off x="6492240"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01384"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Turn findings into a delivery plan</a:t>
            </a:r>
          </a:p>
        </p:txBody>
      </p:sp>
      <p:sp>
        <p:nvSpPr>
          <p:cNvPr id="39" name="TextBox 38"/>
          <p:cNvSpPr txBox="1"/>
          <p:nvPr/>
        </p:nvSpPr>
        <p:spPr>
          <a:xfrm>
            <a:off x="6501384"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Walk the dependencies, Permission to Automate, Assist assumptions and first 90-day priorities. Agree measures and decision owners.</a:t>
            </a:r>
          </a:p>
        </p:txBody>
      </p:sp>
      <p:sp>
        <p:nvSpPr>
          <p:cNvPr id="40" name="Rounded Rectangle 39"/>
          <p:cNvSpPr/>
          <p:nvPr/>
        </p:nvSpPr>
        <p:spPr>
          <a:xfrm>
            <a:off x="6483096"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74536" y="5010912"/>
            <a:ext cx="1984248" cy="155448"/>
          </a:xfrm>
          <a:prstGeom prst="rect">
            <a:avLst/>
          </a:prstGeom>
          <a:noFill/>
        </p:spPr>
        <p:txBody>
          <a:bodyPr wrap="square" lIns="0" tIns="0" rIns="0" bIns="0" anchor="t">
            <a:spAutoFit/>
          </a:bodyPr>
          <a:lstStyle/>
          <a:p>
            <a:pPr algn="l">
              <a:spcAft>
                <a:spcPts val="100"/>
              </a:spcAft>
            </a:pPr>
            <a:r>
              <a:rPr sz="800" b="1">
                <a:solidFill>
                  <a:srgbClr val="C0A6FF"/>
                </a:solidFill>
                <a:latin typeface="Source Sans 3"/>
              </a:rPr>
              <a:t>ADVANCE WHEN</a:t>
            </a:r>
          </a:p>
        </p:txBody>
      </p:sp>
      <p:sp>
        <p:nvSpPr>
          <p:cNvPr id="42" name="TextBox 41"/>
          <p:cNvSpPr txBox="1"/>
          <p:nvPr/>
        </p:nvSpPr>
        <p:spPr>
          <a:xfrm>
            <a:off x="6574536"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Sponsor and scope agreed for quote</a:t>
            </a:r>
          </a:p>
        </p:txBody>
      </p:sp>
      <p:sp>
        <p:nvSpPr>
          <p:cNvPr id="43" name="Rounded Rectangle 42"/>
          <p:cNvSpPr/>
          <p:nvPr/>
        </p:nvSpPr>
        <p:spPr>
          <a:xfrm>
            <a:off x="9226296" y="2048256"/>
            <a:ext cx="2468880" cy="3520440"/>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9299448" y="2130552"/>
            <a:ext cx="50292" cy="521207"/>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09176" y="2148840"/>
            <a:ext cx="393192" cy="265176"/>
          </a:xfrm>
          <a:prstGeom prst="rect">
            <a:avLst/>
          </a:prstGeom>
          <a:noFill/>
        </p:spPr>
        <p:txBody>
          <a:bodyPr wrap="square" lIns="0" tIns="0" rIns="0" bIns="0" anchor="t">
            <a:spAutoFit/>
          </a:bodyPr>
          <a:lstStyle/>
          <a:p>
            <a:pPr algn="l">
              <a:spcAft>
                <a:spcPts val="100"/>
              </a:spcAft>
            </a:pPr>
            <a:r>
              <a:rPr sz="1300" b="1">
                <a:solidFill>
                  <a:srgbClr val="8FFFDB"/>
                </a:solidFill>
                <a:latin typeface="Source Sans 3"/>
              </a:rPr>
              <a:t>04</a:t>
            </a:r>
          </a:p>
        </p:txBody>
      </p:sp>
      <p:sp>
        <p:nvSpPr>
          <p:cNvPr id="46" name="TextBox 45"/>
          <p:cNvSpPr txBox="1"/>
          <p:nvPr/>
        </p:nvSpPr>
        <p:spPr>
          <a:xfrm>
            <a:off x="9857232" y="2139696"/>
            <a:ext cx="1728216" cy="283464"/>
          </a:xfrm>
          <a:prstGeom prst="rect">
            <a:avLst/>
          </a:prstGeom>
          <a:noFill/>
        </p:spPr>
        <p:txBody>
          <a:bodyPr wrap="square" lIns="0" tIns="0" rIns="0" bIns="0" anchor="t">
            <a:spAutoFit/>
          </a:bodyPr>
          <a:lstStyle/>
          <a:p>
            <a:pPr algn="l">
              <a:spcAft>
                <a:spcPts val="100"/>
              </a:spcAft>
            </a:pPr>
            <a:r>
              <a:rPr sz="1220" b="1">
                <a:solidFill>
                  <a:srgbClr val="FFFFFF"/>
                </a:solidFill>
                <a:latin typeface="Source Sans 3"/>
              </a:rPr>
              <a:t>AI RUNSTATE</a:t>
            </a:r>
          </a:p>
        </p:txBody>
      </p:sp>
      <p:sp>
        <p:nvSpPr>
          <p:cNvPr id="47" name="TextBox 46"/>
          <p:cNvSpPr txBox="1"/>
          <p:nvPr/>
        </p:nvSpPr>
        <p:spPr>
          <a:xfrm>
            <a:off x="9409176" y="2542032"/>
            <a:ext cx="2130552" cy="320040"/>
          </a:xfrm>
          <a:prstGeom prst="rect">
            <a:avLst/>
          </a:prstGeom>
          <a:noFill/>
        </p:spPr>
        <p:txBody>
          <a:bodyPr wrap="square" lIns="0" tIns="0" rIns="0" bIns="0" anchor="t">
            <a:spAutoFit/>
          </a:bodyPr>
          <a:lstStyle/>
          <a:p>
            <a:pPr algn="l">
              <a:spcAft>
                <a:spcPts val="100"/>
              </a:spcAft>
            </a:pPr>
            <a:r>
              <a:rPr sz="919" b="0">
                <a:solidFill>
                  <a:srgbClr val="F2F2F4"/>
                </a:solidFill>
                <a:latin typeface="Source Sans 3"/>
              </a:rPr>
              <a:t>Paid delivery  ·  12 months</a:t>
            </a:r>
          </a:p>
        </p:txBody>
      </p:sp>
      <p:sp>
        <p:nvSpPr>
          <p:cNvPr id="48" name="Rectangle 47"/>
          <p:cNvSpPr/>
          <p:nvPr/>
        </p:nvSpPr>
        <p:spPr>
          <a:xfrm>
            <a:off x="9400032" y="2880360"/>
            <a:ext cx="2121408"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409176" y="3081528"/>
            <a:ext cx="2121408" cy="722376"/>
          </a:xfrm>
          <a:prstGeom prst="rect">
            <a:avLst/>
          </a:prstGeom>
          <a:noFill/>
        </p:spPr>
        <p:txBody>
          <a:bodyPr wrap="square" lIns="0" tIns="0" rIns="0" bIns="0" anchor="t">
            <a:spAutoFit/>
          </a:bodyPr>
          <a:lstStyle/>
          <a:p>
            <a:pPr algn="l">
              <a:spcAft>
                <a:spcPts val="100"/>
              </a:spcAft>
            </a:pPr>
            <a:r>
              <a:rPr sz="1600" b="1">
                <a:solidFill>
                  <a:srgbClr val="FFFFFF"/>
                </a:solidFill>
                <a:latin typeface="Source Sans 3"/>
              </a:rPr>
              <a:t>Plan. Prioritise. Ship.</a:t>
            </a:r>
          </a:p>
        </p:txBody>
      </p:sp>
      <p:sp>
        <p:nvSpPr>
          <p:cNvPr id="50" name="TextBox 49"/>
          <p:cNvSpPr txBox="1"/>
          <p:nvPr/>
        </p:nvSpPr>
        <p:spPr>
          <a:xfrm>
            <a:off x="9409176" y="3886200"/>
            <a:ext cx="2121408" cy="969264"/>
          </a:xfrm>
          <a:prstGeom prst="rect">
            <a:avLst/>
          </a:prstGeom>
          <a:noFill/>
        </p:spPr>
        <p:txBody>
          <a:bodyPr wrap="square" lIns="0" tIns="0" rIns="0" bIns="0" anchor="t">
            <a:spAutoFit/>
          </a:bodyPr>
          <a:lstStyle/>
          <a:p>
            <a:pPr algn="l">
              <a:spcAft>
                <a:spcPts val="100"/>
              </a:spcAft>
            </a:pPr>
            <a:r>
              <a:rPr sz="1060" b="0">
                <a:solidFill>
                  <a:srgbClr val="F2F2F4"/>
                </a:solidFill>
                <a:latin typeface="Source Sans 3"/>
              </a:rPr>
              <a:t>AI Action Plan, up to four backlog cycles and Extend capacity (80 hours a month for nine months). Release and measure governed outcomes.</a:t>
            </a:r>
          </a:p>
        </p:txBody>
      </p:sp>
      <p:sp>
        <p:nvSpPr>
          <p:cNvPr id="51" name="Rounded Rectangle 50"/>
          <p:cNvSpPr/>
          <p:nvPr/>
        </p:nvSpPr>
        <p:spPr>
          <a:xfrm>
            <a:off x="9390888" y="4956048"/>
            <a:ext cx="2139696" cy="475488"/>
          </a:xfrm>
          <a:prstGeom prst="roundRect">
            <a:avLst>
              <a:gd name="adj" fmla="val 10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82328" y="5010912"/>
            <a:ext cx="1984248" cy="155448"/>
          </a:xfrm>
          <a:prstGeom prst="rect">
            <a:avLst/>
          </a:prstGeom>
          <a:noFill/>
        </p:spPr>
        <p:txBody>
          <a:bodyPr wrap="square" lIns="0" tIns="0" rIns="0" bIns="0" anchor="t">
            <a:spAutoFit/>
          </a:bodyPr>
          <a:lstStyle/>
          <a:p>
            <a:pPr algn="l">
              <a:spcAft>
                <a:spcPts val="100"/>
              </a:spcAft>
            </a:pPr>
            <a:r>
              <a:rPr sz="800" b="1">
                <a:solidFill>
                  <a:srgbClr val="8FFFDB"/>
                </a:solidFill>
                <a:latin typeface="Source Sans 3"/>
              </a:rPr>
              <a:t>RESULT</a:t>
            </a:r>
          </a:p>
        </p:txBody>
      </p:sp>
      <p:sp>
        <p:nvSpPr>
          <p:cNvPr id="53" name="TextBox 52"/>
          <p:cNvSpPr txBox="1"/>
          <p:nvPr/>
        </p:nvSpPr>
        <p:spPr>
          <a:xfrm>
            <a:off x="9482328" y="5166360"/>
            <a:ext cx="2011680" cy="228600"/>
          </a:xfrm>
          <a:prstGeom prst="rect">
            <a:avLst/>
          </a:prstGeom>
          <a:noFill/>
        </p:spPr>
        <p:txBody>
          <a:bodyPr wrap="square" lIns="0" tIns="0" rIns="0" bIns="0" anchor="t">
            <a:spAutoFit/>
          </a:bodyPr>
          <a:lstStyle/>
          <a:p>
            <a:pPr algn="l">
              <a:spcAft>
                <a:spcPts val="100"/>
              </a:spcAft>
            </a:pPr>
            <a:r>
              <a:rPr sz="930" b="1">
                <a:solidFill>
                  <a:srgbClr val="FFFFFF"/>
                </a:solidFill>
                <a:latin typeface="Source Sans 3"/>
              </a:rPr>
              <a:t>Continuous, measurable delivery</a:t>
            </a:r>
          </a:p>
        </p:txBody>
      </p:sp>
      <p:sp>
        <p:nvSpPr>
          <p:cNvPr id="54" name="TextBox 53"/>
          <p:cNvSpPr txBox="1"/>
          <p:nvPr/>
        </p:nvSpPr>
        <p:spPr>
          <a:xfrm>
            <a:off x="3017520" y="3438144"/>
            <a:ext cx="347472" cy="292608"/>
          </a:xfrm>
          <a:prstGeom prst="rect">
            <a:avLst/>
          </a:prstGeom>
          <a:noFill/>
        </p:spPr>
        <p:txBody>
          <a:bodyPr wrap="square" lIns="0" tIns="0" rIns="0" bIns="0" anchor="t">
            <a:spAutoFit/>
          </a:bodyPr>
          <a:lstStyle/>
          <a:p>
            <a:pPr algn="ctr">
              <a:spcAft>
                <a:spcPts val="100"/>
              </a:spcAft>
            </a:pPr>
            <a:r>
              <a:rPr sz="2200" b="1">
                <a:solidFill>
                  <a:srgbClr val="71F1F7"/>
                </a:solidFill>
                <a:latin typeface="Source Sans 3"/>
              </a:rPr>
              <a:t>›</a:t>
            </a:r>
          </a:p>
        </p:txBody>
      </p:sp>
      <p:sp>
        <p:nvSpPr>
          <p:cNvPr id="55" name="TextBox 54"/>
          <p:cNvSpPr txBox="1"/>
          <p:nvPr/>
        </p:nvSpPr>
        <p:spPr>
          <a:xfrm>
            <a:off x="5925312" y="3438144"/>
            <a:ext cx="347472" cy="292608"/>
          </a:xfrm>
          <a:prstGeom prst="rect">
            <a:avLst/>
          </a:prstGeom>
          <a:noFill/>
        </p:spPr>
        <p:txBody>
          <a:bodyPr wrap="square" lIns="0" tIns="0" rIns="0" bIns="0" anchor="t">
            <a:spAutoFit/>
          </a:bodyPr>
          <a:lstStyle/>
          <a:p>
            <a:pPr algn="ctr">
              <a:spcAft>
                <a:spcPts val="100"/>
              </a:spcAft>
            </a:pPr>
            <a:r>
              <a:rPr sz="2200" b="1">
                <a:solidFill>
                  <a:srgbClr val="71F1F7"/>
                </a:solidFill>
                <a:latin typeface="Source Sans 3"/>
              </a:rPr>
              <a:t>›</a:t>
            </a:r>
          </a:p>
        </p:txBody>
      </p:sp>
      <p:sp>
        <p:nvSpPr>
          <p:cNvPr id="56" name="TextBox 55"/>
          <p:cNvSpPr txBox="1"/>
          <p:nvPr/>
        </p:nvSpPr>
        <p:spPr>
          <a:xfrm>
            <a:off x="8833104" y="3438144"/>
            <a:ext cx="347472" cy="292608"/>
          </a:xfrm>
          <a:prstGeom prst="rect">
            <a:avLst/>
          </a:prstGeom>
          <a:noFill/>
        </p:spPr>
        <p:txBody>
          <a:bodyPr wrap="square" lIns="0" tIns="0" rIns="0" bIns="0" anchor="t">
            <a:spAutoFit/>
          </a:bodyPr>
          <a:lstStyle/>
          <a:p>
            <a:pPr algn="ctr">
              <a:spcAft>
                <a:spcPts val="100"/>
              </a:spcAft>
            </a:pPr>
            <a:r>
              <a:rPr sz="2200" b="1">
                <a:solidFill>
                  <a:srgbClr val="71F1F7"/>
                </a:solidFill>
                <a:latin typeface="Source Sans 3"/>
              </a:rPr>
              <a:t>›</a:t>
            </a:r>
          </a:p>
        </p:txBody>
      </p:sp>
      <p:sp>
        <p:nvSpPr>
          <p:cNvPr id="57" name="Rounded Rectangle 56"/>
          <p:cNvSpPr/>
          <p:nvPr/>
        </p:nvSpPr>
        <p:spPr>
          <a:xfrm>
            <a:off x="475488" y="5742432"/>
            <a:ext cx="11237976" cy="630936"/>
          </a:xfrm>
          <a:prstGeom prst="roundRect">
            <a:avLst>
              <a:gd name="adj" fmla="val 10000"/>
            </a:avLst>
          </a:prstGeom>
          <a:solidFill>
            <a:srgbClr val="040E3D"/>
          </a:solidFill>
          <a:ln w="9525">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080" y="5843016"/>
            <a:ext cx="1188720" cy="201168"/>
          </a:xfrm>
          <a:prstGeom prst="rect">
            <a:avLst/>
          </a:prstGeom>
          <a:noFill/>
        </p:spPr>
        <p:txBody>
          <a:bodyPr wrap="square" lIns="0" tIns="0" rIns="0" bIns="0" anchor="t">
            <a:spAutoFit/>
          </a:bodyPr>
          <a:lstStyle/>
          <a:p>
            <a:pPr algn="l">
              <a:spcAft>
                <a:spcPts val="100"/>
              </a:spcAft>
            </a:pPr>
            <a:r>
              <a:rPr sz="910" b="1">
                <a:solidFill>
                  <a:srgbClr val="F2F2F4"/>
                </a:solidFill>
                <a:latin typeface="Source Sans 3"/>
              </a:rPr>
              <a:t>QUOTE / APPROVAL</a:t>
            </a:r>
          </a:p>
        </p:txBody>
      </p:sp>
      <p:sp>
        <p:nvSpPr>
          <p:cNvPr id="59" name="TextBox 58"/>
          <p:cNvSpPr txBox="1"/>
          <p:nvPr/>
        </p:nvSpPr>
        <p:spPr>
          <a:xfrm>
            <a:off x="1865376" y="5824728"/>
            <a:ext cx="9555480" cy="411480"/>
          </a:xfrm>
          <a:prstGeom prst="rect">
            <a:avLst/>
          </a:prstGeom>
          <a:noFill/>
        </p:spPr>
        <p:txBody>
          <a:bodyPr wrap="square" lIns="0" tIns="0" rIns="0" bIns="0" anchor="t">
            <a:spAutoFit/>
          </a:bodyPr>
          <a:lstStyle/>
          <a:p>
            <a:pPr algn="l">
              <a:spcAft>
                <a:spcPts val="100"/>
              </a:spcAft>
            </a:pPr>
            <a:r>
              <a:rPr sz="1030" b="0">
                <a:solidFill>
                  <a:srgbClr val="F2F2F4"/>
                </a:solidFill>
                <a:latin typeface="Source Sans 3"/>
              </a:rPr>
              <a:t>After Meeting 2: issue a scoped 12-month AI RunState proposal and quote (priority outcomes, first 90-day plan, investment). Customer approves scope, price and terms before paid delivery starts.</a:t>
            </a:r>
          </a:p>
        </p:txBody>
      </p:sp>
      <p:sp>
        <p:nvSpPr>
          <p:cNvPr id="60" name="TextBox 59"/>
          <p:cNvSpPr txBox="1"/>
          <p:nvPr/>
        </p:nvSpPr>
        <p:spPr>
          <a:xfrm>
            <a:off x="539496" y="6556248"/>
            <a:ext cx="11064240" cy="137160"/>
          </a:xfrm>
          <a:prstGeom prst="rect">
            <a:avLst/>
          </a:prstGeom>
          <a:noFill/>
        </p:spPr>
        <p:txBody>
          <a:bodyPr wrap="square" lIns="0" tIns="0" rIns="0" bIns="0" anchor="t">
            <a:spAutoFit/>
          </a:bodyPr>
          <a:lstStyle/>
          <a:p>
            <a:pPr algn="l">
              <a:spcAft>
                <a:spcPts val="100"/>
              </a:spcAft>
            </a:pPr>
            <a:r>
              <a:rPr sz="830" b="0">
                <a:solidFill>
                  <a:srgbClr val="2CB0CD"/>
                </a:solidFill>
                <a:latin typeface="Source Sans 3"/>
              </a:rPr>
              <a:t>INTERNAL ONLY • HIDDEN IN SLIDE SHOW • PRESENT FROM SLIDE 2 • EXAMPLE SCORES AND TIMINGS REMAIN PROVISIONAL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oad to Zero cover image">
            <a:extLst>
              <a:ext uri="{FF2B5EF4-FFF2-40B4-BE49-F238E27FC236}">
                <a16:creationId xmlns:a16="http://schemas.microsoft.com/office/drawing/2014/main" id="{198D86E8-DAA8-951C-0AC8-DFA54EF65918}"/>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174" y="3571"/>
            <a:ext cx="12185651" cy="6854429"/>
          </a:xfrm>
          <a:prstGeom prst="rect">
            <a:avLst/>
          </a:prstGeom>
        </p:spPr>
      </p:pic>
      <p:sp>
        <p:nvSpPr>
          <p:cNvPr id="3" name="Cover title">
            <a:extLst>
              <a:ext uri="{FF2B5EF4-FFF2-40B4-BE49-F238E27FC236}">
                <a16:creationId xmlns:a16="http://schemas.microsoft.com/office/drawing/2014/main" id="{A819B651-DEA3-A198-221E-CFF28FE26E37}"/>
              </a:ext>
            </a:extLst>
          </p:cNvPr>
          <p:cNvSpPr txBox="1"/>
          <p:nvPr/>
        </p:nvSpPr>
        <p:spPr>
          <a:xfrm>
            <a:off x="548640" y="1801368"/>
            <a:ext cx="6583680" cy="2240280"/>
          </a:xfrm>
          <a:prstGeom prst="rect">
            <a:avLst/>
          </a:prstGeom>
          <a:noFill/>
        </p:spPr>
        <p:txBody>
          <a:bodyPr wrap="square" lIns="0" tIns="0" rIns="0" bIns="0" anchor="t">
            <a:noAutofit/>
          </a:bodyPr>
          <a:lstStyle/>
          <a:p>
            <a:pPr algn="l">
              <a:lnSpc>
                <a:spcPct val="85000"/>
              </a:lnSpc>
              <a:spcAft>
                <a:spcPts val="0"/>
              </a:spcAft>
            </a:pPr>
            <a:r>
              <a:rPr lang="en-GB" sz="7200" b="1" dirty="0">
                <a:solidFill>
                  <a:srgbClr val="FFFFFF"/>
                </a:solidFill>
                <a:latin typeface="Source Sans 3"/>
                <a:cs typeface="Source Sans 3"/>
              </a:rPr>
              <a:t>The Road</a:t>
            </a:r>
          </a:p>
          <a:p>
            <a:pPr algn="l">
              <a:lnSpc>
                <a:spcPct val="85000"/>
              </a:lnSpc>
              <a:spcAft>
                <a:spcPts val="0"/>
              </a:spcAft>
            </a:pPr>
            <a:r>
              <a:rPr lang="en-GB" sz="7200" b="1" dirty="0">
                <a:solidFill>
                  <a:srgbClr val="FFFFFF"/>
                </a:solidFill>
                <a:latin typeface="Source Sans 3"/>
                <a:cs typeface="Source Sans 3"/>
              </a:rPr>
              <a:t>to </a:t>
            </a:r>
            <a:r>
              <a:rPr lang="en-GB" sz="7200" b="1" dirty="0">
                <a:solidFill>
                  <a:srgbClr val="8FFFDB"/>
                </a:solidFill>
                <a:latin typeface="Source Sans 3"/>
                <a:cs typeface="Source Sans 3"/>
              </a:rPr>
              <a:t>Zero.</a:t>
            </a:r>
          </a:p>
        </p:txBody>
      </p:sp>
      <p:pic>
        <p:nvPicPr>
          <p:cNvPr id="5" name="Crossfuze logo">
            <a:extLst>
              <a:ext uri="{FF2B5EF4-FFF2-40B4-BE49-F238E27FC236}">
                <a16:creationId xmlns:a16="http://schemas.microsoft.com/office/drawing/2014/main" id="{0C9503B6-5AB2-F86F-5D30-A93121CAD40C}"/>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2920" y="384048"/>
            <a:ext cx="1600200" cy="457200"/>
          </a:xfrm>
          <a:prstGeom prst="rect">
            <a:avLst/>
          </a:prstGeom>
        </p:spPr>
      </p:pic>
      <p:sp>
        <p:nvSpPr>
          <p:cNvPr id="6" name="Edition">
            <a:extLst>
              <a:ext uri="{FF2B5EF4-FFF2-40B4-BE49-F238E27FC236}">
                <a16:creationId xmlns:a16="http://schemas.microsoft.com/office/drawing/2014/main" id="{22E00095-FBE1-0615-D14D-C40EB0C5C12A}"/>
              </a:ext>
            </a:extLst>
          </p:cNvPr>
          <p:cNvSpPr txBox="1"/>
          <p:nvPr/>
        </p:nvSpPr>
        <p:spPr>
          <a:xfrm>
            <a:off x="7863840" y="457200"/>
            <a:ext cx="3840480" cy="320040"/>
          </a:xfrm>
          <a:prstGeom prst="rect">
            <a:avLst/>
          </a:prstGeom>
          <a:noFill/>
        </p:spPr>
        <p:txBody>
          <a:bodyPr wrap="square" lIns="0" tIns="0" rIns="0" bIns="0" anchor="ctr">
            <a:noAutofit/>
          </a:bodyPr>
          <a:lstStyle/>
          <a:p>
            <a:pPr algn="r">
              <a:spcAft>
                <a:spcPts val="0"/>
              </a:spcAft>
            </a:pPr>
            <a:r>
              <a:rPr lang="en-GB" sz="1000" b="1" dirty="0">
                <a:solidFill>
                  <a:srgbClr val="FFFFFF">
                    <a:alpha val="75000"/>
                  </a:srgbClr>
                </a:solidFill>
                <a:latin typeface="Source Sans 3"/>
                <a:cs typeface="Source Sans 3"/>
              </a:rPr>
              <a:t>EDITION 2026</a:t>
            </a:r>
          </a:p>
        </p:txBody>
      </p:sp>
      <p:sp>
        <p:nvSpPr>
          <p:cNvPr id="7" name="Cover eyebrow">
            <a:extLst>
              <a:ext uri="{FF2B5EF4-FFF2-40B4-BE49-F238E27FC236}">
                <a16:creationId xmlns:a16="http://schemas.microsoft.com/office/drawing/2014/main" id="{FF225769-CBE4-7091-B48A-DAEB1DC9C2F8}"/>
              </a:ext>
            </a:extLst>
          </p:cNvPr>
          <p:cNvSpPr txBox="1"/>
          <p:nvPr/>
        </p:nvSpPr>
        <p:spPr>
          <a:xfrm>
            <a:off x="548640" y="1481328"/>
            <a:ext cx="6400800" cy="320040"/>
          </a:xfrm>
          <a:prstGeom prst="rect">
            <a:avLst/>
          </a:prstGeom>
          <a:noFill/>
        </p:spPr>
        <p:txBody>
          <a:bodyPr wrap="square" lIns="0" tIns="0" rIns="0" bIns="0" anchor="t">
            <a:noAutofit/>
          </a:bodyPr>
          <a:lstStyle/>
          <a:p>
            <a:pPr algn="l">
              <a:spcAft>
                <a:spcPts val="0"/>
              </a:spcAft>
            </a:pPr>
            <a:r>
              <a:rPr lang="en-GB" sz="1100" b="1" spc="300" dirty="0">
                <a:solidFill>
                  <a:srgbClr val="8FFFDB"/>
                </a:solidFill>
                <a:latin typeface="Source Sans 3"/>
                <a:cs typeface="Source Sans 3"/>
              </a:rPr>
              <a:t>THE CROSSFUZE GUIDE TO AUTONOMOUS IT</a:t>
            </a:r>
          </a:p>
        </p:txBody>
      </p:sp>
      <p:sp>
        <p:nvSpPr>
          <p:cNvPr id="9" name="Cover subtitle">
            <a:extLst>
              <a:ext uri="{FF2B5EF4-FFF2-40B4-BE49-F238E27FC236}">
                <a16:creationId xmlns:a16="http://schemas.microsoft.com/office/drawing/2014/main" id="{BC4A4362-7CED-112D-BAA4-73336B47D4A3}"/>
              </a:ext>
            </a:extLst>
          </p:cNvPr>
          <p:cNvSpPr txBox="1"/>
          <p:nvPr/>
        </p:nvSpPr>
        <p:spPr>
          <a:xfrm>
            <a:off x="548640" y="3685622"/>
            <a:ext cx="6035040" cy="502920"/>
          </a:xfrm>
          <a:prstGeom prst="rect">
            <a:avLst/>
          </a:prstGeom>
          <a:noFill/>
        </p:spPr>
        <p:txBody>
          <a:bodyPr wrap="square" lIns="0" tIns="0" rIns="0" bIns="0" anchor="t">
            <a:noAutofit/>
          </a:bodyPr>
          <a:lstStyle/>
          <a:p>
            <a:pPr algn="l">
              <a:spcAft>
                <a:spcPts val="0"/>
              </a:spcAft>
            </a:pPr>
            <a:r>
              <a:rPr lang="en-GB" sz="2400" b="0" dirty="0">
                <a:solidFill>
                  <a:srgbClr val="FFFFFF"/>
                </a:solidFill>
                <a:latin typeface="Source Sans 3"/>
                <a:cs typeface="Source Sans 3"/>
              </a:rPr>
              <a:t>How ready are you to let AI act?</a:t>
            </a:r>
          </a:p>
        </p:txBody>
      </p:sp>
      <p:sp>
        <p:nvSpPr>
          <p:cNvPr id="10" name="Autonomous Enterprise line">
            <a:extLst>
              <a:ext uri="{FF2B5EF4-FFF2-40B4-BE49-F238E27FC236}">
                <a16:creationId xmlns:a16="http://schemas.microsoft.com/office/drawing/2014/main" id="{0CF1D1D6-B48F-46F3-A5E7-CC0A520339A7}"/>
              </a:ext>
            </a:extLst>
          </p:cNvPr>
          <p:cNvSpPr txBox="1"/>
          <p:nvPr/>
        </p:nvSpPr>
        <p:spPr>
          <a:xfrm>
            <a:off x="548640" y="5925312"/>
            <a:ext cx="6858000" cy="292608"/>
          </a:xfrm>
          <a:prstGeom prst="rect">
            <a:avLst/>
          </a:prstGeom>
          <a:noFill/>
        </p:spPr>
        <p:txBody>
          <a:bodyPr wrap="square" lIns="0" tIns="0" rIns="0" bIns="0" anchor="t">
            <a:noAutofit/>
          </a:bodyPr>
          <a:lstStyle/>
          <a:p>
            <a:pPr algn="l">
              <a:spcAft>
                <a:spcPts val="0"/>
              </a:spcAft>
            </a:pPr>
            <a:r>
              <a:rPr lang="en-GB" sz="1100" b="1" dirty="0">
                <a:solidFill>
                  <a:srgbClr val="FFFFFF"/>
                </a:solidFill>
                <a:latin typeface="Source Sans 3"/>
                <a:cs typeface="Source Sans 3"/>
              </a:rPr>
              <a:t>Part of Preparing for the Autonomous Enterprise</a:t>
            </a:r>
          </a:p>
        </p:txBody>
      </p:sp>
      <p:sp>
        <p:nvSpPr>
          <p:cNvPr id="11" name="Partner line">
            <a:extLst>
              <a:ext uri="{FF2B5EF4-FFF2-40B4-BE49-F238E27FC236}">
                <a16:creationId xmlns:a16="http://schemas.microsoft.com/office/drawing/2014/main" id="{FCCB35B3-BD61-2452-1BF5-18977D4E6D9C}"/>
              </a:ext>
            </a:extLst>
          </p:cNvPr>
          <p:cNvSpPr txBox="1"/>
          <p:nvPr/>
        </p:nvSpPr>
        <p:spPr>
          <a:xfrm>
            <a:off x="548640" y="6217920"/>
            <a:ext cx="6858000" cy="256032"/>
          </a:xfrm>
          <a:prstGeom prst="rect">
            <a:avLst/>
          </a:prstGeom>
          <a:noFill/>
        </p:spPr>
        <p:txBody>
          <a:bodyPr wrap="square" lIns="0" tIns="0" rIns="0" bIns="0" anchor="t">
            <a:noAutofit/>
          </a:bodyPr>
          <a:lstStyle/>
          <a:p>
            <a:pPr algn="l">
              <a:spcAft>
                <a:spcPts val="0"/>
              </a:spcAft>
            </a:pPr>
            <a:r>
              <a:rPr lang="en-GB" sz="1000" b="0" dirty="0">
                <a:solidFill>
                  <a:srgbClr val="FFFFFF">
                    <a:alpha val="65000"/>
                  </a:srgbClr>
                </a:solidFill>
                <a:latin typeface="Source Sans 3"/>
                <a:cs typeface="Source Sans 3"/>
              </a:rPr>
              <a:t>Crossfuze · ServiceNow Elite Partner</a:t>
            </a:r>
          </a:p>
        </p:txBody>
      </p:sp>
    </p:spTree>
    <p:extLst>
      <p:ext uri="{BB962C8B-B14F-4D97-AF65-F5344CB8AC3E}">
        <p14:creationId xmlns:p14="http://schemas.microsoft.com/office/powerpoint/2010/main" val="27067404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475FF5-8976-EBC6-670F-893E186AFFED}"/>
              </a:ext>
            </a:extLst>
          </p:cNvPr>
          <p:cNvSpPr>
            <a:spLocks noGrp="1"/>
          </p:cNvSpPr>
          <p:nvPr>
            <p:ph type="body" sz="quarter" idx="11"/>
          </p:nvPr>
        </p:nvSpPr>
        <p:spPr>
          <a:xfrm>
            <a:off x="802261" y="3165987"/>
            <a:ext cx="3430938" cy="1641987"/>
          </a:xfrm>
        </p:spPr>
        <p:txBody>
          <a:bodyPr/>
          <a:lstStyle/>
          <a:p>
            <a:r>
              <a:rPr lang="en-US" dirty="0">
                <a:solidFill>
                  <a:srgbClr val="8FFFDB"/>
                </a:solidFill>
              </a:rPr>
              <a:t>Strategy</a:t>
            </a:r>
          </a:p>
          <a:p>
            <a:r>
              <a:rPr lang="en-US" sz="1400" dirty="0"/>
              <a:t>Unify disconnected AI initiatives around accountable, measurable business outcomes.</a:t>
            </a:r>
          </a:p>
        </p:txBody>
      </p:sp>
      <p:sp>
        <p:nvSpPr>
          <p:cNvPr id="3" name="Text Placeholder 2">
            <a:extLst>
              <a:ext uri="{FF2B5EF4-FFF2-40B4-BE49-F238E27FC236}">
                <a16:creationId xmlns:a16="http://schemas.microsoft.com/office/drawing/2014/main" id="{0313FC63-A5F2-5BDA-5B9A-BE96081CC940}"/>
              </a:ext>
            </a:extLst>
          </p:cNvPr>
          <p:cNvSpPr>
            <a:spLocks noGrp="1"/>
          </p:cNvSpPr>
          <p:nvPr>
            <p:ph type="body" sz="quarter" idx="12"/>
          </p:nvPr>
        </p:nvSpPr>
        <p:spPr>
          <a:xfrm>
            <a:off x="4399628" y="2828150"/>
            <a:ext cx="3408667" cy="2151268"/>
          </a:xfrm>
        </p:spPr>
        <p:txBody>
          <a:bodyPr/>
          <a:lstStyle/>
          <a:p>
            <a:endParaRPr lang="en-US" dirty="0"/>
          </a:p>
          <a:p>
            <a:r>
              <a:rPr lang="en-US" dirty="0">
                <a:solidFill>
                  <a:srgbClr val="8FFFDB"/>
                </a:solidFill>
              </a:rPr>
              <a:t>Risk</a:t>
            </a:r>
          </a:p>
          <a:p>
            <a:r>
              <a:rPr lang="en-US" sz="1400" dirty="0"/>
              <a:t>Know which agents are running, what they may do, and how to stop them.</a:t>
            </a:r>
          </a:p>
          <a:p>
            <a:endParaRPr lang="en-US" dirty="0"/>
          </a:p>
        </p:txBody>
      </p:sp>
      <p:sp>
        <p:nvSpPr>
          <p:cNvPr id="4" name="Text Placeholder 3">
            <a:extLst>
              <a:ext uri="{FF2B5EF4-FFF2-40B4-BE49-F238E27FC236}">
                <a16:creationId xmlns:a16="http://schemas.microsoft.com/office/drawing/2014/main" id="{42F08755-EDC7-B519-4FAF-6F958AC7C126}"/>
              </a:ext>
            </a:extLst>
          </p:cNvPr>
          <p:cNvSpPr>
            <a:spLocks noGrp="1"/>
          </p:cNvSpPr>
          <p:nvPr>
            <p:ph type="body" sz="quarter" idx="13"/>
          </p:nvPr>
        </p:nvSpPr>
        <p:spPr>
          <a:xfrm>
            <a:off x="7974724" y="2723534"/>
            <a:ext cx="3408667" cy="2359743"/>
          </a:xfrm>
        </p:spPr>
        <p:txBody>
          <a:bodyPr/>
          <a:lstStyle/>
          <a:p>
            <a:endParaRPr lang="en-US" dirty="0"/>
          </a:p>
          <a:p>
            <a:r>
              <a:rPr lang="en-US" dirty="0">
                <a:solidFill>
                  <a:srgbClr val="8FFFDB"/>
                </a:solidFill>
              </a:rPr>
              <a:t>Innovation</a:t>
            </a:r>
          </a:p>
          <a:p>
            <a:r>
              <a:rPr lang="en-US" sz="1400" dirty="0"/>
              <a:t>Move high-value use cases from experiments into governed production.</a:t>
            </a:r>
            <a:endParaRPr lang="en-US" sz="1000" dirty="0"/>
          </a:p>
          <a:p>
            <a:endParaRPr lang="en-US" dirty="0"/>
          </a:p>
        </p:txBody>
      </p:sp>
      <p:sp>
        <p:nvSpPr>
          <p:cNvPr id="5" name="Title 4">
            <a:extLst>
              <a:ext uri="{FF2B5EF4-FFF2-40B4-BE49-F238E27FC236}">
                <a16:creationId xmlns:a16="http://schemas.microsoft.com/office/drawing/2014/main" id="{26C6C284-E443-FE8F-8113-CDFB7BAF6956}"/>
              </a:ext>
            </a:extLst>
          </p:cNvPr>
          <p:cNvSpPr>
            <a:spLocks noGrp="1"/>
          </p:cNvSpPr>
          <p:nvPr>
            <p:ph type="title"/>
          </p:nvPr>
        </p:nvSpPr>
        <p:spPr>
          <a:xfrm>
            <a:off x="677154" y="921488"/>
            <a:ext cx="10512862" cy="771164"/>
          </a:xfrm>
        </p:spPr>
        <p:txBody>
          <a:bodyPr/>
          <a:lstStyle/>
          <a:p>
            <a:r>
              <a:rPr lang="en-US" dirty="0">
                <a:solidFill>
                  <a:schemeClr val="bg1"/>
                </a:solidFill>
              </a:rPr>
              <a:t>AI leadership </a:t>
            </a:r>
            <a:r>
              <a:rPr lang="en-US" dirty="0">
                <a:solidFill>
                  <a:srgbClr val="8FFFDB"/>
                </a:solidFill>
              </a:rPr>
              <a:t>priorities</a:t>
            </a:r>
          </a:p>
        </p:txBody>
      </p:sp>
      <p:sp>
        <p:nvSpPr>
          <p:cNvPr id="6" name="Text Placeholder 5">
            <a:extLst>
              <a:ext uri="{FF2B5EF4-FFF2-40B4-BE49-F238E27FC236}">
                <a16:creationId xmlns:a16="http://schemas.microsoft.com/office/drawing/2014/main" id="{B0F79775-329E-E369-2F90-30C452CFBB30}"/>
              </a:ext>
            </a:extLst>
          </p:cNvPr>
          <p:cNvSpPr>
            <a:spLocks noGrp="1"/>
          </p:cNvSpPr>
          <p:nvPr>
            <p:ph type="body" sz="quarter" idx="16"/>
          </p:nvPr>
        </p:nvSpPr>
        <p:spPr>
          <a:xfrm>
            <a:off x="677154" y="1564652"/>
            <a:ext cx="10512861" cy="313932"/>
          </a:xfrm>
        </p:spPr>
        <p:txBody>
          <a:bodyPr/>
          <a:lstStyle/>
          <a:p>
            <a:r>
              <a:rPr lang="en-US" dirty="0"/>
              <a:t>MANAGING TECHNOLOGY IN 2026</a:t>
            </a:r>
          </a:p>
        </p:txBody>
      </p:sp>
    </p:spTree>
    <p:extLst>
      <p:ext uri="{BB962C8B-B14F-4D97-AF65-F5344CB8AC3E}">
        <p14:creationId xmlns:p14="http://schemas.microsoft.com/office/powerpoint/2010/main" val="3559237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8A79-F8DE-E9B1-F1DA-4937C9C6F936}"/>
            </a:ext>
          </a:extLst>
        </p:cNvPr>
        <p:cNvGrpSpPr/>
        <p:nvPr/>
      </p:nvGrpSpPr>
      <p:grpSpPr>
        <a:xfrm>
          <a:off x="0" y="0"/>
          <a:ext cx="0" cy="0"/>
          <a:chOff x="0" y="0"/>
          <a:chExt cx="0" cy="0"/>
        </a:xfrm>
      </p:grpSpPr>
      <p:pic>
        <p:nvPicPr>
          <p:cNvPr id="60" name="Picture 59" descr="A blue and purple background&#10;&#10;AI-generated content may be incorrect.">
            <a:extLst>
              <a:ext uri="{FF2B5EF4-FFF2-40B4-BE49-F238E27FC236}">
                <a16:creationId xmlns:a16="http://schemas.microsoft.com/office/drawing/2014/main" id="{5F6B636D-432B-7B82-F218-6A293A547E13}"/>
              </a:ext>
            </a:extLst>
          </p:cNvPr>
          <p:cNvPicPr/>
          <p:nvPr/>
        </p:nvPicPr>
        <p:blipFill>
          <a:blip r:embed="rId3" cstate="screen">
            <a:extLst>
              <a:ext uri="{28A0092B-C50C-407E-A947-70E740481C1C}">
                <a14:useLocalDpi xmlns:a14="http://schemas.microsoft.com/office/drawing/2010/main"/>
              </a:ext>
            </a:extLst>
          </a:blip>
          <a:stretch>
            <a:fillRect/>
          </a:stretch>
        </p:blipFill>
        <p:spPr>
          <a:xfrm>
            <a:off x="-4765" y="0"/>
            <a:ext cx="12190415" cy="6857108"/>
          </a:xfrm>
          <a:prstGeom prst="rect">
            <a:avLst/>
          </a:prstGeom>
        </p:spPr>
      </p:pic>
      <p:sp>
        <p:nvSpPr>
          <p:cNvPr id="2" name="Title 1">
            <a:extLst>
              <a:ext uri="{FF2B5EF4-FFF2-40B4-BE49-F238E27FC236}">
                <a16:creationId xmlns:a16="http://schemas.microsoft.com/office/drawing/2014/main" id="{D9F5318B-2A15-6E7B-3263-3731EDEE2B38}"/>
              </a:ext>
            </a:extLst>
          </p:cNvPr>
          <p:cNvSpPr txBox="1">
            <a:spLocks/>
          </p:cNvSpPr>
          <p:nvPr/>
        </p:nvSpPr>
        <p:spPr>
          <a:xfrm>
            <a:off x="24807" y="502867"/>
            <a:ext cx="12160843" cy="1194950"/>
          </a:xfrm>
          <a:prstGeom prst="rect">
            <a:avLst/>
          </a:prstGeom>
        </p:spPr>
        <p:txBody>
          <a:bodyPr vert="horz" lIns="91368" tIns="45684" rIns="91368" bIns="45684" rtlCol="0" anchor="t"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913578">
              <a:defRPr/>
            </a:pPr>
            <a:r>
              <a:rPr lang="en-US" sz="4799"/>
              <a:t>Turn AI ambition </a:t>
            </a:r>
            <a:br>
              <a:rPr lang="en-US" sz="4799"/>
            </a:br>
            <a:r>
              <a:rPr lang="en-US" sz="4799">
                <a:solidFill>
                  <a:schemeClr val="accent1"/>
                </a:solidFill>
              </a:rPr>
              <a:t>into</a:t>
            </a:r>
            <a:r>
              <a:rPr lang="en-US" sz="4799"/>
              <a:t> </a:t>
            </a:r>
            <a:r>
              <a:rPr lang="en-US" sz="4799">
                <a:solidFill>
                  <a:schemeClr val="accent1"/>
                </a:solidFill>
              </a:rPr>
              <a:t>business value</a:t>
            </a:r>
          </a:p>
        </p:txBody>
      </p:sp>
      <p:sp>
        <p:nvSpPr>
          <p:cNvPr id="3" name="Title 1">
            <a:extLst>
              <a:ext uri="{FF2B5EF4-FFF2-40B4-BE49-F238E27FC236}">
                <a16:creationId xmlns:a16="http://schemas.microsoft.com/office/drawing/2014/main" id="{5C99E03C-64BA-4BFA-D96A-6104392CBC1E}"/>
              </a:ext>
            </a:extLst>
          </p:cNvPr>
          <p:cNvSpPr txBox="1">
            <a:spLocks/>
          </p:cNvSpPr>
          <p:nvPr/>
        </p:nvSpPr>
        <p:spPr>
          <a:xfrm>
            <a:off x="173994" y="1257688"/>
            <a:ext cx="12014831" cy="1194950"/>
          </a:xfrm>
          <a:prstGeom prst="rect">
            <a:avLst/>
          </a:prstGeom>
        </p:spPr>
        <p:txBody>
          <a:bodyPr vert="horz" lIns="91368" tIns="45684" rIns="91368" bIns="45684" rtlCol="0" anchor="t"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913578">
              <a:defRPr/>
            </a:pPr>
            <a:endParaRPr lang="en-US" sz="4799">
              <a:solidFill>
                <a:schemeClr val="accent1"/>
              </a:solidFill>
            </a:endParaRPr>
          </a:p>
        </p:txBody>
      </p:sp>
      <p:sp>
        <p:nvSpPr>
          <p:cNvPr id="61" name="Rounded Rectangle 13">
            <a:extLst>
              <a:ext uri="{FF2B5EF4-FFF2-40B4-BE49-F238E27FC236}">
                <a16:creationId xmlns:a16="http://schemas.microsoft.com/office/drawing/2014/main" id="{95818F57-4AB9-A827-E8AE-D9BA1CCCD65F}"/>
              </a:ext>
            </a:extLst>
          </p:cNvPr>
          <p:cNvSpPr/>
          <p:nvPr/>
        </p:nvSpPr>
        <p:spPr>
          <a:xfrm>
            <a:off x="3263109" y="5185015"/>
            <a:ext cx="5662605" cy="955026"/>
          </a:xfrm>
          <a:prstGeom prst="roundRect">
            <a:avLst>
              <a:gd name="adj" fmla="val 6458"/>
            </a:avLst>
          </a:prstGeom>
          <a:blipFill>
            <a:blip r:embed="rId4" cstate="print">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rgbClr val="000000"/>
              </a:solidFill>
              <a:latin typeface="Source Sans 3" panose="020B0404040101010104" pitchFamily="34" charset="77"/>
            </a:endParaRPr>
          </a:p>
        </p:txBody>
      </p:sp>
      <p:sp>
        <p:nvSpPr>
          <p:cNvPr id="62" name="TextBox 61">
            <a:extLst>
              <a:ext uri="{FF2B5EF4-FFF2-40B4-BE49-F238E27FC236}">
                <a16:creationId xmlns:a16="http://schemas.microsoft.com/office/drawing/2014/main" id="{427D55F1-72C5-18E8-489E-3206218E9841}"/>
              </a:ext>
            </a:extLst>
          </p:cNvPr>
          <p:cNvSpPr txBox="1"/>
          <p:nvPr/>
        </p:nvSpPr>
        <p:spPr>
          <a:xfrm>
            <a:off x="4183665" y="5347960"/>
            <a:ext cx="4414813" cy="617146"/>
          </a:xfrm>
          <a:prstGeom prst="rect">
            <a:avLst/>
          </a:prstGeom>
        </p:spPr>
        <p:txBody>
          <a:bodyPr vert="horz" lIns="0" tIns="0" rIns="0" bIns="0" rtlCol="0" anchor="b" anchorCtr="0">
            <a:noAutofit/>
          </a:bodyPr>
          <a:lstStyle>
            <a:defPPr>
              <a:defRPr lang="en-US"/>
            </a:defPPr>
            <a:lvl1pPr algn="ctr">
              <a:lnSpc>
                <a:spcPct val="85000"/>
              </a:lnSpc>
              <a:spcBef>
                <a:spcPct val="0"/>
              </a:spcBef>
              <a:buNone/>
              <a:tabLst>
                <a:tab pos="398463" algn="l"/>
              </a:tabLst>
              <a:defRPr sz="4800" b="1" i="0" spc="0" baseline="0">
                <a:solidFill>
                  <a:schemeClr val="accent1"/>
                </a:solidFill>
                <a:latin typeface="+mj-lt"/>
                <a:ea typeface="+mj-ea"/>
                <a:cs typeface="Source Sans 3" panose="020B0504040101010104" pitchFamily="34" charset="77"/>
              </a:defRPr>
            </a:lvl1pPr>
          </a:lstStyle>
          <a:p>
            <a:pPr algn="l"/>
            <a:r>
              <a:rPr lang="en-US" sz="4400" b="0" dirty="0">
                <a:latin typeface="Source Sans 3" panose="020B0504040101010104" pitchFamily="34" charset="77"/>
              </a:rPr>
              <a:t>Prioritize impact</a:t>
            </a:r>
            <a:endParaRPr lang="en-US" sz="4400" b="0" dirty="0">
              <a:solidFill>
                <a:schemeClr val="bg1"/>
              </a:solidFill>
              <a:latin typeface="Source Sans 3" panose="020B0504040101010104" pitchFamily="34" charset="77"/>
            </a:endParaRPr>
          </a:p>
        </p:txBody>
      </p:sp>
      <p:sp>
        <p:nvSpPr>
          <p:cNvPr id="4" name="Rounded Rectangle 2">
            <a:extLst>
              <a:ext uri="{FF2B5EF4-FFF2-40B4-BE49-F238E27FC236}">
                <a16:creationId xmlns:a16="http://schemas.microsoft.com/office/drawing/2014/main" id="{97E428DC-450E-98CF-AFAF-7F553A3C8C78}"/>
              </a:ext>
            </a:extLst>
          </p:cNvPr>
          <p:cNvSpPr/>
          <p:nvPr/>
        </p:nvSpPr>
        <p:spPr>
          <a:xfrm>
            <a:off x="1011045" y="2457178"/>
            <a:ext cx="1906861" cy="2460123"/>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7" name="Rounded Rectangle 2">
            <a:extLst>
              <a:ext uri="{FF2B5EF4-FFF2-40B4-BE49-F238E27FC236}">
                <a16:creationId xmlns:a16="http://schemas.microsoft.com/office/drawing/2014/main" id="{ACC2233D-B8D3-E8E3-5E91-29C92E87A20C}"/>
              </a:ext>
            </a:extLst>
          </p:cNvPr>
          <p:cNvSpPr/>
          <p:nvPr/>
        </p:nvSpPr>
        <p:spPr>
          <a:xfrm>
            <a:off x="3076013" y="2457178"/>
            <a:ext cx="1906861" cy="2460123"/>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9" name="Rounded Rectangle 2">
            <a:extLst>
              <a:ext uri="{FF2B5EF4-FFF2-40B4-BE49-F238E27FC236}">
                <a16:creationId xmlns:a16="http://schemas.microsoft.com/office/drawing/2014/main" id="{51920AF8-55BD-BACA-4BA9-B4233CCE1C7F}"/>
              </a:ext>
            </a:extLst>
          </p:cNvPr>
          <p:cNvSpPr/>
          <p:nvPr/>
        </p:nvSpPr>
        <p:spPr>
          <a:xfrm>
            <a:off x="5140981" y="2457178"/>
            <a:ext cx="1906861" cy="2460123"/>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10" name="Rounded Rectangle 2">
            <a:extLst>
              <a:ext uri="{FF2B5EF4-FFF2-40B4-BE49-F238E27FC236}">
                <a16:creationId xmlns:a16="http://schemas.microsoft.com/office/drawing/2014/main" id="{B6C4CDD7-AA9E-2CD4-AE20-05E9E8FB3F9D}"/>
              </a:ext>
            </a:extLst>
          </p:cNvPr>
          <p:cNvSpPr/>
          <p:nvPr/>
        </p:nvSpPr>
        <p:spPr>
          <a:xfrm>
            <a:off x="7205949" y="2457178"/>
            <a:ext cx="1906861" cy="2460123"/>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11" name="Rounded Rectangle 2">
            <a:extLst>
              <a:ext uri="{FF2B5EF4-FFF2-40B4-BE49-F238E27FC236}">
                <a16:creationId xmlns:a16="http://schemas.microsoft.com/office/drawing/2014/main" id="{67E72C50-C935-6384-77BD-9A2E057BC049}"/>
              </a:ext>
            </a:extLst>
          </p:cNvPr>
          <p:cNvSpPr/>
          <p:nvPr/>
        </p:nvSpPr>
        <p:spPr>
          <a:xfrm>
            <a:off x="9270918" y="2457178"/>
            <a:ext cx="1906861" cy="2460123"/>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grpSp>
        <p:nvGrpSpPr>
          <p:cNvPr id="24" name="!!2">
            <a:extLst>
              <a:ext uri="{FF2B5EF4-FFF2-40B4-BE49-F238E27FC236}">
                <a16:creationId xmlns:a16="http://schemas.microsoft.com/office/drawing/2014/main" id="{15823356-8065-B9AF-8A4A-BD0EB79014CE}"/>
              </a:ext>
            </a:extLst>
          </p:cNvPr>
          <p:cNvGrpSpPr/>
          <p:nvPr/>
        </p:nvGrpSpPr>
        <p:grpSpPr>
          <a:xfrm>
            <a:off x="2975633" y="2967811"/>
            <a:ext cx="2139389" cy="1361920"/>
            <a:chOff x="489097" y="2819319"/>
            <a:chExt cx="2139946" cy="1362275"/>
          </a:xfrm>
        </p:grpSpPr>
        <p:sp>
          <p:nvSpPr>
            <p:cNvPr id="37" name="Oval 36">
              <a:extLst>
                <a:ext uri="{FF2B5EF4-FFF2-40B4-BE49-F238E27FC236}">
                  <a16:creationId xmlns:a16="http://schemas.microsoft.com/office/drawing/2014/main" id="{6229B28F-91F7-65E8-0409-E38F60B7B8D3}"/>
                </a:ext>
              </a:extLst>
            </p:cNvPr>
            <p:cNvSpPr/>
            <p:nvPr/>
          </p:nvSpPr>
          <p:spPr>
            <a:xfrm>
              <a:off x="1106744" y="2819319"/>
              <a:ext cx="922255" cy="929719"/>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solidFill>
                    <a:schemeClr val="tx2"/>
                  </a:solidFill>
                  <a:latin typeface="Source Sans 3" panose="020B0504040101010104" pitchFamily="34" charset="77"/>
                </a:rPr>
                <a:t>?</a:t>
              </a:r>
            </a:p>
          </p:txBody>
        </p:sp>
        <p:sp>
          <p:nvSpPr>
            <p:cNvPr id="38" name="TextBox 37">
              <a:extLst>
                <a:ext uri="{FF2B5EF4-FFF2-40B4-BE49-F238E27FC236}">
                  <a16:creationId xmlns:a16="http://schemas.microsoft.com/office/drawing/2014/main" id="{744C49F4-7C1D-7F6B-40DE-367CDCAFBD85}"/>
                </a:ext>
              </a:extLst>
            </p:cNvPr>
            <p:cNvSpPr txBox="1"/>
            <p:nvPr/>
          </p:nvSpPr>
          <p:spPr>
            <a:xfrm>
              <a:off x="489097" y="3792898"/>
              <a:ext cx="2139946" cy="388696"/>
            </a:xfrm>
            <a:prstGeom prst="rect">
              <a:avLst/>
            </a:prstGeom>
            <a:noFill/>
          </p:spPr>
          <p:txBody>
            <a:bodyPr wrap="square" rtlCol="0">
              <a:spAutoFit/>
            </a:bodyPr>
            <a:lstStyle/>
            <a:p>
              <a:pPr algn="ctr">
                <a:lnSpc>
                  <a:spcPts val="2499"/>
                </a:lnSpc>
              </a:pPr>
              <a:r>
                <a:rPr lang="en-US" sz="1600">
                  <a:solidFill>
                    <a:schemeClr val="bg1"/>
                  </a:solidFill>
                  <a:latin typeface="Source Sans 3" panose="020B0504040101010104" pitchFamily="34" charset="77"/>
                </a:rPr>
                <a:t>Trusted
data</a:t>
              </a:r>
            </a:p>
          </p:txBody>
        </p:sp>
      </p:grpSp>
      <p:grpSp>
        <p:nvGrpSpPr>
          <p:cNvPr id="44" name="!!4">
            <a:extLst>
              <a:ext uri="{FF2B5EF4-FFF2-40B4-BE49-F238E27FC236}">
                <a16:creationId xmlns:a16="http://schemas.microsoft.com/office/drawing/2014/main" id="{94DEEE6D-09DB-D07C-6166-9814384191EA}"/>
              </a:ext>
            </a:extLst>
          </p:cNvPr>
          <p:cNvGrpSpPr/>
          <p:nvPr/>
        </p:nvGrpSpPr>
        <p:grpSpPr>
          <a:xfrm>
            <a:off x="7089684" y="2967811"/>
            <a:ext cx="2139389" cy="1361920"/>
            <a:chOff x="489097" y="2819319"/>
            <a:chExt cx="2139946" cy="1362275"/>
          </a:xfrm>
        </p:grpSpPr>
        <p:sp>
          <p:nvSpPr>
            <p:cNvPr id="46" name="Oval 45">
              <a:extLst>
                <a:ext uri="{FF2B5EF4-FFF2-40B4-BE49-F238E27FC236}">
                  <a16:creationId xmlns:a16="http://schemas.microsoft.com/office/drawing/2014/main" id="{655B0E9C-CFFF-CBEF-8DA9-D95E3A1E4D94}"/>
                </a:ext>
              </a:extLst>
            </p:cNvPr>
            <p:cNvSpPr/>
            <p:nvPr/>
          </p:nvSpPr>
          <p:spPr>
            <a:xfrm>
              <a:off x="1106744" y="2819319"/>
              <a:ext cx="922255" cy="929719"/>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solidFill>
                    <a:schemeClr val="tx2"/>
                  </a:solidFill>
                  <a:latin typeface="Source Sans 3" panose="020B0504040101010104" pitchFamily="34" charset="77"/>
                </a:rPr>
                <a:t>?</a:t>
              </a:r>
            </a:p>
          </p:txBody>
        </p:sp>
        <p:sp>
          <p:nvSpPr>
            <p:cNvPr id="47" name="TextBox 46">
              <a:extLst>
                <a:ext uri="{FF2B5EF4-FFF2-40B4-BE49-F238E27FC236}">
                  <a16:creationId xmlns:a16="http://schemas.microsoft.com/office/drawing/2014/main" id="{D83702B6-E9D1-D43A-1793-C7DEBF162565}"/>
                </a:ext>
              </a:extLst>
            </p:cNvPr>
            <p:cNvSpPr txBox="1"/>
            <p:nvPr/>
          </p:nvSpPr>
          <p:spPr>
            <a:xfrm>
              <a:off x="489097" y="3792898"/>
              <a:ext cx="2139946" cy="388696"/>
            </a:xfrm>
            <a:prstGeom prst="rect">
              <a:avLst/>
            </a:prstGeom>
            <a:noFill/>
          </p:spPr>
          <p:txBody>
            <a:bodyPr wrap="square" rtlCol="0">
              <a:spAutoFit/>
            </a:bodyPr>
            <a:lstStyle/>
            <a:p>
              <a:pPr algn="ctr">
                <a:lnSpc>
                  <a:spcPts val="2499"/>
                </a:lnSpc>
              </a:pPr>
              <a:r>
                <a:rPr lang="en-US" sz="1600">
                  <a:solidFill>
                    <a:schemeClr val="bg1"/>
                  </a:solidFill>
                  <a:latin typeface="Source Sans 3" panose="020B0504040101010104" pitchFamily="34" charset="77"/>
                </a:rPr>
                <a:t>Assist
consumption</a:t>
              </a:r>
            </a:p>
          </p:txBody>
        </p:sp>
      </p:grpSp>
      <p:grpSp>
        <p:nvGrpSpPr>
          <p:cNvPr id="5" name="!!5">
            <a:extLst>
              <a:ext uri="{FF2B5EF4-FFF2-40B4-BE49-F238E27FC236}">
                <a16:creationId xmlns:a16="http://schemas.microsoft.com/office/drawing/2014/main" id="{F9B43D11-3814-D45F-7979-0E5BD64D9F0E}"/>
              </a:ext>
            </a:extLst>
          </p:cNvPr>
          <p:cNvGrpSpPr/>
          <p:nvPr/>
        </p:nvGrpSpPr>
        <p:grpSpPr>
          <a:xfrm>
            <a:off x="9154653" y="2967811"/>
            <a:ext cx="2139389" cy="1675698"/>
            <a:chOff x="9700736" y="2819478"/>
            <a:chExt cx="2139389" cy="1675698"/>
          </a:xfrm>
        </p:grpSpPr>
        <p:sp>
          <p:nvSpPr>
            <p:cNvPr id="50" name="Oval 49">
              <a:extLst>
                <a:ext uri="{FF2B5EF4-FFF2-40B4-BE49-F238E27FC236}">
                  <a16:creationId xmlns:a16="http://schemas.microsoft.com/office/drawing/2014/main" id="{3BD32AB2-B415-5477-392A-0A742C14D942}"/>
                </a:ext>
              </a:extLst>
            </p:cNvPr>
            <p:cNvSpPr/>
            <p:nvPr/>
          </p:nvSpPr>
          <p:spPr>
            <a:xfrm>
              <a:off x="10307205" y="2819478"/>
              <a:ext cx="922015" cy="929477"/>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solidFill>
                    <a:schemeClr val="tx2"/>
                  </a:solidFill>
                  <a:latin typeface="Source Sans 3" panose="020B0504040101010104" pitchFamily="34" charset="77"/>
                </a:rPr>
                <a:t>?</a:t>
              </a:r>
            </a:p>
          </p:txBody>
        </p:sp>
        <p:sp>
          <p:nvSpPr>
            <p:cNvPr id="51" name="TextBox 50">
              <a:extLst>
                <a:ext uri="{FF2B5EF4-FFF2-40B4-BE49-F238E27FC236}">
                  <a16:creationId xmlns:a16="http://schemas.microsoft.com/office/drawing/2014/main" id="{F09624A3-0236-403C-0043-F865302B2BBF}"/>
                </a:ext>
              </a:extLst>
            </p:cNvPr>
            <p:cNvSpPr txBox="1"/>
            <p:nvPr/>
          </p:nvSpPr>
          <p:spPr>
            <a:xfrm>
              <a:off x="9700736" y="3792804"/>
              <a:ext cx="2139389" cy="702372"/>
            </a:xfrm>
            <a:prstGeom prst="rect">
              <a:avLst/>
            </a:prstGeom>
            <a:noFill/>
          </p:spPr>
          <p:txBody>
            <a:bodyPr wrap="square" rtlCol="0">
              <a:spAutoFit/>
            </a:bodyPr>
            <a:lstStyle/>
            <a:p>
              <a:pPr algn="ctr">
                <a:lnSpc>
                  <a:spcPts val="2499"/>
                </a:lnSpc>
              </a:pPr>
              <a:r>
                <a:rPr lang="en-US" sz="1600">
                  <a:solidFill>
                    <a:schemeClr val="bg1"/>
                  </a:solidFill>
                  <a:latin typeface="Source Sans 3" panose="020B0504040101010104" pitchFamily="34" charset="77"/>
                </a:rPr>
                <a:t>Measurable
outcomes</a:t>
              </a:r>
            </a:p>
          </p:txBody>
        </p:sp>
      </p:grpSp>
      <p:grpSp>
        <p:nvGrpSpPr>
          <p:cNvPr id="39" name="!!3">
            <a:extLst>
              <a:ext uri="{FF2B5EF4-FFF2-40B4-BE49-F238E27FC236}">
                <a16:creationId xmlns:a16="http://schemas.microsoft.com/office/drawing/2014/main" id="{EA6BC7CE-2299-B7A6-391B-6396E36AA05D}"/>
              </a:ext>
            </a:extLst>
          </p:cNvPr>
          <p:cNvGrpSpPr/>
          <p:nvPr/>
        </p:nvGrpSpPr>
        <p:grpSpPr>
          <a:xfrm>
            <a:off x="5056045" y="2967811"/>
            <a:ext cx="2139389" cy="1361920"/>
            <a:chOff x="489097" y="2819319"/>
            <a:chExt cx="2139946" cy="1362275"/>
          </a:xfrm>
        </p:grpSpPr>
        <p:sp>
          <p:nvSpPr>
            <p:cNvPr id="42" name="Oval 41">
              <a:extLst>
                <a:ext uri="{FF2B5EF4-FFF2-40B4-BE49-F238E27FC236}">
                  <a16:creationId xmlns:a16="http://schemas.microsoft.com/office/drawing/2014/main" id="{628F5B62-ADD8-CE9D-3DB3-544A04934036}"/>
                </a:ext>
              </a:extLst>
            </p:cNvPr>
            <p:cNvSpPr/>
            <p:nvPr/>
          </p:nvSpPr>
          <p:spPr>
            <a:xfrm>
              <a:off x="1106744" y="2819319"/>
              <a:ext cx="922255" cy="929719"/>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solidFill>
                    <a:schemeClr val="tx2"/>
                  </a:solidFill>
                  <a:latin typeface="Source Sans 3" panose="020B0504040101010104" pitchFamily="34" charset="77"/>
                </a:rPr>
                <a:t>?</a:t>
              </a:r>
            </a:p>
          </p:txBody>
        </p:sp>
        <p:sp>
          <p:nvSpPr>
            <p:cNvPr id="43" name="TextBox 42">
              <a:extLst>
                <a:ext uri="{FF2B5EF4-FFF2-40B4-BE49-F238E27FC236}">
                  <a16:creationId xmlns:a16="http://schemas.microsoft.com/office/drawing/2014/main" id="{D1CA3BE4-EAB4-7A58-0F95-D9815B67B3B8}"/>
                </a:ext>
              </a:extLst>
            </p:cNvPr>
            <p:cNvSpPr txBox="1"/>
            <p:nvPr/>
          </p:nvSpPr>
          <p:spPr>
            <a:xfrm>
              <a:off x="489097" y="3792898"/>
              <a:ext cx="2139946" cy="388696"/>
            </a:xfrm>
            <a:prstGeom prst="rect">
              <a:avLst/>
            </a:prstGeom>
            <a:noFill/>
          </p:spPr>
          <p:txBody>
            <a:bodyPr wrap="square" rtlCol="0">
              <a:spAutoFit/>
            </a:bodyPr>
            <a:lstStyle/>
            <a:p>
              <a:pPr algn="ctr">
                <a:lnSpc>
                  <a:spcPts val="2499"/>
                </a:lnSpc>
              </a:pPr>
              <a:r>
                <a:rPr lang="en-US" sz="1600">
                  <a:solidFill>
                    <a:schemeClr val="bg1"/>
                  </a:solidFill>
                  <a:latin typeface="Source Sans 3" panose="020B0504040101010104" pitchFamily="34" charset="77"/>
                </a:rPr>
                <a:t>Governed
agents</a:t>
              </a:r>
            </a:p>
          </p:txBody>
        </p:sp>
      </p:grpSp>
      <p:grpSp>
        <p:nvGrpSpPr>
          <p:cNvPr id="26" name="!!1">
            <a:extLst>
              <a:ext uri="{FF2B5EF4-FFF2-40B4-BE49-F238E27FC236}">
                <a16:creationId xmlns:a16="http://schemas.microsoft.com/office/drawing/2014/main" id="{128116D6-21DC-A71F-0E70-2990B8BAA4BF}"/>
              </a:ext>
            </a:extLst>
          </p:cNvPr>
          <p:cNvGrpSpPr/>
          <p:nvPr/>
        </p:nvGrpSpPr>
        <p:grpSpPr>
          <a:xfrm>
            <a:off x="923644" y="2967811"/>
            <a:ext cx="2139389" cy="1361920"/>
            <a:chOff x="489097" y="2819319"/>
            <a:chExt cx="2139946" cy="1362275"/>
          </a:xfrm>
        </p:grpSpPr>
        <p:sp>
          <p:nvSpPr>
            <p:cNvPr id="8" name="Oval 7">
              <a:extLst>
                <a:ext uri="{FF2B5EF4-FFF2-40B4-BE49-F238E27FC236}">
                  <a16:creationId xmlns:a16="http://schemas.microsoft.com/office/drawing/2014/main" id="{1C9E3798-FB7E-8337-1FF7-88F2FDC29E0D}"/>
                </a:ext>
              </a:extLst>
            </p:cNvPr>
            <p:cNvSpPr/>
            <p:nvPr/>
          </p:nvSpPr>
          <p:spPr>
            <a:xfrm>
              <a:off x="1106744" y="2819319"/>
              <a:ext cx="922255" cy="929719"/>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solidFill>
                    <a:schemeClr val="tx2"/>
                  </a:solidFill>
                  <a:latin typeface="Source Sans 3" panose="020B0504040101010104" pitchFamily="34" charset="77"/>
                </a:rPr>
                <a:t>?</a:t>
              </a:r>
            </a:p>
          </p:txBody>
        </p:sp>
        <p:sp>
          <p:nvSpPr>
            <p:cNvPr id="6" name="TextBox 5">
              <a:extLst>
                <a:ext uri="{FF2B5EF4-FFF2-40B4-BE49-F238E27FC236}">
                  <a16:creationId xmlns:a16="http://schemas.microsoft.com/office/drawing/2014/main" id="{47D173EA-77C3-AD93-2126-2263173B9392}"/>
                </a:ext>
              </a:extLst>
            </p:cNvPr>
            <p:cNvSpPr txBox="1"/>
            <p:nvPr/>
          </p:nvSpPr>
          <p:spPr>
            <a:xfrm>
              <a:off x="489097" y="3792898"/>
              <a:ext cx="2139946" cy="388696"/>
            </a:xfrm>
            <a:prstGeom prst="rect">
              <a:avLst/>
            </a:prstGeom>
            <a:noFill/>
          </p:spPr>
          <p:txBody>
            <a:bodyPr wrap="square" rtlCol="0">
              <a:spAutoFit/>
            </a:bodyPr>
            <a:lstStyle/>
            <a:p>
              <a:pPr algn="ctr">
                <a:lnSpc>
                  <a:spcPts val="2499"/>
                </a:lnSpc>
              </a:pPr>
              <a:r>
                <a:rPr lang="en-US" sz="1600">
                  <a:solidFill>
                    <a:schemeClr val="bg1"/>
                  </a:solidFill>
                  <a:latin typeface="Source Sans 3" panose="020B0504040101010104" pitchFamily="34" charset="77"/>
                </a:rPr>
                <a:t>AI in
production</a:t>
              </a:r>
            </a:p>
          </p:txBody>
        </p:sp>
      </p:grpSp>
      <p:sp>
        <p:nvSpPr>
          <p:cNvPr id="12" name="Footer Placeholder 4">
            <a:extLst>
              <a:ext uri="{FF2B5EF4-FFF2-40B4-BE49-F238E27FC236}">
                <a16:creationId xmlns:a16="http://schemas.microsoft.com/office/drawing/2014/main" id="{0AC73644-4DB2-8DEB-A738-FDDD2254D192}"/>
              </a:ext>
            </a:extLst>
          </p:cNvPr>
          <p:cNvSpPr txBox="1"/>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spTree>
    <p:extLst>
      <p:ext uri="{BB962C8B-B14F-4D97-AF65-F5344CB8AC3E}">
        <p14:creationId xmlns:p14="http://schemas.microsoft.com/office/powerpoint/2010/main" val="3824374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7078-EBD1-D7B6-248A-FA6C5CFA21CE}"/>
            </a:ext>
          </a:extLst>
        </p:cNvPr>
        <p:cNvGrpSpPr/>
        <p:nvPr/>
      </p:nvGrpSpPr>
      <p:grpSpPr>
        <a:xfrm>
          <a:off x="0" y="0"/>
          <a:ext cx="0" cy="0"/>
          <a:chOff x="0" y="0"/>
          <a:chExt cx="0" cy="0"/>
        </a:xfrm>
      </p:grpSpPr>
      <p:sp>
        <p:nvSpPr>
          <p:cNvPr id="29" name="Rounded Rectangle 2">
            <a:extLst>
              <a:ext uri="{FF2B5EF4-FFF2-40B4-BE49-F238E27FC236}">
                <a16:creationId xmlns:a16="http://schemas.microsoft.com/office/drawing/2014/main" id="{DA0D7A44-207A-2FC4-1D97-C7463A1B6275}"/>
              </a:ext>
            </a:extLst>
          </p:cNvPr>
          <p:cNvSpPr>
            <a:spLocks noGrp="1" noRot="1" noMove="1" noResize="1" noEditPoints="1" noAdjustHandles="1" noChangeArrowheads="1" noChangeShapeType="1"/>
          </p:cNvSpPr>
          <p:nvPr/>
        </p:nvSpPr>
        <p:spPr>
          <a:xfrm>
            <a:off x="1011045"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43" name="Rounded Rectangle 2">
            <a:extLst>
              <a:ext uri="{FF2B5EF4-FFF2-40B4-BE49-F238E27FC236}">
                <a16:creationId xmlns:a16="http://schemas.microsoft.com/office/drawing/2014/main" id="{6DB5C961-2BCF-8DCC-866E-04F67DBF1872}"/>
              </a:ext>
            </a:extLst>
          </p:cNvPr>
          <p:cNvSpPr>
            <a:spLocks noGrp="1" noRot="1" noMove="1" noResize="1" noEditPoints="1" noAdjustHandles="1" noChangeArrowheads="1" noChangeShapeType="1"/>
          </p:cNvSpPr>
          <p:nvPr/>
        </p:nvSpPr>
        <p:spPr>
          <a:xfrm>
            <a:off x="3076013"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47" name="Rounded Rectangle 2">
            <a:extLst>
              <a:ext uri="{FF2B5EF4-FFF2-40B4-BE49-F238E27FC236}">
                <a16:creationId xmlns:a16="http://schemas.microsoft.com/office/drawing/2014/main" id="{6468305F-7C8A-AB78-785B-86140C100E91}"/>
              </a:ext>
            </a:extLst>
          </p:cNvPr>
          <p:cNvSpPr>
            <a:spLocks noGrp="1" noRot="1" noMove="1" noResize="1" noEditPoints="1" noAdjustHandles="1" noChangeArrowheads="1" noChangeShapeType="1"/>
          </p:cNvSpPr>
          <p:nvPr/>
        </p:nvSpPr>
        <p:spPr>
          <a:xfrm>
            <a:off x="5140981"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51" name="Rounded Rectangle 2">
            <a:extLst>
              <a:ext uri="{FF2B5EF4-FFF2-40B4-BE49-F238E27FC236}">
                <a16:creationId xmlns:a16="http://schemas.microsoft.com/office/drawing/2014/main" id="{7703BB15-5453-84CF-0A41-96B29236CEE6}"/>
              </a:ext>
            </a:extLst>
          </p:cNvPr>
          <p:cNvSpPr>
            <a:spLocks noGrp="1" noRot="1" noMove="1" noResize="1" noEditPoints="1" noAdjustHandles="1" noChangeArrowheads="1" noChangeShapeType="1"/>
          </p:cNvSpPr>
          <p:nvPr/>
        </p:nvSpPr>
        <p:spPr>
          <a:xfrm>
            <a:off x="7205949"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5" name="Rounded Rectangle 2">
            <a:extLst>
              <a:ext uri="{FF2B5EF4-FFF2-40B4-BE49-F238E27FC236}">
                <a16:creationId xmlns:a16="http://schemas.microsoft.com/office/drawing/2014/main" id="{8C8F8513-BB24-9862-975D-34B7D05013B2}"/>
              </a:ext>
            </a:extLst>
          </p:cNvPr>
          <p:cNvSpPr>
            <a:spLocks noGrp="1" noRot="1" noMove="1" noResize="1" noEditPoints="1" noAdjustHandles="1" noChangeArrowheads="1" noChangeShapeType="1"/>
          </p:cNvSpPr>
          <p:nvPr/>
        </p:nvSpPr>
        <p:spPr>
          <a:xfrm>
            <a:off x="9270918"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34" name="Title 1">
            <a:extLst>
              <a:ext uri="{FF2B5EF4-FFF2-40B4-BE49-F238E27FC236}">
                <a16:creationId xmlns:a16="http://schemas.microsoft.com/office/drawing/2014/main" id="{D4D8866F-F67D-255A-74A9-ED8F69DB6952}"/>
              </a:ext>
            </a:extLst>
          </p:cNvPr>
          <p:cNvSpPr txBox="1">
            <a:spLocks noGrp="1" noRot="1" noMove="1" noResize="1" noEditPoints="1" noAdjustHandles="1" noChangeArrowheads="1" noChangeShapeType="1"/>
          </p:cNvSpPr>
          <p:nvPr/>
        </p:nvSpPr>
        <p:spPr>
          <a:xfrm>
            <a:off x="811177" y="1277209"/>
            <a:ext cx="10566472" cy="647093"/>
          </a:xfrm>
          <a:prstGeom prst="rect">
            <a:avLst/>
          </a:prstGeom>
        </p:spPr>
        <p:txBody>
          <a:bodyPr vert="horz" lIns="0" tIns="0" rIns="0" bIns="0" rtlCol="0" anchor="b" anchorCtr="0">
            <a:noAutofit/>
          </a:bodyPr>
          <a:lstStyle>
            <a:defPPr>
              <a:defRPr lang="en-US"/>
            </a:defPPr>
            <a:lvl1pPr algn="ctr">
              <a:lnSpc>
                <a:spcPct val="85000"/>
              </a:lnSpc>
              <a:spcBef>
                <a:spcPct val="0"/>
              </a:spcBef>
              <a:buNone/>
              <a:tabLst>
                <a:tab pos="398463" algn="l"/>
              </a:tabLst>
              <a:defRPr sz="4800" b="1" i="0" spc="0" baseline="0">
                <a:solidFill>
                  <a:schemeClr val="accent1"/>
                </a:solidFill>
                <a:latin typeface="+mj-lt"/>
                <a:ea typeface="+mj-ea"/>
                <a:cs typeface="Source Sans 3" panose="020B0504040101010104" pitchFamily="34" charset="77"/>
              </a:defRPr>
            </a:lvl1pPr>
          </a:lstStyle>
          <a:p>
            <a:pPr lvl="0">
              <a:defRPr/>
            </a:pPr>
            <a:r>
              <a:rPr lang="en-US" sz="4600" dirty="0">
                <a:solidFill>
                  <a:schemeClr val="bg1"/>
                </a:solidFill>
              </a:rPr>
              <a:t>We've invested in AI. </a:t>
            </a:r>
            <a:br>
              <a:rPr lang="en-US" sz="5400" dirty="0">
                <a:solidFill>
                  <a:schemeClr val="accent4"/>
                </a:solidFill>
              </a:rPr>
            </a:br>
            <a:r>
              <a:rPr lang="en-US" sz="4600" dirty="0">
                <a:solidFill>
                  <a:srgbClr val="D8F1F7"/>
                </a:solidFill>
              </a:rPr>
              <a:t>Where are the results?</a:t>
            </a:r>
          </a:p>
        </p:txBody>
      </p:sp>
      <p:sp>
        <p:nvSpPr>
          <p:cNvPr id="17" name="Footer Placeholder 4">
            <a:extLst>
              <a:ext uri="{FF2B5EF4-FFF2-40B4-BE49-F238E27FC236}">
                <a16:creationId xmlns:a16="http://schemas.microsoft.com/office/drawing/2014/main" id="{A1942655-4AA0-08C1-EC7B-EA96A8ED331E}"/>
              </a:ext>
            </a:extLst>
          </p:cNvPr>
          <p:cNvSpPr txBox="1">
            <a:spLocks noGrp="1" noRot="1" noMove="1" noResize="1" noEditPoints="1" noAdjustHandles="1" noChangeArrowheads="1" noChangeShapeType="1"/>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sp>
        <p:nvSpPr>
          <p:cNvPr id="10" name="TextBox 9">
            <a:extLst>
              <a:ext uri="{FF2B5EF4-FFF2-40B4-BE49-F238E27FC236}">
                <a16:creationId xmlns:a16="http://schemas.microsoft.com/office/drawing/2014/main" id="{E6A7DFE7-15E7-7A2B-8FA9-AD3FAEBD0AD7}"/>
              </a:ext>
            </a:extLst>
          </p:cNvPr>
          <p:cNvSpPr txBox="1">
            <a:spLocks noGrp="1" noRot="1" noMove="1" noResize="1" noEditPoints="1" noAdjustHandles="1" noChangeArrowheads="1" noChangeShapeType="1"/>
          </p:cNvSpPr>
          <p:nvPr/>
        </p:nvSpPr>
        <p:spPr>
          <a:xfrm>
            <a:off x="1003109" y="4237966"/>
            <a:ext cx="1922732" cy="461665"/>
          </a:xfrm>
          <a:prstGeom prst="rect">
            <a:avLst/>
          </a:prstGeom>
          <a:noFill/>
        </p:spPr>
        <p:txBody>
          <a:bodyPr wrap="square" rtlCol="0">
            <a:spAutoFit/>
          </a:bodyPr>
          <a:lstStyle/>
          <a:p>
            <a:pPr lvl="0" algn="ctr">
              <a:defRPr/>
            </a:pPr>
            <a:r>
              <a:rPr lang="en-US" sz="1120">
                <a:solidFill>
                  <a:schemeClr val="bg1"/>
                </a:solidFill>
                <a:latin typeface="Source Sans 3" panose="020B0504040101010104" pitchFamily="34" charset="77"/>
              </a:rPr>
              <a:t>Pilots never
reach production</a:t>
            </a:r>
            <a:br>
              <a:rPr lang="en-US" sz="1200">
                <a:solidFill>
                  <a:schemeClr val="bg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11" name="TextBox 10">
            <a:extLst>
              <a:ext uri="{FF2B5EF4-FFF2-40B4-BE49-F238E27FC236}">
                <a16:creationId xmlns:a16="http://schemas.microsoft.com/office/drawing/2014/main" id="{4E828EE2-F7B5-566D-1822-E9126719C1A9}"/>
              </a:ext>
            </a:extLst>
          </p:cNvPr>
          <p:cNvSpPr txBox="1">
            <a:spLocks noGrp="1" noRot="1" noMove="1" noResize="1" noEditPoints="1" noAdjustHandles="1" noChangeArrowheads="1" noChangeShapeType="1"/>
          </p:cNvSpPr>
          <p:nvPr/>
        </p:nvSpPr>
        <p:spPr>
          <a:xfrm>
            <a:off x="3068077" y="4237966"/>
            <a:ext cx="1922732" cy="461665"/>
          </a:xfrm>
          <a:prstGeom prst="rect">
            <a:avLst/>
          </a:prstGeom>
          <a:noFill/>
        </p:spPr>
        <p:txBody>
          <a:bodyPr wrap="square" rtlCol="0">
            <a:spAutoFit/>
          </a:bodyPr>
          <a:lstStyle/>
          <a:p>
            <a:pPr marL="0" marR="0" lvl="0" indent="0" algn="ctr" defTabSz="457040" rtl="0" eaLnBrk="1" fontAlgn="auto" latinLnBrk="0" hangingPunct="1">
              <a:spcBef>
                <a:spcPts val="0"/>
              </a:spcBef>
              <a:spcAft>
                <a:spcPts val="0"/>
              </a:spcAft>
              <a:buClrTx/>
              <a:buSzTx/>
              <a:buFontTx/>
              <a:buNone/>
              <a:tabLst/>
              <a:defRPr/>
            </a:pPr>
            <a:r>
              <a:rPr lang="en-US" sz="1120">
                <a:solidFill>
                  <a:schemeClr val="bg1"/>
                </a:solidFill>
                <a:latin typeface="Source Sans 3" panose="020B0504040101010104" pitchFamily="34" charset="77"/>
              </a:rPr>
              <a:t>Unreliable data
limits AI decisions</a:t>
            </a:r>
            <a:br>
              <a:rPr lang="en-US" sz="1200">
                <a:solidFill>
                  <a:schemeClr val="bg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12" name="TextBox 11">
            <a:extLst>
              <a:ext uri="{FF2B5EF4-FFF2-40B4-BE49-F238E27FC236}">
                <a16:creationId xmlns:a16="http://schemas.microsoft.com/office/drawing/2014/main" id="{47760784-193C-A011-1061-19E8BA431D1E}"/>
              </a:ext>
            </a:extLst>
          </p:cNvPr>
          <p:cNvSpPr txBox="1">
            <a:spLocks noGrp="1" noRot="1" noMove="1" noResize="1" noEditPoints="1" noAdjustHandles="1" noChangeArrowheads="1" noChangeShapeType="1"/>
          </p:cNvSpPr>
          <p:nvPr/>
        </p:nvSpPr>
        <p:spPr>
          <a:xfrm>
            <a:off x="7230458" y="4237966"/>
            <a:ext cx="1922732" cy="461665"/>
          </a:xfrm>
          <a:prstGeom prst="rect">
            <a:avLst/>
          </a:prstGeom>
          <a:noFill/>
        </p:spPr>
        <p:txBody>
          <a:bodyPr wrap="square" rtlCol="0">
            <a:spAutoFit/>
          </a:bodyPr>
          <a:lstStyle/>
          <a:p>
            <a:pPr marL="0" marR="0" lvl="0" indent="0" algn="ctr" defTabSz="457040" rtl="0" eaLnBrk="1" fontAlgn="auto" latinLnBrk="0" hangingPunct="1">
              <a:spcBef>
                <a:spcPts val="0"/>
              </a:spcBef>
              <a:spcAft>
                <a:spcPts val="0"/>
              </a:spcAft>
              <a:buClrTx/>
              <a:buSzTx/>
              <a:buFontTx/>
              <a:buNone/>
              <a:tabLst/>
              <a:defRPr/>
            </a:pPr>
            <a:r>
              <a:rPr lang="en-US" sz="1120">
                <a:solidFill>
                  <a:schemeClr val="bg1"/>
                </a:solidFill>
                <a:latin typeface="Source Sans 3" panose="020B0504040101010104" pitchFamily="34" charset="77"/>
              </a:rPr>
              <a:t>Unapproved agents
expand risk</a:t>
            </a:r>
            <a:br>
              <a:rPr lang="en-US" sz="1200">
                <a:solidFill>
                  <a:schemeClr val="bg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13" name="TextBox 12">
            <a:extLst>
              <a:ext uri="{FF2B5EF4-FFF2-40B4-BE49-F238E27FC236}">
                <a16:creationId xmlns:a16="http://schemas.microsoft.com/office/drawing/2014/main" id="{A0A7360E-77F9-C0D6-1309-BC63BB2D9FA1}"/>
              </a:ext>
            </a:extLst>
          </p:cNvPr>
          <p:cNvSpPr txBox="1">
            <a:spLocks noGrp="1" noRot="1" noMove="1" noResize="1" noEditPoints="1" noAdjustHandles="1" noChangeArrowheads="1" noChangeShapeType="1"/>
          </p:cNvSpPr>
          <p:nvPr/>
        </p:nvSpPr>
        <p:spPr>
          <a:xfrm>
            <a:off x="5148916" y="4237966"/>
            <a:ext cx="1922732" cy="461665"/>
          </a:xfrm>
          <a:prstGeom prst="rect">
            <a:avLst/>
          </a:prstGeom>
          <a:noFill/>
        </p:spPr>
        <p:txBody>
          <a:bodyPr wrap="square" lIns="91440" tIns="45720" rIns="91440" bIns="45720" rtlCol="0" anchor="t">
            <a:spAutoFit/>
          </a:bodyPr>
          <a:lstStyle/>
          <a:p>
            <a:pPr algn="ctr">
              <a:defRPr/>
            </a:pPr>
            <a:r>
              <a:rPr lang="en-US" sz="1120">
                <a:solidFill>
                  <a:schemeClr val="bg1"/>
                </a:solidFill>
                <a:latin typeface="Source Sans 3"/>
              </a:rPr>
              <a:t>Knowledge and agents
lack clear owners</a:t>
            </a:r>
            <a:br>
              <a:rPr lang="en-US" sz="1200">
                <a:solidFill>
                  <a:schemeClr val="bg1"/>
                </a:solidFill>
                <a:latin typeface="Source Sans 3"/>
              </a:rPr>
            </a:br>
            <a:endParaRPr lang="en-US">
              <a:solidFill>
                <a:schemeClr val="bg1"/>
              </a:solidFill>
            </a:endParaRPr>
          </a:p>
        </p:txBody>
      </p:sp>
      <p:sp>
        <p:nvSpPr>
          <p:cNvPr id="14" name="TextBox 13">
            <a:extLst>
              <a:ext uri="{FF2B5EF4-FFF2-40B4-BE49-F238E27FC236}">
                <a16:creationId xmlns:a16="http://schemas.microsoft.com/office/drawing/2014/main" id="{1D0D27D0-41F5-5B08-2011-D69E3141EC13}"/>
              </a:ext>
            </a:extLst>
          </p:cNvPr>
          <p:cNvSpPr txBox="1">
            <a:spLocks noGrp="1" noRot="1" noMove="1" noResize="1" noEditPoints="1" noAdjustHandles="1" noChangeArrowheads="1" noChangeShapeType="1"/>
          </p:cNvSpPr>
          <p:nvPr/>
        </p:nvSpPr>
        <p:spPr>
          <a:xfrm>
            <a:off x="9262982" y="4237966"/>
            <a:ext cx="1922732" cy="461665"/>
          </a:xfrm>
          <a:prstGeom prst="rect">
            <a:avLst/>
          </a:prstGeom>
          <a:noFill/>
        </p:spPr>
        <p:txBody>
          <a:bodyPr wrap="square" rtlCol="0">
            <a:spAutoFit/>
          </a:bodyPr>
          <a:lstStyle/>
          <a:p>
            <a:pPr marL="0" marR="0" lvl="0" indent="0" algn="ctr" defTabSz="457040" rtl="0" eaLnBrk="1" fontAlgn="auto" latinLnBrk="0" hangingPunct="1">
              <a:spcBef>
                <a:spcPts val="0"/>
              </a:spcBef>
              <a:spcAft>
                <a:spcPts val="0"/>
              </a:spcAft>
              <a:buClrTx/>
              <a:buSzTx/>
              <a:buFontTx/>
              <a:buNone/>
              <a:tabLst/>
              <a:defRPr/>
            </a:pPr>
            <a:r>
              <a:rPr lang="en-US" sz="1120">
                <a:solidFill>
                  <a:schemeClr val="bg1"/>
                </a:solidFill>
                <a:latin typeface="Source Sans 3" panose="020B0504040101010104" pitchFamily="34" charset="77"/>
              </a:rPr>
              <a:t>Consumption and value
remain uncertain</a:t>
            </a:r>
            <a:br>
              <a:rPr lang="en-US" sz="1200">
                <a:solidFill>
                  <a:schemeClr val="bg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2" name="Rounded Rectangle 20">
            <a:extLst>
              <a:ext uri="{FF2B5EF4-FFF2-40B4-BE49-F238E27FC236}">
                <a16:creationId xmlns:a16="http://schemas.microsoft.com/office/drawing/2014/main" id="{D1645979-5D16-8E92-4796-CF3244BEC86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352541" y="3852994"/>
            <a:ext cx="1743613" cy="228540"/>
          </a:xfrm>
          <a:prstGeom prst="roundRect">
            <a:avLst>
              <a:gd name="adj" fmla="val 50000"/>
            </a:avLst>
          </a:prstGeom>
          <a:solidFill>
            <a:srgbClr val="F2F2F4"/>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sz="750" b="1">
                <a:solidFill>
                  <a:srgbClr val="040E3D"/>
                </a:solidFill>
                <a:latin typeface="Source Sans 3" panose="020B0504040101010104" pitchFamily="34" charset="77"/>
              </a:rPr>
              <a:t>Finance / Procurement</a:t>
            </a:r>
          </a:p>
        </p:txBody>
      </p:sp>
      <p:sp>
        <p:nvSpPr>
          <p:cNvPr id="15" name="Rounded Rectangle 20">
            <a:extLst>
              <a:ext uri="{FF2B5EF4-FFF2-40B4-BE49-F238E27FC236}">
                <a16:creationId xmlns:a16="http://schemas.microsoft.com/office/drawing/2014/main" id="{D104D6D9-56EC-8A24-22DA-8580AEE796B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287572" y="3852994"/>
            <a:ext cx="1743613" cy="228540"/>
          </a:xfrm>
          <a:prstGeom prst="roundRect">
            <a:avLst>
              <a:gd name="adj" fmla="val 50000"/>
            </a:avLst>
          </a:prstGeom>
          <a:solidFill>
            <a:srgbClr val="F2F2F4"/>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CISO</a:t>
            </a:r>
          </a:p>
        </p:txBody>
      </p:sp>
      <p:sp>
        <p:nvSpPr>
          <p:cNvPr id="16" name="Rounded Rectangle 20">
            <a:extLst>
              <a:ext uri="{FF2B5EF4-FFF2-40B4-BE49-F238E27FC236}">
                <a16:creationId xmlns:a16="http://schemas.microsoft.com/office/drawing/2014/main" id="{4502D141-6CF4-3D81-0FA8-CBA444B1315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225166" y="3852994"/>
            <a:ext cx="1743613" cy="228540"/>
          </a:xfrm>
          <a:prstGeom prst="roundRect">
            <a:avLst>
              <a:gd name="adj" fmla="val 50000"/>
            </a:avLst>
          </a:prstGeom>
          <a:solidFill>
            <a:srgbClr val="F2F2F4"/>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AI / Knowledge Lead</a:t>
            </a:r>
          </a:p>
        </p:txBody>
      </p:sp>
      <p:sp>
        <p:nvSpPr>
          <p:cNvPr id="19" name="Rounded Rectangle 20">
            <a:extLst>
              <a:ext uri="{FF2B5EF4-FFF2-40B4-BE49-F238E27FC236}">
                <a16:creationId xmlns:a16="http://schemas.microsoft.com/office/drawing/2014/main" id="{9D4835B6-4CE9-0012-CE62-F8C7B1F3927D}"/>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3157636" y="3852994"/>
            <a:ext cx="1743613" cy="228540"/>
          </a:xfrm>
          <a:prstGeom prst="roundRect">
            <a:avLst>
              <a:gd name="adj" fmla="val 50000"/>
            </a:avLst>
          </a:prstGeom>
          <a:solidFill>
            <a:srgbClr val="F2F2F4"/>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Platform Owner</a:t>
            </a:r>
          </a:p>
        </p:txBody>
      </p:sp>
      <p:sp>
        <p:nvSpPr>
          <p:cNvPr id="20" name="Rounded Rectangle 20">
            <a:extLst>
              <a:ext uri="{FF2B5EF4-FFF2-40B4-BE49-F238E27FC236}">
                <a16:creationId xmlns:a16="http://schemas.microsoft.com/office/drawing/2014/main" id="{CDC60C8E-7E15-1185-A137-4C6FDF8E1E5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085688" y="3852994"/>
            <a:ext cx="1743613" cy="228540"/>
          </a:xfrm>
          <a:prstGeom prst="roundRect">
            <a:avLst>
              <a:gd name="adj" fmla="val 50000"/>
            </a:avLst>
          </a:prstGeom>
          <a:solidFill>
            <a:srgbClr val="F2F2F4"/>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CIO</a:t>
            </a:r>
          </a:p>
        </p:txBody>
      </p:sp>
      <p:sp>
        <p:nvSpPr>
          <p:cNvPr id="21" name="Rectangle 20">
            <a:extLst>
              <a:ext uri="{FF2B5EF4-FFF2-40B4-BE49-F238E27FC236}">
                <a16:creationId xmlns:a16="http://schemas.microsoft.com/office/drawing/2014/main" id="{C83AE428-7511-4DA7-6524-346017F53239}"/>
              </a:ext>
            </a:extLst>
          </p:cNvPr>
          <p:cNvSpPr>
            <a:spLocks noGrp="1" noRot="1" noMove="1" noResize="1" noEditPoints="1" noAdjustHandles="1" noChangeArrowheads="1" noChangeShapeType="1"/>
          </p:cNvSpPr>
          <p:nvPr/>
        </p:nvSpPr>
        <p:spPr>
          <a:xfrm>
            <a:off x="-13388566" y="-49430"/>
            <a:ext cx="10548286" cy="6973564"/>
          </a:xfrm>
          <a:prstGeom prst="rect">
            <a:avLst/>
          </a:prstGeom>
          <a:gradFill>
            <a:gsLst>
              <a:gs pos="100000">
                <a:schemeClr val="accent1"/>
              </a:gs>
              <a:gs pos="38000">
                <a:srgbClr val="040E3D">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pic>
        <p:nvPicPr>
          <p:cNvPr id="52" name="Role icon 1 Service_Desk" descr="Service Desk icon"/>
          <p:cNvPicPr>
            <a:picLocks noChangeAspect="1"/>
          </p:cNvPicPr>
          <p:nvPr/>
        </p:nvPicPr>
        <p:blipFill>
          <a:blip r:embed="rId4"/>
          <a:stretch>
            <a:fillRect/>
          </a:stretch>
        </p:blipFill>
        <p:spPr>
          <a:xfrm>
            <a:off x="1444751" y="2601468"/>
            <a:ext cx="1051560" cy="1051560"/>
          </a:xfrm>
          <a:prstGeom prst="rect">
            <a:avLst/>
          </a:prstGeom>
        </p:spPr>
      </p:pic>
      <p:pic>
        <p:nvPicPr>
          <p:cNvPr id="53" name="Role icon 2 Platform_Admin" descr="Platform Admin icon"/>
          <p:cNvPicPr>
            <a:picLocks noChangeAspect="1"/>
          </p:cNvPicPr>
          <p:nvPr/>
        </p:nvPicPr>
        <p:blipFill>
          <a:blip r:embed="rId5"/>
          <a:stretch>
            <a:fillRect/>
          </a:stretch>
        </p:blipFill>
        <p:spPr>
          <a:xfrm>
            <a:off x="3502152" y="2601468"/>
            <a:ext cx="1051560" cy="1051560"/>
          </a:xfrm>
          <a:prstGeom prst="rect">
            <a:avLst/>
          </a:prstGeom>
        </p:spPr>
      </p:pic>
      <p:pic>
        <p:nvPicPr>
          <p:cNvPr id="54" name="Role icon 3 AI_Compass" descr="AI Compass icon"/>
          <p:cNvPicPr>
            <a:picLocks noChangeAspect="1"/>
          </p:cNvPicPr>
          <p:nvPr/>
        </p:nvPicPr>
        <p:blipFill>
          <a:blip r:embed="rId6"/>
          <a:stretch>
            <a:fillRect/>
          </a:stretch>
        </p:blipFill>
        <p:spPr>
          <a:xfrm>
            <a:off x="5568696" y="2601468"/>
            <a:ext cx="1051560" cy="1051560"/>
          </a:xfrm>
          <a:prstGeom prst="rect">
            <a:avLst/>
          </a:prstGeom>
        </p:spPr>
      </p:pic>
      <p:pic>
        <p:nvPicPr>
          <p:cNvPr id="55" name="Role icon 4 Compliance" descr="Compliance icon"/>
          <p:cNvPicPr>
            <a:picLocks noChangeAspect="1"/>
          </p:cNvPicPr>
          <p:nvPr/>
        </p:nvPicPr>
        <p:blipFill>
          <a:blip r:embed="rId7"/>
          <a:stretch>
            <a:fillRect/>
          </a:stretch>
        </p:blipFill>
        <p:spPr>
          <a:xfrm>
            <a:off x="7635240" y="2601468"/>
            <a:ext cx="1051560" cy="1051560"/>
          </a:xfrm>
          <a:prstGeom prst="rect">
            <a:avLst/>
          </a:prstGeom>
        </p:spPr>
      </p:pic>
      <p:pic>
        <p:nvPicPr>
          <p:cNvPr id="56" name="Role icon 5 Finance_Team" descr="Finance Team icon"/>
          <p:cNvPicPr>
            <a:picLocks noChangeAspect="1"/>
          </p:cNvPicPr>
          <p:nvPr/>
        </p:nvPicPr>
        <p:blipFill>
          <a:blip r:embed="rId8"/>
          <a:stretch>
            <a:fillRect/>
          </a:stretch>
        </p:blipFill>
        <p:spPr>
          <a:xfrm>
            <a:off x="9701784" y="2601468"/>
            <a:ext cx="1051560" cy="1051560"/>
          </a:xfrm>
          <a:prstGeom prst="rect">
            <a:avLst/>
          </a:prstGeom>
        </p:spPr>
      </p:pic>
      <p:sp>
        <p:nvSpPr>
          <p:cNvPr id="57" name="Alert badge 1" descr="Red alert"/>
          <p:cNvSpPr/>
          <p:nvPr/>
        </p:nvSpPr>
        <p:spPr>
          <a:xfrm>
            <a:off x="2202789" y="2560320"/>
            <a:ext cx="292608" cy="292608"/>
          </a:xfrm>
          <a:prstGeom prst="ellipse">
            <a:avLst/>
          </a:prstGeom>
          <a:solidFill>
            <a:srgbClr val="F65275"/>
          </a:solidFill>
          <a:ln w="12700">
            <a:solidFill>
              <a:srgbClr val="040E3D"/>
            </a:solidFill>
          </a:ln>
        </p:spPr>
        <p:txBody>
          <a:bodyPr wrap="none" lIns="0" tIns="0" rIns="0" bIns="0" anchor="ctr" anchorCtr="1">
            <a:noAutofit/>
          </a:bodyPr>
          <a:lstStyle/>
          <a:p>
            <a:pPr algn="ctr"/>
            <a:r>
              <a:rPr lang="en-GB" sz="1400" b="1">
                <a:solidFill>
                  <a:srgbClr val="FFFFFF"/>
                </a:solidFill>
                <a:latin typeface="Source Sans 3"/>
              </a:rPr>
              <a:t>!</a:t>
            </a:r>
          </a:p>
        </p:txBody>
      </p:sp>
      <p:sp>
        <p:nvSpPr>
          <p:cNvPr id="58" name="Alert badge 2" descr="Red alert"/>
          <p:cNvSpPr/>
          <p:nvPr/>
        </p:nvSpPr>
        <p:spPr>
          <a:xfrm>
            <a:off x="4260189" y="2560320"/>
            <a:ext cx="292608" cy="292608"/>
          </a:xfrm>
          <a:prstGeom prst="ellipse">
            <a:avLst/>
          </a:prstGeom>
          <a:solidFill>
            <a:srgbClr val="F65275"/>
          </a:solidFill>
          <a:ln w="12700">
            <a:solidFill>
              <a:srgbClr val="040E3D"/>
            </a:solidFill>
          </a:ln>
        </p:spPr>
        <p:txBody>
          <a:bodyPr wrap="none" lIns="0" tIns="0" rIns="0" bIns="0" anchor="ctr" anchorCtr="1">
            <a:noAutofit/>
          </a:bodyPr>
          <a:lstStyle/>
          <a:p>
            <a:pPr algn="ctr"/>
            <a:r>
              <a:rPr lang="en-GB" sz="1400" b="1">
                <a:solidFill>
                  <a:srgbClr val="FFFFFF"/>
                </a:solidFill>
                <a:latin typeface="Source Sans 3"/>
              </a:rPr>
              <a:t>!</a:t>
            </a:r>
          </a:p>
        </p:txBody>
      </p:sp>
      <p:sp>
        <p:nvSpPr>
          <p:cNvPr id="59" name="Alert badge 3" descr="Red alert"/>
          <p:cNvSpPr/>
          <p:nvPr/>
        </p:nvSpPr>
        <p:spPr>
          <a:xfrm>
            <a:off x="6326733" y="2560320"/>
            <a:ext cx="292608" cy="292608"/>
          </a:xfrm>
          <a:prstGeom prst="ellipse">
            <a:avLst/>
          </a:prstGeom>
          <a:solidFill>
            <a:srgbClr val="F65275"/>
          </a:solidFill>
          <a:ln w="12700">
            <a:solidFill>
              <a:srgbClr val="040E3D"/>
            </a:solidFill>
          </a:ln>
        </p:spPr>
        <p:txBody>
          <a:bodyPr wrap="none" lIns="0" tIns="0" rIns="0" bIns="0" anchor="ctr" anchorCtr="1">
            <a:noAutofit/>
          </a:bodyPr>
          <a:lstStyle/>
          <a:p>
            <a:pPr algn="ctr"/>
            <a:r>
              <a:rPr lang="en-GB" sz="1400" b="1">
                <a:solidFill>
                  <a:srgbClr val="FFFFFF"/>
                </a:solidFill>
                <a:latin typeface="Source Sans 3"/>
              </a:rPr>
              <a:t>!</a:t>
            </a:r>
          </a:p>
        </p:txBody>
      </p:sp>
      <p:sp>
        <p:nvSpPr>
          <p:cNvPr id="60" name="Alert badge 4" descr="Red alert"/>
          <p:cNvSpPr/>
          <p:nvPr/>
        </p:nvSpPr>
        <p:spPr>
          <a:xfrm>
            <a:off x="8393277" y="2560320"/>
            <a:ext cx="292608" cy="292608"/>
          </a:xfrm>
          <a:prstGeom prst="ellipse">
            <a:avLst/>
          </a:prstGeom>
          <a:solidFill>
            <a:srgbClr val="F65275"/>
          </a:solidFill>
          <a:ln w="12700">
            <a:solidFill>
              <a:srgbClr val="040E3D"/>
            </a:solidFill>
          </a:ln>
        </p:spPr>
        <p:txBody>
          <a:bodyPr wrap="none" lIns="0" tIns="0" rIns="0" bIns="0" anchor="ctr" anchorCtr="1">
            <a:noAutofit/>
          </a:bodyPr>
          <a:lstStyle/>
          <a:p>
            <a:pPr algn="ctr"/>
            <a:r>
              <a:rPr lang="en-GB" sz="1400" b="1">
                <a:solidFill>
                  <a:srgbClr val="FFFFFF"/>
                </a:solidFill>
                <a:latin typeface="Source Sans 3"/>
              </a:rPr>
              <a:t>!</a:t>
            </a:r>
          </a:p>
        </p:txBody>
      </p:sp>
      <p:sp>
        <p:nvSpPr>
          <p:cNvPr id="61" name="Alert badge 5" descr="Red alert"/>
          <p:cNvSpPr/>
          <p:nvPr/>
        </p:nvSpPr>
        <p:spPr>
          <a:xfrm>
            <a:off x="10459821" y="2560320"/>
            <a:ext cx="292608" cy="292608"/>
          </a:xfrm>
          <a:prstGeom prst="ellipse">
            <a:avLst/>
          </a:prstGeom>
          <a:solidFill>
            <a:srgbClr val="F65275"/>
          </a:solidFill>
          <a:ln w="12700">
            <a:solidFill>
              <a:srgbClr val="040E3D"/>
            </a:solidFill>
          </a:ln>
        </p:spPr>
        <p:txBody>
          <a:bodyPr wrap="none" lIns="0" tIns="0" rIns="0" bIns="0" anchor="ctr" anchorCtr="1">
            <a:noAutofit/>
          </a:bodyPr>
          <a:lstStyle/>
          <a:p>
            <a:pPr algn="ctr"/>
            <a:r>
              <a:rPr lang="en-GB" sz="1400" b="1">
                <a:solidFill>
                  <a:srgbClr val="FFFFFF"/>
                </a:solidFill>
                <a:latin typeface="Source Sans 3"/>
              </a:rPr>
              <a:t>!</a:t>
            </a:r>
          </a:p>
        </p:txBody>
      </p:sp>
    </p:spTree>
    <p:extLst>
      <p:ext uri="{BB962C8B-B14F-4D97-AF65-F5344CB8AC3E}">
        <p14:creationId xmlns:p14="http://schemas.microsoft.com/office/powerpoint/2010/main" val="3650945303"/>
      </p:ext>
    </p:extLst>
  </p:cSld>
  <p:clrMapOvr>
    <a:masterClrMapping/>
  </p:clrMapOvr>
  <p:transition spd="slow">
    <p:strips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5CD5A-1281-1554-B8FF-759602146033}"/>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E98209F9-DD1C-02DD-B469-4E8F368F2434}"/>
              </a:ext>
            </a:extLst>
          </p:cNvPr>
          <p:cNvSpPr>
            <a:spLocks noGrp="1" noRot="1" noMove="1" noResize="1" noEditPoints="1" noAdjustHandles="1" noChangeArrowheads="1" noChangeShapeType="1"/>
          </p:cNvSpPr>
          <p:nvPr/>
        </p:nvSpPr>
        <p:spPr>
          <a:xfrm>
            <a:off x="552306" y="2051905"/>
            <a:ext cx="11084213" cy="3827425"/>
          </a:xfrm>
          <a:prstGeom prst="roundRect">
            <a:avLst>
              <a:gd name="adj" fmla="val 9566"/>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903"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Source Sans 3" panose="020B0504040101010104" pitchFamily="34" charset="77"/>
              <a:ea typeface="+mn-ea"/>
              <a:cs typeface="+mn-cs"/>
            </a:endParaRPr>
          </a:p>
        </p:txBody>
      </p:sp>
      <p:sp>
        <p:nvSpPr>
          <p:cNvPr id="29" name="Rounded Rectangle 2">
            <a:extLst>
              <a:ext uri="{FF2B5EF4-FFF2-40B4-BE49-F238E27FC236}">
                <a16:creationId xmlns:a16="http://schemas.microsoft.com/office/drawing/2014/main" id="{B41A9C76-4218-37F9-2C8E-EF491501B791}"/>
              </a:ext>
            </a:extLst>
          </p:cNvPr>
          <p:cNvSpPr>
            <a:spLocks noGrp="1" noRot="1" noMove="1" noResize="1" noEditPoints="1" noAdjustHandles="1" noChangeArrowheads="1" noChangeShapeType="1"/>
          </p:cNvSpPr>
          <p:nvPr/>
        </p:nvSpPr>
        <p:spPr>
          <a:xfrm>
            <a:off x="1011045"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panose="020B0404040101010104" pitchFamily="34" charset="77"/>
            </a:endParaRPr>
          </a:p>
        </p:txBody>
      </p:sp>
      <p:sp>
        <p:nvSpPr>
          <p:cNvPr id="43" name="Rounded Rectangle 2">
            <a:extLst>
              <a:ext uri="{FF2B5EF4-FFF2-40B4-BE49-F238E27FC236}">
                <a16:creationId xmlns:a16="http://schemas.microsoft.com/office/drawing/2014/main" id="{59DE5DC1-1863-F478-6F12-428BD039003C}"/>
              </a:ext>
            </a:extLst>
          </p:cNvPr>
          <p:cNvSpPr>
            <a:spLocks noGrp="1" noRot="1" noMove="1" noResize="1" noEditPoints="1" noAdjustHandles="1" noChangeArrowheads="1" noChangeShapeType="1"/>
          </p:cNvSpPr>
          <p:nvPr/>
        </p:nvSpPr>
        <p:spPr>
          <a:xfrm>
            <a:off x="3076013"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panose="020B0404040101010104" pitchFamily="34" charset="77"/>
            </a:endParaRPr>
          </a:p>
        </p:txBody>
      </p:sp>
      <p:sp>
        <p:nvSpPr>
          <p:cNvPr id="47" name="Rounded Rectangle 2">
            <a:extLst>
              <a:ext uri="{FF2B5EF4-FFF2-40B4-BE49-F238E27FC236}">
                <a16:creationId xmlns:a16="http://schemas.microsoft.com/office/drawing/2014/main" id="{E00A859E-2E09-4C1B-72EB-2D2DEB5A6B28}"/>
              </a:ext>
            </a:extLst>
          </p:cNvPr>
          <p:cNvSpPr>
            <a:spLocks noGrp="1" noRot="1" noMove="1" noResize="1" noEditPoints="1" noAdjustHandles="1" noChangeArrowheads="1" noChangeShapeType="1"/>
          </p:cNvSpPr>
          <p:nvPr/>
        </p:nvSpPr>
        <p:spPr>
          <a:xfrm>
            <a:off x="5140981"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panose="020B0404040101010104" pitchFamily="34" charset="77"/>
            </a:endParaRPr>
          </a:p>
        </p:txBody>
      </p:sp>
      <p:sp>
        <p:nvSpPr>
          <p:cNvPr id="51" name="Rounded Rectangle 2">
            <a:extLst>
              <a:ext uri="{FF2B5EF4-FFF2-40B4-BE49-F238E27FC236}">
                <a16:creationId xmlns:a16="http://schemas.microsoft.com/office/drawing/2014/main" id="{15B950C3-39AE-5006-26EF-BDEB2E59535C}"/>
              </a:ext>
            </a:extLst>
          </p:cNvPr>
          <p:cNvSpPr>
            <a:spLocks noGrp="1" noRot="1" noMove="1" noResize="1" noEditPoints="1" noAdjustHandles="1" noChangeArrowheads="1" noChangeShapeType="1"/>
          </p:cNvSpPr>
          <p:nvPr/>
        </p:nvSpPr>
        <p:spPr>
          <a:xfrm>
            <a:off x="7205949"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panose="020B0404040101010104" pitchFamily="34" charset="77"/>
            </a:endParaRPr>
          </a:p>
        </p:txBody>
      </p:sp>
      <p:sp>
        <p:nvSpPr>
          <p:cNvPr id="5" name="Rounded Rectangle 2">
            <a:extLst>
              <a:ext uri="{FF2B5EF4-FFF2-40B4-BE49-F238E27FC236}">
                <a16:creationId xmlns:a16="http://schemas.microsoft.com/office/drawing/2014/main" id="{53F7E0F9-EE5A-E55D-3444-C0139FDEE686}"/>
              </a:ext>
            </a:extLst>
          </p:cNvPr>
          <p:cNvSpPr>
            <a:spLocks noGrp="1" noRot="1" noMove="1" noResize="1" noEditPoints="1" noAdjustHandles="1" noChangeArrowheads="1" noChangeShapeType="1"/>
          </p:cNvSpPr>
          <p:nvPr/>
        </p:nvSpPr>
        <p:spPr>
          <a:xfrm>
            <a:off x="9270918" y="2457178"/>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panose="020B0404040101010104" pitchFamily="34" charset="77"/>
            </a:endParaRPr>
          </a:p>
        </p:txBody>
      </p:sp>
      <p:sp>
        <p:nvSpPr>
          <p:cNvPr id="34" name="Title 1">
            <a:extLst>
              <a:ext uri="{FF2B5EF4-FFF2-40B4-BE49-F238E27FC236}">
                <a16:creationId xmlns:a16="http://schemas.microsoft.com/office/drawing/2014/main" id="{47455535-5479-B18D-DB32-8E7EF8AF368D}"/>
              </a:ext>
            </a:extLst>
          </p:cNvPr>
          <p:cNvSpPr txBox="1">
            <a:spLocks noGrp="1" noRot="1" noMove="1" noResize="1" noEditPoints="1" noAdjustHandles="1" noChangeArrowheads="1" noChangeShapeType="1"/>
          </p:cNvSpPr>
          <p:nvPr/>
        </p:nvSpPr>
        <p:spPr>
          <a:xfrm>
            <a:off x="811177" y="1049691"/>
            <a:ext cx="10566472" cy="647093"/>
          </a:xfrm>
          <a:prstGeom prst="rect">
            <a:avLst/>
          </a:prstGeom>
        </p:spPr>
        <p:txBody>
          <a:bodyPr vert="horz" lIns="0" tIns="0" rIns="0" bIns="0" rtlCol="0" anchor="b" anchorCtr="0">
            <a:noAutofit/>
          </a:bodyPr>
          <a:lstStyle>
            <a:defPPr>
              <a:defRPr lang="en-US"/>
            </a:defPPr>
            <a:lvl1pPr algn="ctr">
              <a:lnSpc>
                <a:spcPct val="85000"/>
              </a:lnSpc>
              <a:spcBef>
                <a:spcPct val="0"/>
              </a:spcBef>
              <a:buNone/>
              <a:tabLst>
                <a:tab pos="398463" algn="l"/>
              </a:tabLst>
              <a:defRPr sz="4800" b="1" i="0" spc="0" baseline="0">
                <a:solidFill>
                  <a:schemeClr val="accent1"/>
                </a:solidFill>
                <a:latin typeface="+mj-lt"/>
                <a:ea typeface="+mj-ea"/>
                <a:cs typeface="Source Sans 3" panose="020B0504040101010104" pitchFamily="34" charset="77"/>
              </a:defRPr>
            </a:lvl1pPr>
          </a:lstStyle>
          <a:p>
            <a:pPr marL="0" marR="0" lvl="0" indent="0" algn="ctr" defTabSz="457040" rtl="0" eaLnBrk="1" fontAlgn="auto" latinLnBrk="0" hangingPunct="1">
              <a:lnSpc>
                <a:spcPct val="85000"/>
              </a:lnSpc>
              <a:spcBef>
                <a:spcPct val="0"/>
              </a:spcBef>
              <a:spcAft>
                <a:spcPts val="0"/>
              </a:spcAft>
              <a:buClrTx/>
              <a:buSzTx/>
              <a:buFontTx/>
              <a:buNone/>
              <a:tabLst>
                <a:tab pos="398463" algn="l"/>
              </a:tabLst>
              <a:defRPr/>
            </a:pPr>
            <a:r>
              <a:rPr lang="en-US" dirty="0">
                <a:latin typeface="Source Sans 3"/>
              </a:rPr>
              <a:t>Autonomous IT</a:t>
            </a:r>
            <a:r>
              <a:rPr kumimoji="0" lang="en-US" b="1" i="0" u="none" strike="noStrike" kern="1200" cap="none" spc="0" normalizeH="0" baseline="0" noProof="0" dirty="0">
                <a:ln>
                  <a:noFill/>
                </a:ln>
                <a:effectLst/>
                <a:uLnTx/>
                <a:uFillTx/>
                <a:latin typeface="Source Sans 3"/>
                <a:ea typeface="+mj-ea"/>
              </a:rPr>
              <a:t> is the promise. </a:t>
            </a:r>
            <a:br>
              <a:rPr kumimoji="0" lang="en-US" b="1" i="0" u="none" strike="noStrike" kern="1200" cap="none" spc="0" normalizeH="0" baseline="0" noProof="0" dirty="0">
                <a:ln>
                  <a:noFill/>
                </a:ln>
                <a:solidFill>
                  <a:schemeClr val="accent4"/>
                </a:solidFill>
                <a:effectLst/>
                <a:uLnTx/>
                <a:uFillTx/>
                <a:latin typeface="Source Sans 3"/>
                <a:ea typeface="+mj-ea"/>
              </a:rPr>
            </a:br>
            <a:r>
              <a:rPr kumimoji="0" lang="en-US" b="1" i="0" u="none" strike="noStrike" kern="1200" cap="none" spc="0" normalizeH="0" baseline="0" noProof="0" dirty="0">
                <a:ln>
                  <a:noFill/>
                </a:ln>
                <a:solidFill>
                  <a:schemeClr val="bg2"/>
                </a:solidFill>
                <a:effectLst/>
                <a:uLnTx/>
                <a:uFillTx/>
                <a:latin typeface="Source Sans 3"/>
                <a:ea typeface="+mj-ea"/>
              </a:rPr>
              <a:t>Readiness makes it real.</a:t>
            </a:r>
          </a:p>
        </p:txBody>
      </p:sp>
      <p:sp>
        <p:nvSpPr>
          <p:cNvPr id="17" name="Footer Placeholder 4">
            <a:extLst>
              <a:ext uri="{FF2B5EF4-FFF2-40B4-BE49-F238E27FC236}">
                <a16:creationId xmlns:a16="http://schemas.microsoft.com/office/drawing/2014/main" id="{1FC14FFF-04D3-882A-B6C0-1A5794F6DE20}"/>
              </a:ext>
            </a:extLst>
          </p:cNvPr>
          <p:cNvSpPr txBox="1">
            <a:spLocks noGrp="1" noRot="1" noMove="1" noResize="1" noEditPoints="1" noAdjustHandles="1" noChangeArrowheads="1" noChangeShapeType="1"/>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sp>
        <p:nvSpPr>
          <p:cNvPr id="30" name="TextBox 29">
            <a:extLst>
              <a:ext uri="{FF2B5EF4-FFF2-40B4-BE49-F238E27FC236}">
                <a16:creationId xmlns:a16="http://schemas.microsoft.com/office/drawing/2014/main" id="{224518C4-3693-F89F-6398-B24E362F993D}"/>
              </a:ext>
            </a:extLst>
          </p:cNvPr>
          <p:cNvSpPr txBox="1">
            <a:spLocks noGrp="1" noRot="1" noMove="1" noResize="1" noEditPoints="1" noAdjustHandles="1" noChangeArrowheads="1" noChangeShapeType="1"/>
          </p:cNvSpPr>
          <p:nvPr/>
        </p:nvSpPr>
        <p:spPr>
          <a:xfrm>
            <a:off x="2984773" y="5254424"/>
            <a:ext cx="6219278" cy="819843"/>
          </a:xfrm>
          <a:prstGeom prst="rect">
            <a:avLst/>
          </a:prstGeom>
        </p:spPr>
        <p:txBody>
          <a:bodyPr vert="horz" lIns="0" tIns="0" rIns="0" bIns="0" rtlCol="0" anchor="t" anchorCtr="0">
            <a:noAutofit/>
          </a:bodyPr>
          <a:lstStyle>
            <a:defPPr>
              <a:defRPr lang="en-US"/>
            </a:defPPr>
            <a:lvl1pPr>
              <a:lnSpc>
                <a:spcPct val="85000"/>
              </a:lnSpc>
              <a:spcBef>
                <a:spcPct val="0"/>
              </a:spcBef>
              <a:buNone/>
              <a:tabLst>
                <a:tab pos="398463" algn="l"/>
              </a:tabLst>
              <a:defRPr sz="4400" b="0" i="0" spc="0" baseline="0">
                <a:solidFill>
                  <a:schemeClr val="accent1"/>
                </a:solidFill>
                <a:latin typeface="Source Sans 3" panose="020B0504040101010104" pitchFamily="34" charset="77"/>
                <a:ea typeface="+mj-ea"/>
                <a:cs typeface="Source Sans 3" panose="020B0504040101010104" pitchFamily="34" charset="77"/>
              </a:defRPr>
            </a:lvl1pPr>
          </a:lstStyle>
          <a:p>
            <a:pPr algn="ctr" defTabSz="914126">
              <a:tabLst>
                <a:tab pos="398343" algn="l"/>
              </a:tabLst>
            </a:pPr>
            <a:r>
              <a:rPr lang="en-US" sz="2400" b="1">
                <a:latin typeface="Source Sans 3" panose="020B0504040101010104" pitchFamily="34" charset="77"/>
              </a:rPr>
              <a:t>Evidence creates </a:t>
            </a:r>
            <a:r>
              <a:rPr lang="en-US" sz="2400" b="1">
                <a:solidFill>
                  <a:schemeClr val="bg1"/>
                </a:solidFill>
                <a:latin typeface="Source Sans 3" panose="020B0504040101010104" pitchFamily="34" charset="77"/>
              </a:rPr>
              <a:t>permission to act.</a:t>
            </a:r>
          </a:p>
        </p:txBody>
      </p:sp>
      <p:sp>
        <p:nvSpPr>
          <p:cNvPr id="25" name="TextBox 24">
            <a:extLst>
              <a:ext uri="{FF2B5EF4-FFF2-40B4-BE49-F238E27FC236}">
                <a16:creationId xmlns:a16="http://schemas.microsoft.com/office/drawing/2014/main" id="{1D3FA5EE-7ADE-5C53-D5B7-6304635E2391}"/>
              </a:ext>
            </a:extLst>
          </p:cNvPr>
          <p:cNvSpPr txBox="1">
            <a:spLocks noGrp="1" noRot="1" noMove="1" noResize="1" noEditPoints="1" noAdjustHandles="1" noChangeArrowheads="1" noChangeShapeType="1"/>
          </p:cNvSpPr>
          <p:nvPr/>
        </p:nvSpPr>
        <p:spPr>
          <a:xfrm>
            <a:off x="1574266" y="2988797"/>
            <a:ext cx="780419" cy="830997"/>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5500" b="1" i="0" u="none" strike="noStrike" kern="1200" cap="none" spc="0" normalizeH="0" baseline="0" noProof="0">
                <a:ln>
                  <a:noFill/>
                </a:ln>
                <a:solidFill>
                  <a:srgbClr val="8FFFDB">
                    <a:alpha val="0"/>
                  </a:srgbClr>
                </a:solidFill>
                <a:effectLst/>
                <a:uLnTx/>
                <a:uFillTx/>
                <a:latin typeface="Source Sans 3" panose="020B0504040101010104" pitchFamily="34" charset="77"/>
                <a:ea typeface="+mn-ea"/>
                <a:cs typeface="Source Sans 3" panose="020B0604040101010104" pitchFamily="34" charset="0"/>
              </a:rPr>
              <a:t>✓</a:t>
            </a:r>
          </a:p>
        </p:txBody>
      </p:sp>
      <p:sp>
        <p:nvSpPr>
          <p:cNvPr id="26" name="TextBox 25">
            <a:extLst>
              <a:ext uri="{FF2B5EF4-FFF2-40B4-BE49-F238E27FC236}">
                <a16:creationId xmlns:a16="http://schemas.microsoft.com/office/drawing/2014/main" id="{870C1207-C841-F117-077C-435F709E3D87}"/>
              </a:ext>
            </a:extLst>
          </p:cNvPr>
          <p:cNvSpPr txBox="1">
            <a:spLocks noGrp="1" noRot="1" noMove="1" noResize="1" noEditPoints="1" noAdjustHandles="1" noChangeArrowheads="1" noChangeShapeType="1"/>
          </p:cNvSpPr>
          <p:nvPr/>
        </p:nvSpPr>
        <p:spPr>
          <a:xfrm>
            <a:off x="3639234" y="2988797"/>
            <a:ext cx="780419" cy="830997"/>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5500" b="1" i="0" u="none" strike="noStrike" kern="1200" cap="none" spc="0" normalizeH="0" baseline="0" noProof="0">
                <a:ln>
                  <a:noFill/>
                </a:ln>
                <a:solidFill>
                  <a:srgbClr val="8FFFDB">
                    <a:alpha val="0"/>
                  </a:srgbClr>
                </a:solidFill>
                <a:effectLst/>
                <a:uLnTx/>
                <a:uFillTx/>
                <a:latin typeface="Source Sans 3" panose="020B0504040101010104" pitchFamily="34" charset="77"/>
                <a:ea typeface="+mn-ea"/>
                <a:cs typeface="Source Sans 3" panose="020B0604040101010104" pitchFamily="34" charset="0"/>
              </a:rPr>
              <a:t>✓</a:t>
            </a:r>
          </a:p>
        </p:txBody>
      </p:sp>
      <p:sp>
        <p:nvSpPr>
          <p:cNvPr id="27" name="TextBox 26">
            <a:extLst>
              <a:ext uri="{FF2B5EF4-FFF2-40B4-BE49-F238E27FC236}">
                <a16:creationId xmlns:a16="http://schemas.microsoft.com/office/drawing/2014/main" id="{EF8EE49E-CF4A-1126-3285-C1C0D4DAF615}"/>
              </a:ext>
            </a:extLst>
          </p:cNvPr>
          <p:cNvSpPr txBox="1">
            <a:spLocks noGrp="1" noRot="1" noMove="1" noResize="1" noEditPoints="1" noAdjustHandles="1" noChangeArrowheads="1" noChangeShapeType="1"/>
          </p:cNvSpPr>
          <p:nvPr/>
        </p:nvSpPr>
        <p:spPr>
          <a:xfrm>
            <a:off x="5704202" y="2988797"/>
            <a:ext cx="780419" cy="830997"/>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5500" b="1" i="0" u="none" strike="noStrike" kern="1200" cap="none" spc="0" normalizeH="0" baseline="0" noProof="0">
                <a:ln>
                  <a:noFill/>
                </a:ln>
                <a:solidFill>
                  <a:srgbClr val="8FFFDB">
                    <a:alpha val="0"/>
                  </a:srgbClr>
                </a:solidFill>
                <a:effectLst/>
                <a:uLnTx/>
                <a:uFillTx/>
                <a:latin typeface="Source Sans 3" panose="020B0504040101010104" pitchFamily="34" charset="77"/>
                <a:ea typeface="+mn-ea"/>
                <a:cs typeface="Source Sans 3" panose="020B0604040101010104" pitchFamily="34" charset="0"/>
              </a:rPr>
              <a:t>✓</a:t>
            </a:r>
          </a:p>
        </p:txBody>
      </p:sp>
      <p:sp>
        <p:nvSpPr>
          <p:cNvPr id="28" name="TextBox 27">
            <a:extLst>
              <a:ext uri="{FF2B5EF4-FFF2-40B4-BE49-F238E27FC236}">
                <a16:creationId xmlns:a16="http://schemas.microsoft.com/office/drawing/2014/main" id="{9AFE511F-802B-62BA-880D-FB61DC0AACD8}"/>
              </a:ext>
            </a:extLst>
          </p:cNvPr>
          <p:cNvSpPr txBox="1">
            <a:spLocks noGrp="1" noRot="1" noMove="1" noResize="1" noEditPoints="1" noAdjustHandles="1" noChangeArrowheads="1" noChangeShapeType="1"/>
          </p:cNvSpPr>
          <p:nvPr/>
        </p:nvSpPr>
        <p:spPr>
          <a:xfrm>
            <a:off x="7769170" y="2988797"/>
            <a:ext cx="780419" cy="830997"/>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5500" b="1" i="0" u="none" strike="noStrike" kern="1200" cap="none" spc="0" normalizeH="0" baseline="0" noProof="0">
                <a:ln>
                  <a:noFill/>
                </a:ln>
                <a:solidFill>
                  <a:srgbClr val="8FFFDB">
                    <a:alpha val="0"/>
                  </a:srgbClr>
                </a:solidFill>
                <a:effectLst/>
                <a:uLnTx/>
                <a:uFillTx/>
                <a:latin typeface="Source Sans 3" panose="020B0504040101010104" pitchFamily="34" charset="77"/>
                <a:ea typeface="+mn-ea"/>
                <a:cs typeface="Source Sans 3" panose="020B0604040101010104" pitchFamily="34" charset="0"/>
              </a:rPr>
              <a:t>✓</a:t>
            </a:r>
          </a:p>
        </p:txBody>
      </p:sp>
      <p:sp>
        <p:nvSpPr>
          <p:cNvPr id="38" name="TextBox 37">
            <a:extLst>
              <a:ext uri="{FF2B5EF4-FFF2-40B4-BE49-F238E27FC236}">
                <a16:creationId xmlns:a16="http://schemas.microsoft.com/office/drawing/2014/main" id="{2650ADB4-893E-F09D-BEB8-A7E33494ED4F}"/>
              </a:ext>
            </a:extLst>
          </p:cNvPr>
          <p:cNvSpPr txBox="1">
            <a:spLocks noGrp="1" noRot="1" noMove="1" noResize="1" noEditPoints="1" noAdjustHandles="1" noChangeArrowheads="1" noChangeShapeType="1"/>
          </p:cNvSpPr>
          <p:nvPr/>
        </p:nvSpPr>
        <p:spPr>
          <a:xfrm>
            <a:off x="9834139" y="2988797"/>
            <a:ext cx="780419" cy="830997"/>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5500" b="1" i="0" u="none" strike="noStrike" kern="1200" cap="none" spc="0" normalizeH="0" baseline="0" noProof="0">
                <a:ln>
                  <a:noFill/>
                </a:ln>
                <a:solidFill>
                  <a:srgbClr val="8FFFDB">
                    <a:alpha val="0"/>
                  </a:srgbClr>
                </a:solidFill>
                <a:effectLst/>
                <a:uLnTx/>
                <a:uFillTx/>
                <a:latin typeface="Source Sans 3" panose="020B0504040101010104" pitchFamily="34" charset="77"/>
                <a:ea typeface="+mn-ea"/>
                <a:cs typeface="Source Sans 3" panose="020B0604040101010104" pitchFamily="34" charset="0"/>
              </a:rPr>
              <a:t>✓</a:t>
            </a:r>
          </a:p>
        </p:txBody>
      </p:sp>
      <p:sp>
        <p:nvSpPr>
          <p:cNvPr id="48" name="Rounded Rectangle 20">
            <a:extLst>
              <a:ext uri="{FF2B5EF4-FFF2-40B4-BE49-F238E27FC236}">
                <a16:creationId xmlns:a16="http://schemas.microsoft.com/office/drawing/2014/main" id="{B461EEDD-F7F7-C3C1-F5CD-7D195ACDA497}"/>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352541" y="3852994"/>
            <a:ext cx="1743613" cy="228540"/>
          </a:xfrm>
          <a:prstGeom prst="roundRect">
            <a:avLst>
              <a:gd name="adj" fmla="val 50000"/>
            </a:avLst>
          </a:prstGeom>
          <a:solidFill>
            <a:srgbClr val="FBBF66"/>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sz="750" b="1">
                <a:solidFill>
                  <a:srgbClr val="040E3D"/>
                </a:solidFill>
                <a:latin typeface="Source Sans 3" panose="020B0504040101010104" pitchFamily="34" charset="77"/>
              </a:rPr>
              <a:t>Finance / Procurement</a:t>
            </a:r>
          </a:p>
        </p:txBody>
      </p:sp>
      <p:sp>
        <p:nvSpPr>
          <p:cNvPr id="55" name="Rounded Rectangle 20">
            <a:extLst>
              <a:ext uri="{FF2B5EF4-FFF2-40B4-BE49-F238E27FC236}">
                <a16:creationId xmlns:a16="http://schemas.microsoft.com/office/drawing/2014/main" id="{32ACAF86-1A21-AABA-6490-3B58A4CFA45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7287572" y="3852994"/>
            <a:ext cx="1743613" cy="228540"/>
          </a:xfrm>
          <a:prstGeom prst="roundRect">
            <a:avLst>
              <a:gd name="adj" fmla="val 50000"/>
            </a:avLst>
          </a:prstGeom>
          <a:solidFill>
            <a:srgbClr val="F24C6B"/>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CISO</a:t>
            </a:r>
          </a:p>
        </p:txBody>
      </p:sp>
      <p:sp>
        <p:nvSpPr>
          <p:cNvPr id="56" name="Rounded Rectangle 20">
            <a:extLst>
              <a:ext uri="{FF2B5EF4-FFF2-40B4-BE49-F238E27FC236}">
                <a16:creationId xmlns:a16="http://schemas.microsoft.com/office/drawing/2014/main" id="{DB1BDB8C-1566-ADD5-974E-E008800A28F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5225166" y="3852994"/>
            <a:ext cx="1743613" cy="228540"/>
          </a:xfrm>
          <a:prstGeom prst="roundRect">
            <a:avLst>
              <a:gd name="adj" fmla="val 50000"/>
            </a:avLst>
          </a:prstGeom>
          <a:solidFill>
            <a:srgbClr val="BC99FC"/>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AI / Knowledge Lead</a:t>
            </a:r>
          </a:p>
        </p:txBody>
      </p:sp>
      <p:sp>
        <p:nvSpPr>
          <p:cNvPr id="57" name="Rounded Rectangle 20">
            <a:extLst>
              <a:ext uri="{FF2B5EF4-FFF2-40B4-BE49-F238E27FC236}">
                <a16:creationId xmlns:a16="http://schemas.microsoft.com/office/drawing/2014/main" id="{46FDE78D-A437-2F43-4CF2-9AA63290E5B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3157636" y="3852994"/>
            <a:ext cx="1743613" cy="228540"/>
          </a:xfrm>
          <a:prstGeom prst="roundRect">
            <a:avLst>
              <a:gd name="adj" fmla="val 50000"/>
            </a:avLst>
          </a:prstGeom>
          <a:solidFill>
            <a:srgbClr val="87FFD7"/>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Platform Owner</a:t>
            </a:r>
          </a:p>
        </p:txBody>
      </p:sp>
      <p:sp>
        <p:nvSpPr>
          <p:cNvPr id="58" name="Rounded Rectangle 20">
            <a:extLst>
              <a:ext uri="{FF2B5EF4-FFF2-40B4-BE49-F238E27FC236}">
                <a16:creationId xmlns:a16="http://schemas.microsoft.com/office/drawing/2014/main" id="{CDE95925-7604-15F5-DF3C-41AD9184CC3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1085688" y="3852994"/>
            <a:ext cx="1743613" cy="228540"/>
          </a:xfrm>
          <a:prstGeom prst="roundRect">
            <a:avLst>
              <a:gd name="adj" fmla="val 50000"/>
            </a:avLst>
          </a:prstGeom>
          <a:solidFill>
            <a:srgbClr val="6DEDF5"/>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750" b="1">
                <a:solidFill>
                  <a:srgbClr val="040E3D"/>
                </a:solidFill>
                <a:latin typeface="Source Sans 3" panose="020B0504040101010104" pitchFamily="34" charset="77"/>
              </a:rPr>
              <a:t>CIO</a:t>
            </a:r>
          </a:p>
        </p:txBody>
      </p:sp>
      <p:sp>
        <p:nvSpPr>
          <p:cNvPr id="9" name="TextBox 8">
            <a:extLst>
              <a:ext uri="{FF2B5EF4-FFF2-40B4-BE49-F238E27FC236}">
                <a16:creationId xmlns:a16="http://schemas.microsoft.com/office/drawing/2014/main" id="{B62BD912-836E-4058-D78C-EED23AFB3672}"/>
              </a:ext>
            </a:extLst>
          </p:cNvPr>
          <p:cNvSpPr txBox="1">
            <a:spLocks noGrp="1" noRot="1" noMove="1" noResize="1" noEditPoints="1" noAdjustHandles="1" noChangeArrowheads="1" noChangeShapeType="1"/>
          </p:cNvSpPr>
          <p:nvPr/>
        </p:nvSpPr>
        <p:spPr>
          <a:xfrm>
            <a:off x="1003109" y="4237966"/>
            <a:ext cx="1922732" cy="461665"/>
          </a:xfrm>
          <a:prstGeom prst="rect">
            <a:avLst/>
          </a:prstGeom>
          <a:noFill/>
        </p:spPr>
        <p:txBody>
          <a:bodyPr wrap="square" rtlCol="0">
            <a:spAutoFit/>
          </a:bodyPr>
          <a:lstStyle/>
          <a:p>
            <a:pPr lvl="0" algn="ctr">
              <a:defRPr/>
            </a:pPr>
            <a:r>
              <a:rPr lang="en-US" sz="1120">
                <a:solidFill>
                  <a:schemeClr val="bg1"/>
                </a:solidFill>
                <a:latin typeface="Source Sans 3" panose="020B0504040101010104" pitchFamily="34" charset="77"/>
              </a:rPr>
              <a:t>A clear first
AI use case</a:t>
            </a:r>
            <a:br>
              <a:rPr lang="en-US" sz="1200">
                <a:solidFill>
                  <a:schemeClr val="bg1"/>
                </a:solidFill>
                <a:latin typeface="Source Sans 3" panose="020B0504040101010104" pitchFamily="34" charset="77"/>
              </a:rPr>
            </a:br>
            <a:endParaRPr lang="en-US" sz="1200">
              <a:solidFill>
                <a:schemeClr val="bg1"/>
              </a:solidFill>
              <a:latin typeface="Source Sans 3" panose="020B0504040101010104" pitchFamily="34" charset="77"/>
            </a:endParaRPr>
          </a:p>
        </p:txBody>
      </p:sp>
      <p:sp>
        <p:nvSpPr>
          <p:cNvPr id="16" name="TextBox 15">
            <a:extLst>
              <a:ext uri="{FF2B5EF4-FFF2-40B4-BE49-F238E27FC236}">
                <a16:creationId xmlns:a16="http://schemas.microsoft.com/office/drawing/2014/main" id="{57A97E45-57B1-B236-9855-9698F24CFF46}"/>
              </a:ext>
            </a:extLst>
          </p:cNvPr>
          <p:cNvSpPr txBox="1">
            <a:spLocks noGrp="1" noRot="1" noMove="1" noResize="1" noEditPoints="1" noAdjustHandles="1" noChangeArrowheads="1" noChangeShapeType="1"/>
          </p:cNvSpPr>
          <p:nvPr/>
        </p:nvSpPr>
        <p:spPr>
          <a:xfrm>
            <a:off x="3068077" y="4237966"/>
            <a:ext cx="1922732" cy="461665"/>
          </a:xfrm>
          <a:prstGeom prst="rect">
            <a:avLst/>
          </a:prstGeom>
          <a:noFill/>
        </p:spPr>
        <p:txBody>
          <a:bodyPr wrap="square" lIns="91440" tIns="45720" rIns="91440" bIns="45720" rtlCol="0" anchor="t">
            <a:spAutoFit/>
          </a:bodyPr>
          <a:lstStyle/>
          <a:p>
            <a:pPr algn="ctr">
              <a:defRPr/>
            </a:pPr>
            <a:r>
              <a:rPr lang="en-US" sz="1120">
                <a:solidFill>
                  <a:schemeClr val="bg1"/>
                </a:solidFill>
                <a:latin typeface="Source Sans 3"/>
              </a:rPr>
              <a:t>Dependable data
for action</a:t>
            </a:r>
            <a:br>
              <a:rPr lang="en-US" sz="1200">
                <a:solidFill>
                  <a:schemeClr val="bg1"/>
                </a:solidFill>
                <a:latin typeface="Source Sans 3"/>
              </a:rPr>
            </a:br>
            <a:endParaRPr lang="en-US"/>
          </a:p>
        </p:txBody>
      </p:sp>
      <p:sp>
        <p:nvSpPr>
          <p:cNvPr id="19" name="TextBox 18">
            <a:extLst>
              <a:ext uri="{FF2B5EF4-FFF2-40B4-BE49-F238E27FC236}">
                <a16:creationId xmlns:a16="http://schemas.microsoft.com/office/drawing/2014/main" id="{C9EDC73B-C7E3-D75C-D9E6-6DDC6B208162}"/>
              </a:ext>
            </a:extLst>
          </p:cNvPr>
          <p:cNvSpPr txBox="1">
            <a:spLocks noGrp="1" noRot="1" noMove="1" noResize="1" noEditPoints="1" noAdjustHandles="1" noChangeArrowheads="1" noChangeShapeType="1"/>
          </p:cNvSpPr>
          <p:nvPr/>
        </p:nvSpPr>
        <p:spPr>
          <a:xfrm>
            <a:off x="7230458" y="4237966"/>
            <a:ext cx="1922732" cy="461665"/>
          </a:xfrm>
          <a:prstGeom prst="rect">
            <a:avLst/>
          </a:prstGeom>
          <a:noFill/>
        </p:spPr>
        <p:txBody>
          <a:bodyPr wrap="square" lIns="0" tIns="0" rIns="0" bIns="0" rtlCol="0">
            <a:spAutoFit/>
          </a:bodyPr>
          <a:lstStyle/>
          <a:p>
            <a:pPr marL="0" marR="0" lvl="0" indent="0" algn="ctr" defTabSz="457040" rtl="0" eaLnBrk="1" fontAlgn="auto" latinLnBrk="0" hangingPunct="1">
              <a:spcBef>
                <a:spcPts val="0"/>
              </a:spcBef>
              <a:spcAft>
                <a:spcPts val="0"/>
              </a:spcAft>
              <a:buClrTx/>
              <a:buSzTx/>
              <a:buFontTx/>
              <a:buNone/>
              <a:tabLst/>
              <a:defRPr/>
            </a:pPr>
            <a:r>
              <a:rPr sz="1120">
                <a:solidFill>
                  <a:srgbClr val="FFFFFF"/>
                </a:solidFill>
                <a:latin typeface="Source Sans 3"/>
              </a:rPr>
              <a:t>Permission to act
within limits</a:t>
            </a:r>
          </a:p>
        </p:txBody>
      </p:sp>
      <p:sp>
        <p:nvSpPr>
          <p:cNvPr id="20" name="TextBox 19">
            <a:extLst>
              <a:ext uri="{FF2B5EF4-FFF2-40B4-BE49-F238E27FC236}">
                <a16:creationId xmlns:a16="http://schemas.microsoft.com/office/drawing/2014/main" id="{401FF13E-8D5A-D216-8F30-F256C345C84F}"/>
              </a:ext>
            </a:extLst>
          </p:cNvPr>
          <p:cNvSpPr txBox="1">
            <a:spLocks noGrp="1" noRot="1" noMove="1" noResize="1" noEditPoints="1" noAdjustHandles="1" noChangeArrowheads="1" noChangeShapeType="1"/>
          </p:cNvSpPr>
          <p:nvPr/>
        </p:nvSpPr>
        <p:spPr>
          <a:xfrm>
            <a:off x="5148916" y="4237966"/>
            <a:ext cx="1922732" cy="461665"/>
          </a:xfrm>
          <a:prstGeom prst="rect">
            <a:avLst/>
          </a:prstGeom>
          <a:noFill/>
        </p:spPr>
        <p:txBody>
          <a:bodyPr wrap="square" lIns="91440" tIns="45720" rIns="91440" bIns="45720" rtlCol="0" anchor="t">
            <a:spAutoFit/>
          </a:bodyPr>
          <a:lstStyle/>
          <a:p>
            <a:pPr algn="ctr">
              <a:defRPr/>
            </a:pPr>
            <a:r>
              <a:rPr lang="en-US" sz="1120">
                <a:solidFill>
                  <a:schemeClr val="bg1"/>
                </a:solidFill>
                <a:latin typeface="Source Sans 3"/>
              </a:rPr>
              <a:t>Owned knowledge
and agents</a:t>
            </a:r>
            <a:br>
              <a:rPr lang="en-US" sz="1200">
                <a:solidFill>
                  <a:schemeClr val="bg1"/>
                </a:solidFill>
                <a:latin typeface="Source Sans 3"/>
              </a:rPr>
            </a:br>
            <a:endParaRPr lang="en-US">
              <a:solidFill>
                <a:schemeClr val="bg1"/>
              </a:solidFill>
            </a:endParaRPr>
          </a:p>
        </p:txBody>
      </p:sp>
      <p:sp>
        <p:nvSpPr>
          <p:cNvPr id="21" name="TextBox 20">
            <a:extLst>
              <a:ext uri="{FF2B5EF4-FFF2-40B4-BE49-F238E27FC236}">
                <a16:creationId xmlns:a16="http://schemas.microsoft.com/office/drawing/2014/main" id="{C56D3BAF-0D09-0EE5-351B-CD9E23912BD4}"/>
              </a:ext>
            </a:extLst>
          </p:cNvPr>
          <p:cNvSpPr txBox="1">
            <a:spLocks noGrp="1" noRot="1" noMove="1" noResize="1" noEditPoints="1" noAdjustHandles="1" noChangeArrowheads="1" noChangeShapeType="1"/>
          </p:cNvSpPr>
          <p:nvPr/>
        </p:nvSpPr>
        <p:spPr>
          <a:xfrm>
            <a:off x="9262982" y="4237966"/>
            <a:ext cx="1922732" cy="461665"/>
          </a:xfrm>
          <a:prstGeom prst="rect">
            <a:avLst/>
          </a:prstGeom>
          <a:noFill/>
        </p:spPr>
        <p:txBody>
          <a:bodyPr wrap="square" rtlCol="0">
            <a:spAutoFit/>
          </a:bodyPr>
          <a:lstStyle/>
          <a:p>
            <a:pPr marL="0" marR="0" lvl="0" indent="0" algn="ctr" defTabSz="457040" rtl="0" eaLnBrk="1" fontAlgn="auto" latinLnBrk="0" hangingPunct="1">
              <a:spcBef>
                <a:spcPts val="0"/>
              </a:spcBef>
              <a:spcAft>
                <a:spcPts val="0"/>
              </a:spcAft>
              <a:buClrTx/>
              <a:buSzTx/>
              <a:buFontTx/>
              <a:buNone/>
              <a:tabLst/>
              <a:defRPr/>
            </a:pPr>
            <a:r>
              <a:rPr lang="en-US" sz="1120">
                <a:solidFill>
                  <a:schemeClr val="bg1"/>
                </a:solidFill>
                <a:latin typeface="Source Sans 3" panose="020B0504040101010104" pitchFamily="34" charset="77"/>
              </a:rPr>
              <a:t>Modeled usage
and business value</a:t>
            </a:r>
          </a:p>
        </p:txBody>
      </p:sp>
      <p:pic>
        <p:nvPicPr>
          <p:cNvPr id="22" name="Picture 21">
            <a:extLst>
              <a:ext uri="{FF2B5EF4-FFF2-40B4-BE49-F238E27FC236}">
                <a16:creationId xmlns:a16="http://schemas.microsoft.com/office/drawing/2014/main" id="{CB1E6999-6F9D-EA87-B5B6-22FCD5422AAE}"/>
              </a:ext>
            </a:extLst>
          </p:cNvPr>
          <p:cNvPicPr>
            <a:picLocks noGrp="1" noRot="1" noChangeAspect="1" noMove="1" noResize="1" noEditPoints="1" noAdjustHandles="1" noChangeArrowheads="1" noChangeShapeType="1" noCrop="1"/>
          </p:cNvPicPr>
          <p:nvPr/>
        </p:nvPicPr>
        <p:blipFill>
          <a:blip r:embed="rId4" cstate="screen">
            <a:extLst>
              <a:ext uri="{BEBA8EAE-BF5A-486C-A8C5-ECC9F3942E4B}">
                <a14:imgProps xmlns:a14="http://schemas.microsoft.com/office/drawing/2010/main">
                  <a14:imgLayer r:embed="rId5">
                    <a14:imgEffect>
                      <a14:brightnessContrast bright="10000" contrast="-20000"/>
                    </a14:imgEffect>
                  </a14:imgLayer>
                </a14:imgProps>
              </a:ext>
              <a:ext uri="{28A0092B-C50C-407E-A947-70E740481C1C}">
                <a14:useLocalDpi xmlns:a14="http://schemas.microsoft.com/office/drawing/2010/main"/>
              </a:ext>
            </a:extLst>
          </a:blip>
          <a:srcRect/>
          <a:stretch>
            <a:fillRect/>
          </a:stretch>
        </p:blipFill>
        <p:spPr>
          <a:xfrm>
            <a:off x="0" y="6341357"/>
            <a:ext cx="12188825" cy="1807728"/>
          </a:xfrm>
          <a:prstGeom prst="rect">
            <a:avLst/>
          </a:prstGeom>
        </p:spPr>
      </p:pic>
      <p:pic>
        <p:nvPicPr>
          <p:cNvPr id="23" name="Picture 22">
            <a:extLst>
              <a:ext uri="{FF2B5EF4-FFF2-40B4-BE49-F238E27FC236}">
                <a16:creationId xmlns:a16="http://schemas.microsoft.com/office/drawing/2014/main" id="{44083C8B-71F9-CD78-AA0A-85807C09E7EB}"/>
              </a:ext>
            </a:extLst>
          </p:cNvPr>
          <p:cNvPicPr>
            <a:picLocks noGrp="1" noRot="1" noMove="1" noResize="1" noEditPoints="1" noAdjustHandles="1" noChangeArrowheads="1" noChangeShapeType="1" noCrop="1"/>
          </p:cNvPicPr>
          <p:nvPr/>
        </p:nvPicPr>
        <p:blipFill>
          <a:blip r:embed="rId6" cstate="screen">
            <a:extLst>
              <a:ext uri="{28A0092B-C50C-407E-A947-70E740481C1C}">
                <a14:useLocalDpi xmlns:a14="http://schemas.microsoft.com/office/drawing/2010/main"/>
              </a:ext>
            </a:extLst>
          </a:blip>
          <a:stretch>
            <a:fillRect/>
          </a:stretch>
        </p:blipFill>
        <p:spPr>
          <a:xfrm>
            <a:off x="3848366" y="7120409"/>
            <a:ext cx="2529590" cy="722739"/>
          </a:xfrm>
          <a:prstGeom prst="rect">
            <a:avLst/>
          </a:prstGeom>
        </p:spPr>
      </p:pic>
      <p:sp>
        <p:nvSpPr>
          <p:cNvPr id="24" name="TextBox 23">
            <a:extLst>
              <a:ext uri="{FF2B5EF4-FFF2-40B4-BE49-F238E27FC236}">
                <a16:creationId xmlns:a16="http://schemas.microsoft.com/office/drawing/2014/main" id="{7018B10F-1FFC-E5A1-5D68-556547556F98}"/>
              </a:ext>
            </a:extLst>
          </p:cNvPr>
          <p:cNvSpPr txBox="1">
            <a:spLocks noGrp="1" noRot="1" noMove="1" noResize="1" noEditPoints="1" noAdjustHandles="1" noChangeArrowheads="1" noChangeShapeType="1"/>
          </p:cNvSpPr>
          <p:nvPr/>
        </p:nvSpPr>
        <p:spPr>
          <a:xfrm>
            <a:off x="6262695" y="7256597"/>
            <a:ext cx="2603030" cy="523084"/>
          </a:xfrm>
          <a:prstGeom prst="rect">
            <a:avLst/>
          </a:prstGeom>
          <a:noFill/>
        </p:spPr>
        <p:txBody>
          <a:bodyPr wrap="square" rtlCol="0">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r>
              <a:rPr kumimoji="0" lang="en-US" sz="2799" b="1" u="none" strike="noStrike" kern="1200" cap="none" spc="0" normalizeH="0" baseline="0" noProof="0">
                <a:ln>
                  <a:noFill/>
                </a:ln>
                <a:solidFill>
                  <a:srgbClr val="8FFFDB"/>
                </a:solidFill>
                <a:effectLst/>
                <a:uLnTx/>
                <a:uFillTx/>
                <a:latin typeface="Source Sans 3" panose="020B0504040101010104" pitchFamily="34" charset="77"/>
              </a:rPr>
              <a:t>AI </a:t>
            </a:r>
            <a:r>
              <a:rPr kumimoji="0" lang="en-US" sz="2799" b="1" u="none" strike="noStrike" kern="1200" cap="none" spc="0" normalizeH="0" baseline="0" noProof="0">
                <a:ln>
                  <a:noFill/>
                </a:ln>
                <a:solidFill>
                  <a:srgbClr val="FFFFFF"/>
                </a:solidFill>
                <a:effectLst/>
                <a:uLnTx/>
                <a:uFillTx/>
                <a:latin typeface="Source Sans 3" panose="020B0504040101010104" pitchFamily="34" charset="77"/>
              </a:rPr>
              <a:t>Platform</a:t>
            </a:r>
          </a:p>
        </p:txBody>
      </p:sp>
      <p:sp>
        <p:nvSpPr>
          <p:cNvPr id="42" name="Rectangle 41">
            <a:extLst>
              <a:ext uri="{FF2B5EF4-FFF2-40B4-BE49-F238E27FC236}">
                <a16:creationId xmlns:a16="http://schemas.microsoft.com/office/drawing/2014/main" id="{6EF37607-A316-E2DB-531C-B870862B9CE0}"/>
              </a:ext>
            </a:extLst>
          </p:cNvPr>
          <p:cNvSpPr>
            <a:spLocks noGrp="1" noRot="1" noMove="1" noResize="1" noEditPoints="1" noAdjustHandles="1" noChangeArrowheads="1" noChangeShapeType="1"/>
          </p:cNvSpPr>
          <p:nvPr/>
        </p:nvSpPr>
        <p:spPr>
          <a:xfrm>
            <a:off x="7663616" y="-60350"/>
            <a:ext cx="8057118" cy="6973564"/>
          </a:xfrm>
          <a:prstGeom prst="rect">
            <a:avLst/>
          </a:prstGeom>
          <a:gradFill>
            <a:gsLst>
              <a:gs pos="100000">
                <a:schemeClr val="accent1">
                  <a:alpha val="24749"/>
                </a:schemeClr>
              </a:gs>
              <a:gs pos="38000">
                <a:srgbClr val="040E3D">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pic>
        <p:nvPicPr>
          <p:cNvPr id="59" name="Role icon 1 Service_Desk" descr="Service Desk icon"/>
          <p:cNvPicPr>
            <a:picLocks noChangeAspect="1"/>
          </p:cNvPicPr>
          <p:nvPr/>
        </p:nvPicPr>
        <p:blipFill>
          <a:blip r:embed="rId7"/>
          <a:stretch>
            <a:fillRect/>
          </a:stretch>
        </p:blipFill>
        <p:spPr>
          <a:xfrm>
            <a:off x="1444751" y="2601468"/>
            <a:ext cx="1051560" cy="1051560"/>
          </a:xfrm>
          <a:prstGeom prst="rect">
            <a:avLst/>
          </a:prstGeom>
        </p:spPr>
      </p:pic>
      <p:pic>
        <p:nvPicPr>
          <p:cNvPr id="60" name="Role icon 2 Platform_Admin" descr="Platform Admin icon"/>
          <p:cNvPicPr>
            <a:picLocks noChangeAspect="1"/>
          </p:cNvPicPr>
          <p:nvPr/>
        </p:nvPicPr>
        <p:blipFill>
          <a:blip r:embed="rId8"/>
          <a:stretch>
            <a:fillRect/>
          </a:stretch>
        </p:blipFill>
        <p:spPr>
          <a:xfrm>
            <a:off x="3502152" y="2601468"/>
            <a:ext cx="1051560" cy="1051560"/>
          </a:xfrm>
          <a:prstGeom prst="rect">
            <a:avLst/>
          </a:prstGeom>
        </p:spPr>
      </p:pic>
      <p:pic>
        <p:nvPicPr>
          <p:cNvPr id="61" name="Role icon 3 AI_Compass" descr="AI Compass icon"/>
          <p:cNvPicPr>
            <a:picLocks noChangeAspect="1"/>
          </p:cNvPicPr>
          <p:nvPr/>
        </p:nvPicPr>
        <p:blipFill>
          <a:blip r:embed="rId9"/>
          <a:stretch>
            <a:fillRect/>
          </a:stretch>
        </p:blipFill>
        <p:spPr>
          <a:xfrm>
            <a:off x="5568696" y="2601468"/>
            <a:ext cx="1051560" cy="1051560"/>
          </a:xfrm>
          <a:prstGeom prst="rect">
            <a:avLst/>
          </a:prstGeom>
        </p:spPr>
      </p:pic>
      <p:pic>
        <p:nvPicPr>
          <p:cNvPr id="62" name="Role icon 4 Compliance" descr="Compliance icon"/>
          <p:cNvPicPr>
            <a:picLocks noChangeAspect="1"/>
          </p:cNvPicPr>
          <p:nvPr/>
        </p:nvPicPr>
        <p:blipFill>
          <a:blip r:embed="rId10"/>
          <a:stretch>
            <a:fillRect/>
          </a:stretch>
        </p:blipFill>
        <p:spPr>
          <a:xfrm>
            <a:off x="7635240" y="2601468"/>
            <a:ext cx="1051560" cy="1051560"/>
          </a:xfrm>
          <a:prstGeom prst="rect">
            <a:avLst/>
          </a:prstGeom>
        </p:spPr>
      </p:pic>
      <p:pic>
        <p:nvPicPr>
          <p:cNvPr id="63" name="Role icon 5 Finance_Team" descr="Finance Team icon"/>
          <p:cNvPicPr>
            <a:picLocks noChangeAspect="1"/>
          </p:cNvPicPr>
          <p:nvPr/>
        </p:nvPicPr>
        <p:blipFill>
          <a:blip r:embed="rId11"/>
          <a:stretch>
            <a:fillRect/>
          </a:stretch>
        </p:blipFill>
        <p:spPr>
          <a:xfrm>
            <a:off x="9701784" y="2601468"/>
            <a:ext cx="1051560" cy="1051560"/>
          </a:xfrm>
          <a:prstGeom prst="rect">
            <a:avLst/>
          </a:prstGeom>
        </p:spPr>
      </p:pic>
    </p:spTree>
    <p:extLst>
      <p:ext uri="{BB962C8B-B14F-4D97-AF65-F5344CB8AC3E}">
        <p14:creationId xmlns:p14="http://schemas.microsoft.com/office/powerpoint/2010/main" val="1996989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31921-3D8E-242F-122C-8E2B6742D40D}"/>
            </a:ext>
          </a:extLst>
        </p:cNvPr>
        <p:cNvGrpSpPr/>
        <p:nvPr/>
      </p:nvGrpSpPr>
      <p:grpSpPr>
        <a:xfrm>
          <a:off x="0" y="0"/>
          <a:ext cx="0" cy="0"/>
          <a:chOff x="0" y="0"/>
          <a:chExt cx="0" cy="0"/>
        </a:xfrm>
      </p:grpSpPr>
      <p:sp>
        <p:nvSpPr>
          <p:cNvPr id="29" name="Rounded Rectangle 2">
            <a:extLst>
              <a:ext uri="{FF2B5EF4-FFF2-40B4-BE49-F238E27FC236}">
                <a16:creationId xmlns:a16="http://schemas.microsoft.com/office/drawing/2014/main" id="{488C1032-27DB-A020-235D-7FD305AE37AC}"/>
              </a:ext>
            </a:extLst>
          </p:cNvPr>
          <p:cNvSpPr>
            <a:spLocks/>
          </p:cNvSpPr>
          <p:nvPr/>
        </p:nvSpPr>
        <p:spPr>
          <a:xfrm>
            <a:off x="1011045" y="2955942"/>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43" name="Rounded Rectangle 2">
            <a:extLst>
              <a:ext uri="{FF2B5EF4-FFF2-40B4-BE49-F238E27FC236}">
                <a16:creationId xmlns:a16="http://schemas.microsoft.com/office/drawing/2014/main" id="{276CFCD5-798F-8502-4EFE-84A7A623A3B0}"/>
              </a:ext>
            </a:extLst>
          </p:cNvPr>
          <p:cNvSpPr>
            <a:spLocks/>
          </p:cNvSpPr>
          <p:nvPr/>
        </p:nvSpPr>
        <p:spPr>
          <a:xfrm>
            <a:off x="3076013" y="2955942"/>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47" name="Rounded Rectangle 2">
            <a:extLst>
              <a:ext uri="{FF2B5EF4-FFF2-40B4-BE49-F238E27FC236}">
                <a16:creationId xmlns:a16="http://schemas.microsoft.com/office/drawing/2014/main" id="{AD2D0A71-7DAB-703D-FD72-204813524595}"/>
              </a:ext>
            </a:extLst>
          </p:cNvPr>
          <p:cNvSpPr>
            <a:spLocks/>
          </p:cNvSpPr>
          <p:nvPr/>
        </p:nvSpPr>
        <p:spPr>
          <a:xfrm>
            <a:off x="5140981" y="2955942"/>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51" name="Rounded Rectangle 2">
            <a:extLst>
              <a:ext uri="{FF2B5EF4-FFF2-40B4-BE49-F238E27FC236}">
                <a16:creationId xmlns:a16="http://schemas.microsoft.com/office/drawing/2014/main" id="{651AAE16-1E1A-8D5E-7CF3-1090BB2BFF66}"/>
              </a:ext>
            </a:extLst>
          </p:cNvPr>
          <p:cNvSpPr>
            <a:spLocks/>
          </p:cNvSpPr>
          <p:nvPr/>
        </p:nvSpPr>
        <p:spPr>
          <a:xfrm>
            <a:off x="7205949" y="2955942"/>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5" name="Rounded Rectangle 2">
            <a:extLst>
              <a:ext uri="{FF2B5EF4-FFF2-40B4-BE49-F238E27FC236}">
                <a16:creationId xmlns:a16="http://schemas.microsoft.com/office/drawing/2014/main" id="{822E0477-A28A-6CF1-618D-B7DF71FC7C29}"/>
              </a:ext>
            </a:extLst>
          </p:cNvPr>
          <p:cNvSpPr>
            <a:spLocks/>
          </p:cNvSpPr>
          <p:nvPr/>
        </p:nvSpPr>
        <p:spPr>
          <a:xfrm>
            <a:off x="9270918" y="2955942"/>
            <a:ext cx="1906861" cy="2460123"/>
          </a:xfrm>
          <a:prstGeom prst="roundRect">
            <a:avLst>
              <a:gd name="adj" fmla="val 3950"/>
            </a:avLst>
          </a:prstGeom>
          <a:blipFill>
            <a:blip r:embed="rId3"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17" name="Footer Placeholder 4">
            <a:extLst>
              <a:ext uri="{FF2B5EF4-FFF2-40B4-BE49-F238E27FC236}">
                <a16:creationId xmlns:a16="http://schemas.microsoft.com/office/drawing/2014/main" id="{1EB6FD1A-6419-4422-3B51-864209A22C10}"/>
              </a:ext>
            </a:extLst>
          </p:cNvPr>
          <p:cNvSpPr txBox="1">
            <a:spLocks noGrp="1" noRot="1" noMove="1" noResize="1" noEditPoints="1" noAdjustHandles="1" noChangeArrowheads="1" noChangeShapeType="1"/>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sp>
        <p:nvSpPr>
          <p:cNvPr id="28" name="TextBox 27">
            <a:extLst>
              <a:ext uri="{FF2B5EF4-FFF2-40B4-BE49-F238E27FC236}">
                <a16:creationId xmlns:a16="http://schemas.microsoft.com/office/drawing/2014/main" id="{A05840D9-25CF-AAC0-708A-84508C28A7AA}"/>
              </a:ext>
            </a:extLst>
          </p:cNvPr>
          <p:cNvSpPr txBox="1">
            <a:spLocks/>
          </p:cNvSpPr>
          <p:nvPr/>
        </p:nvSpPr>
        <p:spPr>
          <a:xfrm>
            <a:off x="1374410" y="4625209"/>
            <a:ext cx="1180131" cy="707630"/>
          </a:xfrm>
          <a:prstGeom prst="rect">
            <a:avLst/>
          </a:prstGeom>
          <a:noFill/>
        </p:spPr>
        <p:txBody>
          <a:bodyPr wrap="none" rtlCol="0">
            <a:spAutoFit/>
          </a:bodyPr>
          <a:lstStyle/>
          <a:p>
            <a:pPr lvl="0" algn="ctr">
              <a:defRPr/>
            </a:pPr>
            <a:r>
              <a:rPr lang="en-US" sz="1999" b="1">
                <a:solidFill>
                  <a:srgbClr val="8FFFDB"/>
                </a:solidFill>
                <a:latin typeface="Source Sans 3" panose="020B0504040101010104" pitchFamily="34" charset="77"/>
              </a:rPr>
              <a:t>Touch</a:t>
            </a:r>
            <a:br>
              <a:rPr lang="en-US" sz="1999" b="1">
                <a:solidFill>
                  <a:srgbClr val="8FFFDB"/>
                </a:solidFill>
                <a:latin typeface="Source Sans 3" panose="020B0504040101010104" pitchFamily="34" charset="77"/>
              </a:rPr>
            </a:br>
            <a:r>
              <a:rPr lang="en-US" sz="1999" b="1">
                <a:solidFill>
                  <a:schemeClr val="bg1"/>
                </a:solidFill>
                <a:latin typeface="Source Sans 3" panose="020B0504040101010104" pitchFamily="34" charset="77"/>
              </a:rPr>
              <a:t>Support</a:t>
            </a:r>
          </a:p>
        </p:txBody>
      </p:sp>
      <p:cxnSp>
        <p:nvCxnSpPr>
          <p:cNvPr id="50" name="Straight Connector 49">
            <a:extLst>
              <a:ext uri="{FF2B5EF4-FFF2-40B4-BE49-F238E27FC236}">
                <a16:creationId xmlns:a16="http://schemas.microsoft.com/office/drawing/2014/main" id="{BB16A24F-90B6-02CF-EE74-217B18F4E7C3}"/>
              </a:ext>
            </a:extLst>
          </p:cNvPr>
          <p:cNvCxnSpPr>
            <a:cxnSpLocks/>
          </p:cNvCxnSpPr>
          <p:nvPr/>
        </p:nvCxnSpPr>
        <p:spPr>
          <a:xfrm>
            <a:off x="1004065" y="4548971"/>
            <a:ext cx="1906861"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D1949B3A-D3EC-150E-405D-69FA0FA6AE01}"/>
              </a:ext>
            </a:extLst>
          </p:cNvPr>
          <p:cNvGrpSpPr>
            <a:grpSpLocks/>
          </p:cNvGrpSpPr>
          <p:nvPr/>
        </p:nvGrpSpPr>
        <p:grpSpPr>
          <a:xfrm>
            <a:off x="3068340" y="4548971"/>
            <a:ext cx="1906861" cy="783868"/>
            <a:chOff x="3068340" y="4050207"/>
            <a:chExt cx="1906861" cy="783868"/>
          </a:xfrm>
        </p:grpSpPr>
        <p:sp>
          <p:nvSpPr>
            <p:cNvPr id="38" name="TextBox 37">
              <a:extLst>
                <a:ext uri="{FF2B5EF4-FFF2-40B4-BE49-F238E27FC236}">
                  <a16:creationId xmlns:a16="http://schemas.microsoft.com/office/drawing/2014/main" id="{48681E51-5A1C-F542-7D53-995F270667F3}"/>
                </a:ext>
              </a:extLst>
            </p:cNvPr>
            <p:cNvSpPr txBox="1">
              <a:spLocks/>
            </p:cNvSpPr>
            <p:nvPr/>
          </p:nvSpPr>
          <p:spPr>
            <a:xfrm>
              <a:off x="3411326" y="4126445"/>
              <a:ext cx="1236236" cy="707630"/>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100000"/>
                </a:lnSpc>
                <a:defRPr/>
              </a:pPr>
              <a:r>
                <a:rPr lang="en-US" sz="1999" b="1">
                  <a:solidFill>
                    <a:srgbClr val="8FFFDB"/>
                  </a:solidFill>
                  <a:latin typeface="Source Sans 3" panose="020B0504040101010104" pitchFamily="34" charset="77"/>
                </a:rPr>
                <a:t>Service</a:t>
              </a:r>
            </a:p>
            <a:p>
              <a:pPr lvl="0">
                <a:lnSpc>
                  <a:spcPct val="100000"/>
                </a:lnSpc>
                <a:defRPr/>
              </a:pPr>
              <a:r>
                <a:rPr lang="en-US" sz="1999" b="1">
                  <a:latin typeface="Source Sans 3" panose="020B0504040101010104" pitchFamily="34" charset="77"/>
                </a:rPr>
                <a:t>Outages</a:t>
              </a:r>
            </a:p>
          </p:txBody>
        </p:sp>
        <p:cxnSp>
          <p:nvCxnSpPr>
            <p:cNvPr id="52" name="Straight Connector 51">
              <a:extLst>
                <a:ext uri="{FF2B5EF4-FFF2-40B4-BE49-F238E27FC236}">
                  <a16:creationId xmlns:a16="http://schemas.microsoft.com/office/drawing/2014/main" id="{1FD836B5-6F97-E6B9-79B3-DB6FDECB0C6D}"/>
                </a:ext>
              </a:extLst>
            </p:cNvPr>
            <p:cNvCxnSpPr>
              <a:cxnSpLocks/>
            </p:cNvCxnSpPr>
            <p:nvPr/>
          </p:nvCxnSpPr>
          <p:spPr>
            <a:xfrm>
              <a:off x="3068340" y="4050207"/>
              <a:ext cx="1906861"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014BACC4-D788-7136-F0D0-C471A5077626}"/>
              </a:ext>
            </a:extLst>
          </p:cNvPr>
          <p:cNvGrpSpPr>
            <a:grpSpLocks/>
          </p:cNvGrpSpPr>
          <p:nvPr/>
        </p:nvGrpSpPr>
        <p:grpSpPr>
          <a:xfrm>
            <a:off x="5132615" y="4548971"/>
            <a:ext cx="1906861" cy="783868"/>
            <a:chOff x="5132615" y="4050207"/>
            <a:chExt cx="1906861" cy="783868"/>
          </a:xfrm>
        </p:grpSpPr>
        <p:sp>
          <p:nvSpPr>
            <p:cNvPr id="39" name="TextBox 38">
              <a:extLst>
                <a:ext uri="{FF2B5EF4-FFF2-40B4-BE49-F238E27FC236}">
                  <a16:creationId xmlns:a16="http://schemas.microsoft.com/office/drawing/2014/main" id="{43DD6EBC-73E0-8150-932F-AD619B7BBA61}"/>
                </a:ext>
              </a:extLst>
            </p:cNvPr>
            <p:cNvSpPr txBox="1">
              <a:spLocks/>
            </p:cNvSpPr>
            <p:nvPr/>
          </p:nvSpPr>
          <p:spPr>
            <a:xfrm>
              <a:off x="5602129" y="4126445"/>
              <a:ext cx="984565" cy="707630"/>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100000"/>
                </a:lnSpc>
                <a:defRPr/>
              </a:pPr>
              <a:r>
                <a:rPr lang="en-US" sz="1999" b="1">
                  <a:solidFill>
                    <a:srgbClr val="8FFFDB"/>
                  </a:solidFill>
                  <a:latin typeface="Source Sans 3" panose="020B0504040101010104" pitchFamily="34" charset="77"/>
                </a:rPr>
                <a:t>Asset </a:t>
              </a:r>
              <a:br>
                <a:rPr lang="en-US" sz="1999" b="1">
                  <a:latin typeface="Source Sans 3" panose="020B0504040101010104" pitchFamily="34" charset="77"/>
                </a:rPr>
              </a:br>
              <a:r>
                <a:rPr lang="en-US" sz="1999" b="1">
                  <a:latin typeface="Source Sans 3" panose="020B0504040101010104" pitchFamily="34" charset="77"/>
                </a:rPr>
                <a:t>Issues</a:t>
              </a:r>
            </a:p>
          </p:txBody>
        </p:sp>
        <p:cxnSp>
          <p:nvCxnSpPr>
            <p:cNvPr id="57" name="Straight Connector 56">
              <a:extLst>
                <a:ext uri="{FF2B5EF4-FFF2-40B4-BE49-F238E27FC236}">
                  <a16:creationId xmlns:a16="http://schemas.microsoft.com/office/drawing/2014/main" id="{8FCCE8F1-EE13-A6BD-F216-C2029FD08AD2}"/>
                </a:ext>
              </a:extLst>
            </p:cNvPr>
            <p:cNvCxnSpPr>
              <a:cxnSpLocks/>
            </p:cNvCxnSpPr>
            <p:nvPr/>
          </p:nvCxnSpPr>
          <p:spPr>
            <a:xfrm>
              <a:off x="5132615" y="4050207"/>
              <a:ext cx="1906861"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71" name="Group 70">
            <a:extLst>
              <a:ext uri="{FF2B5EF4-FFF2-40B4-BE49-F238E27FC236}">
                <a16:creationId xmlns:a16="http://schemas.microsoft.com/office/drawing/2014/main" id="{DA96C22F-F615-54AF-7DC5-C5356A7460C4}"/>
              </a:ext>
            </a:extLst>
          </p:cNvPr>
          <p:cNvGrpSpPr>
            <a:grpSpLocks/>
          </p:cNvGrpSpPr>
          <p:nvPr/>
        </p:nvGrpSpPr>
        <p:grpSpPr>
          <a:xfrm>
            <a:off x="7196890" y="4548971"/>
            <a:ext cx="1906861" cy="783868"/>
            <a:chOff x="7196890" y="4050207"/>
            <a:chExt cx="1906861" cy="783868"/>
          </a:xfrm>
        </p:grpSpPr>
        <p:sp>
          <p:nvSpPr>
            <p:cNvPr id="40" name="TextBox 39">
              <a:extLst>
                <a:ext uri="{FF2B5EF4-FFF2-40B4-BE49-F238E27FC236}">
                  <a16:creationId xmlns:a16="http://schemas.microsoft.com/office/drawing/2014/main" id="{87A6575E-A77C-350D-20A0-4DC120C46B69}"/>
                </a:ext>
              </a:extLst>
            </p:cNvPr>
            <p:cNvSpPr txBox="1">
              <a:spLocks/>
            </p:cNvSpPr>
            <p:nvPr/>
          </p:nvSpPr>
          <p:spPr>
            <a:xfrm>
              <a:off x="7481950" y="4126445"/>
              <a:ext cx="1354858" cy="707630"/>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999" b="1" u="none" strike="noStrike" kern="1200" cap="none" spc="0" normalizeH="0" baseline="0" noProof="0">
                  <a:ln>
                    <a:noFill/>
                  </a:ln>
                  <a:solidFill>
                    <a:srgbClr val="8FFFDB"/>
                  </a:solidFill>
                  <a:effectLst/>
                  <a:uLnTx/>
                  <a:uFillTx/>
                  <a:latin typeface="Source Sans 3" panose="020B0504040101010104" pitchFamily="34" charset="77"/>
                </a:rPr>
                <a:t>Severe</a:t>
              </a:r>
            </a:p>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999" b="1" u="none" strike="noStrike" kern="1200" cap="none" spc="0" normalizeH="0" baseline="0" noProof="0">
                  <a:ln>
                    <a:noFill/>
                  </a:ln>
                  <a:effectLst/>
                  <a:uLnTx/>
                  <a:uFillTx/>
                  <a:latin typeface="Source Sans 3" panose="020B0504040101010104" pitchFamily="34" charset="77"/>
                </a:rPr>
                <a:t>Breaches</a:t>
              </a:r>
            </a:p>
          </p:txBody>
        </p:sp>
        <p:cxnSp>
          <p:nvCxnSpPr>
            <p:cNvPr id="58" name="Straight Connector 57">
              <a:extLst>
                <a:ext uri="{FF2B5EF4-FFF2-40B4-BE49-F238E27FC236}">
                  <a16:creationId xmlns:a16="http://schemas.microsoft.com/office/drawing/2014/main" id="{B9DC4CA3-12C6-2657-A176-911D78444653}"/>
                </a:ext>
              </a:extLst>
            </p:cNvPr>
            <p:cNvCxnSpPr>
              <a:cxnSpLocks/>
            </p:cNvCxnSpPr>
            <p:nvPr/>
          </p:nvCxnSpPr>
          <p:spPr>
            <a:xfrm>
              <a:off x="7196890" y="4050207"/>
              <a:ext cx="1906861"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D0A57D99-991B-0F14-9FF0-FD785A047ABE}"/>
              </a:ext>
            </a:extLst>
          </p:cNvPr>
          <p:cNvGrpSpPr>
            <a:grpSpLocks/>
          </p:cNvGrpSpPr>
          <p:nvPr/>
        </p:nvGrpSpPr>
        <p:grpSpPr>
          <a:xfrm>
            <a:off x="9261167" y="4548971"/>
            <a:ext cx="1906861" cy="783868"/>
            <a:chOff x="9261167" y="4050207"/>
            <a:chExt cx="1906861" cy="783868"/>
          </a:xfrm>
        </p:grpSpPr>
        <p:sp>
          <p:nvSpPr>
            <p:cNvPr id="41" name="TextBox 40">
              <a:extLst>
                <a:ext uri="{FF2B5EF4-FFF2-40B4-BE49-F238E27FC236}">
                  <a16:creationId xmlns:a16="http://schemas.microsoft.com/office/drawing/2014/main" id="{067B5FFA-30C9-A71E-5286-7048D9283703}"/>
                </a:ext>
              </a:extLst>
            </p:cNvPr>
            <p:cNvSpPr txBox="1">
              <a:spLocks/>
            </p:cNvSpPr>
            <p:nvPr/>
          </p:nvSpPr>
          <p:spPr>
            <a:xfrm>
              <a:off x="9366584" y="4126445"/>
              <a:ext cx="1715534" cy="707630"/>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marL="0" marR="0" lvl="0" indent="0" algn="ctr" defTabSz="457040" rtl="0" eaLnBrk="1" fontAlgn="auto" latinLnBrk="0" hangingPunct="1">
                <a:lnSpc>
                  <a:spcPct val="100000"/>
                </a:lnSpc>
                <a:spcBef>
                  <a:spcPts val="0"/>
                </a:spcBef>
                <a:spcAft>
                  <a:spcPts val="0"/>
                </a:spcAft>
                <a:buClrTx/>
                <a:buSzTx/>
                <a:buFontTx/>
                <a:buNone/>
                <a:tabLst/>
                <a:defRPr/>
              </a:pPr>
              <a:r>
                <a:rPr lang="en-US" sz="1999" b="1">
                  <a:solidFill>
                    <a:srgbClr val="8FFFDB"/>
                  </a:solidFill>
                  <a:latin typeface="Source Sans 3" panose="020B0504040101010104" pitchFamily="34" charset="77"/>
                </a:rPr>
                <a:t>Misaligned</a:t>
              </a:r>
              <a:r>
                <a:rPr kumimoji="0" lang="en-US" sz="1999" b="1" u="none" strike="noStrike" kern="1200" cap="none" spc="0" normalizeH="0" baseline="0" noProof="0">
                  <a:ln>
                    <a:noFill/>
                  </a:ln>
                  <a:solidFill>
                    <a:srgbClr val="8FFFDB"/>
                  </a:solidFill>
                  <a:effectLst/>
                  <a:uLnTx/>
                  <a:uFillTx/>
                  <a:latin typeface="Source Sans 3" panose="020B0504040101010104" pitchFamily="34" charset="77"/>
                </a:rPr>
                <a:t> </a:t>
              </a:r>
              <a:br>
                <a:rPr kumimoji="0" lang="en-US" sz="1999" b="1" u="none" strike="noStrike" kern="1200" cap="none" spc="0" normalizeH="0" baseline="0" noProof="0">
                  <a:ln>
                    <a:noFill/>
                  </a:ln>
                  <a:effectLst/>
                  <a:uLnTx/>
                  <a:uFillTx/>
                  <a:latin typeface="Source Sans 3" panose="020B0504040101010104" pitchFamily="34" charset="77"/>
                </a:rPr>
              </a:br>
              <a:r>
                <a:rPr kumimoji="0" lang="en-US" sz="1999" b="1" u="none" strike="noStrike" kern="1200" cap="none" spc="0" normalizeH="0" baseline="0" noProof="0">
                  <a:ln>
                    <a:noFill/>
                  </a:ln>
                  <a:effectLst/>
                  <a:uLnTx/>
                  <a:uFillTx/>
                  <a:latin typeface="Source Sans 3" panose="020B0504040101010104" pitchFamily="34" charset="77"/>
                </a:rPr>
                <a:t>Investments</a:t>
              </a:r>
            </a:p>
          </p:txBody>
        </p:sp>
        <p:cxnSp>
          <p:nvCxnSpPr>
            <p:cNvPr id="59" name="Straight Connector 58">
              <a:extLst>
                <a:ext uri="{FF2B5EF4-FFF2-40B4-BE49-F238E27FC236}">
                  <a16:creationId xmlns:a16="http://schemas.microsoft.com/office/drawing/2014/main" id="{F88D92C2-73EA-B12C-181F-1EB5D1FF0596}"/>
                </a:ext>
              </a:extLst>
            </p:cNvPr>
            <p:cNvCxnSpPr>
              <a:cxnSpLocks/>
            </p:cNvCxnSpPr>
            <p:nvPr/>
          </p:nvCxnSpPr>
          <p:spPr>
            <a:xfrm>
              <a:off x="9261167" y="4050207"/>
              <a:ext cx="1906861"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3628E2E4-A0F6-D76A-F812-B20E2644E27C}"/>
              </a:ext>
            </a:extLst>
          </p:cNvPr>
          <p:cNvSpPr txBox="1">
            <a:spLocks/>
          </p:cNvSpPr>
          <p:nvPr/>
        </p:nvSpPr>
        <p:spPr>
          <a:xfrm>
            <a:off x="1574266" y="3077361"/>
            <a:ext cx="780419" cy="1446173"/>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8797" b="1" i="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604040101010104" pitchFamily="34" charset="0"/>
              </a:rPr>
              <a:t>0</a:t>
            </a:r>
          </a:p>
        </p:txBody>
      </p:sp>
      <p:sp>
        <p:nvSpPr>
          <p:cNvPr id="44" name="TextBox 43">
            <a:extLst>
              <a:ext uri="{FF2B5EF4-FFF2-40B4-BE49-F238E27FC236}">
                <a16:creationId xmlns:a16="http://schemas.microsoft.com/office/drawing/2014/main" id="{B70C0339-EB61-42A2-7857-639BA7175D14}"/>
              </a:ext>
            </a:extLst>
          </p:cNvPr>
          <p:cNvSpPr txBox="1">
            <a:spLocks/>
          </p:cNvSpPr>
          <p:nvPr/>
        </p:nvSpPr>
        <p:spPr>
          <a:xfrm>
            <a:off x="3639234" y="3077361"/>
            <a:ext cx="780419" cy="1446173"/>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8797" b="1" i="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604040101010104" pitchFamily="34" charset="0"/>
              </a:rPr>
              <a:t>0</a:t>
            </a:r>
          </a:p>
        </p:txBody>
      </p:sp>
      <p:sp>
        <p:nvSpPr>
          <p:cNvPr id="45" name="TextBox 44">
            <a:extLst>
              <a:ext uri="{FF2B5EF4-FFF2-40B4-BE49-F238E27FC236}">
                <a16:creationId xmlns:a16="http://schemas.microsoft.com/office/drawing/2014/main" id="{28F60E1C-844D-DFC7-316A-9194CEBADCBB}"/>
              </a:ext>
            </a:extLst>
          </p:cNvPr>
          <p:cNvSpPr txBox="1">
            <a:spLocks/>
          </p:cNvSpPr>
          <p:nvPr/>
        </p:nvSpPr>
        <p:spPr>
          <a:xfrm>
            <a:off x="5704202" y="3077361"/>
            <a:ext cx="780419" cy="1446173"/>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8797" b="1" i="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604040101010104" pitchFamily="34" charset="0"/>
              </a:rPr>
              <a:t>0</a:t>
            </a:r>
          </a:p>
        </p:txBody>
      </p:sp>
      <p:sp>
        <p:nvSpPr>
          <p:cNvPr id="48" name="TextBox 47">
            <a:extLst>
              <a:ext uri="{FF2B5EF4-FFF2-40B4-BE49-F238E27FC236}">
                <a16:creationId xmlns:a16="http://schemas.microsoft.com/office/drawing/2014/main" id="{037405B7-5CDF-A02A-8E25-341817694983}"/>
              </a:ext>
            </a:extLst>
          </p:cNvPr>
          <p:cNvSpPr txBox="1">
            <a:spLocks/>
          </p:cNvSpPr>
          <p:nvPr/>
        </p:nvSpPr>
        <p:spPr>
          <a:xfrm>
            <a:off x="7769170" y="3077361"/>
            <a:ext cx="780419" cy="1446173"/>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8797" b="1" i="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604040101010104" pitchFamily="34" charset="0"/>
              </a:rPr>
              <a:t>0</a:t>
            </a:r>
          </a:p>
        </p:txBody>
      </p:sp>
      <p:sp>
        <p:nvSpPr>
          <p:cNvPr id="49" name="TextBox 48">
            <a:extLst>
              <a:ext uri="{FF2B5EF4-FFF2-40B4-BE49-F238E27FC236}">
                <a16:creationId xmlns:a16="http://schemas.microsoft.com/office/drawing/2014/main" id="{15274C51-5723-96EB-CBBA-FD13A1C81213}"/>
              </a:ext>
            </a:extLst>
          </p:cNvPr>
          <p:cNvSpPr txBox="1">
            <a:spLocks/>
          </p:cNvSpPr>
          <p:nvPr/>
        </p:nvSpPr>
        <p:spPr>
          <a:xfrm>
            <a:off x="9834139" y="3077361"/>
            <a:ext cx="780419" cy="1446173"/>
          </a:xfrm>
          <a:prstGeom prst="rect">
            <a:avLst/>
          </a:prstGeom>
          <a:noFill/>
        </p:spPr>
        <p:txBody>
          <a:bodyPr wrap="square" rtlCol="0">
            <a:spAutoFit/>
          </a:bodyPr>
          <a:lstStyle/>
          <a:p>
            <a:pPr marL="0" marR="0" lvl="0" indent="0" algn="ctr" defTabSz="913852" rtl="0" eaLnBrk="1" fontAlgn="auto" latinLnBrk="0" hangingPunct="1">
              <a:lnSpc>
                <a:spcPct val="100000"/>
              </a:lnSpc>
              <a:spcBef>
                <a:spcPts val="0"/>
              </a:spcBef>
              <a:spcAft>
                <a:spcPts val="0"/>
              </a:spcAft>
              <a:buClrTx/>
              <a:buSzTx/>
              <a:buFontTx/>
              <a:buNone/>
              <a:tabLst/>
              <a:defRPr/>
            </a:pPr>
            <a:r>
              <a:rPr kumimoji="0" lang="en-US" sz="8797" b="1" i="0" u="none" strike="noStrike" kern="1200" cap="none" spc="0" normalizeH="0" baseline="0" noProof="0">
                <a:ln>
                  <a:noFill/>
                </a:ln>
                <a:solidFill>
                  <a:srgbClr val="FFFFFF"/>
                </a:solidFill>
                <a:effectLst/>
                <a:uLnTx/>
                <a:uFillTx/>
                <a:latin typeface="Source Sans 3" panose="020B0504040101010104" pitchFamily="34" charset="77"/>
                <a:ea typeface="+mn-ea"/>
                <a:cs typeface="Source Sans 3" panose="020B0604040101010104" pitchFamily="34" charset="0"/>
              </a:rPr>
              <a:t>0</a:t>
            </a:r>
          </a:p>
        </p:txBody>
      </p:sp>
      <p:sp>
        <p:nvSpPr>
          <p:cNvPr id="23" name="Rounded Rectangle 20">
            <a:extLst>
              <a:ext uri="{FF2B5EF4-FFF2-40B4-BE49-F238E27FC236}">
                <a16:creationId xmlns:a16="http://schemas.microsoft.com/office/drawing/2014/main" id="{0B21AF26-90FD-7765-5BB2-846DC0F2D0A5}"/>
              </a:ext>
              <a:ext uri="{C183D7F6-B498-43B3-948B-1728B52AA6E4}">
                <adec:decorative xmlns:adec="http://schemas.microsoft.com/office/drawing/2017/decorative" val="1"/>
              </a:ext>
            </a:extLst>
          </p:cNvPr>
          <p:cNvSpPr>
            <a:spLocks/>
          </p:cNvSpPr>
          <p:nvPr/>
        </p:nvSpPr>
        <p:spPr>
          <a:xfrm>
            <a:off x="9352541" y="2845820"/>
            <a:ext cx="1743613" cy="228540"/>
          </a:xfrm>
          <a:prstGeom prst="roundRect">
            <a:avLst>
              <a:gd name="adj" fmla="val 50000"/>
            </a:avLst>
          </a:prstGeom>
          <a:solidFill>
            <a:srgbClr val="FBBF66"/>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sz="900" b="1">
                <a:solidFill>
                  <a:srgbClr val="040E3D"/>
                </a:solidFill>
                <a:latin typeface="Source Sans 3" panose="020B0504040101010104" pitchFamily="34" charset="77"/>
              </a:rPr>
              <a:t>Head of Strategy &amp; Planning</a:t>
            </a:r>
          </a:p>
        </p:txBody>
      </p:sp>
      <p:sp>
        <p:nvSpPr>
          <p:cNvPr id="24" name="Rounded Rectangle 20">
            <a:extLst>
              <a:ext uri="{FF2B5EF4-FFF2-40B4-BE49-F238E27FC236}">
                <a16:creationId xmlns:a16="http://schemas.microsoft.com/office/drawing/2014/main" id="{91B715F4-D8C6-A7E2-9741-C660D7ADE72B}"/>
              </a:ext>
              <a:ext uri="{C183D7F6-B498-43B3-948B-1728B52AA6E4}">
                <adec:decorative xmlns:adec="http://schemas.microsoft.com/office/drawing/2017/decorative" val="1"/>
              </a:ext>
            </a:extLst>
          </p:cNvPr>
          <p:cNvSpPr>
            <a:spLocks/>
          </p:cNvSpPr>
          <p:nvPr/>
        </p:nvSpPr>
        <p:spPr>
          <a:xfrm>
            <a:off x="7287572" y="2845820"/>
            <a:ext cx="1743613" cy="228540"/>
          </a:xfrm>
          <a:prstGeom prst="roundRect">
            <a:avLst>
              <a:gd name="adj" fmla="val 50000"/>
            </a:avLst>
          </a:prstGeom>
          <a:solidFill>
            <a:srgbClr val="F24C6B"/>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CISO</a:t>
            </a:r>
          </a:p>
        </p:txBody>
      </p:sp>
      <p:sp>
        <p:nvSpPr>
          <p:cNvPr id="25" name="Rounded Rectangle 20">
            <a:extLst>
              <a:ext uri="{FF2B5EF4-FFF2-40B4-BE49-F238E27FC236}">
                <a16:creationId xmlns:a16="http://schemas.microsoft.com/office/drawing/2014/main" id="{C58A7C2E-7BA8-B884-1D7C-58EDE42EF6E4}"/>
              </a:ext>
              <a:ext uri="{C183D7F6-B498-43B3-948B-1728B52AA6E4}">
                <adec:decorative xmlns:adec="http://schemas.microsoft.com/office/drawing/2017/decorative" val="1"/>
              </a:ext>
            </a:extLst>
          </p:cNvPr>
          <p:cNvSpPr>
            <a:spLocks/>
          </p:cNvSpPr>
          <p:nvPr/>
        </p:nvSpPr>
        <p:spPr>
          <a:xfrm>
            <a:off x="5225166" y="2845820"/>
            <a:ext cx="1743613" cy="228540"/>
          </a:xfrm>
          <a:prstGeom prst="roundRect">
            <a:avLst>
              <a:gd name="adj" fmla="val 50000"/>
            </a:avLst>
          </a:prstGeom>
          <a:solidFill>
            <a:srgbClr val="BC99FC"/>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Head of Asset Mgmt.</a:t>
            </a:r>
          </a:p>
        </p:txBody>
      </p:sp>
      <p:sp>
        <p:nvSpPr>
          <p:cNvPr id="26" name="Rounded Rectangle 20">
            <a:extLst>
              <a:ext uri="{FF2B5EF4-FFF2-40B4-BE49-F238E27FC236}">
                <a16:creationId xmlns:a16="http://schemas.microsoft.com/office/drawing/2014/main" id="{9FC4B628-81FB-28B3-DC13-E131B2AC8BEC}"/>
              </a:ext>
              <a:ext uri="{C183D7F6-B498-43B3-948B-1728B52AA6E4}">
                <adec:decorative xmlns:adec="http://schemas.microsoft.com/office/drawing/2017/decorative" val="1"/>
              </a:ext>
            </a:extLst>
          </p:cNvPr>
          <p:cNvSpPr>
            <a:spLocks/>
          </p:cNvSpPr>
          <p:nvPr/>
        </p:nvSpPr>
        <p:spPr>
          <a:xfrm>
            <a:off x="3157636" y="2845820"/>
            <a:ext cx="1743613" cy="228540"/>
          </a:xfrm>
          <a:prstGeom prst="roundRect">
            <a:avLst>
              <a:gd name="adj" fmla="val 50000"/>
            </a:avLst>
          </a:prstGeom>
          <a:solidFill>
            <a:srgbClr val="87FFD7"/>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Head of Tech Operations</a:t>
            </a:r>
          </a:p>
        </p:txBody>
      </p:sp>
      <p:sp>
        <p:nvSpPr>
          <p:cNvPr id="27" name="Rounded Rectangle 20">
            <a:extLst>
              <a:ext uri="{FF2B5EF4-FFF2-40B4-BE49-F238E27FC236}">
                <a16:creationId xmlns:a16="http://schemas.microsoft.com/office/drawing/2014/main" id="{1540338A-B23E-B9E1-A82C-D82E5766ED9E}"/>
              </a:ext>
              <a:ext uri="{C183D7F6-B498-43B3-948B-1728B52AA6E4}">
                <adec:decorative xmlns:adec="http://schemas.microsoft.com/office/drawing/2017/decorative" val="1"/>
              </a:ext>
            </a:extLst>
          </p:cNvPr>
          <p:cNvSpPr>
            <a:spLocks/>
          </p:cNvSpPr>
          <p:nvPr/>
        </p:nvSpPr>
        <p:spPr>
          <a:xfrm>
            <a:off x="1085688" y="2845820"/>
            <a:ext cx="1743613" cy="228540"/>
          </a:xfrm>
          <a:prstGeom prst="roundRect">
            <a:avLst>
              <a:gd name="adj" fmla="val 50000"/>
            </a:avLst>
          </a:prstGeom>
          <a:solidFill>
            <a:srgbClr val="6DEDF5"/>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Head of Service Desk</a:t>
            </a:r>
          </a:p>
        </p:txBody>
      </p:sp>
      <p:sp>
        <p:nvSpPr>
          <p:cNvPr id="2" name="TextBox 1">
            <a:extLst>
              <a:ext uri="{FF2B5EF4-FFF2-40B4-BE49-F238E27FC236}">
                <a16:creationId xmlns:a16="http://schemas.microsoft.com/office/drawing/2014/main" id="{BC2626C5-31EB-A0DB-83AF-6917F10A9C3F}"/>
              </a:ext>
            </a:extLst>
          </p:cNvPr>
          <p:cNvSpPr txBox="1"/>
          <p:nvPr/>
        </p:nvSpPr>
        <p:spPr>
          <a:xfrm>
            <a:off x="3735160" y="6459524"/>
            <a:ext cx="4034010" cy="123111"/>
          </a:xfrm>
          <a:prstGeom prst="rect">
            <a:avLst/>
          </a:prstGeom>
          <a:noFill/>
        </p:spPr>
        <p:txBody>
          <a:bodyPr wrap="square" lIns="0" tIns="0" rIns="0" bIns="0" rtlCol="0">
            <a:spAutoFit/>
          </a:bodyPr>
          <a:lstStyle/>
          <a:p>
            <a:pPr algn="l"/>
            <a:r>
              <a:rPr lang="en-US" sz="800" b="0" i="0" dirty="0">
                <a:solidFill>
                  <a:schemeClr val="bg1"/>
                </a:solidFill>
                <a:latin typeface="Source Sans 3" panose="020B0404040101010104" pitchFamily="34" charset="77"/>
                <a:cs typeface="Source Sans 3" panose="020B0404040101010104" pitchFamily="34" charset="77"/>
              </a:rPr>
              <a:t>* Projected outcomes shown are illustrative, not guaranteed.</a:t>
            </a:r>
          </a:p>
        </p:txBody>
      </p:sp>
      <p:sp>
        <p:nvSpPr>
          <p:cNvPr id="73" name="Five Zeros bridge"/>
          <p:cNvSpPr txBox="1"/>
          <p:nvPr/>
        </p:nvSpPr>
        <p:spPr>
          <a:xfrm>
            <a:off x="987552" y="5733288"/>
            <a:ext cx="10204704" cy="429768"/>
          </a:xfrm>
          <a:prstGeom prst="rect">
            <a:avLst/>
          </a:prstGeom>
          <a:noFill/>
        </p:spPr>
        <p:txBody>
          <a:bodyPr wrap="square" lIns="27432" tIns="0" rIns="27432" bIns="0" anchor="ctr">
            <a:spAutoFit/>
          </a:bodyPr>
          <a:lstStyle/>
          <a:p>
            <a:pPr algn="ctr"/>
            <a:r>
              <a:rPr sz="1300" b="0">
                <a:solidFill>
                  <a:srgbClr val="FFFFFF"/>
                </a:solidFill>
                <a:latin typeface="Source Sans 3"/>
              </a:rPr>
              <a:t>For Autonomous IT, the Five Zeros describe the destination. Readiness determines where you begin.</a:t>
            </a:r>
          </a:p>
        </p:txBody>
      </p:sp>
      <p:pic>
        <p:nvPicPr>
          <p:cNvPr id="74" name="Role icon 1 Service_Desk" descr="Service Desk icon"/>
          <p:cNvPicPr>
            <a:picLocks noChangeAspect="1"/>
          </p:cNvPicPr>
          <p:nvPr/>
        </p:nvPicPr>
        <p:blipFill>
          <a:blip r:embed="rId4"/>
          <a:stretch>
            <a:fillRect/>
          </a:stretch>
        </p:blipFill>
        <p:spPr>
          <a:xfrm>
            <a:off x="1513331" y="1719072"/>
            <a:ext cx="914400" cy="914400"/>
          </a:xfrm>
          <a:prstGeom prst="rect">
            <a:avLst/>
          </a:prstGeom>
        </p:spPr>
      </p:pic>
      <p:pic>
        <p:nvPicPr>
          <p:cNvPr id="75" name="Role icon 2 Operations_Team" descr="Operations Team icon"/>
          <p:cNvPicPr>
            <a:picLocks noChangeAspect="1"/>
          </p:cNvPicPr>
          <p:nvPr/>
        </p:nvPicPr>
        <p:blipFill>
          <a:blip r:embed="rId5"/>
          <a:stretch>
            <a:fillRect/>
          </a:stretch>
        </p:blipFill>
        <p:spPr>
          <a:xfrm>
            <a:off x="3570732" y="1719072"/>
            <a:ext cx="914400" cy="914400"/>
          </a:xfrm>
          <a:prstGeom prst="rect">
            <a:avLst/>
          </a:prstGeom>
        </p:spPr>
      </p:pic>
      <p:pic>
        <p:nvPicPr>
          <p:cNvPr id="76" name="Role icon 3 Out-of-the-Box" descr="Out-of-the-Box icon"/>
          <p:cNvPicPr>
            <a:picLocks noChangeAspect="1"/>
          </p:cNvPicPr>
          <p:nvPr/>
        </p:nvPicPr>
        <p:blipFill>
          <a:blip r:embed="rId6"/>
          <a:stretch>
            <a:fillRect/>
          </a:stretch>
        </p:blipFill>
        <p:spPr>
          <a:xfrm>
            <a:off x="5637276" y="1719072"/>
            <a:ext cx="914400" cy="914400"/>
          </a:xfrm>
          <a:prstGeom prst="rect">
            <a:avLst/>
          </a:prstGeom>
        </p:spPr>
      </p:pic>
      <p:pic>
        <p:nvPicPr>
          <p:cNvPr id="77" name="Role icon 4 Compliance" descr="Compliance icon"/>
          <p:cNvPicPr>
            <a:picLocks noChangeAspect="1"/>
          </p:cNvPicPr>
          <p:nvPr/>
        </p:nvPicPr>
        <p:blipFill>
          <a:blip r:embed="rId7"/>
          <a:stretch>
            <a:fillRect/>
          </a:stretch>
        </p:blipFill>
        <p:spPr>
          <a:xfrm>
            <a:off x="7703820" y="1719072"/>
            <a:ext cx="914400" cy="914400"/>
          </a:xfrm>
          <a:prstGeom prst="rect">
            <a:avLst/>
          </a:prstGeom>
        </p:spPr>
      </p:pic>
      <p:pic>
        <p:nvPicPr>
          <p:cNvPr id="78" name="Role icon 5 Plan" descr="Plan icon"/>
          <p:cNvPicPr>
            <a:picLocks noChangeAspect="1"/>
          </p:cNvPicPr>
          <p:nvPr/>
        </p:nvPicPr>
        <p:blipFill>
          <a:blip r:embed="rId8"/>
          <a:stretch>
            <a:fillRect/>
          </a:stretch>
        </p:blipFill>
        <p:spPr>
          <a:xfrm>
            <a:off x="9770364" y="1719072"/>
            <a:ext cx="914400" cy="914400"/>
          </a:xfrm>
          <a:prstGeom prst="rect">
            <a:avLst/>
          </a:prstGeom>
        </p:spPr>
      </p:pic>
      <p:sp>
        <p:nvSpPr>
          <p:cNvPr id="3" name="Title 1">
            <a:extLst>
              <a:ext uri="{FF2B5EF4-FFF2-40B4-BE49-F238E27FC236}">
                <a16:creationId xmlns:a16="http://schemas.microsoft.com/office/drawing/2014/main" id="{8A713FCA-9EAD-1BF3-2BBF-A8A1D8E0C00D}"/>
              </a:ext>
            </a:extLst>
          </p:cNvPr>
          <p:cNvSpPr txBox="1"/>
          <p:nvPr/>
        </p:nvSpPr>
        <p:spPr>
          <a:xfrm>
            <a:off x="802808" y="317965"/>
            <a:ext cx="11015565" cy="1123965"/>
          </a:xfrm>
          <a:prstGeom prst="rect">
            <a:avLst/>
          </a:prstGeom>
        </p:spPr>
        <p:txBody>
          <a:bodyPr vert="horz" lIns="0" tIns="0" rIns="0" bIns="0" rtlCol="0" anchor="b" anchorCtr="0">
            <a:noAutofit/>
          </a:bodyPr>
          <a:lstStyle>
            <a:defPPr>
              <a:defRPr lang="en-US"/>
            </a:defPPr>
            <a:lvl1pPr algn="ctr">
              <a:lnSpc>
                <a:spcPct val="85000"/>
              </a:lnSpc>
              <a:spcBef>
                <a:spcPct val="0"/>
              </a:spcBef>
              <a:buNone/>
              <a:tabLst>
                <a:tab pos="398463" algn="l"/>
              </a:tabLst>
              <a:defRPr sz="4800" b="1" i="0" spc="0" baseline="0">
                <a:solidFill>
                  <a:schemeClr val="accent1"/>
                </a:solidFill>
                <a:latin typeface="+mj-lt"/>
                <a:ea typeface="+mj-ea"/>
                <a:cs typeface="Source Sans 3" panose="020B0504040101010104" pitchFamily="34" charset="77"/>
              </a:defRPr>
            </a:lvl1pPr>
          </a:lstStyle>
          <a:p>
            <a:pPr lvl="0" algn="l">
              <a:defRPr/>
            </a:pPr>
            <a:r>
              <a:rPr kumimoji="0" lang="en-US" sz="4200" u="none" strike="noStrike" kern="1200" cap="none" spc="0" normalizeH="0" baseline="0" noProof="0" dirty="0">
                <a:ln>
                  <a:noFill/>
                </a:ln>
                <a:solidFill>
                  <a:schemeClr val="bg1"/>
                </a:solidFill>
                <a:effectLst/>
                <a:uLnTx/>
                <a:uFillTx/>
                <a:latin typeface="Source Sans 3" panose="020B0504040101010104" pitchFamily="34" charset="77"/>
              </a:rPr>
              <a:t>Autonomy Is Earned. </a:t>
            </a:r>
          </a:p>
          <a:p>
            <a:pPr lvl="0" algn="l">
              <a:defRPr/>
            </a:pPr>
            <a:r>
              <a:rPr kumimoji="0" lang="en-US" sz="4200" u="none" strike="noStrike" kern="1200" cap="none" spc="0" normalizeH="0" baseline="0" noProof="0" dirty="0">
                <a:ln>
                  <a:noFill/>
                </a:ln>
                <a:solidFill>
                  <a:schemeClr val="bg1"/>
                </a:solidFill>
                <a:effectLst/>
                <a:uLnTx/>
                <a:uFillTx/>
                <a:latin typeface="Source Sans 3" panose="020B0504040101010104" pitchFamily="34" charset="77"/>
              </a:rPr>
              <a:t>The </a:t>
            </a:r>
            <a:r>
              <a:rPr lang="en-US" sz="4200" dirty="0">
                <a:latin typeface="Source Sans 3" panose="020B0504040101010104" pitchFamily="34" charset="77"/>
              </a:rPr>
              <a:t>Five Zeros Of Autonomous IT.</a:t>
            </a:r>
            <a:endParaRPr kumimoji="0" lang="en-US" sz="4200" u="none" strike="noStrike" kern="1200" cap="none" spc="0" normalizeH="0" baseline="0" noProof="0" dirty="0">
              <a:ln>
                <a:noFill/>
              </a:ln>
              <a:solidFill>
                <a:schemeClr val="bg1"/>
              </a:solidFill>
              <a:effectLst/>
              <a:uLnTx/>
              <a:uFillTx/>
              <a:latin typeface="Source Sans 3" panose="020B0504040101010104" pitchFamily="34" charset="77"/>
            </a:endParaRPr>
          </a:p>
        </p:txBody>
      </p:sp>
    </p:spTree>
    <p:extLst>
      <p:ext uri="{BB962C8B-B14F-4D97-AF65-F5344CB8AC3E}">
        <p14:creationId xmlns:p14="http://schemas.microsoft.com/office/powerpoint/2010/main" val="1236974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E64D0E-FC30-A2D6-E4E7-10FB87C0D2CF}"/>
            </a:ext>
          </a:extLst>
        </p:cNvPr>
        <p:cNvGrpSpPr/>
        <p:nvPr/>
      </p:nvGrpSpPr>
      <p:grpSpPr>
        <a:xfrm>
          <a:off x="0" y="0"/>
          <a:ext cx="0" cy="0"/>
          <a:chOff x="0" y="0"/>
          <a:chExt cx="0" cy="0"/>
        </a:xfrm>
      </p:grpSpPr>
      <p:sp>
        <p:nvSpPr>
          <p:cNvPr id="50" name="Rounded Rectangle 49">
            <a:extLst>
              <a:ext uri="{FF2B5EF4-FFF2-40B4-BE49-F238E27FC236}">
                <a16:creationId xmlns:a16="http://schemas.microsoft.com/office/drawing/2014/main" id="{083C8947-78BC-1ABA-5E58-D25DDB393768}"/>
              </a:ext>
            </a:extLst>
          </p:cNvPr>
          <p:cNvSpPr>
            <a:spLocks/>
          </p:cNvSpPr>
          <p:nvPr/>
        </p:nvSpPr>
        <p:spPr>
          <a:xfrm>
            <a:off x="680765" y="11580285"/>
            <a:ext cx="10827294" cy="552920"/>
          </a:xfrm>
          <a:prstGeom prst="roundRect">
            <a:avLst>
              <a:gd name="adj" fmla="val 8979"/>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903">
              <a:lnSpc>
                <a:spcPct val="85000"/>
              </a:lnSpc>
            </a:pPr>
            <a:r>
              <a:rPr lang="en-US" sz="1600" b="1">
                <a:solidFill>
                  <a:schemeClr val="accent1"/>
                </a:solidFill>
                <a:latin typeface="ServiceNow Sans Display Bold" panose="020B0504040101010104" pitchFamily="34" charset="77"/>
              </a:rPr>
              <a:t>Data</a:t>
            </a:r>
            <a:r>
              <a:rPr lang="en-US" sz="1200" b="1">
                <a:solidFill>
                  <a:schemeClr val="accent1"/>
                </a:solidFill>
                <a:latin typeface="ServiceNow Sans Display Bold" panose="020B0504040101010104" pitchFamily="34" charset="77"/>
              </a:rPr>
              <a:t> </a:t>
            </a:r>
            <a:br>
              <a:rPr lang="en-US" sz="1200" b="1">
                <a:solidFill>
                  <a:schemeClr val="accent1"/>
                </a:solidFill>
                <a:latin typeface="ServiceNow Sans Display Bold" panose="020B0504040101010104" pitchFamily="34" charset="77"/>
              </a:rPr>
            </a:br>
            <a:r>
              <a:rPr lang="en-US" sz="1050">
                <a:solidFill>
                  <a:schemeClr val="bg1"/>
                </a:solidFill>
                <a:latin typeface="ServiceNow Sans" panose="020B0504040101010104" pitchFamily="34" charset="77"/>
              </a:rPr>
              <a:t>Knowledge Graph, Raptor DB, Workflow Data Fabric</a:t>
            </a:r>
            <a:endParaRPr lang="en-US" sz="1200">
              <a:solidFill>
                <a:schemeClr val="bg1"/>
              </a:solidFill>
              <a:latin typeface="ServiceNow Sans" panose="020B0504040101010104" pitchFamily="34" charset="77"/>
            </a:endParaRPr>
          </a:p>
        </p:txBody>
      </p:sp>
      <p:sp>
        <p:nvSpPr>
          <p:cNvPr id="52" name="Rounded Rectangle 51">
            <a:extLst>
              <a:ext uri="{FF2B5EF4-FFF2-40B4-BE49-F238E27FC236}">
                <a16:creationId xmlns:a16="http://schemas.microsoft.com/office/drawing/2014/main" id="{266634E2-7973-7C2B-891B-FF665B9FDC57}"/>
              </a:ext>
            </a:extLst>
          </p:cNvPr>
          <p:cNvSpPr>
            <a:spLocks/>
          </p:cNvSpPr>
          <p:nvPr/>
        </p:nvSpPr>
        <p:spPr>
          <a:xfrm>
            <a:off x="1349839" y="9567602"/>
            <a:ext cx="9489146" cy="552920"/>
          </a:xfrm>
          <a:prstGeom prst="roundRect">
            <a:avLst>
              <a:gd name="adj" fmla="val 8979"/>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903">
              <a:lnSpc>
                <a:spcPct val="85000"/>
              </a:lnSpc>
            </a:pPr>
            <a:r>
              <a:rPr lang="en-US" sz="1600" b="1">
                <a:solidFill>
                  <a:schemeClr val="accent1"/>
                </a:solidFill>
                <a:latin typeface="ServiceNow Sans Display Bold" panose="020B0504040101010104" pitchFamily="34" charset="77"/>
              </a:rPr>
              <a:t>AI</a:t>
            </a:r>
            <a:br>
              <a:rPr lang="en-US" sz="1200" b="1">
                <a:solidFill>
                  <a:schemeClr val="accent1"/>
                </a:solidFill>
                <a:latin typeface="ServiceNow Sans Display Bold" panose="020B0504040101010104" pitchFamily="34" charset="77"/>
              </a:rPr>
            </a:br>
            <a:r>
              <a:rPr lang="en-US" sz="1050">
                <a:solidFill>
                  <a:schemeClr val="bg1"/>
                </a:solidFill>
                <a:latin typeface="ServiceNow Sans" panose="020B0504040101010104" pitchFamily="34" charset="77"/>
              </a:rPr>
              <a:t>AI Control Tower, AI Agent Orchestration, Now Assist</a:t>
            </a:r>
            <a:endParaRPr lang="en-US" sz="1200">
              <a:solidFill>
                <a:schemeClr val="bg1"/>
              </a:solidFill>
              <a:latin typeface="ServiceNow Sans" panose="020B0504040101010104" pitchFamily="34" charset="77"/>
            </a:endParaRPr>
          </a:p>
        </p:txBody>
      </p:sp>
      <p:sp>
        <p:nvSpPr>
          <p:cNvPr id="57" name="Rounded Rectangle 56">
            <a:extLst>
              <a:ext uri="{FF2B5EF4-FFF2-40B4-BE49-F238E27FC236}">
                <a16:creationId xmlns:a16="http://schemas.microsoft.com/office/drawing/2014/main" id="{896D0604-4C12-F2B1-757C-818E0DBA2A7E}"/>
              </a:ext>
            </a:extLst>
          </p:cNvPr>
          <p:cNvSpPr>
            <a:spLocks/>
          </p:cNvSpPr>
          <p:nvPr/>
        </p:nvSpPr>
        <p:spPr>
          <a:xfrm>
            <a:off x="2004044" y="7984110"/>
            <a:ext cx="8180736" cy="552920"/>
          </a:xfrm>
          <a:prstGeom prst="roundRect">
            <a:avLst>
              <a:gd name="adj" fmla="val 8979"/>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903">
              <a:lnSpc>
                <a:spcPct val="85000"/>
              </a:lnSpc>
            </a:pPr>
            <a:r>
              <a:rPr lang="en-US" sz="1600" b="1">
                <a:solidFill>
                  <a:schemeClr val="accent1"/>
                </a:solidFill>
                <a:latin typeface="ServiceNow Sans Display Bold" panose="020B0504040101010104" pitchFamily="34" charset="77"/>
              </a:rPr>
              <a:t>Workflows</a:t>
            </a:r>
            <a:r>
              <a:rPr lang="en-US" sz="1200" b="1">
                <a:solidFill>
                  <a:schemeClr val="accent1"/>
                </a:solidFill>
                <a:latin typeface="ServiceNow Sans Display Bold" panose="020B0504040101010104" pitchFamily="34" charset="77"/>
              </a:rPr>
              <a:t> </a:t>
            </a:r>
            <a:br>
              <a:rPr lang="en-US" sz="1200" b="1">
                <a:solidFill>
                  <a:schemeClr val="accent1"/>
                </a:solidFill>
                <a:latin typeface="ServiceNow Sans Display Bold" panose="020B0504040101010104" pitchFamily="34" charset="77"/>
              </a:rPr>
            </a:br>
            <a:r>
              <a:rPr lang="en-US" sz="1050">
                <a:solidFill>
                  <a:schemeClr val="bg1"/>
                </a:solidFill>
                <a:latin typeface="ServiceNow Sans" panose="020B0504040101010104" pitchFamily="34" charset="77"/>
              </a:rPr>
              <a:t>Autonomous, Scalable, Self-healing</a:t>
            </a:r>
            <a:r>
              <a:rPr lang="en-US" sz="1200" b="1">
                <a:solidFill>
                  <a:schemeClr val="accent1"/>
                </a:solidFill>
                <a:latin typeface="ServiceNow Sans Display Bold" panose="020B0504040101010104" pitchFamily="34" charset="77"/>
              </a:rPr>
              <a:t> </a:t>
            </a:r>
          </a:p>
        </p:txBody>
      </p:sp>
      <p:grpSp>
        <p:nvGrpSpPr>
          <p:cNvPr id="75" name="Group 74">
            <a:extLst>
              <a:ext uri="{FF2B5EF4-FFF2-40B4-BE49-F238E27FC236}">
                <a16:creationId xmlns:a16="http://schemas.microsoft.com/office/drawing/2014/main" id="{1E9BA189-6D7D-4C87-3BB0-9B95A78AC637}"/>
              </a:ext>
            </a:extLst>
          </p:cNvPr>
          <p:cNvGrpSpPr>
            <a:grpSpLocks/>
          </p:cNvGrpSpPr>
          <p:nvPr/>
        </p:nvGrpSpPr>
        <p:grpSpPr>
          <a:xfrm>
            <a:off x="5190396" y="8011967"/>
            <a:ext cx="1726935" cy="287290"/>
            <a:chOff x="5190396" y="3733788"/>
            <a:chExt cx="1726935" cy="287290"/>
          </a:xfrm>
        </p:grpSpPr>
        <p:pic>
          <p:nvPicPr>
            <p:cNvPr id="78" name="Picture 77" descr="A close-up of a model&#10;&#10;AI-generated content may be incorrect.">
              <a:extLst>
                <a:ext uri="{FF2B5EF4-FFF2-40B4-BE49-F238E27FC236}">
                  <a16:creationId xmlns:a16="http://schemas.microsoft.com/office/drawing/2014/main" id="{DCDC9C00-01D3-040C-D830-98A916B30785}"/>
                </a:ext>
              </a:extLst>
            </p:cNvPr>
            <p:cNvPicPr>
              <a:picLocks/>
            </p:cNvPicPr>
            <p:nvPr/>
          </p:nvPicPr>
          <p:blipFill>
            <a:blip r:embed="rId3" cstate="screen">
              <a:extLst>
                <a:ext uri="{28A0092B-C50C-407E-A947-70E740481C1C}">
                  <a14:useLocalDpi xmlns:a14="http://schemas.microsoft.com/office/drawing/2010/main"/>
                </a:ext>
              </a:extLst>
            </a:blip>
            <a:stretch>
              <a:fillRect/>
            </a:stretch>
          </p:blipFill>
          <p:spPr>
            <a:xfrm>
              <a:off x="6630039" y="3733788"/>
              <a:ext cx="287292" cy="287290"/>
            </a:xfrm>
            <a:prstGeom prst="rect">
              <a:avLst/>
            </a:prstGeom>
          </p:spPr>
        </p:pic>
        <p:pic>
          <p:nvPicPr>
            <p:cNvPr id="79" name="Picture 78" descr="A close-up of a model&#10;&#10;AI-generated content may be incorrect.">
              <a:extLst>
                <a:ext uri="{FF2B5EF4-FFF2-40B4-BE49-F238E27FC236}">
                  <a16:creationId xmlns:a16="http://schemas.microsoft.com/office/drawing/2014/main" id="{8C75FD08-19FD-5637-BA01-2654C97238F1}"/>
                </a:ext>
              </a:extLst>
            </p:cNvPr>
            <p:cNvPicPr>
              <a:picLocks/>
            </p:cNvPicPr>
            <p:nvPr/>
          </p:nvPicPr>
          <p:blipFill>
            <a:blip r:embed="rId4" cstate="screen">
              <a:extLst>
                <a:ext uri="{28A0092B-C50C-407E-A947-70E740481C1C}">
                  <a14:useLocalDpi xmlns:a14="http://schemas.microsoft.com/office/drawing/2010/main"/>
                </a:ext>
              </a:extLst>
            </a:blip>
            <a:srcRect/>
            <a:stretch/>
          </p:blipFill>
          <p:spPr>
            <a:xfrm flipH="1">
              <a:off x="5190396" y="3757025"/>
              <a:ext cx="366588" cy="230336"/>
            </a:xfrm>
            <a:prstGeom prst="rect">
              <a:avLst/>
            </a:prstGeom>
          </p:spPr>
        </p:pic>
      </p:grpSp>
      <p:grpSp>
        <p:nvGrpSpPr>
          <p:cNvPr id="80" name="Group 79">
            <a:extLst>
              <a:ext uri="{FF2B5EF4-FFF2-40B4-BE49-F238E27FC236}">
                <a16:creationId xmlns:a16="http://schemas.microsoft.com/office/drawing/2014/main" id="{6A266F92-50CC-26D3-30DA-7FFE1A4B4B31}"/>
              </a:ext>
            </a:extLst>
          </p:cNvPr>
          <p:cNvGrpSpPr>
            <a:grpSpLocks/>
          </p:cNvGrpSpPr>
          <p:nvPr/>
        </p:nvGrpSpPr>
        <p:grpSpPr>
          <a:xfrm>
            <a:off x="5762453" y="9637759"/>
            <a:ext cx="683228" cy="201949"/>
            <a:chOff x="5762453" y="4381966"/>
            <a:chExt cx="683228" cy="201949"/>
          </a:xfrm>
        </p:grpSpPr>
        <p:grpSp>
          <p:nvGrpSpPr>
            <p:cNvPr id="81" name="Group 80">
              <a:extLst>
                <a:ext uri="{FF2B5EF4-FFF2-40B4-BE49-F238E27FC236}">
                  <a16:creationId xmlns:a16="http://schemas.microsoft.com/office/drawing/2014/main" id="{538742BA-8188-561A-D919-0649DB6A49AE}"/>
                </a:ext>
              </a:extLst>
            </p:cNvPr>
            <p:cNvGrpSpPr>
              <a:grpSpLocks/>
            </p:cNvGrpSpPr>
            <p:nvPr/>
          </p:nvGrpSpPr>
          <p:grpSpPr>
            <a:xfrm>
              <a:off x="5762453" y="4395787"/>
              <a:ext cx="192996" cy="188128"/>
              <a:chOff x="2023776" y="3578670"/>
              <a:chExt cx="602016" cy="586830"/>
            </a:xfrm>
          </p:grpSpPr>
          <p:pic>
            <p:nvPicPr>
              <p:cNvPr id="88" name="Picture 87" descr="A grey star on a black background&#10;&#10;AI-generated content may be incorrect.">
                <a:extLst>
                  <a:ext uri="{FF2B5EF4-FFF2-40B4-BE49-F238E27FC236}">
                    <a16:creationId xmlns:a16="http://schemas.microsoft.com/office/drawing/2014/main" id="{15CECEA4-D931-9C4F-B6A9-3625D09AA89C}"/>
                  </a:ext>
                </a:extLst>
              </p:cNvPr>
              <p:cNvPicPr>
                <a:picLocks/>
              </p:cNvPicPr>
              <p:nvPr/>
            </p:nvPicPr>
            <p:blipFill>
              <a:blip r:embed="rId5" cstate="screen">
                <a:extLst>
                  <a:ext uri="{28A0092B-C50C-407E-A947-70E740481C1C}">
                    <a14:useLocalDpi xmlns:a14="http://schemas.microsoft.com/office/drawing/2010/main"/>
                  </a:ext>
                </a:extLst>
              </a:blip>
              <a:srcRect/>
              <a:stretch/>
            </p:blipFill>
            <p:spPr>
              <a:xfrm>
                <a:off x="2023776" y="3578670"/>
                <a:ext cx="214166" cy="199143"/>
              </a:xfrm>
              <a:prstGeom prst="rect">
                <a:avLst/>
              </a:prstGeom>
            </p:spPr>
          </p:pic>
          <p:pic>
            <p:nvPicPr>
              <p:cNvPr id="89" name="Picture 2" descr="Picture 2">
                <a:extLst>
                  <a:ext uri="{FF2B5EF4-FFF2-40B4-BE49-F238E27FC236}">
                    <a16:creationId xmlns:a16="http://schemas.microsoft.com/office/drawing/2014/main" id="{76F3864D-078A-C675-3D7E-A4EDF5FAA3A3}"/>
                  </a:ext>
                </a:extLst>
              </p:cNvPr>
              <p:cNvPicPr>
                <a:picLocks/>
              </p:cNvPicPr>
              <p:nvPr/>
            </p:nvPicPr>
            <p:blipFill>
              <a:blip r:embed="rId6" cstate="screen">
                <a:extLst>
                  <a:ext uri="{28A0092B-C50C-407E-A947-70E740481C1C}">
                    <a14:useLocalDpi xmlns:a14="http://schemas.microsoft.com/office/drawing/2010/main"/>
                  </a:ext>
                </a:extLst>
              </a:blip>
              <a:srcRect/>
              <a:stretch>
                <a:fillRect/>
              </a:stretch>
            </p:blipFill>
            <p:spPr>
              <a:xfrm>
                <a:off x="2095521" y="3635183"/>
                <a:ext cx="530271" cy="530317"/>
              </a:xfrm>
              <a:prstGeom prst="rect">
                <a:avLst/>
              </a:prstGeom>
              <a:ln w="12700">
                <a:miter lim="400000"/>
              </a:ln>
            </p:spPr>
          </p:pic>
        </p:grpSp>
        <p:grpSp>
          <p:nvGrpSpPr>
            <p:cNvPr id="82" name="Group 81">
              <a:extLst>
                <a:ext uri="{FF2B5EF4-FFF2-40B4-BE49-F238E27FC236}">
                  <a16:creationId xmlns:a16="http://schemas.microsoft.com/office/drawing/2014/main" id="{800FE54A-6DB8-6382-2BCF-27B923FE1741}"/>
                </a:ext>
              </a:extLst>
            </p:cNvPr>
            <p:cNvGrpSpPr>
              <a:grpSpLocks/>
            </p:cNvGrpSpPr>
            <p:nvPr/>
          </p:nvGrpSpPr>
          <p:grpSpPr>
            <a:xfrm>
              <a:off x="6262695" y="4381966"/>
              <a:ext cx="182986" cy="196182"/>
              <a:chOff x="3520502" y="3500157"/>
              <a:chExt cx="570793" cy="611955"/>
            </a:xfrm>
          </p:grpSpPr>
          <p:grpSp>
            <p:nvGrpSpPr>
              <p:cNvPr id="83" name="Group 82">
                <a:extLst>
                  <a:ext uri="{FF2B5EF4-FFF2-40B4-BE49-F238E27FC236}">
                    <a16:creationId xmlns:a16="http://schemas.microsoft.com/office/drawing/2014/main" id="{4F0016AA-EEF2-0465-CF53-69DE54FCA9EC}"/>
                  </a:ext>
                </a:extLst>
              </p:cNvPr>
              <p:cNvGrpSpPr>
                <a:grpSpLocks/>
              </p:cNvGrpSpPr>
              <p:nvPr/>
            </p:nvGrpSpPr>
            <p:grpSpPr>
              <a:xfrm>
                <a:off x="3520502" y="3500157"/>
                <a:ext cx="509203" cy="541726"/>
                <a:chOff x="3520502" y="3500157"/>
                <a:chExt cx="509203" cy="541726"/>
              </a:xfrm>
            </p:grpSpPr>
            <p:pic>
              <p:nvPicPr>
                <p:cNvPr id="86" name="Picture 2" descr="Picture 2">
                  <a:extLst>
                    <a:ext uri="{FF2B5EF4-FFF2-40B4-BE49-F238E27FC236}">
                      <a16:creationId xmlns:a16="http://schemas.microsoft.com/office/drawing/2014/main" id="{56501F3C-C2D9-0FAA-A64A-BB5A84E49097}"/>
                    </a:ext>
                  </a:extLst>
                </p:cNvPr>
                <p:cNvPicPr>
                  <a:picLocks/>
                </p:cNvPicPr>
                <p:nvPr/>
              </p:nvPicPr>
              <p:blipFill>
                <a:blip r:embed="rId7" cstate="screen">
                  <a:extLst>
                    <a:ext uri="{28A0092B-C50C-407E-A947-70E740481C1C}">
                      <a14:useLocalDpi xmlns:a14="http://schemas.microsoft.com/office/drawing/2010/main"/>
                    </a:ext>
                  </a:extLst>
                </a:blip>
                <a:srcRect/>
                <a:stretch>
                  <a:fillRect/>
                </a:stretch>
              </p:blipFill>
              <p:spPr>
                <a:xfrm>
                  <a:off x="3586503" y="3500157"/>
                  <a:ext cx="443202" cy="443241"/>
                </a:xfrm>
                <a:prstGeom prst="rect">
                  <a:avLst/>
                </a:prstGeom>
                <a:ln w="12700">
                  <a:miter lim="400000"/>
                </a:ln>
              </p:spPr>
            </p:pic>
            <p:pic>
              <p:nvPicPr>
                <p:cNvPr id="87" name="Picture 86" descr="A grey star on a black background&#10;&#10;AI-generated content may be incorrect.">
                  <a:extLst>
                    <a:ext uri="{FF2B5EF4-FFF2-40B4-BE49-F238E27FC236}">
                      <a16:creationId xmlns:a16="http://schemas.microsoft.com/office/drawing/2014/main" id="{77CC87EA-1F48-A90D-E1D8-2478B88AAA5E}"/>
                    </a:ext>
                  </a:extLst>
                </p:cNvPr>
                <p:cNvPicPr>
                  <a:picLocks/>
                </p:cNvPicPr>
                <p:nvPr/>
              </p:nvPicPr>
              <p:blipFill>
                <a:blip r:embed="rId5" cstate="screen">
                  <a:extLst>
                    <a:ext uri="{28A0092B-C50C-407E-A947-70E740481C1C}">
                      <a14:useLocalDpi xmlns:a14="http://schemas.microsoft.com/office/drawing/2010/main"/>
                    </a:ext>
                  </a:extLst>
                </a:blip>
                <a:srcRect/>
                <a:stretch/>
              </p:blipFill>
              <p:spPr>
                <a:xfrm>
                  <a:off x="3520502" y="3842740"/>
                  <a:ext cx="214166" cy="199143"/>
                </a:xfrm>
                <a:prstGeom prst="rect">
                  <a:avLst/>
                </a:prstGeom>
              </p:spPr>
            </p:pic>
          </p:grpSp>
          <p:pic>
            <p:nvPicPr>
              <p:cNvPr id="84" name="Picture 83" descr="A grey star on a black background&#10;&#10;AI-generated content may be incorrect.">
                <a:extLst>
                  <a:ext uri="{FF2B5EF4-FFF2-40B4-BE49-F238E27FC236}">
                    <a16:creationId xmlns:a16="http://schemas.microsoft.com/office/drawing/2014/main" id="{50BD42DE-B622-642B-05CB-A5A4E15ABF1D}"/>
                  </a:ext>
                </a:extLst>
              </p:cNvPr>
              <p:cNvPicPr>
                <a:picLocks/>
              </p:cNvPicPr>
              <p:nvPr/>
            </p:nvPicPr>
            <p:blipFill>
              <a:blip r:embed="rId8" cstate="screen">
                <a:extLst>
                  <a:ext uri="{28A0092B-C50C-407E-A947-70E740481C1C}">
                    <a14:useLocalDpi xmlns:a14="http://schemas.microsoft.com/office/drawing/2010/main"/>
                  </a:ext>
                </a:extLst>
              </a:blip>
              <a:srcRect/>
              <a:stretch/>
            </p:blipFill>
            <p:spPr>
              <a:xfrm>
                <a:off x="3912768" y="3946109"/>
                <a:ext cx="178527" cy="166003"/>
              </a:xfrm>
              <a:prstGeom prst="rect">
                <a:avLst/>
              </a:prstGeom>
            </p:spPr>
          </p:pic>
        </p:grpSp>
      </p:grpSp>
      <p:grpSp>
        <p:nvGrpSpPr>
          <p:cNvPr id="90" name="Group 89">
            <a:extLst>
              <a:ext uri="{FF2B5EF4-FFF2-40B4-BE49-F238E27FC236}">
                <a16:creationId xmlns:a16="http://schemas.microsoft.com/office/drawing/2014/main" id="{EA169381-6AE2-9CC5-2182-F5F3C7CD2BF8}"/>
              </a:ext>
            </a:extLst>
          </p:cNvPr>
          <p:cNvGrpSpPr>
            <a:grpSpLocks/>
          </p:cNvGrpSpPr>
          <p:nvPr/>
        </p:nvGrpSpPr>
        <p:grpSpPr>
          <a:xfrm>
            <a:off x="5608284" y="11668972"/>
            <a:ext cx="923216" cy="180454"/>
            <a:chOff x="5608284" y="5015583"/>
            <a:chExt cx="923216" cy="180454"/>
          </a:xfrm>
        </p:grpSpPr>
        <p:grpSp>
          <p:nvGrpSpPr>
            <p:cNvPr id="91" name="Group 90">
              <a:extLst>
                <a:ext uri="{FF2B5EF4-FFF2-40B4-BE49-F238E27FC236}">
                  <a16:creationId xmlns:a16="http://schemas.microsoft.com/office/drawing/2014/main" id="{0FB87E74-13E3-F8EE-4711-6B7C3B3D1F9F}"/>
                </a:ext>
              </a:extLst>
            </p:cNvPr>
            <p:cNvGrpSpPr>
              <a:grpSpLocks/>
            </p:cNvGrpSpPr>
            <p:nvPr/>
          </p:nvGrpSpPr>
          <p:grpSpPr>
            <a:xfrm>
              <a:off x="5608284" y="5015583"/>
              <a:ext cx="201452" cy="167561"/>
              <a:chOff x="4933047" y="-352651"/>
              <a:chExt cx="398292" cy="331285"/>
            </a:xfrm>
          </p:grpSpPr>
          <p:pic>
            <p:nvPicPr>
              <p:cNvPr id="97" name="Picture 96" descr="A green and blue balls&#10;&#10;AI-generated content may be incorrect.">
                <a:extLst>
                  <a:ext uri="{FF2B5EF4-FFF2-40B4-BE49-F238E27FC236}">
                    <a16:creationId xmlns:a16="http://schemas.microsoft.com/office/drawing/2014/main" id="{044588AD-190D-866C-F612-BAB275AA19D6}"/>
                  </a:ext>
                </a:extLst>
              </p:cNvPr>
              <p:cNvPicPr>
                <a:picLocks/>
              </p:cNvPicPr>
              <p:nvPr/>
            </p:nvPicPr>
            <p:blipFill>
              <a:blip r:embed="rId9" cstate="screen">
                <a:extLst>
                  <a:ext uri="{28A0092B-C50C-407E-A947-70E740481C1C}">
                    <a14:useLocalDpi xmlns:a14="http://schemas.microsoft.com/office/drawing/2010/main"/>
                  </a:ext>
                </a:extLst>
              </a:blip>
              <a:srcRect/>
              <a:stretch/>
            </p:blipFill>
            <p:spPr>
              <a:xfrm>
                <a:off x="5036503" y="-316202"/>
                <a:ext cx="294836" cy="294836"/>
              </a:xfrm>
              <a:prstGeom prst="ellipse">
                <a:avLst/>
              </a:prstGeom>
            </p:spPr>
          </p:pic>
          <p:pic>
            <p:nvPicPr>
              <p:cNvPr id="98" name="Picture 97" descr="A group of bubbles in the air&#10;&#10;AI-generated content may be incorrect.">
                <a:extLst>
                  <a:ext uri="{FF2B5EF4-FFF2-40B4-BE49-F238E27FC236}">
                    <a16:creationId xmlns:a16="http://schemas.microsoft.com/office/drawing/2014/main" id="{D4B9F4AD-40D7-5BA2-57DC-6EB5C0A36B84}"/>
                  </a:ext>
                </a:extLst>
              </p:cNvPr>
              <p:cNvPicPr>
                <a:picLocks/>
              </p:cNvPicPr>
              <p:nvPr/>
            </p:nvPicPr>
            <p:blipFill rotWithShape="1">
              <a:blip r:embed="rId10" cstate="screen">
                <a:extLst>
                  <a:ext uri="{28A0092B-C50C-407E-A947-70E740481C1C}">
                    <a14:useLocalDpi xmlns:a14="http://schemas.microsoft.com/office/drawing/2010/main"/>
                  </a:ext>
                </a:extLst>
              </a:blip>
              <a:srcRect/>
              <a:stretch/>
            </p:blipFill>
            <p:spPr>
              <a:xfrm>
                <a:off x="4933047" y="-352651"/>
                <a:ext cx="81225" cy="81225"/>
              </a:xfrm>
              <a:prstGeom prst="ellipse">
                <a:avLst/>
              </a:prstGeom>
            </p:spPr>
          </p:pic>
        </p:grpSp>
        <p:grpSp>
          <p:nvGrpSpPr>
            <p:cNvPr id="92" name="Group 91">
              <a:extLst>
                <a:ext uri="{FF2B5EF4-FFF2-40B4-BE49-F238E27FC236}">
                  <a16:creationId xmlns:a16="http://schemas.microsoft.com/office/drawing/2014/main" id="{404CD3E3-A26E-BE09-E340-56ECC039827F}"/>
                </a:ext>
              </a:extLst>
            </p:cNvPr>
            <p:cNvGrpSpPr>
              <a:grpSpLocks/>
            </p:cNvGrpSpPr>
            <p:nvPr/>
          </p:nvGrpSpPr>
          <p:grpSpPr>
            <a:xfrm>
              <a:off x="6366060" y="5019467"/>
              <a:ext cx="165440" cy="176570"/>
              <a:chOff x="6796763" y="-359287"/>
              <a:chExt cx="461065" cy="492085"/>
            </a:xfrm>
          </p:grpSpPr>
          <p:pic>
            <p:nvPicPr>
              <p:cNvPr id="93" name="Picture 92" descr="A group of bubbles in the air&#10;&#10;AI-generated content may be incorrect.">
                <a:extLst>
                  <a:ext uri="{FF2B5EF4-FFF2-40B4-BE49-F238E27FC236}">
                    <a16:creationId xmlns:a16="http://schemas.microsoft.com/office/drawing/2014/main" id="{EDAD2613-6462-FBE1-AEB0-586453EB8093}"/>
                  </a:ext>
                </a:extLst>
              </p:cNvPr>
              <p:cNvPicPr>
                <a:picLocks/>
              </p:cNvPicPr>
              <p:nvPr/>
            </p:nvPicPr>
            <p:blipFill rotWithShape="1">
              <a:blip r:embed="rId11" cstate="screen">
                <a:extLst>
                  <a:ext uri="{28A0092B-C50C-407E-A947-70E740481C1C}">
                    <a14:useLocalDpi xmlns:a14="http://schemas.microsoft.com/office/drawing/2010/main"/>
                  </a:ext>
                </a:extLst>
              </a:blip>
              <a:srcRect/>
              <a:stretch/>
            </p:blipFill>
            <p:spPr>
              <a:xfrm>
                <a:off x="6796763" y="-359287"/>
                <a:ext cx="361781" cy="361781"/>
              </a:xfrm>
              <a:prstGeom prst="ellipse">
                <a:avLst/>
              </a:prstGeom>
            </p:spPr>
          </p:pic>
          <p:pic>
            <p:nvPicPr>
              <p:cNvPr id="96" name="Picture 95" descr="A green and blue balls&#10;&#10;AI-generated content may be incorrect.">
                <a:extLst>
                  <a:ext uri="{FF2B5EF4-FFF2-40B4-BE49-F238E27FC236}">
                    <a16:creationId xmlns:a16="http://schemas.microsoft.com/office/drawing/2014/main" id="{045245E6-D5BB-68B2-9C31-CFE1C5396B02}"/>
                  </a:ext>
                </a:extLst>
              </p:cNvPr>
              <p:cNvPicPr>
                <a:picLocks/>
              </p:cNvPicPr>
              <p:nvPr/>
            </p:nvPicPr>
            <p:blipFill>
              <a:blip r:embed="rId12" cstate="screen">
                <a:extLst>
                  <a:ext uri="{28A0092B-C50C-407E-A947-70E740481C1C}">
                    <a14:useLocalDpi xmlns:a14="http://schemas.microsoft.com/office/drawing/2010/main"/>
                  </a:ext>
                </a:extLst>
              </a:blip>
              <a:srcRect/>
              <a:stretch/>
            </p:blipFill>
            <p:spPr>
              <a:xfrm>
                <a:off x="7128366" y="3336"/>
                <a:ext cx="129462" cy="129462"/>
              </a:xfrm>
              <a:prstGeom prst="ellipse">
                <a:avLst/>
              </a:prstGeom>
            </p:spPr>
          </p:pic>
        </p:grpSp>
      </p:grpSp>
      <p:pic>
        <p:nvPicPr>
          <p:cNvPr id="99" name="Picture 98">
            <a:extLst>
              <a:ext uri="{FF2B5EF4-FFF2-40B4-BE49-F238E27FC236}">
                <a16:creationId xmlns:a16="http://schemas.microsoft.com/office/drawing/2014/main" id="{0CCE31C1-9BD3-9EB5-B0EB-97C7D37124FD}"/>
              </a:ext>
            </a:extLst>
          </p:cNvPr>
          <p:cNvPicPr>
            <a:picLocks noChangeAspect="1"/>
          </p:cNvPicPr>
          <p:nvPr/>
        </p:nvPicPr>
        <p:blipFill>
          <a:blip r:embed="rId13" cstate="screen">
            <a:extLst>
              <a:ext uri="{28A0092B-C50C-407E-A947-70E740481C1C}">
                <a14:useLocalDpi xmlns:a14="http://schemas.microsoft.com/office/drawing/2010/main"/>
              </a:ext>
            </a:extLst>
          </a:blip>
          <a:srcRect/>
          <a:stretch>
            <a:fillRect/>
          </a:stretch>
        </p:blipFill>
        <p:spPr>
          <a:xfrm>
            <a:off x="-1" y="6684812"/>
            <a:ext cx="12190415" cy="173187"/>
          </a:xfrm>
          <a:prstGeom prst="rect">
            <a:avLst/>
          </a:prstGeom>
        </p:spPr>
      </p:pic>
      <p:sp>
        <p:nvSpPr>
          <p:cNvPr id="7" name="Rectangle 6">
            <a:extLst>
              <a:ext uri="{FF2B5EF4-FFF2-40B4-BE49-F238E27FC236}">
                <a16:creationId xmlns:a16="http://schemas.microsoft.com/office/drawing/2014/main" id="{842ED869-5B5A-B4A9-DAE6-01903D64C0B2}"/>
              </a:ext>
            </a:extLst>
          </p:cNvPr>
          <p:cNvSpPr>
            <a:spLocks/>
          </p:cNvSpPr>
          <p:nvPr/>
        </p:nvSpPr>
        <p:spPr>
          <a:xfrm>
            <a:off x="3160740"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8" name="Rectangle 7">
            <a:extLst>
              <a:ext uri="{FF2B5EF4-FFF2-40B4-BE49-F238E27FC236}">
                <a16:creationId xmlns:a16="http://schemas.microsoft.com/office/drawing/2014/main" id="{D23143BF-81BA-6D42-0FB0-6D4CA9A60AAE}"/>
              </a:ext>
            </a:extLst>
          </p:cNvPr>
          <p:cNvSpPr>
            <a:spLocks/>
          </p:cNvSpPr>
          <p:nvPr/>
        </p:nvSpPr>
        <p:spPr>
          <a:xfrm>
            <a:off x="5225708"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12" name="Rectangle 11">
            <a:extLst>
              <a:ext uri="{FF2B5EF4-FFF2-40B4-BE49-F238E27FC236}">
                <a16:creationId xmlns:a16="http://schemas.microsoft.com/office/drawing/2014/main" id="{2C178B57-F232-BD05-D7F1-3BE542ABFAE7}"/>
              </a:ext>
            </a:extLst>
          </p:cNvPr>
          <p:cNvSpPr>
            <a:spLocks/>
          </p:cNvSpPr>
          <p:nvPr/>
        </p:nvSpPr>
        <p:spPr>
          <a:xfrm>
            <a:off x="7290676"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14" name="Rectangle 13">
            <a:extLst>
              <a:ext uri="{FF2B5EF4-FFF2-40B4-BE49-F238E27FC236}">
                <a16:creationId xmlns:a16="http://schemas.microsoft.com/office/drawing/2014/main" id="{00E7F13C-EF8F-63AD-9E06-527E6E50F5A8}"/>
              </a:ext>
            </a:extLst>
          </p:cNvPr>
          <p:cNvSpPr>
            <a:spLocks/>
          </p:cNvSpPr>
          <p:nvPr/>
        </p:nvSpPr>
        <p:spPr>
          <a:xfrm>
            <a:off x="9355645" y="1552566"/>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30" name="Rectangle 29">
            <a:extLst>
              <a:ext uri="{FF2B5EF4-FFF2-40B4-BE49-F238E27FC236}">
                <a16:creationId xmlns:a16="http://schemas.microsoft.com/office/drawing/2014/main" id="{0C961571-D9D9-88D8-065D-A3C4A319E6B2}"/>
              </a:ext>
            </a:extLst>
          </p:cNvPr>
          <p:cNvSpPr>
            <a:spLocks/>
          </p:cNvSpPr>
          <p:nvPr/>
        </p:nvSpPr>
        <p:spPr>
          <a:xfrm>
            <a:off x="1098874" y="1563444"/>
            <a:ext cx="1737406" cy="3348538"/>
          </a:xfrm>
          <a:prstGeom prst="rect">
            <a:avLst/>
          </a:prstGeom>
          <a:gradFill>
            <a:gsLst>
              <a:gs pos="0">
                <a:schemeClr val="accent1">
                  <a:alpha val="0"/>
                </a:schemeClr>
              </a:gs>
              <a:gs pos="90000">
                <a:schemeClr val="accent5">
                  <a:lumMod val="20000"/>
                  <a:lumOff val="8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29" name="Rounded Rectangle 2">
            <a:extLst>
              <a:ext uri="{FF2B5EF4-FFF2-40B4-BE49-F238E27FC236}">
                <a16:creationId xmlns:a16="http://schemas.microsoft.com/office/drawing/2014/main" id="{00393857-B2D4-B344-1505-0C10FBD0C778}"/>
              </a:ext>
            </a:extLst>
          </p:cNvPr>
          <p:cNvSpPr>
            <a:spLocks/>
          </p:cNvSpPr>
          <p:nvPr/>
        </p:nvSpPr>
        <p:spPr>
          <a:xfrm>
            <a:off x="1011045" y="1552565"/>
            <a:ext cx="1906861" cy="4159364"/>
          </a:xfrm>
          <a:prstGeom prst="roundRect">
            <a:avLst>
              <a:gd name="adj" fmla="val 3950"/>
            </a:avLst>
          </a:prstGeom>
          <a:blipFill>
            <a:blip r:embed="rId14"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rviceNow Sans Light" panose="020B0404040101010104" pitchFamily="34" charset="77"/>
              <a:ea typeface="+mn-ea"/>
              <a:cs typeface="+mn-cs"/>
            </a:endParaRPr>
          </a:p>
        </p:txBody>
      </p:sp>
      <p:sp>
        <p:nvSpPr>
          <p:cNvPr id="43" name="Rounded Rectangle 2">
            <a:extLst>
              <a:ext uri="{FF2B5EF4-FFF2-40B4-BE49-F238E27FC236}">
                <a16:creationId xmlns:a16="http://schemas.microsoft.com/office/drawing/2014/main" id="{8C9BFA8B-A371-AD0F-988F-53A35010A08C}"/>
              </a:ext>
            </a:extLst>
          </p:cNvPr>
          <p:cNvSpPr>
            <a:spLocks/>
          </p:cNvSpPr>
          <p:nvPr/>
        </p:nvSpPr>
        <p:spPr>
          <a:xfrm>
            <a:off x="3076013" y="1552565"/>
            <a:ext cx="1906861" cy="4159364"/>
          </a:xfrm>
          <a:prstGeom prst="roundRect">
            <a:avLst>
              <a:gd name="adj" fmla="val 3950"/>
            </a:avLst>
          </a:prstGeom>
          <a:blipFill>
            <a:blip r:embed="rId14"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rviceNow Sans Light" panose="020B0404040101010104" pitchFamily="34" charset="77"/>
              <a:ea typeface="+mn-ea"/>
              <a:cs typeface="+mn-cs"/>
            </a:endParaRPr>
          </a:p>
        </p:txBody>
      </p:sp>
      <p:sp>
        <p:nvSpPr>
          <p:cNvPr id="47" name="Rounded Rectangle 2">
            <a:extLst>
              <a:ext uri="{FF2B5EF4-FFF2-40B4-BE49-F238E27FC236}">
                <a16:creationId xmlns:a16="http://schemas.microsoft.com/office/drawing/2014/main" id="{23CB98F6-1985-2F1E-7748-AAD77154AADB}"/>
              </a:ext>
            </a:extLst>
          </p:cNvPr>
          <p:cNvSpPr>
            <a:spLocks/>
          </p:cNvSpPr>
          <p:nvPr/>
        </p:nvSpPr>
        <p:spPr>
          <a:xfrm>
            <a:off x="5140981" y="1552565"/>
            <a:ext cx="1906861" cy="4159364"/>
          </a:xfrm>
          <a:prstGeom prst="roundRect">
            <a:avLst>
              <a:gd name="adj" fmla="val 3950"/>
            </a:avLst>
          </a:prstGeom>
          <a:blipFill>
            <a:blip r:embed="rId14"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rviceNow Sans Light" panose="020B0404040101010104" pitchFamily="34" charset="77"/>
              <a:ea typeface="+mn-ea"/>
              <a:cs typeface="+mn-cs"/>
            </a:endParaRPr>
          </a:p>
        </p:txBody>
      </p:sp>
      <p:sp>
        <p:nvSpPr>
          <p:cNvPr id="51" name="Rounded Rectangle 2">
            <a:extLst>
              <a:ext uri="{FF2B5EF4-FFF2-40B4-BE49-F238E27FC236}">
                <a16:creationId xmlns:a16="http://schemas.microsoft.com/office/drawing/2014/main" id="{89713F30-88D5-83B1-C7DC-434F0FE8F3B8}"/>
              </a:ext>
            </a:extLst>
          </p:cNvPr>
          <p:cNvSpPr>
            <a:spLocks/>
          </p:cNvSpPr>
          <p:nvPr/>
        </p:nvSpPr>
        <p:spPr>
          <a:xfrm>
            <a:off x="7205949" y="1552565"/>
            <a:ext cx="1906861" cy="4159364"/>
          </a:xfrm>
          <a:prstGeom prst="roundRect">
            <a:avLst>
              <a:gd name="adj" fmla="val 3950"/>
            </a:avLst>
          </a:prstGeom>
          <a:blipFill>
            <a:blip r:embed="rId14"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rviceNow Sans Light" panose="020B0404040101010104" pitchFamily="34" charset="77"/>
              <a:ea typeface="+mn-ea"/>
              <a:cs typeface="+mn-cs"/>
            </a:endParaRPr>
          </a:p>
        </p:txBody>
      </p:sp>
      <p:sp>
        <p:nvSpPr>
          <p:cNvPr id="5" name="Rounded Rectangle 2">
            <a:extLst>
              <a:ext uri="{FF2B5EF4-FFF2-40B4-BE49-F238E27FC236}">
                <a16:creationId xmlns:a16="http://schemas.microsoft.com/office/drawing/2014/main" id="{65F277CC-F949-FF5F-12C9-45110971F234}"/>
              </a:ext>
            </a:extLst>
          </p:cNvPr>
          <p:cNvSpPr>
            <a:spLocks/>
          </p:cNvSpPr>
          <p:nvPr/>
        </p:nvSpPr>
        <p:spPr>
          <a:xfrm>
            <a:off x="9270918" y="1552565"/>
            <a:ext cx="1906861" cy="4159364"/>
          </a:xfrm>
          <a:prstGeom prst="roundRect">
            <a:avLst>
              <a:gd name="adj" fmla="val 3950"/>
            </a:avLst>
          </a:prstGeom>
          <a:blipFill>
            <a:blip r:embed="rId14"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rviceNow Sans Light" panose="020B0404040101010104" pitchFamily="34" charset="77"/>
              <a:ea typeface="+mn-ea"/>
              <a:cs typeface="+mn-cs"/>
            </a:endParaRPr>
          </a:p>
        </p:txBody>
      </p:sp>
      <p:grpSp>
        <p:nvGrpSpPr>
          <p:cNvPr id="37" name="Group 36">
            <a:extLst>
              <a:ext uri="{FF2B5EF4-FFF2-40B4-BE49-F238E27FC236}">
                <a16:creationId xmlns:a16="http://schemas.microsoft.com/office/drawing/2014/main" id="{A42CB079-2B97-D8D3-4C9D-FE86C830AACF}"/>
              </a:ext>
            </a:extLst>
          </p:cNvPr>
          <p:cNvGrpSpPr>
            <a:grpSpLocks/>
          </p:cNvGrpSpPr>
          <p:nvPr/>
        </p:nvGrpSpPr>
        <p:grpSpPr>
          <a:xfrm>
            <a:off x="1007816" y="3043232"/>
            <a:ext cx="10169963" cy="1333850"/>
            <a:chOff x="552306" y="3043232"/>
            <a:chExt cx="10625473" cy="1333850"/>
          </a:xfrm>
        </p:grpSpPr>
        <p:cxnSp>
          <p:nvCxnSpPr>
            <p:cNvPr id="9" name="Straight Connector 8">
              <a:extLst>
                <a:ext uri="{FF2B5EF4-FFF2-40B4-BE49-F238E27FC236}">
                  <a16:creationId xmlns:a16="http://schemas.microsoft.com/office/drawing/2014/main" id="{CAF32499-ACBB-2A64-C8BA-B57F5F0AA78A}"/>
                </a:ext>
              </a:extLst>
            </p:cNvPr>
            <p:cNvCxnSpPr>
              <a:cxnSpLocks/>
            </p:cNvCxnSpPr>
            <p:nvPr/>
          </p:nvCxnSpPr>
          <p:spPr>
            <a:xfrm>
              <a:off x="552306" y="3043232"/>
              <a:ext cx="10625473" cy="0"/>
            </a:xfrm>
            <a:prstGeom prst="line">
              <a:avLst/>
            </a:prstGeom>
            <a:ln>
              <a:solidFill>
                <a:schemeClr val="bg1">
                  <a:alpha val="9901"/>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F6C52C3-0364-4A8A-6481-E42B6907E371}"/>
                </a:ext>
              </a:extLst>
            </p:cNvPr>
            <p:cNvCxnSpPr>
              <a:cxnSpLocks/>
            </p:cNvCxnSpPr>
            <p:nvPr/>
          </p:nvCxnSpPr>
          <p:spPr>
            <a:xfrm>
              <a:off x="552306" y="4377082"/>
              <a:ext cx="10625473" cy="0"/>
            </a:xfrm>
            <a:prstGeom prst="line">
              <a:avLst/>
            </a:prstGeom>
            <a:ln>
              <a:solidFill>
                <a:schemeClr val="bg1">
                  <a:alpha val="9901"/>
                </a:schemeClr>
              </a:solidFill>
            </a:ln>
          </p:spPr>
          <p:style>
            <a:lnRef idx="1">
              <a:schemeClr val="accent1"/>
            </a:lnRef>
            <a:fillRef idx="0">
              <a:schemeClr val="accent1"/>
            </a:fillRef>
            <a:effectRef idx="0">
              <a:schemeClr val="accent1"/>
            </a:effectRef>
            <a:fontRef idx="minor">
              <a:schemeClr val="tx1"/>
            </a:fontRef>
          </p:style>
        </p:cxnSp>
      </p:grpSp>
      <p:sp>
        <p:nvSpPr>
          <p:cNvPr id="26" name="Pentagon 25">
            <a:extLst>
              <a:ext uri="{FF2B5EF4-FFF2-40B4-BE49-F238E27FC236}">
                <a16:creationId xmlns:a16="http://schemas.microsoft.com/office/drawing/2014/main" id="{A31DB0EF-FBC3-DF09-B9E9-41CF57E0ABEA}"/>
              </a:ext>
            </a:extLst>
          </p:cNvPr>
          <p:cNvSpPr>
            <a:spLocks/>
          </p:cNvSpPr>
          <p:nvPr/>
        </p:nvSpPr>
        <p:spPr>
          <a:xfrm rot="5400000" flipH="1">
            <a:off x="9067864" y="3595370"/>
            <a:ext cx="4678572" cy="315483"/>
          </a:xfrm>
          <a:prstGeom prst="homePlate">
            <a:avLst/>
          </a:prstGeom>
          <a:gradFill flip="none" rotWithShape="1">
            <a:gsLst>
              <a:gs pos="12000">
                <a:schemeClr val="accent1">
                  <a:alpha val="85286"/>
                </a:schemeClr>
              </a:gs>
              <a:gs pos="43000">
                <a:schemeClr val="accent3">
                  <a:alpha val="60921"/>
                </a:schemeClr>
              </a:gs>
              <a:gs pos="70000">
                <a:schemeClr val="accent5">
                  <a:alpha val="71605"/>
                </a:schemeClr>
              </a:gs>
              <a:gs pos="93000">
                <a:schemeClr val="accent5">
                  <a:alpha val="0"/>
                </a:schemeClr>
              </a:gs>
            </a:gsLst>
            <a:lin ang="9000000" scaled="0"/>
            <a:tileRect/>
          </a:gradFill>
          <a:ln w="12700" cap="flat" cmpd="sng" algn="ctr">
            <a:noFill/>
            <a:prstDash val="solid"/>
            <a:miter lim="800000"/>
          </a:ln>
          <a:effectLst/>
          <a:scene3d>
            <a:camera prst="orthographicFront"/>
            <a:lightRig rig="soft" dir="t"/>
          </a:scene3d>
          <a:sp3d prstMaterial="powder">
            <a:bevelT w="19050" h="12700"/>
          </a:sp3d>
        </p:spPr>
        <p:txBody>
          <a:bodyPr rtlCol="0" anchor="ctr"/>
          <a:lstStyle/>
          <a:p>
            <a:pPr algn="ctr" defTabSz="914126">
              <a:defRPr/>
            </a:pPr>
            <a:endParaRPr lang="en-US" kern="0">
              <a:solidFill>
                <a:srgbClr val="000000"/>
              </a:solidFill>
              <a:latin typeface="ServiceNow Sans" panose="020B0504040101010104" pitchFamily="34" charset="77"/>
              <a:cs typeface="ServiceNow Sans Display BETA1 M" panose="020B0604040101010104" pitchFamily="34" charset="0"/>
            </a:endParaRPr>
          </a:p>
        </p:txBody>
      </p:sp>
      <p:sp>
        <p:nvSpPr>
          <p:cNvPr id="27" name="TextBox 26">
            <a:extLst>
              <a:ext uri="{FF2B5EF4-FFF2-40B4-BE49-F238E27FC236}">
                <a16:creationId xmlns:a16="http://schemas.microsoft.com/office/drawing/2014/main" id="{D723E0A9-37E0-0955-8BEF-C66C018BC15E}"/>
              </a:ext>
            </a:extLst>
          </p:cNvPr>
          <p:cNvSpPr txBox="1">
            <a:spLocks/>
          </p:cNvSpPr>
          <p:nvPr/>
        </p:nvSpPr>
        <p:spPr>
          <a:xfrm rot="16200000">
            <a:off x="10740334" y="3628462"/>
            <a:ext cx="1334846" cy="249299"/>
          </a:xfrm>
          <a:prstGeom prst="rect">
            <a:avLst/>
          </a:prstGeom>
          <a:noFill/>
        </p:spPr>
        <p:txBody>
          <a:bodyPr wrap="square" rtlCol="0">
            <a:spAutoFit/>
          </a:bodyPr>
          <a:lstStyle/>
          <a:p>
            <a:pPr marL="0" marR="0" lvl="0" indent="0" algn="ctr" defTabSz="457040" rtl="0" eaLnBrk="1" fontAlgn="auto" latinLnBrk="0" hangingPunct="1">
              <a:lnSpc>
                <a:spcPct val="85000"/>
              </a:lnSpc>
              <a:spcBef>
                <a:spcPts val="0"/>
              </a:spcBef>
              <a:spcAft>
                <a:spcPts val="0"/>
              </a:spcAft>
              <a:buClrTx/>
              <a:buSzTx/>
              <a:buFontTx/>
              <a:buNone/>
              <a:tabLst/>
              <a:defRPr/>
            </a:pPr>
            <a:r>
              <a:rPr kumimoji="0" lang="en-US" sz="1200" u="none" strike="noStrike" kern="1200" cap="none" spc="0" normalizeH="0" baseline="0" noProof="0">
                <a:ln>
                  <a:noFill/>
                </a:ln>
                <a:solidFill>
                  <a:schemeClr val="bg1"/>
                </a:solidFill>
                <a:effectLst/>
                <a:uLnTx/>
                <a:uFillTx/>
                <a:latin typeface="ServiceNow Sans Medium" panose="020B0504040101010104" pitchFamily="34" charset="77"/>
              </a:rPr>
              <a:t>Business Value</a:t>
            </a:r>
          </a:p>
        </p:txBody>
      </p:sp>
      <p:sp>
        <p:nvSpPr>
          <p:cNvPr id="72" name="TextBox 71">
            <a:extLst>
              <a:ext uri="{FF2B5EF4-FFF2-40B4-BE49-F238E27FC236}">
                <a16:creationId xmlns:a16="http://schemas.microsoft.com/office/drawing/2014/main" id="{A2F2806E-2701-BF1B-8F0D-8B961EE0DA97}"/>
              </a:ext>
            </a:extLst>
          </p:cNvPr>
          <p:cNvSpPr txBox="1">
            <a:spLocks/>
          </p:cNvSpPr>
          <p:nvPr/>
        </p:nvSpPr>
        <p:spPr>
          <a:xfrm>
            <a:off x="7198013" y="3381122"/>
            <a:ext cx="1922732" cy="646331"/>
          </a:xfrm>
          <a:prstGeom prst="rect">
            <a:avLst/>
          </a:prstGeom>
          <a:noFill/>
        </p:spPr>
        <p:txBody>
          <a:bodyPr wrap="square" rtlCol="0">
            <a:spAutoFit/>
          </a:bodyPr>
          <a:lstStyle/>
          <a:p>
            <a:pPr lvl="0" algn="ctr">
              <a:defRPr/>
            </a:pPr>
            <a:r>
              <a:rPr lang="en-US" sz="1200">
                <a:solidFill>
                  <a:schemeClr val="accent3"/>
                </a:solidFill>
                <a:latin typeface="ServiceNow Sans" panose="020B0504040101010104" pitchFamily="34" charset="77"/>
              </a:rPr>
              <a:t>Orchestrated remediation for prioritized exposures</a:t>
            </a:r>
          </a:p>
        </p:txBody>
      </p:sp>
      <p:sp>
        <p:nvSpPr>
          <p:cNvPr id="73" name="TextBox 72">
            <a:extLst>
              <a:ext uri="{FF2B5EF4-FFF2-40B4-BE49-F238E27FC236}">
                <a16:creationId xmlns:a16="http://schemas.microsoft.com/office/drawing/2014/main" id="{4B18785B-3A2D-B934-FF94-599926436496}"/>
              </a:ext>
            </a:extLst>
          </p:cNvPr>
          <p:cNvSpPr txBox="1">
            <a:spLocks/>
          </p:cNvSpPr>
          <p:nvPr/>
        </p:nvSpPr>
        <p:spPr>
          <a:xfrm>
            <a:off x="9262982" y="3382343"/>
            <a:ext cx="1922732" cy="461665"/>
          </a:xfrm>
          <a:prstGeom prst="rect">
            <a:avLst/>
          </a:prstGeom>
          <a:noFill/>
        </p:spPr>
        <p:txBody>
          <a:bodyPr wrap="square" rtlCol="0">
            <a:spAutoFit/>
          </a:bodyPr>
          <a:lstStyle/>
          <a:p>
            <a:pPr lvl="0" algn="ctr">
              <a:defRPr/>
            </a:pPr>
            <a:r>
              <a:rPr lang="en-US" sz="1200">
                <a:solidFill>
                  <a:schemeClr val="accent3"/>
                </a:solidFill>
                <a:latin typeface="ServiceNow Sans" panose="020B0504040101010104" pitchFamily="34" charset="77"/>
              </a:rPr>
              <a:t>Automate</a:t>
            </a:r>
            <a:br>
              <a:rPr lang="en-US" sz="1200">
                <a:solidFill>
                  <a:schemeClr val="accent3"/>
                </a:solidFill>
                <a:latin typeface="ServiceNow Sans" panose="020B0504040101010104" pitchFamily="34" charset="77"/>
              </a:rPr>
            </a:br>
            <a:r>
              <a:rPr lang="en-US" sz="1200">
                <a:solidFill>
                  <a:schemeClr val="accent3"/>
                </a:solidFill>
                <a:latin typeface="ServiceNow Sans" panose="020B0504040101010104" pitchFamily="34" charset="77"/>
              </a:rPr>
              <a:t>planning</a:t>
            </a:r>
          </a:p>
        </p:txBody>
      </p:sp>
      <p:pic>
        <p:nvPicPr>
          <p:cNvPr id="94" name="Picture 93" descr="A green and grey star shaped objects&#10;&#10;AI-generated content may be incorrect.">
            <a:extLst>
              <a:ext uri="{FF2B5EF4-FFF2-40B4-BE49-F238E27FC236}">
                <a16:creationId xmlns:a16="http://schemas.microsoft.com/office/drawing/2014/main" id="{6EEAA9C8-5299-ECF7-6BE5-673270C2E9FB}"/>
              </a:ext>
            </a:extLst>
          </p:cNvPr>
          <p:cNvPicPr>
            <a:picLocks noChangeAspect="1"/>
          </p:cNvPicPr>
          <p:nvPr/>
        </p:nvPicPr>
        <p:blipFill>
          <a:blip r:embed="rId15" cstate="screen">
            <a:alphaModFix amt="0"/>
            <a:extLst>
              <a:ext uri="{28A0092B-C50C-407E-A947-70E740481C1C}">
                <a14:useLocalDpi xmlns:a14="http://schemas.microsoft.com/office/drawing/2010/main"/>
              </a:ext>
            </a:extLst>
          </a:blip>
          <a:srcRect/>
          <a:stretch>
            <a:fillRect/>
          </a:stretch>
        </p:blipFill>
        <p:spPr>
          <a:xfrm>
            <a:off x="5580206" y="5643586"/>
            <a:ext cx="1028412" cy="990132"/>
          </a:xfrm>
          <a:prstGeom prst="rect">
            <a:avLst/>
          </a:prstGeom>
          <a:effectLst/>
        </p:spPr>
      </p:pic>
      <p:pic>
        <p:nvPicPr>
          <p:cNvPr id="95" name="Picture 94">
            <a:extLst>
              <a:ext uri="{FF2B5EF4-FFF2-40B4-BE49-F238E27FC236}">
                <a16:creationId xmlns:a16="http://schemas.microsoft.com/office/drawing/2014/main" id="{E9A84544-E557-0ABB-44EB-BA25A9AB4267}"/>
              </a:ext>
            </a:extLst>
          </p:cNvPr>
          <p:cNvPicPr>
            <a:picLocks/>
          </p:cNvPicPr>
          <p:nvPr/>
        </p:nvPicPr>
        <p:blipFill>
          <a:blip r:embed="rId16" cstate="screen">
            <a:alphaModFix amt="0"/>
            <a:extLst>
              <a:ext uri="{28A0092B-C50C-407E-A947-70E740481C1C}">
                <a14:useLocalDpi xmlns:a14="http://schemas.microsoft.com/office/drawing/2010/main"/>
              </a:ext>
            </a:extLst>
          </a:blip>
          <a:srcRect/>
          <a:stretch/>
        </p:blipFill>
        <p:spPr>
          <a:xfrm>
            <a:off x="5538642" y="5918278"/>
            <a:ext cx="1111540" cy="1337736"/>
          </a:xfrm>
          <a:prstGeom prst="rect">
            <a:avLst/>
          </a:prstGeom>
        </p:spPr>
      </p:pic>
      <p:sp>
        <p:nvSpPr>
          <p:cNvPr id="15" name="TextBox 14">
            <a:extLst>
              <a:ext uri="{FF2B5EF4-FFF2-40B4-BE49-F238E27FC236}">
                <a16:creationId xmlns:a16="http://schemas.microsoft.com/office/drawing/2014/main" id="{251DA02D-40C6-A809-97EE-5DD5D20303F6}"/>
              </a:ext>
            </a:extLst>
          </p:cNvPr>
          <p:cNvSpPr txBox="1">
            <a:spLocks/>
          </p:cNvSpPr>
          <p:nvPr/>
        </p:nvSpPr>
        <p:spPr>
          <a:xfrm>
            <a:off x="9262982" y="4725238"/>
            <a:ext cx="1922732" cy="646331"/>
          </a:xfrm>
          <a:prstGeom prst="rect">
            <a:avLst/>
          </a:prstGeom>
          <a:noFill/>
        </p:spPr>
        <p:txBody>
          <a:bodyPr wrap="square" rtlCol="0">
            <a:spAutoFit/>
          </a:bodyPr>
          <a:lstStyle/>
          <a:p>
            <a:pPr lvl="0" algn="ctr">
              <a:defRPr/>
            </a:pPr>
            <a:r>
              <a:rPr lang="en-US" sz="1200">
                <a:solidFill>
                  <a:schemeClr val="accent6"/>
                </a:solidFill>
                <a:latin typeface="ServiceNow Sans" panose="020B0504040101010104" pitchFamily="34" charset="77"/>
              </a:rPr>
              <a:t>Empower teams to prioritize portfolios and planning</a:t>
            </a:r>
          </a:p>
        </p:txBody>
      </p:sp>
      <p:sp>
        <p:nvSpPr>
          <p:cNvPr id="19" name="TextBox 18">
            <a:extLst>
              <a:ext uri="{FF2B5EF4-FFF2-40B4-BE49-F238E27FC236}">
                <a16:creationId xmlns:a16="http://schemas.microsoft.com/office/drawing/2014/main" id="{AB7ECAF8-1613-AE01-8C2F-F026F562ACBD}"/>
              </a:ext>
            </a:extLst>
          </p:cNvPr>
          <p:cNvSpPr txBox="1">
            <a:spLocks/>
          </p:cNvSpPr>
          <p:nvPr/>
        </p:nvSpPr>
        <p:spPr>
          <a:xfrm>
            <a:off x="3068077" y="3381122"/>
            <a:ext cx="1922732" cy="646331"/>
          </a:xfrm>
          <a:prstGeom prst="rect">
            <a:avLst/>
          </a:prstGeom>
          <a:noFill/>
        </p:spPr>
        <p:txBody>
          <a:bodyPr wrap="square" lIns="91440" tIns="45720" rIns="91440" bIns="45720" rtlCol="0" anchor="t">
            <a:spAutoFit/>
          </a:bodyPr>
          <a:lstStyle/>
          <a:p>
            <a:pPr lvl="0" algn="ctr">
              <a:defRPr/>
            </a:pPr>
            <a:r>
              <a:rPr lang="en-US" sz="1200">
                <a:solidFill>
                  <a:schemeClr val="accent3"/>
                </a:solidFill>
                <a:latin typeface="ServiceNow Sans"/>
              </a:rPr>
              <a:t>Remediation </a:t>
            </a:r>
            <a:br>
              <a:rPr lang="en-US" sz="1200">
                <a:solidFill>
                  <a:schemeClr val="accent3"/>
                </a:solidFill>
                <a:latin typeface="ServiceNow Sans"/>
              </a:rPr>
            </a:br>
            <a:r>
              <a:rPr lang="en-US" sz="1200">
                <a:solidFill>
                  <a:schemeClr val="accent3"/>
                </a:solidFill>
                <a:latin typeface="ServiceNow Sans"/>
              </a:rPr>
              <a:t>playbooks with observability solution</a:t>
            </a:r>
          </a:p>
        </p:txBody>
      </p:sp>
      <p:sp>
        <p:nvSpPr>
          <p:cNvPr id="24" name="TextBox 23">
            <a:extLst>
              <a:ext uri="{FF2B5EF4-FFF2-40B4-BE49-F238E27FC236}">
                <a16:creationId xmlns:a16="http://schemas.microsoft.com/office/drawing/2014/main" id="{EACE4D46-43C4-EB48-4D08-AC9D860AC376}"/>
              </a:ext>
            </a:extLst>
          </p:cNvPr>
          <p:cNvSpPr txBox="1">
            <a:spLocks/>
          </p:cNvSpPr>
          <p:nvPr/>
        </p:nvSpPr>
        <p:spPr>
          <a:xfrm>
            <a:off x="5133045" y="3401414"/>
            <a:ext cx="1922732" cy="461665"/>
          </a:xfrm>
          <a:prstGeom prst="rect">
            <a:avLst/>
          </a:prstGeom>
          <a:noFill/>
        </p:spPr>
        <p:txBody>
          <a:bodyPr wrap="square" rtlCol="0">
            <a:spAutoFit/>
          </a:bodyPr>
          <a:lstStyle/>
          <a:p>
            <a:pPr lvl="0" algn="ctr">
              <a:defRPr/>
            </a:pPr>
            <a:r>
              <a:rPr lang="en-US" sz="1200">
                <a:solidFill>
                  <a:schemeClr val="accent3"/>
                </a:solidFill>
                <a:latin typeface="ServiceNow Sans" panose="020B0504040101010104" pitchFamily="34" charset="77"/>
              </a:rPr>
              <a:t>Optimize and automate asset lifecycle events</a:t>
            </a:r>
            <a:endParaRPr lang="en-US" sz="1050">
              <a:solidFill>
                <a:schemeClr val="accent3"/>
              </a:solidFill>
              <a:latin typeface="ServiceNow Sans Light" panose="020B0404040101010104" pitchFamily="34" charset="77"/>
            </a:endParaRPr>
          </a:p>
        </p:txBody>
      </p:sp>
      <p:sp>
        <p:nvSpPr>
          <p:cNvPr id="31" name="TextBox 30">
            <a:extLst>
              <a:ext uri="{FF2B5EF4-FFF2-40B4-BE49-F238E27FC236}">
                <a16:creationId xmlns:a16="http://schemas.microsoft.com/office/drawing/2014/main" id="{A9EE17C7-4F0F-13C3-0EA6-5D07A08BD9C6}"/>
              </a:ext>
            </a:extLst>
          </p:cNvPr>
          <p:cNvSpPr txBox="1">
            <a:spLocks/>
          </p:cNvSpPr>
          <p:nvPr/>
        </p:nvSpPr>
        <p:spPr>
          <a:xfrm>
            <a:off x="5133045" y="4725238"/>
            <a:ext cx="1922732" cy="646331"/>
          </a:xfrm>
          <a:prstGeom prst="rect">
            <a:avLst/>
          </a:prstGeom>
          <a:noFill/>
        </p:spPr>
        <p:txBody>
          <a:bodyPr wrap="square" rtlCol="0">
            <a:spAutoFit/>
          </a:bodyPr>
          <a:lstStyle/>
          <a:p>
            <a:pPr lvl="0" algn="ctr">
              <a:defRPr/>
            </a:pPr>
            <a:r>
              <a:rPr lang="en-US" sz="1200">
                <a:solidFill>
                  <a:schemeClr val="accent6"/>
                </a:solidFill>
                <a:latin typeface="ServiceNow Sans" panose="020B0504040101010104" pitchFamily="34" charset="77"/>
              </a:rPr>
              <a:t>Understand </a:t>
            </a:r>
            <a:br>
              <a:rPr lang="en-US" sz="1200">
                <a:solidFill>
                  <a:schemeClr val="accent6"/>
                </a:solidFill>
                <a:latin typeface="ServiceNow Sans" panose="020B0504040101010104" pitchFamily="34" charset="77"/>
              </a:rPr>
            </a:br>
            <a:r>
              <a:rPr lang="en-US" sz="1200">
                <a:solidFill>
                  <a:schemeClr val="accent6"/>
                </a:solidFill>
                <a:latin typeface="ServiceNow Sans" panose="020B0504040101010104" pitchFamily="34" charset="77"/>
              </a:rPr>
              <a:t>&amp; query about </a:t>
            </a:r>
            <a:br>
              <a:rPr lang="en-US" sz="1200">
                <a:solidFill>
                  <a:schemeClr val="accent6"/>
                </a:solidFill>
                <a:latin typeface="ServiceNow Sans" panose="020B0504040101010104" pitchFamily="34" charset="77"/>
              </a:rPr>
            </a:br>
            <a:r>
              <a:rPr lang="en-US" sz="1200">
                <a:solidFill>
                  <a:schemeClr val="accent6"/>
                </a:solidFill>
                <a:latin typeface="ServiceNow Sans" panose="020B0504040101010104" pitchFamily="34" charset="77"/>
              </a:rPr>
              <a:t>asset estate</a:t>
            </a:r>
          </a:p>
        </p:txBody>
      </p:sp>
      <p:sp>
        <p:nvSpPr>
          <p:cNvPr id="32" name="TextBox 31">
            <a:extLst>
              <a:ext uri="{FF2B5EF4-FFF2-40B4-BE49-F238E27FC236}">
                <a16:creationId xmlns:a16="http://schemas.microsoft.com/office/drawing/2014/main" id="{204A7288-D20F-EC82-06BA-1BD2FDE3DD78}"/>
              </a:ext>
            </a:extLst>
          </p:cNvPr>
          <p:cNvSpPr txBox="1">
            <a:spLocks/>
          </p:cNvSpPr>
          <p:nvPr/>
        </p:nvSpPr>
        <p:spPr>
          <a:xfrm>
            <a:off x="7198013" y="4718677"/>
            <a:ext cx="1922732" cy="646331"/>
          </a:xfrm>
          <a:prstGeom prst="rect">
            <a:avLst/>
          </a:prstGeom>
          <a:noFill/>
        </p:spPr>
        <p:txBody>
          <a:bodyPr wrap="square" rtlCol="0">
            <a:spAutoFit/>
          </a:bodyPr>
          <a:lstStyle/>
          <a:p>
            <a:pPr lvl="0" algn="ctr">
              <a:defRPr/>
            </a:pPr>
            <a:r>
              <a:rPr lang="en-US" sz="1200">
                <a:solidFill>
                  <a:schemeClr val="accent6"/>
                </a:solidFill>
                <a:latin typeface="ServiceNow Sans" panose="020B0504040101010104" pitchFamily="34" charset="77"/>
              </a:rPr>
              <a:t>Identify, prioritize, &amp; remediate security events quickly</a:t>
            </a:r>
          </a:p>
        </p:txBody>
      </p:sp>
      <p:sp>
        <p:nvSpPr>
          <p:cNvPr id="34" name="TextBox 33">
            <a:extLst>
              <a:ext uri="{FF2B5EF4-FFF2-40B4-BE49-F238E27FC236}">
                <a16:creationId xmlns:a16="http://schemas.microsoft.com/office/drawing/2014/main" id="{2B104CB8-AF78-68D2-709A-5DF4A360B66F}"/>
              </a:ext>
            </a:extLst>
          </p:cNvPr>
          <p:cNvSpPr txBox="1">
            <a:spLocks/>
          </p:cNvSpPr>
          <p:nvPr/>
        </p:nvSpPr>
        <p:spPr>
          <a:xfrm>
            <a:off x="3068077" y="4725238"/>
            <a:ext cx="1922732" cy="646331"/>
          </a:xfrm>
          <a:prstGeom prst="rect">
            <a:avLst/>
          </a:prstGeom>
          <a:noFill/>
        </p:spPr>
        <p:txBody>
          <a:bodyPr wrap="square" rtlCol="0">
            <a:spAutoFit/>
          </a:bodyPr>
          <a:lstStyle/>
          <a:p>
            <a:pPr lvl="0" algn="ctr">
              <a:defRPr/>
            </a:pPr>
            <a:r>
              <a:rPr lang="en-US" sz="1200">
                <a:solidFill>
                  <a:schemeClr val="accent6"/>
                </a:solidFill>
                <a:latin typeface="ServiceNow Sans" panose="020B0504040101010104" pitchFamily="34" charset="77"/>
              </a:rPr>
              <a:t>Clarify</a:t>
            </a:r>
            <a:br>
              <a:rPr lang="en-US" sz="1200">
                <a:solidFill>
                  <a:schemeClr val="accent6"/>
                </a:solidFill>
                <a:latin typeface="ServiceNow Sans" panose="020B0504040101010104" pitchFamily="34" charset="77"/>
              </a:rPr>
            </a:br>
            <a:r>
              <a:rPr lang="en-US" sz="1200">
                <a:solidFill>
                  <a:schemeClr val="accent6"/>
                </a:solidFill>
                <a:latin typeface="ServiceNow Sans" panose="020B0504040101010104" pitchFamily="34" charset="77"/>
              </a:rPr>
              <a:t>events &amp; </a:t>
            </a:r>
            <a:br>
              <a:rPr lang="en-US" sz="1200">
                <a:solidFill>
                  <a:schemeClr val="accent6"/>
                </a:solidFill>
                <a:latin typeface="ServiceNow Sans" panose="020B0504040101010104" pitchFamily="34" charset="77"/>
              </a:rPr>
            </a:br>
            <a:r>
              <a:rPr lang="en-US" sz="1200">
                <a:solidFill>
                  <a:schemeClr val="accent6"/>
                </a:solidFill>
                <a:latin typeface="ServiceNow Sans" panose="020B0504040101010104" pitchFamily="34" charset="77"/>
              </a:rPr>
              <a:t>blast radius</a:t>
            </a:r>
          </a:p>
        </p:txBody>
      </p:sp>
      <p:sp>
        <p:nvSpPr>
          <p:cNvPr id="16" name="TextBox 15">
            <a:extLst>
              <a:ext uri="{FF2B5EF4-FFF2-40B4-BE49-F238E27FC236}">
                <a16:creationId xmlns:a16="http://schemas.microsoft.com/office/drawing/2014/main" id="{2D0B3C20-F632-7CF8-C360-833D8D0836D5}"/>
              </a:ext>
            </a:extLst>
          </p:cNvPr>
          <p:cNvSpPr txBox="1">
            <a:spLocks/>
          </p:cNvSpPr>
          <p:nvPr/>
        </p:nvSpPr>
        <p:spPr>
          <a:xfrm>
            <a:off x="1003109" y="3381122"/>
            <a:ext cx="1922732" cy="646331"/>
          </a:xfrm>
          <a:prstGeom prst="rect">
            <a:avLst/>
          </a:prstGeom>
          <a:noFill/>
        </p:spPr>
        <p:txBody>
          <a:bodyPr wrap="square" rtlCol="0">
            <a:spAutoFit/>
          </a:bodyPr>
          <a:lstStyle/>
          <a:p>
            <a:pPr lvl="0" algn="ctr">
              <a:defRPr/>
            </a:pPr>
            <a:r>
              <a:rPr lang="en-US" sz="1200">
                <a:solidFill>
                  <a:schemeClr val="accent3"/>
                </a:solidFill>
                <a:latin typeface="ServiceNow Sans" panose="020B0504040101010104" pitchFamily="34" charset="77"/>
              </a:rPr>
              <a:t>Self-service </a:t>
            </a:r>
            <a:br>
              <a:rPr lang="en-US" sz="1200">
                <a:solidFill>
                  <a:schemeClr val="accent3"/>
                </a:solidFill>
                <a:latin typeface="ServiceNow Sans" panose="020B0504040101010104" pitchFamily="34" charset="77"/>
              </a:rPr>
            </a:br>
            <a:r>
              <a:rPr lang="en-US" sz="1200">
                <a:solidFill>
                  <a:schemeClr val="accent3"/>
                </a:solidFill>
                <a:latin typeface="ServiceNow Sans" panose="020B0504040101010104" pitchFamily="34" charset="77"/>
              </a:rPr>
              <a:t>resolution for </a:t>
            </a:r>
            <a:br>
              <a:rPr lang="en-US" sz="1200">
                <a:solidFill>
                  <a:schemeClr val="accent3"/>
                </a:solidFill>
                <a:latin typeface="ServiceNow Sans" panose="020B0504040101010104" pitchFamily="34" charset="77"/>
              </a:rPr>
            </a:br>
            <a:r>
              <a:rPr lang="en-US" sz="1200">
                <a:solidFill>
                  <a:schemeClr val="accent3"/>
                </a:solidFill>
                <a:latin typeface="ServiceNow Sans" panose="020B0504040101010104" pitchFamily="34" charset="77"/>
              </a:rPr>
              <a:t>top call drivers</a:t>
            </a:r>
          </a:p>
        </p:txBody>
      </p:sp>
      <p:sp>
        <p:nvSpPr>
          <p:cNvPr id="33" name="TextBox 32">
            <a:extLst>
              <a:ext uri="{FF2B5EF4-FFF2-40B4-BE49-F238E27FC236}">
                <a16:creationId xmlns:a16="http://schemas.microsoft.com/office/drawing/2014/main" id="{21DC248D-D6CC-E622-F8F2-F985280028FC}"/>
              </a:ext>
            </a:extLst>
          </p:cNvPr>
          <p:cNvSpPr txBox="1">
            <a:spLocks/>
          </p:cNvSpPr>
          <p:nvPr/>
        </p:nvSpPr>
        <p:spPr>
          <a:xfrm>
            <a:off x="1003109" y="4725238"/>
            <a:ext cx="1922732" cy="461665"/>
          </a:xfrm>
          <a:prstGeom prst="rect">
            <a:avLst/>
          </a:prstGeom>
          <a:noFill/>
        </p:spPr>
        <p:txBody>
          <a:bodyPr wrap="square" rtlCol="0">
            <a:spAutoFit/>
          </a:bodyPr>
          <a:lstStyle/>
          <a:p>
            <a:pPr lvl="0" algn="ctr">
              <a:defRPr/>
            </a:pPr>
            <a:r>
              <a:rPr lang="en-US" sz="1200">
                <a:solidFill>
                  <a:schemeClr val="accent6"/>
                </a:solidFill>
                <a:latin typeface="ServiceNow Sans" panose="020B0504040101010104" pitchFamily="34" charset="77"/>
              </a:rPr>
              <a:t>Self-service advice </a:t>
            </a:r>
            <a:br>
              <a:rPr lang="en-US" sz="1200">
                <a:solidFill>
                  <a:schemeClr val="accent6"/>
                </a:solidFill>
                <a:latin typeface="ServiceNow Sans" panose="020B0504040101010104" pitchFamily="34" charset="77"/>
              </a:rPr>
            </a:br>
            <a:r>
              <a:rPr lang="en-US" sz="1200">
                <a:solidFill>
                  <a:schemeClr val="accent6"/>
                </a:solidFill>
                <a:latin typeface="ServiceNow Sans" panose="020B0504040101010104" pitchFamily="34" charset="77"/>
              </a:rPr>
              <a:t>for top call drivers</a:t>
            </a:r>
            <a:endParaRPr lang="en-US" sz="1200">
              <a:solidFill>
                <a:schemeClr val="accent6"/>
              </a:solidFill>
              <a:latin typeface="ServiceNow Sans Light" panose="020B0404040101010104" pitchFamily="34" charset="77"/>
            </a:endParaRPr>
          </a:p>
        </p:txBody>
      </p:sp>
      <p:sp>
        <p:nvSpPr>
          <p:cNvPr id="64" name="TextBox 63">
            <a:extLst>
              <a:ext uri="{FF2B5EF4-FFF2-40B4-BE49-F238E27FC236}">
                <a16:creationId xmlns:a16="http://schemas.microsoft.com/office/drawing/2014/main" id="{689856FD-D969-92DA-6430-3E0A02BE236E}"/>
              </a:ext>
            </a:extLst>
          </p:cNvPr>
          <p:cNvSpPr txBox="1">
            <a:spLocks/>
          </p:cNvSpPr>
          <p:nvPr/>
        </p:nvSpPr>
        <p:spPr>
          <a:xfrm>
            <a:off x="4892028" y="5886968"/>
            <a:ext cx="2404761" cy="276999"/>
          </a:xfrm>
          <a:prstGeom prst="rect">
            <a:avLst/>
          </a:prstGeom>
          <a:noFill/>
        </p:spPr>
        <p:txBody>
          <a:bodyPr wrap="square" rtlCol="0">
            <a:spAutoFit/>
          </a:bodyPr>
          <a:lstStyle>
            <a:defPPr>
              <a:defRPr lang="en-US"/>
            </a:defPPr>
            <a:lvl1pPr algn="ctr">
              <a:lnSpc>
                <a:spcPts val="2500"/>
              </a:lnSpc>
              <a:defRPr sz="2000">
                <a:solidFill>
                  <a:schemeClr val="bg1"/>
                </a:solidFill>
                <a:latin typeface="ServiceNow Sans" panose="020B0504040101010104" pitchFamily="34" charset="77"/>
              </a:defRPr>
            </a:lvl1pPr>
          </a:lstStyle>
          <a:p>
            <a:pPr lvl="0">
              <a:lnSpc>
                <a:spcPct val="100000"/>
              </a:lnSpc>
              <a:defRPr/>
            </a:pPr>
            <a:r>
              <a:rPr lang="en-US" sz="1200">
                <a:solidFill>
                  <a:schemeClr val="accent3">
                    <a:alpha val="0"/>
                  </a:schemeClr>
                </a:solidFill>
              </a:rPr>
              <a:t>Technology Workflow Products</a:t>
            </a:r>
          </a:p>
        </p:txBody>
      </p:sp>
      <p:grpSp>
        <p:nvGrpSpPr>
          <p:cNvPr id="4" name="Group 3">
            <a:extLst>
              <a:ext uri="{FF2B5EF4-FFF2-40B4-BE49-F238E27FC236}">
                <a16:creationId xmlns:a16="http://schemas.microsoft.com/office/drawing/2014/main" id="{7BFA3049-6C78-FEDE-31F8-2E042E7D54F8}"/>
              </a:ext>
            </a:extLst>
          </p:cNvPr>
          <p:cNvGrpSpPr>
            <a:grpSpLocks/>
          </p:cNvGrpSpPr>
          <p:nvPr/>
        </p:nvGrpSpPr>
        <p:grpSpPr>
          <a:xfrm>
            <a:off x="660727" y="1707364"/>
            <a:ext cx="275462" cy="4004561"/>
            <a:chOff x="660727" y="1707364"/>
            <a:chExt cx="275462" cy="4004561"/>
          </a:xfrm>
        </p:grpSpPr>
        <p:sp>
          <p:nvSpPr>
            <p:cNvPr id="18" name="TextBox 17">
              <a:extLst>
                <a:ext uri="{FF2B5EF4-FFF2-40B4-BE49-F238E27FC236}">
                  <a16:creationId xmlns:a16="http://schemas.microsoft.com/office/drawing/2014/main" id="{0B1C5A4B-3870-E12D-8ABF-B30404B82FF5}"/>
                </a:ext>
              </a:extLst>
            </p:cNvPr>
            <p:cNvSpPr txBox="1">
              <a:spLocks/>
            </p:cNvSpPr>
            <p:nvPr/>
          </p:nvSpPr>
          <p:spPr>
            <a:xfrm rot="16200000">
              <a:off x="131034" y="2237057"/>
              <a:ext cx="1334845" cy="275460"/>
            </a:xfrm>
            <a:prstGeom prst="rect">
              <a:avLst/>
            </a:prstGeom>
            <a:noFill/>
          </p:spPr>
          <p:txBody>
            <a:bodyPr wrap="square" lIns="91440" tIns="45720" rIns="91440" bIns="45720" rtlCol="0" anchor="t">
              <a:spAutoFit/>
            </a:bodyPr>
            <a:lstStyle/>
            <a:p>
              <a:pPr lvl="0" algn="ctr">
                <a:lnSpc>
                  <a:spcPct val="85000"/>
                </a:lnSpc>
                <a:defRPr/>
              </a:pPr>
              <a:r>
                <a:rPr lang="en-US" sz="1400">
                  <a:solidFill>
                    <a:srgbClr val="63DF4E"/>
                  </a:solidFill>
                  <a:latin typeface="ServiceNow Sans Medium"/>
                </a:rPr>
                <a:t>Autonomous</a:t>
              </a:r>
              <a:endParaRPr lang="en-US" sz="1800"/>
            </a:p>
          </p:txBody>
        </p:sp>
        <p:sp>
          <p:nvSpPr>
            <p:cNvPr id="20" name="TextBox 19">
              <a:extLst>
                <a:ext uri="{FF2B5EF4-FFF2-40B4-BE49-F238E27FC236}">
                  <a16:creationId xmlns:a16="http://schemas.microsoft.com/office/drawing/2014/main" id="{F6033550-578D-094A-FE86-3594530DBFF3}"/>
                </a:ext>
              </a:extLst>
            </p:cNvPr>
            <p:cNvSpPr txBox="1">
              <a:spLocks/>
            </p:cNvSpPr>
            <p:nvPr/>
          </p:nvSpPr>
          <p:spPr>
            <a:xfrm rot="16200000">
              <a:off x="131035" y="3571915"/>
              <a:ext cx="1334846" cy="275460"/>
            </a:xfrm>
            <a:prstGeom prst="rect">
              <a:avLst/>
            </a:prstGeom>
            <a:noFill/>
          </p:spPr>
          <p:txBody>
            <a:bodyPr wrap="square" lIns="91440" tIns="45720" rIns="91440" bIns="45720" rtlCol="0" anchor="t">
              <a:spAutoFit/>
            </a:bodyPr>
            <a:lstStyle/>
            <a:p>
              <a:pPr marL="0" marR="0" lvl="0" indent="0" algn="ctr" defTabSz="457040">
                <a:lnSpc>
                  <a:spcPct val="85000"/>
                </a:lnSpc>
                <a:spcBef>
                  <a:spcPts val="0"/>
                </a:spcBef>
                <a:spcAft>
                  <a:spcPts val="0"/>
                </a:spcAft>
                <a:buNone/>
                <a:tabLst/>
                <a:defRPr/>
              </a:pPr>
              <a:r>
                <a:rPr lang="en-US" sz="1400">
                  <a:solidFill>
                    <a:schemeClr val="accent3"/>
                  </a:solidFill>
                  <a:latin typeface="ServiceNow Sans Medium"/>
                </a:rPr>
                <a:t>Automate</a:t>
              </a:r>
              <a:endParaRPr lang="en-US" sz="1800">
                <a:solidFill>
                  <a:schemeClr val="accent3"/>
                </a:solidFill>
              </a:endParaRPr>
            </a:p>
          </p:txBody>
        </p:sp>
        <p:sp>
          <p:nvSpPr>
            <p:cNvPr id="21" name="TextBox 20">
              <a:extLst>
                <a:ext uri="{FF2B5EF4-FFF2-40B4-BE49-F238E27FC236}">
                  <a16:creationId xmlns:a16="http://schemas.microsoft.com/office/drawing/2014/main" id="{D5ED7826-EB8A-463C-8E71-2A018FC4C98B}"/>
                </a:ext>
              </a:extLst>
            </p:cNvPr>
            <p:cNvSpPr txBox="1">
              <a:spLocks/>
            </p:cNvSpPr>
            <p:nvPr/>
          </p:nvSpPr>
          <p:spPr>
            <a:xfrm rot="16200000">
              <a:off x="131036" y="4906773"/>
              <a:ext cx="1334845" cy="275460"/>
            </a:xfrm>
            <a:prstGeom prst="rect">
              <a:avLst/>
            </a:prstGeom>
            <a:noFill/>
          </p:spPr>
          <p:txBody>
            <a:bodyPr wrap="square" rtlCol="0">
              <a:spAutoFit/>
            </a:bodyPr>
            <a:lstStyle/>
            <a:p>
              <a:pPr lvl="0" algn="ctr">
                <a:lnSpc>
                  <a:spcPct val="85000"/>
                </a:lnSpc>
                <a:defRPr/>
              </a:pPr>
              <a:r>
                <a:rPr lang="en-US" sz="1400">
                  <a:solidFill>
                    <a:schemeClr val="accent6"/>
                  </a:solidFill>
                  <a:latin typeface="ServiceNow Sans Medium" panose="020B0504040101010104" pitchFamily="34" charset="77"/>
                </a:rPr>
                <a:t>Insight</a:t>
              </a:r>
            </a:p>
          </p:txBody>
        </p:sp>
      </p:grpSp>
      <p:pic>
        <p:nvPicPr>
          <p:cNvPr id="76" name="Picture 75">
            <a:extLst>
              <a:ext uri="{FF2B5EF4-FFF2-40B4-BE49-F238E27FC236}">
                <a16:creationId xmlns:a16="http://schemas.microsoft.com/office/drawing/2014/main" id="{F2283C86-B59A-4644-CCA1-1F9DD54CBF7C}"/>
              </a:ext>
            </a:extLst>
          </p:cNvPr>
          <p:cNvPicPr>
            <a:picLocks noChangeAspect="1"/>
          </p:cNvPicPr>
          <p:nvPr/>
        </p:nvPicPr>
        <p:blipFill>
          <a:blip r:embed="rId17" cstate="screen">
            <a:alphaModFix amt="0"/>
            <a:extLst>
              <a:ext uri="{28A0092B-C50C-407E-A947-70E740481C1C}">
                <a14:useLocalDpi xmlns:a14="http://schemas.microsoft.com/office/drawing/2010/main"/>
              </a:ext>
            </a:extLst>
          </a:blip>
          <a:stretch>
            <a:fillRect/>
          </a:stretch>
        </p:blipFill>
        <p:spPr>
          <a:xfrm>
            <a:off x="7492331" y="168487"/>
            <a:ext cx="1334098" cy="1334096"/>
          </a:xfrm>
          <a:prstGeom prst="rect">
            <a:avLst/>
          </a:prstGeom>
        </p:spPr>
      </p:pic>
      <p:pic>
        <p:nvPicPr>
          <p:cNvPr id="77" name="Picture 76">
            <a:extLst>
              <a:ext uri="{FF2B5EF4-FFF2-40B4-BE49-F238E27FC236}">
                <a16:creationId xmlns:a16="http://schemas.microsoft.com/office/drawing/2014/main" id="{0F766370-CAD8-3C2E-57EF-E3C89B8AD326}"/>
              </a:ext>
            </a:extLst>
          </p:cNvPr>
          <p:cNvPicPr>
            <a:picLocks noChangeAspect="1"/>
          </p:cNvPicPr>
          <p:nvPr/>
        </p:nvPicPr>
        <p:blipFill>
          <a:blip r:embed="rId18" cstate="screen">
            <a:alphaModFix amt="0"/>
            <a:extLst>
              <a:ext uri="{28A0092B-C50C-407E-A947-70E740481C1C}">
                <a14:useLocalDpi xmlns:a14="http://schemas.microsoft.com/office/drawing/2010/main"/>
              </a:ext>
            </a:extLst>
          </a:blip>
          <a:stretch>
            <a:fillRect/>
          </a:stretch>
        </p:blipFill>
        <p:spPr>
          <a:xfrm>
            <a:off x="9625798" y="209699"/>
            <a:ext cx="1197100" cy="1296578"/>
          </a:xfrm>
          <a:prstGeom prst="rect">
            <a:avLst/>
          </a:prstGeom>
        </p:spPr>
      </p:pic>
      <p:sp>
        <p:nvSpPr>
          <p:cNvPr id="46" name="Rounded Rectangle 20">
            <a:extLst>
              <a:ext uri="{FF2B5EF4-FFF2-40B4-BE49-F238E27FC236}">
                <a16:creationId xmlns:a16="http://schemas.microsoft.com/office/drawing/2014/main" id="{703462F7-1681-9850-FAC9-4814FD79BA6F}"/>
              </a:ext>
              <a:ext uri="{C183D7F6-B498-43B3-948B-1728B52AA6E4}">
                <adec:decorative xmlns:adec="http://schemas.microsoft.com/office/drawing/2017/decorative" val="1"/>
              </a:ext>
            </a:extLst>
          </p:cNvPr>
          <p:cNvSpPr>
            <a:spLocks/>
          </p:cNvSpPr>
          <p:nvPr/>
        </p:nvSpPr>
        <p:spPr>
          <a:xfrm>
            <a:off x="9352541" y="1439210"/>
            <a:ext cx="1743613" cy="228540"/>
          </a:xfrm>
          <a:prstGeom prst="roundRect">
            <a:avLst>
              <a:gd name="adj" fmla="val 50000"/>
            </a:avLst>
          </a:prstGeom>
          <a:solidFill>
            <a:srgbClr val="F5BB64"/>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sz="900">
                <a:solidFill>
                  <a:schemeClr val="tx1"/>
                </a:solidFill>
                <a:latin typeface="ServiceNow Sans Medium" panose="020B0504040101010104" pitchFamily="34" charset="77"/>
              </a:rPr>
              <a:t>Head of Strategy &amp; Planning</a:t>
            </a:r>
          </a:p>
        </p:txBody>
      </p:sp>
      <p:sp>
        <p:nvSpPr>
          <p:cNvPr id="53" name="Rounded Rectangle 20">
            <a:extLst>
              <a:ext uri="{FF2B5EF4-FFF2-40B4-BE49-F238E27FC236}">
                <a16:creationId xmlns:a16="http://schemas.microsoft.com/office/drawing/2014/main" id="{2583E463-69E5-149C-547B-ABADB5977207}"/>
              </a:ext>
              <a:ext uri="{C183D7F6-B498-43B3-948B-1728B52AA6E4}">
                <adec:decorative xmlns:adec="http://schemas.microsoft.com/office/drawing/2017/decorative" val="1"/>
              </a:ext>
            </a:extLst>
          </p:cNvPr>
          <p:cNvSpPr>
            <a:spLocks/>
          </p:cNvSpPr>
          <p:nvPr/>
        </p:nvSpPr>
        <p:spPr>
          <a:xfrm>
            <a:off x="7287572" y="1439210"/>
            <a:ext cx="1743613" cy="228540"/>
          </a:xfrm>
          <a:prstGeom prst="roundRect">
            <a:avLst>
              <a:gd name="adj" fmla="val 50000"/>
            </a:avLst>
          </a:prstGeom>
          <a:solidFill>
            <a:srgbClr val="ED4B69"/>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a:solidFill>
                  <a:schemeClr val="tx1"/>
                </a:solidFill>
                <a:latin typeface="ServiceNow Sans Medium" panose="020B0504040101010104" pitchFamily="34" charset="77"/>
              </a:rPr>
              <a:t>CISO</a:t>
            </a:r>
          </a:p>
        </p:txBody>
      </p:sp>
      <p:sp>
        <p:nvSpPr>
          <p:cNvPr id="70" name="Rounded Rectangle 20">
            <a:extLst>
              <a:ext uri="{FF2B5EF4-FFF2-40B4-BE49-F238E27FC236}">
                <a16:creationId xmlns:a16="http://schemas.microsoft.com/office/drawing/2014/main" id="{F160491D-2AEF-C8D8-AF9A-91D3DD5702A0}"/>
              </a:ext>
              <a:ext uri="{C183D7F6-B498-43B3-948B-1728B52AA6E4}">
                <adec:decorative xmlns:adec="http://schemas.microsoft.com/office/drawing/2017/decorative" val="1"/>
              </a:ext>
            </a:extLst>
          </p:cNvPr>
          <p:cNvSpPr>
            <a:spLocks/>
          </p:cNvSpPr>
          <p:nvPr/>
        </p:nvSpPr>
        <p:spPr>
          <a:xfrm>
            <a:off x="5225166" y="1439210"/>
            <a:ext cx="1743613" cy="228540"/>
          </a:xfrm>
          <a:prstGeom prst="roundRect">
            <a:avLst>
              <a:gd name="adj" fmla="val 50000"/>
            </a:avLst>
          </a:prstGeom>
          <a:solidFill>
            <a:srgbClr val="6CE7EF"/>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dirty="0">
                <a:solidFill>
                  <a:srgbClr val="1F4F73"/>
                </a:solidFill>
                <a:latin typeface="ServiceNow Sans Medium" panose="020B0504040101010104" pitchFamily="34" charset="77"/>
              </a:rPr>
              <a:t>Head of Asset Mgmt</a:t>
            </a:r>
            <a:r>
              <a:rPr lang="en-US" sz="900" dirty="0">
                <a:solidFill>
                  <a:schemeClr val="tx1"/>
                </a:solidFill>
                <a:latin typeface="ServiceNow Sans Medium" panose="020B0504040101010104" pitchFamily="34" charset="77"/>
              </a:rPr>
              <a:t>.</a:t>
            </a:r>
          </a:p>
        </p:txBody>
      </p:sp>
      <p:sp>
        <p:nvSpPr>
          <p:cNvPr id="71" name="Rounded Rectangle 20">
            <a:extLst>
              <a:ext uri="{FF2B5EF4-FFF2-40B4-BE49-F238E27FC236}">
                <a16:creationId xmlns:a16="http://schemas.microsoft.com/office/drawing/2014/main" id="{D0F7894E-AC17-23B7-16BF-E29C99330495}"/>
              </a:ext>
              <a:ext uri="{C183D7F6-B498-43B3-948B-1728B52AA6E4}">
                <adec:decorative xmlns:adec="http://schemas.microsoft.com/office/drawing/2017/decorative" val="1"/>
              </a:ext>
            </a:extLst>
          </p:cNvPr>
          <p:cNvSpPr>
            <a:spLocks/>
          </p:cNvSpPr>
          <p:nvPr/>
        </p:nvSpPr>
        <p:spPr>
          <a:xfrm>
            <a:off x="3157636" y="1439210"/>
            <a:ext cx="1743613" cy="22854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a:solidFill>
                  <a:schemeClr val="tx1"/>
                </a:solidFill>
                <a:latin typeface="ServiceNow Sans Medium" panose="020B0504040101010104" pitchFamily="34" charset="77"/>
              </a:rPr>
              <a:t>Head of Tech Operations</a:t>
            </a:r>
          </a:p>
        </p:txBody>
      </p:sp>
      <p:sp>
        <p:nvSpPr>
          <p:cNvPr id="74" name="Rounded Rectangle 20">
            <a:extLst>
              <a:ext uri="{FF2B5EF4-FFF2-40B4-BE49-F238E27FC236}">
                <a16:creationId xmlns:a16="http://schemas.microsoft.com/office/drawing/2014/main" id="{C9C9291B-07CB-7386-71EC-AC00E0E2A7FF}"/>
              </a:ext>
              <a:ext uri="{C183D7F6-B498-43B3-948B-1728B52AA6E4}">
                <adec:decorative xmlns:adec="http://schemas.microsoft.com/office/drawing/2017/decorative" val="1"/>
              </a:ext>
            </a:extLst>
          </p:cNvPr>
          <p:cNvSpPr>
            <a:spLocks/>
          </p:cNvSpPr>
          <p:nvPr/>
        </p:nvSpPr>
        <p:spPr>
          <a:xfrm>
            <a:off x="1085688" y="1439210"/>
            <a:ext cx="1743613" cy="228540"/>
          </a:xfrm>
          <a:prstGeom prst="roundRect">
            <a:avLst>
              <a:gd name="adj" fmla="val 50000"/>
            </a:avLst>
          </a:prstGeom>
          <a:solidFill>
            <a:srgbClr val="6CE7EF"/>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a:solidFill>
                  <a:schemeClr val="tx1"/>
                </a:solidFill>
                <a:latin typeface="ServiceNow Sans Medium" panose="020B0504040101010104" pitchFamily="34" charset="77"/>
              </a:rPr>
              <a:t>Head of Service Desk</a:t>
            </a:r>
          </a:p>
        </p:txBody>
      </p:sp>
      <p:pic>
        <p:nvPicPr>
          <p:cNvPr id="61" name="Picture 60">
            <a:extLst>
              <a:ext uri="{FF2B5EF4-FFF2-40B4-BE49-F238E27FC236}">
                <a16:creationId xmlns:a16="http://schemas.microsoft.com/office/drawing/2014/main" id="{C007BAFD-EEFD-C9C7-6CB1-5E262E44E285}"/>
              </a:ext>
            </a:extLst>
          </p:cNvPr>
          <p:cNvPicPr>
            <a:picLocks/>
          </p:cNvPicPr>
          <p:nvPr/>
        </p:nvPicPr>
        <p:blipFill>
          <a:blip r:embed="rId19" cstate="screen">
            <a:extLst>
              <a:ext uri="{28A0092B-C50C-407E-A947-70E740481C1C}">
                <a14:useLocalDpi xmlns:a14="http://schemas.microsoft.com/office/drawing/2010/main"/>
              </a:ext>
            </a:extLst>
          </a:blip>
          <a:stretch>
            <a:fillRect/>
          </a:stretch>
        </p:blipFill>
        <p:spPr>
          <a:xfrm>
            <a:off x="3848366" y="7132729"/>
            <a:ext cx="2529590" cy="722739"/>
          </a:xfrm>
          <a:prstGeom prst="rect">
            <a:avLst/>
          </a:prstGeom>
        </p:spPr>
      </p:pic>
      <p:sp>
        <p:nvSpPr>
          <p:cNvPr id="62" name="TextBox 61">
            <a:extLst>
              <a:ext uri="{FF2B5EF4-FFF2-40B4-BE49-F238E27FC236}">
                <a16:creationId xmlns:a16="http://schemas.microsoft.com/office/drawing/2014/main" id="{FC951C57-D331-9293-D879-906A25ADA697}"/>
              </a:ext>
            </a:extLst>
          </p:cNvPr>
          <p:cNvSpPr txBox="1">
            <a:spLocks/>
          </p:cNvSpPr>
          <p:nvPr/>
        </p:nvSpPr>
        <p:spPr>
          <a:xfrm>
            <a:off x="6262695" y="7268917"/>
            <a:ext cx="2603030" cy="523084"/>
          </a:xfrm>
          <a:prstGeom prst="rect">
            <a:avLst/>
          </a:prstGeom>
          <a:noFill/>
        </p:spPr>
        <p:txBody>
          <a:bodyPr wrap="square" rtlCol="0">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r>
              <a:rPr kumimoji="0" lang="en-US" sz="2799" b="1" u="none" strike="noStrike" kern="1200" cap="none" spc="0" normalizeH="0" baseline="0" noProof="0">
                <a:ln>
                  <a:noFill/>
                </a:ln>
                <a:solidFill>
                  <a:srgbClr val="63DF4E"/>
                </a:solidFill>
                <a:effectLst/>
                <a:uLnTx/>
                <a:uFillTx/>
                <a:latin typeface="ServiceNow Sans" panose="020B0504040101010104" pitchFamily="34" charset="77"/>
              </a:rPr>
              <a:t>AI </a:t>
            </a:r>
            <a:r>
              <a:rPr kumimoji="0" lang="en-US" sz="2799" b="1" u="none" strike="noStrike" kern="1200" cap="none" spc="0" normalizeH="0" baseline="0" noProof="0">
                <a:ln>
                  <a:noFill/>
                </a:ln>
                <a:solidFill>
                  <a:srgbClr val="FFFFFF"/>
                </a:solidFill>
                <a:effectLst/>
                <a:uLnTx/>
                <a:uFillTx/>
                <a:latin typeface="ServiceNow Sans" panose="020B0504040101010104" pitchFamily="34" charset="77"/>
              </a:rPr>
              <a:t>Platform</a:t>
            </a:r>
          </a:p>
        </p:txBody>
      </p:sp>
      <p:sp>
        <p:nvSpPr>
          <p:cNvPr id="39" name="Rounded Rectangle 20">
            <a:extLst>
              <a:ext uri="{FF2B5EF4-FFF2-40B4-BE49-F238E27FC236}">
                <a16:creationId xmlns:a16="http://schemas.microsoft.com/office/drawing/2014/main" id="{3EA4DD4D-5ED9-58CD-FD30-F288C248B72E}"/>
              </a:ext>
              <a:ext uri="{C183D7F6-B498-43B3-948B-1728B52AA6E4}">
                <adec:decorative xmlns:adec="http://schemas.microsoft.com/office/drawing/2017/decorative" val="1"/>
              </a:ext>
            </a:extLst>
          </p:cNvPr>
          <p:cNvSpPr>
            <a:spLocks/>
          </p:cNvSpPr>
          <p:nvPr/>
        </p:nvSpPr>
        <p:spPr>
          <a:xfrm>
            <a:off x="9423411" y="5827948"/>
            <a:ext cx="1601874" cy="295940"/>
          </a:xfrm>
          <a:prstGeom prst="roundRect">
            <a:avLst>
              <a:gd name="adj" fmla="val 5000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D6EFFC"/>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rviceNow Sans" panose="020B0504040101010104" pitchFamily="34" charset="77"/>
              </a:rPr>
              <a:t>Portfolio</a:t>
            </a:r>
          </a:p>
        </p:txBody>
      </p:sp>
      <p:sp>
        <p:nvSpPr>
          <p:cNvPr id="40" name="Rounded Rectangle 20">
            <a:extLst>
              <a:ext uri="{FF2B5EF4-FFF2-40B4-BE49-F238E27FC236}">
                <a16:creationId xmlns:a16="http://schemas.microsoft.com/office/drawing/2014/main" id="{84F756FF-42DB-1DE7-E5CE-8CA16EFB9335}"/>
              </a:ext>
              <a:ext uri="{C183D7F6-B498-43B3-948B-1728B52AA6E4}">
                <adec:decorative xmlns:adec="http://schemas.microsoft.com/office/drawing/2017/decorative" val="1"/>
              </a:ext>
            </a:extLst>
          </p:cNvPr>
          <p:cNvSpPr>
            <a:spLocks/>
          </p:cNvSpPr>
          <p:nvPr/>
        </p:nvSpPr>
        <p:spPr>
          <a:xfrm>
            <a:off x="7358442" y="5827948"/>
            <a:ext cx="1601874" cy="295940"/>
          </a:xfrm>
          <a:prstGeom prst="roundRect">
            <a:avLst>
              <a:gd name="adj" fmla="val 5000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D6EFFC"/>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rviceNow Sans" panose="020B0504040101010104" pitchFamily="34" charset="77"/>
              </a:rPr>
              <a:t>Security/Risk</a:t>
            </a:r>
          </a:p>
        </p:txBody>
      </p:sp>
      <p:sp>
        <p:nvSpPr>
          <p:cNvPr id="42" name="Rounded Rectangle 20">
            <a:extLst>
              <a:ext uri="{FF2B5EF4-FFF2-40B4-BE49-F238E27FC236}">
                <a16:creationId xmlns:a16="http://schemas.microsoft.com/office/drawing/2014/main" id="{DF2D4D15-36EA-3ACF-76D8-FCF3E617E78D}"/>
              </a:ext>
              <a:ext uri="{C183D7F6-B498-43B3-948B-1728B52AA6E4}">
                <adec:decorative xmlns:adec="http://schemas.microsoft.com/office/drawing/2017/decorative" val="1"/>
              </a:ext>
            </a:extLst>
          </p:cNvPr>
          <p:cNvSpPr>
            <a:spLocks/>
          </p:cNvSpPr>
          <p:nvPr/>
        </p:nvSpPr>
        <p:spPr>
          <a:xfrm>
            <a:off x="5291501" y="5827948"/>
            <a:ext cx="1601874" cy="295940"/>
          </a:xfrm>
          <a:prstGeom prst="roundRect">
            <a:avLst>
              <a:gd name="adj" fmla="val 5000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D6EFFC"/>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rviceNow Sans" panose="020B0504040101010104" pitchFamily="34" charset="77"/>
              </a:rPr>
              <a:t>Asset</a:t>
            </a:r>
          </a:p>
        </p:txBody>
      </p:sp>
      <p:sp>
        <p:nvSpPr>
          <p:cNvPr id="48" name="Rounded Rectangle 20">
            <a:extLst>
              <a:ext uri="{FF2B5EF4-FFF2-40B4-BE49-F238E27FC236}">
                <a16:creationId xmlns:a16="http://schemas.microsoft.com/office/drawing/2014/main" id="{B50F4FC7-77F4-1F39-F22F-518E2A734E58}"/>
              </a:ext>
              <a:ext uri="{C183D7F6-B498-43B3-948B-1728B52AA6E4}">
                <adec:decorative xmlns:adec="http://schemas.microsoft.com/office/drawing/2017/decorative" val="1"/>
              </a:ext>
            </a:extLst>
          </p:cNvPr>
          <p:cNvSpPr>
            <a:spLocks/>
          </p:cNvSpPr>
          <p:nvPr/>
        </p:nvSpPr>
        <p:spPr>
          <a:xfrm>
            <a:off x="3228506" y="5827948"/>
            <a:ext cx="1601874" cy="295940"/>
          </a:xfrm>
          <a:prstGeom prst="roundRect">
            <a:avLst>
              <a:gd name="adj" fmla="val 5000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D6EFFC"/>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rviceNow Sans" panose="020B0504040101010104" pitchFamily="34" charset="77"/>
              </a:rPr>
              <a:t>Operations</a:t>
            </a:r>
          </a:p>
        </p:txBody>
      </p:sp>
      <p:sp>
        <p:nvSpPr>
          <p:cNvPr id="49" name="Rounded Rectangle 20">
            <a:extLst>
              <a:ext uri="{FF2B5EF4-FFF2-40B4-BE49-F238E27FC236}">
                <a16:creationId xmlns:a16="http://schemas.microsoft.com/office/drawing/2014/main" id="{4980501F-0F15-1182-D55D-C42F95479FA5}"/>
              </a:ext>
              <a:ext uri="{C183D7F6-B498-43B3-948B-1728B52AA6E4}">
                <adec:decorative xmlns:adec="http://schemas.microsoft.com/office/drawing/2017/decorative" val="1"/>
              </a:ext>
            </a:extLst>
          </p:cNvPr>
          <p:cNvSpPr>
            <a:spLocks/>
          </p:cNvSpPr>
          <p:nvPr/>
        </p:nvSpPr>
        <p:spPr>
          <a:xfrm>
            <a:off x="1163538" y="5827948"/>
            <a:ext cx="1601874" cy="295940"/>
          </a:xfrm>
          <a:prstGeom prst="roundRect">
            <a:avLst>
              <a:gd name="adj" fmla="val 5000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D6EFFC"/>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rviceNow Sans" panose="020B0504040101010104" pitchFamily="34" charset="77"/>
              </a:rPr>
              <a:t>Service</a:t>
            </a:r>
          </a:p>
        </p:txBody>
      </p:sp>
      <p:sp>
        <p:nvSpPr>
          <p:cNvPr id="35" name="TextBox 34">
            <a:extLst>
              <a:ext uri="{FF2B5EF4-FFF2-40B4-BE49-F238E27FC236}">
                <a16:creationId xmlns:a16="http://schemas.microsoft.com/office/drawing/2014/main" id="{F40E161B-04CF-41DB-983B-CED5F4754456}"/>
              </a:ext>
            </a:extLst>
          </p:cNvPr>
          <p:cNvSpPr txBox="1">
            <a:spLocks/>
          </p:cNvSpPr>
          <p:nvPr/>
        </p:nvSpPr>
        <p:spPr>
          <a:xfrm>
            <a:off x="5133045" y="2316448"/>
            <a:ext cx="1922732" cy="646331"/>
          </a:xfrm>
          <a:prstGeom prst="rect">
            <a:avLst/>
          </a:prstGeom>
          <a:noFill/>
        </p:spPr>
        <p:txBody>
          <a:bodyPr wrap="square" lIns="91440" tIns="45720" rIns="91440" bIns="45720" rtlCol="0" anchor="t">
            <a:spAutoFit/>
          </a:bodyPr>
          <a:lstStyle/>
          <a:p>
            <a:pPr algn="ctr">
              <a:defRPr/>
            </a:pPr>
            <a:r>
              <a:rPr lang="en-US" sz="1200">
                <a:solidFill>
                  <a:schemeClr val="accent1"/>
                </a:solidFill>
                <a:latin typeface="ServiceNow Sans" panose="020B0504040101010104" pitchFamily="34" charset="77"/>
              </a:rPr>
              <a:t>Proactively manage asset estate &amp; </a:t>
            </a:r>
            <a:br>
              <a:rPr lang="en-US" sz="1200">
                <a:solidFill>
                  <a:schemeClr val="accent1"/>
                </a:solidFill>
                <a:latin typeface="ServiceNow Sans" panose="020B0504040101010104" pitchFamily="34" charset="77"/>
              </a:rPr>
            </a:br>
            <a:r>
              <a:rPr lang="en-US" sz="1200">
                <a:solidFill>
                  <a:schemeClr val="accent1"/>
                </a:solidFill>
                <a:latin typeface="ServiceNow Sans" panose="020B0504040101010104" pitchFamily="34" charset="77"/>
              </a:rPr>
              <a:t>inbound requests</a:t>
            </a:r>
          </a:p>
        </p:txBody>
      </p:sp>
      <p:sp>
        <p:nvSpPr>
          <p:cNvPr id="54" name="TextBox 53">
            <a:extLst>
              <a:ext uri="{FF2B5EF4-FFF2-40B4-BE49-F238E27FC236}">
                <a16:creationId xmlns:a16="http://schemas.microsoft.com/office/drawing/2014/main" id="{C6E53C50-BE26-DECD-B3DE-D129FE8B79C3}"/>
              </a:ext>
            </a:extLst>
          </p:cNvPr>
          <p:cNvSpPr txBox="1">
            <a:spLocks/>
          </p:cNvSpPr>
          <p:nvPr/>
        </p:nvSpPr>
        <p:spPr>
          <a:xfrm>
            <a:off x="7198013" y="2316448"/>
            <a:ext cx="1922732" cy="646331"/>
          </a:xfrm>
          <a:prstGeom prst="rect">
            <a:avLst/>
          </a:prstGeom>
          <a:noFill/>
        </p:spPr>
        <p:txBody>
          <a:bodyPr wrap="square" lIns="91440" tIns="45720" rIns="91440" bIns="45720" rtlCol="0" anchor="t">
            <a:spAutoFit/>
          </a:bodyPr>
          <a:lstStyle/>
          <a:p>
            <a:pPr algn="ctr">
              <a:defRPr/>
            </a:pPr>
            <a:r>
              <a:rPr lang="en-US" sz="1200">
                <a:solidFill>
                  <a:schemeClr val="accent1"/>
                </a:solidFill>
                <a:latin typeface="ServiceNow Sans" panose="020B0504040101010104" pitchFamily="34" charset="77"/>
              </a:rPr>
              <a:t>Triage, organize &amp; distribute incoming security incidents</a:t>
            </a:r>
          </a:p>
        </p:txBody>
      </p:sp>
      <p:sp>
        <p:nvSpPr>
          <p:cNvPr id="55" name="TextBox 54">
            <a:extLst>
              <a:ext uri="{FF2B5EF4-FFF2-40B4-BE49-F238E27FC236}">
                <a16:creationId xmlns:a16="http://schemas.microsoft.com/office/drawing/2014/main" id="{07C035B4-979A-B654-45BC-410A2A153C24}"/>
              </a:ext>
            </a:extLst>
          </p:cNvPr>
          <p:cNvSpPr txBox="1">
            <a:spLocks/>
          </p:cNvSpPr>
          <p:nvPr/>
        </p:nvSpPr>
        <p:spPr>
          <a:xfrm>
            <a:off x="9262982" y="2316448"/>
            <a:ext cx="1922732" cy="646331"/>
          </a:xfrm>
          <a:prstGeom prst="rect">
            <a:avLst/>
          </a:prstGeom>
          <a:noFill/>
        </p:spPr>
        <p:txBody>
          <a:bodyPr wrap="square" lIns="91440" tIns="45720" rIns="91440" bIns="45720" rtlCol="0" anchor="t">
            <a:spAutoFit/>
          </a:bodyPr>
          <a:lstStyle/>
          <a:p>
            <a:pPr algn="ctr">
              <a:defRPr/>
            </a:pPr>
            <a:r>
              <a:rPr lang="en-US" sz="1200">
                <a:solidFill>
                  <a:schemeClr val="accent1"/>
                </a:solidFill>
                <a:latin typeface="ServiceNow Sans" panose="020B0504040101010104" pitchFamily="34" charset="77"/>
              </a:rPr>
              <a:t>Align, automate, &amp; </a:t>
            </a:r>
            <a:br>
              <a:rPr lang="en-US" sz="1200">
                <a:solidFill>
                  <a:schemeClr val="accent1"/>
                </a:solidFill>
                <a:latin typeface="ServiceNow Sans" panose="020B0504040101010104" pitchFamily="34" charset="77"/>
              </a:rPr>
            </a:br>
            <a:r>
              <a:rPr lang="en-US" sz="1200">
                <a:solidFill>
                  <a:schemeClr val="accent1"/>
                </a:solidFill>
                <a:latin typeface="ServiceNow Sans" panose="020B0504040101010104" pitchFamily="34" charset="77"/>
              </a:rPr>
              <a:t>recommend planning </a:t>
            </a:r>
            <a:br>
              <a:rPr lang="en-US" sz="1200">
                <a:solidFill>
                  <a:schemeClr val="accent1"/>
                </a:solidFill>
                <a:latin typeface="ServiceNow Sans" panose="020B0504040101010104" pitchFamily="34" charset="77"/>
              </a:rPr>
            </a:br>
            <a:r>
              <a:rPr lang="en-US" sz="1200">
                <a:solidFill>
                  <a:schemeClr val="accent1"/>
                </a:solidFill>
                <a:latin typeface="ServiceNow Sans" panose="020B0504040101010104" pitchFamily="34" charset="77"/>
              </a:rPr>
              <a:t>&amp; resourcing</a:t>
            </a:r>
          </a:p>
        </p:txBody>
      </p:sp>
      <p:sp>
        <p:nvSpPr>
          <p:cNvPr id="56" name="TextBox 55">
            <a:extLst>
              <a:ext uri="{FF2B5EF4-FFF2-40B4-BE49-F238E27FC236}">
                <a16:creationId xmlns:a16="http://schemas.microsoft.com/office/drawing/2014/main" id="{40F6A794-E37A-04B9-C86A-707FE7AA804C}"/>
              </a:ext>
            </a:extLst>
          </p:cNvPr>
          <p:cNvSpPr txBox="1">
            <a:spLocks/>
          </p:cNvSpPr>
          <p:nvPr/>
        </p:nvSpPr>
        <p:spPr>
          <a:xfrm>
            <a:off x="2973178" y="2316448"/>
            <a:ext cx="2112530" cy="646331"/>
          </a:xfrm>
          <a:prstGeom prst="rect">
            <a:avLst/>
          </a:prstGeom>
          <a:noFill/>
        </p:spPr>
        <p:txBody>
          <a:bodyPr wrap="square" lIns="91440" tIns="45720" rIns="91440" bIns="45720" rtlCol="0" anchor="t">
            <a:spAutoFit/>
          </a:bodyPr>
          <a:lstStyle/>
          <a:p>
            <a:pPr algn="ctr">
              <a:defRPr/>
            </a:pPr>
            <a:r>
              <a:rPr lang="en-US" sz="1200">
                <a:solidFill>
                  <a:schemeClr val="accent1"/>
                </a:solidFill>
                <a:latin typeface="ServiceNow Sans" panose="020B0504040101010104" pitchFamily="34" charset="77"/>
              </a:rPr>
              <a:t>Triage incoming events, engage team &amp; agents </a:t>
            </a:r>
            <a:br>
              <a:rPr lang="en-US" sz="1200">
                <a:solidFill>
                  <a:schemeClr val="accent1"/>
                </a:solidFill>
                <a:latin typeface="ServiceNow Sans" panose="020B0504040101010104" pitchFamily="34" charset="77"/>
              </a:rPr>
            </a:br>
            <a:r>
              <a:rPr lang="en-US" sz="1200">
                <a:solidFill>
                  <a:schemeClr val="accent1"/>
                </a:solidFill>
                <a:latin typeface="ServiceNow Sans" panose="020B0504040101010104" pitchFamily="34" charset="77"/>
              </a:rPr>
              <a:t>to resolve issues</a:t>
            </a:r>
          </a:p>
        </p:txBody>
      </p:sp>
      <p:sp>
        <p:nvSpPr>
          <p:cNvPr id="58" name="TextBox 57">
            <a:extLst>
              <a:ext uri="{FF2B5EF4-FFF2-40B4-BE49-F238E27FC236}">
                <a16:creationId xmlns:a16="http://schemas.microsoft.com/office/drawing/2014/main" id="{BDDADEB1-4E39-02AA-51B7-EF6D1E6A2365}"/>
              </a:ext>
            </a:extLst>
          </p:cNvPr>
          <p:cNvSpPr txBox="1">
            <a:spLocks/>
          </p:cNvSpPr>
          <p:nvPr/>
        </p:nvSpPr>
        <p:spPr>
          <a:xfrm>
            <a:off x="1003109" y="2316448"/>
            <a:ext cx="1922732" cy="646331"/>
          </a:xfrm>
          <a:prstGeom prst="rect">
            <a:avLst/>
          </a:prstGeom>
          <a:noFill/>
        </p:spPr>
        <p:txBody>
          <a:bodyPr wrap="square" lIns="91440" tIns="45720" rIns="91440" bIns="45720" rtlCol="0" anchor="t">
            <a:spAutoFit/>
          </a:bodyPr>
          <a:lstStyle/>
          <a:p>
            <a:pPr algn="ctr">
              <a:defRPr/>
            </a:pPr>
            <a:r>
              <a:rPr lang="en-US" sz="1200">
                <a:solidFill>
                  <a:schemeClr val="accent1"/>
                </a:solidFill>
                <a:latin typeface="ServiceNow Sans" panose="020B0504040101010104" pitchFamily="34" charset="77"/>
              </a:rPr>
              <a:t>Triage, assess, </a:t>
            </a:r>
            <a:br>
              <a:rPr lang="en-US" sz="1200">
                <a:solidFill>
                  <a:schemeClr val="accent1"/>
                </a:solidFill>
                <a:latin typeface="ServiceNow Sans" panose="020B0504040101010104" pitchFamily="34" charset="77"/>
              </a:rPr>
            </a:br>
            <a:r>
              <a:rPr lang="en-US" sz="1200">
                <a:solidFill>
                  <a:schemeClr val="accent1"/>
                </a:solidFill>
                <a:latin typeface="ServiceNow Sans" panose="020B0504040101010104" pitchFamily="34" charset="77"/>
              </a:rPr>
              <a:t>&amp; resolve P3, </a:t>
            </a:r>
            <a:br>
              <a:rPr lang="en-US" sz="1200">
                <a:solidFill>
                  <a:schemeClr val="accent1"/>
                </a:solidFill>
                <a:latin typeface="ServiceNow Sans" panose="020B0504040101010104" pitchFamily="34" charset="77"/>
              </a:rPr>
            </a:br>
            <a:r>
              <a:rPr lang="en-US" sz="1200">
                <a:solidFill>
                  <a:schemeClr val="accent1"/>
                </a:solidFill>
                <a:latin typeface="ServiceNow Sans" panose="020B0504040101010104" pitchFamily="34" charset="77"/>
              </a:rPr>
              <a:t>P4 issues</a:t>
            </a:r>
          </a:p>
        </p:txBody>
      </p:sp>
      <p:sp>
        <p:nvSpPr>
          <p:cNvPr id="138" name="Rounded Rectangle 137">
            <a:extLst>
              <a:ext uri="{FF2B5EF4-FFF2-40B4-BE49-F238E27FC236}">
                <a16:creationId xmlns:a16="http://schemas.microsoft.com/office/drawing/2014/main" id="{7F4FF61C-1469-57A2-D65E-85D0CB332816}"/>
              </a:ext>
            </a:extLst>
          </p:cNvPr>
          <p:cNvSpPr>
            <a:spLocks/>
          </p:cNvSpPr>
          <p:nvPr/>
        </p:nvSpPr>
        <p:spPr>
          <a:xfrm>
            <a:off x="10844835" y="906124"/>
            <a:ext cx="1145352" cy="41526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050" kern="0">
                <a:solidFill>
                  <a:schemeClr val="accent1"/>
                </a:solidFill>
                <a:latin typeface="ServiceNow Sans Medium" panose="020B0504040101010104" pitchFamily="34" charset="77"/>
              </a:rPr>
              <a:t>Autonomous Workforce</a:t>
            </a:r>
          </a:p>
        </p:txBody>
      </p:sp>
      <p:sp>
        <p:nvSpPr>
          <p:cNvPr id="13" name="Rounded Rectangle 12">
            <a:extLst>
              <a:ext uri="{FF2B5EF4-FFF2-40B4-BE49-F238E27FC236}">
                <a16:creationId xmlns:a16="http://schemas.microsoft.com/office/drawing/2014/main" id="{74C2E24A-FC99-B93D-5CC5-82D1673D15E6}"/>
              </a:ext>
            </a:extLst>
          </p:cNvPr>
          <p:cNvSpPr>
            <a:spLocks/>
          </p:cNvSpPr>
          <p:nvPr/>
        </p:nvSpPr>
        <p:spPr>
          <a:xfrm>
            <a:off x="1225570" y="1815966"/>
            <a:ext cx="1470466" cy="48945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200" kern="0">
                <a:solidFill>
                  <a:schemeClr val="accent1"/>
                </a:solidFill>
                <a:latin typeface="ServiceNow Sans Medium" panose="020B0504040101010104" pitchFamily="34" charset="77"/>
              </a:rPr>
              <a:t>Service Desk </a:t>
            </a:r>
            <a:br>
              <a:rPr lang="en-US" sz="1200" kern="0">
                <a:solidFill>
                  <a:schemeClr val="accent1"/>
                </a:solidFill>
                <a:latin typeface="ServiceNow Sans Medium" panose="020B0504040101010104" pitchFamily="34" charset="77"/>
              </a:rPr>
            </a:br>
            <a:r>
              <a:rPr lang="en-US" sz="1200" kern="0">
                <a:solidFill>
                  <a:schemeClr val="accent1"/>
                </a:solidFill>
                <a:latin typeface="ServiceNow Sans Medium" panose="020B0504040101010104" pitchFamily="34" charset="77"/>
              </a:rPr>
              <a:t>AI specialists</a:t>
            </a:r>
          </a:p>
        </p:txBody>
      </p:sp>
      <p:sp>
        <p:nvSpPr>
          <p:cNvPr id="59" name="Rounded Rectangle 58">
            <a:extLst>
              <a:ext uri="{FF2B5EF4-FFF2-40B4-BE49-F238E27FC236}">
                <a16:creationId xmlns:a16="http://schemas.microsoft.com/office/drawing/2014/main" id="{46F76985-989B-C901-A7A0-517CC9B169B8}"/>
              </a:ext>
            </a:extLst>
          </p:cNvPr>
          <p:cNvSpPr>
            <a:spLocks/>
          </p:cNvSpPr>
          <p:nvPr/>
        </p:nvSpPr>
        <p:spPr>
          <a:xfrm>
            <a:off x="3296241" y="1815966"/>
            <a:ext cx="1470466" cy="48945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200" kern="0">
                <a:solidFill>
                  <a:schemeClr val="accent1"/>
                </a:solidFill>
                <a:latin typeface="ServiceNow Sans Medium" panose="020B0504040101010104" pitchFamily="34" charset="77"/>
              </a:rPr>
              <a:t>IT Operations </a:t>
            </a:r>
            <a:br>
              <a:rPr lang="en-US" sz="1200" kern="0">
                <a:solidFill>
                  <a:schemeClr val="accent1"/>
                </a:solidFill>
                <a:latin typeface="ServiceNow Sans Medium" panose="020B0504040101010104" pitchFamily="34" charset="77"/>
              </a:rPr>
            </a:br>
            <a:r>
              <a:rPr lang="en-US" sz="1200" kern="0">
                <a:solidFill>
                  <a:schemeClr val="accent1"/>
                </a:solidFill>
                <a:latin typeface="ServiceNow Sans Medium" panose="020B0504040101010104" pitchFamily="34" charset="77"/>
              </a:rPr>
              <a:t>AI specialists</a:t>
            </a:r>
          </a:p>
        </p:txBody>
      </p:sp>
      <p:sp>
        <p:nvSpPr>
          <p:cNvPr id="67" name="Rounded Rectangle 66">
            <a:extLst>
              <a:ext uri="{FF2B5EF4-FFF2-40B4-BE49-F238E27FC236}">
                <a16:creationId xmlns:a16="http://schemas.microsoft.com/office/drawing/2014/main" id="{AF1DA636-AD9C-824E-B607-0E04CE832272}"/>
              </a:ext>
            </a:extLst>
          </p:cNvPr>
          <p:cNvSpPr>
            <a:spLocks/>
          </p:cNvSpPr>
          <p:nvPr/>
        </p:nvSpPr>
        <p:spPr>
          <a:xfrm>
            <a:off x="5362946" y="1815966"/>
            <a:ext cx="1470466" cy="48945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200" kern="0">
                <a:solidFill>
                  <a:schemeClr val="accent1"/>
                </a:solidFill>
                <a:latin typeface="ServiceNow Sans Medium" panose="020B0504040101010104" pitchFamily="34" charset="77"/>
              </a:rPr>
              <a:t>Asset</a:t>
            </a:r>
            <a:br>
              <a:rPr lang="en-US" sz="1200" kern="0">
                <a:solidFill>
                  <a:schemeClr val="accent1"/>
                </a:solidFill>
                <a:latin typeface="ServiceNow Sans Medium" panose="020B0504040101010104" pitchFamily="34" charset="77"/>
              </a:rPr>
            </a:br>
            <a:r>
              <a:rPr lang="en-US" sz="1200" kern="0">
                <a:solidFill>
                  <a:schemeClr val="accent1"/>
                </a:solidFill>
                <a:latin typeface="ServiceNow Sans Medium" panose="020B0504040101010104" pitchFamily="34" charset="77"/>
              </a:rPr>
              <a:t>AI specialists</a:t>
            </a:r>
          </a:p>
        </p:txBody>
      </p:sp>
      <p:sp>
        <p:nvSpPr>
          <p:cNvPr id="85" name="Rounded Rectangle 84">
            <a:extLst>
              <a:ext uri="{FF2B5EF4-FFF2-40B4-BE49-F238E27FC236}">
                <a16:creationId xmlns:a16="http://schemas.microsoft.com/office/drawing/2014/main" id="{EC4538A0-55C3-ECE1-A16E-CF67A7C3A46F}"/>
              </a:ext>
            </a:extLst>
          </p:cNvPr>
          <p:cNvSpPr>
            <a:spLocks/>
          </p:cNvSpPr>
          <p:nvPr/>
        </p:nvSpPr>
        <p:spPr>
          <a:xfrm>
            <a:off x="7422630" y="1815966"/>
            <a:ext cx="1470466" cy="48945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200" kern="0">
                <a:solidFill>
                  <a:schemeClr val="accent1"/>
                </a:solidFill>
                <a:latin typeface="ServiceNow Sans Medium" panose="020B0504040101010104" pitchFamily="34" charset="77"/>
              </a:rPr>
              <a:t>Security </a:t>
            </a:r>
            <a:br>
              <a:rPr lang="en-US" sz="1200" kern="0">
                <a:solidFill>
                  <a:schemeClr val="accent1"/>
                </a:solidFill>
                <a:latin typeface="ServiceNow Sans Medium" panose="020B0504040101010104" pitchFamily="34" charset="77"/>
              </a:rPr>
            </a:br>
            <a:r>
              <a:rPr lang="en-US" sz="1200" kern="0">
                <a:solidFill>
                  <a:schemeClr val="accent1"/>
                </a:solidFill>
                <a:latin typeface="ServiceNow Sans Medium" panose="020B0504040101010104" pitchFamily="34" charset="77"/>
              </a:rPr>
              <a:t>AI specialists</a:t>
            </a:r>
          </a:p>
        </p:txBody>
      </p:sp>
      <p:sp>
        <p:nvSpPr>
          <p:cNvPr id="105" name="Rounded Rectangle 104">
            <a:extLst>
              <a:ext uri="{FF2B5EF4-FFF2-40B4-BE49-F238E27FC236}">
                <a16:creationId xmlns:a16="http://schemas.microsoft.com/office/drawing/2014/main" id="{A819C86F-EB6A-AD4E-36EC-DA5FD3146E49}"/>
              </a:ext>
            </a:extLst>
          </p:cNvPr>
          <p:cNvSpPr>
            <a:spLocks/>
          </p:cNvSpPr>
          <p:nvPr/>
        </p:nvSpPr>
        <p:spPr>
          <a:xfrm>
            <a:off x="9336933" y="1815966"/>
            <a:ext cx="1764054" cy="48945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200" kern="0">
                <a:solidFill>
                  <a:schemeClr val="accent1"/>
                </a:solidFill>
                <a:latin typeface="ServiceNow Sans Medium" panose="020B0504040101010104" pitchFamily="34" charset="77"/>
              </a:rPr>
              <a:t>Strategy &amp; Planning </a:t>
            </a:r>
            <a:br>
              <a:rPr lang="en-US" sz="1200" kern="0">
                <a:solidFill>
                  <a:schemeClr val="accent1"/>
                </a:solidFill>
                <a:latin typeface="ServiceNow Sans Medium" panose="020B0504040101010104" pitchFamily="34" charset="77"/>
              </a:rPr>
            </a:br>
            <a:r>
              <a:rPr lang="en-US" sz="1200" kern="0">
                <a:solidFill>
                  <a:schemeClr val="accent1"/>
                </a:solidFill>
                <a:latin typeface="ServiceNow Sans Medium" panose="020B0504040101010104" pitchFamily="34" charset="77"/>
              </a:rPr>
              <a:t>AI specialists</a:t>
            </a:r>
          </a:p>
        </p:txBody>
      </p:sp>
      <p:sp>
        <p:nvSpPr>
          <p:cNvPr id="65" name="Rounded Rectangle 20">
            <a:extLst>
              <a:ext uri="{FF2B5EF4-FFF2-40B4-BE49-F238E27FC236}">
                <a16:creationId xmlns:a16="http://schemas.microsoft.com/office/drawing/2014/main" id="{00F689D0-1D71-7E65-7790-A80988E0D460}"/>
              </a:ext>
              <a:ext uri="{C183D7F6-B498-43B3-948B-1728B52AA6E4}">
                <adec:decorative xmlns:adec="http://schemas.microsoft.com/office/drawing/2017/decorative" val="1"/>
              </a:ext>
            </a:extLst>
          </p:cNvPr>
          <p:cNvSpPr>
            <a:spLocks/>
          </p:cNvSpPr>
          <p:nvPr/>
        </p:nvSpPr>
        <p:spPr>
          <a:xfrm>
            <a:off x="9352541" y="3034066"/>
            <a:ext cx="1743613" cy="228540"/>
          </a:xfrm>
          <a:prstGeom prst="roundRect">
            <a:avLst>
              <a:gd name="adj" fmla="val 50000"/>
            </a:avLst>
          </a:prstGeom>
          <a:solidFill>
            <a:srgbClr val="FBBF66"/>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0" rIns="0" rtlCol="0" anchor="ctr">
            <a:noAutofit/>
          </a:bodyPr>
          <a:lstStyle/>
          <a:p>
            <a:pPr algn="ctr"/>
            <a:r>
              <a:rPr lang="en-US" sz="900" b="1">
                <a:solidFill>
                  <a:srgbClr val="040E3D"/>
                </a:solidFill>
                <a:latin typeface="Source Sans 3" panose="020B0504040101010104" pitchFamily="34" charset="77"/>
              </a:rPr>
              <a:t>Head of Strategy &amp; Planning</a:t>
            </a:r>
          </a:p>
        </p:txBody>
      </p:sp>
      <p:sp>
        <p:nvSpPr>
          <p:cNvPr id="107" name="Rounded Rectangle 20">
            <a:extLst>
              <a:ext uri="{FF2B5EF4-FFF2-40B4-BE49-F238E27FC236}">
                <a16:creationId xmlns:a16="http://schemas.microsoft.com/office/drawing/2014/main" id="{0C629617-6EF7-1209-FFAC-E1230A17CDAA}"/>
              </a:ext>
              <a:ext uri="{C183D7F6-B498-43B3-948B-1728B52AA6E4}">
                <adec:decorative xmlns:adec="http://schemas.microsoft.com/office/drawing/2017/decorative" val="1"/>
              </a:ext>
            </a:extLst>
          </p:cNvPr>
          <p:cNvSpPr>
            <a:spLocks/>
          </p:cNvSpPr>
          <p:nvPr/>
        </p:nvSpPr>
        <p:spPr>
          <a:xfrm>
            <a:off x="7287572" y="3034066"/>
            <a:ext cx="1743613" cy="228540"/>
          </a:xfrm>
          <a:prstGeom prst="roundRect">
            <a:avLst>
              <a:gd name="adj" fmla="val 50000"/>
            </a:avLst>
          </a:prstGeom>
          <a:solidFill>
            <a:srgbClr val="F24C6B"/>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CISO</a:t>
            </a:r>
          </a:p>
        </p:txBody>
      </p:sp>
      <p:sp>
        <p:nvSpPr>
          <p:cNvPr id="108" name="Rounded Rectangle 20">
            <a:extLst>
              <a:ext uri="{FF2B5EF4-FFF2-40B4-BE49-F238E27FC236}">
                <a16:creationId xmlns:a16="http://schemas.microsoft.com/office/drawing/2014/main" id="{A86BF4AD-FBFB-7348-6994-B7BD18D09D8B}"/>
              </a:ext>
              <a:ext uri="{C183D7F6-B498-43B3-948B-1728B52AA6E4}">
                <adec:decorative xmlns:adec="http://schemas.microsoft.com/office/drawing/2017/decorative" val="1"/>
              </a:ext>
            </a:extLst>
          </p:cNvPr>
          <p:cNvSpPr>
            <a:spLocks/>
          </p:cNvSpPr>
          <p:nvPr/>
        </p:nvSpPr>
        <p:spPr>
          <a:xfrm>
            <a:off x="5225166" y="3034066"/>
            <a:ext cx="1743613" cy="228540"/>
          </a:xfrm>
          <a:prstGeom prst="roundRect">
            <a:avLst>
              <a:gd name="adj" fmla="val 50000"/>
            </a:avLst>
          </a:prstGeom>
          <a:solidFill>
            <a:srgbClr val="BC99FC"/>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Head of Asset Mgmt.</a:t>
            </a:r>
          </a:p>
        </p:txBody>
      </p:sp>
      <p:sp>
        <p:nvSpPr>
          <p:cNvPr id="109" name="Rounded Rectangle 20">
            <a:extLst>
              <a:ext uri="{FF2B5EF4-FFF2-40B4-BE49-F238E27FC236}">
                <a16:creationId xmlns:a16="http://schemas.microsoft.com/office/drawing/2014/main" id="{F8B0BEBD-4688-6B25-8332-0A6818E3E397}"/>
              </a:ext>
              <a:ext uri="{C183D7F6-B498-43B3-948B-1728B52AA6E4}">
                <adec:decorative xmlns:adec="http://schemas.microsoft.com/office/drawing/2017/decorative" val="1"/>
              </a:ext>
            </a:extLst>
          </p:cNvPr>
          <p:cNvSpPr>
            <a:spLocks/>
          </p:cNvSpPr>
          <p:nvPr/>
        </p:nvSpPr>
        <p:spPr>
          <a:xfrm>
            <a:off x="3157636" y="3034066"/>
            <a:ext cx="1743613" cy="228540"/>
          </a:xfrm>
          <a:prstGeom prst="roundRect">
            <a:avLst>
              <a:gd name="adj" fmla="val 50000"/>
            </a:avLst>
          </a:prstGeom>
          <a:solidFill>
            <a:srgbClr val="87FFD7"/>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a:solidFill>
                  <a:srgbClr val="040E3D"/>
                </a:solidFill>
                <a:latin typeface="Source Sans 3" panose="020B0504040101010104" pitchFamily="34" charset="77"/>
              </a:rPr>
              <a:t>Head of Tech Operations</a:t>
            </a:r>
          </a:p>
        </p:txBody>
      </p:sp>
      <p:sp>
        <p:nvSpPr>
          <p:cNvPr id="110" name="Rounded Rectangle 20">
            <a:extLst>
              <a:ext uri="{FF2B5EF4-FFF2-40B4-BE49-F238E27FC236}">
                <a16:creationId xmlns:a16="http://schemas.microsoft.com/office/drawing/2014/main" id="{C8C94AD1-F4FC-696E-AA99-BF312E94F05C}"/>
              </a:ext>
              <a:ext uri="{C183D7F6-B498-43B3-948B-1728B52AA6E4}">
                <adec:decorative xmlns:adec="http://schemas.microsoft.com/office/drawing/2017/decorative" val="1"/>
              </a:ext>
            </a:extLst>
          </p:cNvPr>
          <p:cNvSpPr>
            <a:spLocks/>
          </p:cNvSpPr>
          <p:nvPr/>
        </p:nvSpPr>
        <p:spPr>
          <a:xfrm>
            <a:off x="1144388" y="3022431"/>
            <a:ext cx="1743613" cy="228540"/>
          </a:xfrm>
          <a:prstGeom prst="roundRect">
            <a:avLst>
              <a:gd name="adj" fmla="val 50000"/>
            </a:avLst>
          </a:prstGeom>
          <a:solidFill>
            <a:srgbClr val="6DEDF5"/>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900" b="1" dirty="0">
                <a:solidFill>
                  <a:srgbClr val="040E3D"/>
                </a:solidFill>
                <a:latin typeface="Source Sans 3" panose="020B0504040101010104" pitchFamily="34" charset="77"/>
              </a:rPr>
              <a:t>Head of Service Desk</a:t>
            </a:r>
          </a:p>
        </p:txBody>
      </p:sp>
    </p:spTree>
    <p:extLst>
      <p:ext uri="{BB962C8B-B14F-4D97-AF65-F5344CB8AC3E}">
        <p14:creationId xmlns:p14="http://schemas.microsoft.com/office/powerpoint/2010/main" val="3413978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4521B-94C0-55C8-C51C-4D937D5DFF8C}"/>
            </a:ext>
          </a:extLst>
        </p:cNvPr>
        <p:cNvGrpSpPr/>
        <p:nvPr/>
      </p:nvGrpSpPr>
      <p:grpSpPr>
        <a:xfrm>
          <a:off x="0" y="0"/>
          <a:ext cx="0" cy="0"/>
          <a:chOff x="0" y="0"/>
          <a:chExt cx="0" cy="0"/>
        </a:xfrm>
      </p:grpSpPr>
      <p:pic>
        <p:nvPicPr>
          <p:cNvPr id="21" name="indigo_bg" descr="A blue and purple background&#10;&#10;AI-generated content may be incorrect.">
            <a:extLst>
              <a:ext uri="{FF2B5EF4-FFF2-40B4-BE49-F238E27FC236}">
                <a16:creationId xmlns:a16="http://schemas.microsoft.com/office/drawing/2014/main" id="{B38AA939-ABE7-08E7-70A2-C54BE0E3F3FC}"/>
              </a:ext>
            </a:extLst>
          </p:cNvPr>
          <p:cNvPicPr/>
          <p:nvPr/>
        </p:nvPicPr>
        <p:blipFill>
          <a:blip r:embed="rId3" cstate="screen">
            <a:extLst>
              <a:ext uri="{28A0092B-C50C-407E-A947-70E740481C1C}">
                <a14:useLocalDpi xmlns:a14="http://schemas.microsoft.com/office/drawing/2010/main"/>
              </a:ext>
            </a:extLst>
          </a:blip>
          <a:stretch>
            <a:fillRect/>
          </a:stretch>
        </p:blipFill>
        <p:spPr>
          <a:xfrm>
            <a:off x="-795" y="446"/>
            <a:ext cx="12190415" cy="6857107"/>
          </a:xfrm>
          <a:prstGeom prst="rect">
            <a:avLst/>
          </a:prstGeom>
        </p:spPr>
      </p:pic>
      <p:pic>
        <p:nvPicPr>
          <p:cNvPr id="39" name="Picture 38">
            <a:extLst>
              <a:ext uri="{FF2B5EF4-FFF2-40B4-BE49-F238E27FC236}">
                <a16:creationId xmlns:a16="http://schemas.microsoft.com/office/drawing/2014/main" id="{768951AE-588A-E806-ACEE-3E8CCFC01FF4}"/>
              </a:ext>
            </a:extLst>
          </p:cNvPr>
          <p:cNvPicPr>
            <a:picLocks noChangeAspect="1"/>
          </p:cNvPicPr>
          <p:nvPr/>
        </p:nvPicPr>
        <p:blipFill>
          <a:blip r:embed="rId4">
            <a:alphaModFix amt="46000"/>
            <a:extLst>
              <a:ext uri="{BEBA8EAE-BF5A-486C-A8C5-ECC9F3942E4B}">
                <a14:imgProps xmlns:a14="http://schemas.microsoft.com/office/drawing/2010/main">
                  <a14:imgLayer r:embed="rId5">
                    <a14:imgEffect>
                      <a14:artisticBlur radius="53"/>
                    </a14:imgEffect>
                  </a14:imgLayer>
                </a14:imgProps>
              </a:ext>
            </a:extLst>
          </a:blip>
          <a:srcRect t="13368" r="15493"/>
          <a:stretch>
            <a:fillRect/>
          </a:stretch>
        </p:blipFill>
        <p:spPr>
          <a:xfrm rot="4237642">
            <a:off x="-2741183" y="-1264710"/>
            <a:ext cx="5482364" cy="4694841"/>
          </a:xfrm>
          <a:prstGeom prst="rect">
            <a:avLst/>
          </a:prstGeom>
        </p:spPr>
      </p:pic>
      <p:sp>
        <p:nvSpPr>
          <p:cNvPr id="47" name="!!bg_gradient2">
            <a:extLst>
              <a:ext uri="{FF2B5EF4-FFF2-40B4-BE49-F238E27FC236}">
                <a16:creationId xmlns:a16="http://schemas.microsoft.com/office/drawing/2014/main" id="{FCB8CBAC-65FA-C2D7-A051-533030FBA3FD}"/>
              </a:ext>
            </a:extLst>
          </p:cNvPr>
          <p:cNvSpPr/>
          <p:nvPr/>
        </p:nvSpPr>
        <p:spPr>
          <a:xfrm flipH="1">
            <a:off x="-3820780" y="2615135"/>
            <a:ext cx="7190587" cy="3658284"/>
          </a:xfrm>
          <a:custGeom>
            <a:avLst/>
            <a:gdLst>
              <a:gd name="csX0" fmla="*/ 0 w 7908498"/>
              <a:gd name="csY0" fmla="*/ 0 h 4023528"/>
              <a:gd name="csX1" fmla="*/ 7908498 w 7908498"/>
              <a:gd name="csY1" fmla="*/ 0 h 4023528"/>
              <a:gd name="csX2" fmla="*/ 7908498 w 7908498"/>
              <a:gd name="csY2" fmla="*/ 4023528 h 4023528"/>
              <a:gd name="csX3" fmla="*/ 218341 w 7908498"/>
              <a:gd name="csY3" fmla="*/ 4023528 h 4023528"/>
              <a:gd name="csX4" fmla="*/ 405441 w 7908498"/>
              <a:gd name="csY4" fmla="*/ 3994973 h 4023528"/>
              <a:gd name="csX5" fmla="*/ 2011764 w 7908498"/>
              <a:gd name="csY5" fmla="*/ 2024081 h 4023528"/>
              <a:gd name="csX6" fmla="*/ 0 w 7908498"/>
              <a:gd name="csY6" fmla="*/ 12317 h 40235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908498" h="4023528">
                <a:moveTo>
                  <a:pt x="0" y="0"/>
                </a:moveTo>
                <a:lnTo>
                  <a:pt x="7908498" y="0"/>
                </a:lnTo>
                <a:lnTo>
                  <a:pt x="7908498" y="4023528"/>
                </a:lnTo>
                <a:lnTo>
                  <a:pt x="218341" y="4023528"/>
                </a:lnTo>
                <a:lnTo>
                  <a:pt x="405441" y="3994973"/>
                </a:lnTo>
                <a:cubicBezTo>
                  <a:pt x="1322168" y="3807384"/>
                  <a:pt x="2011764" y="2996265"/>
                  <a:pt x="2011764" y="2024081"/>
                </a:cubicBezTo>
                <a:cubicBezTo>
                  <a:pt x="2011764" y="913014"/>
                  <a:pt x="1111067" y="12317"/>
                  <a:pt x="0" y="12317"/>
                </a:cubicBezTo>
                <a:close/>
              </a:path>
            </a:pathLst>
          </a:custGeom>
          <a:gradFill flip="none" rotWithShape="1">
            <a:gsLst>
              <a:gs pos="92000">
                <a:schemeClr val="accent5">
                  <a:alpha val="0"/>
                </a:schemeClr>
              </a:gs>
              <a:gs pos="0">
                <a:schemeClr val="accent3">
                  <a:alpha val="0"/>
                </a:schemeClr>
              </a:gs>
            </a:gsLst>
            <a:lin ang="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pPr>
            <a:endParaRPr lang="en-US" sz="900" spc="-70" dirty="0">
              <a:solidFill>
                <a:schemeClr val="accent6"/>
              </a:solidFill>
              <a:latin typeface="Source Sans 3"/>
            </a:endParaRPr>
          </a:p>
        </p:txBody>
      </p:sp>
      <p:sp>
        <p:nvSpPr>
          <p:cNvPr id="48" name="!!bg_gradientframe2">
            <a:extLst>
              <a:ext uri="{FF2B5EF4-FFF2-40B4-BE49-F238E27FC236}">
                <a16:creationId xmlns:a16="http://schemas.microsoft.com/office/drawing/2014/main" id="{50F08380-560E-7469-B496-6579D38DED6F}"/>
              </a:ext>
            </a:extLst>
          </p:cNvPr>
          <p:cNvSpPr/>
          <p:nvPr/>
        </p:nvSpPr>
        <p:spPr>
          <a:xfrm flipH="1">
            <a:off x="-3820780" y="2615135"/>
            <a:ext cx="7190587" cy="3658284"/>
          </a:xfrm>
          <a:custGeom>
            <a:avLst/>
            <a:gdLst>
              <a:gd name="csX0" fmla="*/ 0 w 7908498"/>
              <a:gd name="csY0" fmla="*/ 0 h 4023528"/>
              <a:gd name="csX1" fmla="*/ 7908498 w 7908498"/>
              <a:gd name="csY1" fmla="*/ 0 h 4023528"/>
              <a:gd name="csX2" fmla="*/ 7908498 w 7908498"/>
              <a:gd name="csY2" fmla="*/ 4023528 h 4023528"/>
              <a:gd name="csX3" fmla="*/ 218341 w 7908498"/>
              <a:gd name="csY3" fmla="*/ 4023528 h 4023528"/>
              <a:gd name="csX4" fmla="*/ 405441 w 7908498"/>
              <a:gd name="csY4" fmla="*/ 3994973 h 4023528"/>
              <a:gd name="csX5" fmla="*/ 2011764 w 7908498"/>
              <a:gd name="csY5" fmla="*/ 2024081 h 4023528"/>
              <a:gd name="csX6" fmla="*/ 0 w 7908498"/>
              <a:gd name="csY6" fmla="*/ 12317 h 40235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908498" h="4023528">
                <a:moveTo>
                  <a:pt x="0" y="0"/>
                </a:moveTo>
                <a:lnTo>
                  <a:pt x="7908498" y="0"/>
                </a:lnTo>
                <a:lnTo>
                  <a:pt x="7908498" y="4023528"/>
                </a:lnTo>
                <a:lnTo>
                  <a:pt x="218341" y="4023528"/>
                </a:lnTo>
                <a:lnTo>
                  <a:pt x="405441" y="3994973"/>
                </a:lnTo>
                <a:cubicBezTo>
                  <a:pt x="1322168" y="3807384"/>
                  <a:pt x="2011764" y="2996265"/>
                  <a:pt x="2011764" y="2024081"/>
                </a:cubicBezTo>
                <a:cubicBezTo>
                  <a:pt x="2011764" y="913014"/>
                  <a:pt x="1111067" y="12317"/>
                  <a:pt x="0" y="12317"/>
                </a:cubicBezTo>
                <a:close/>
              </a:path>
            </a:pathLst>
          </a:custGeom>
          <a:noFill/>
          <a:ln w="3175">
            <a:gradFill>
              <a:gsLst>
                <a:gs pos="0">
                  <a:schemeClr val="accent3">
                    <a:alpha val="0"/>
                  </a:schemeClr>
                </a:gs>
                <a:gs pos="70000">
                  <a:schemeClr val="accent3">
                    <a:alpha val="0"/>
                  </a:schemeClr>
                </a:gs>
                <a:gs pos="86000">
                  <a:srgbClr val="C0A6FF">
                    <a:alpha val="0"/>
                  </a:srgbClr>
                </a:gs>
              </a:gsLst>
              <a:lin ang="0" scaled="0"/>
            </a:grad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pPr>
            <a:endParaRPr lang="en-US" sz="900" spc="-70" dirty="0">
              <a:solidFill>
                <a:schemeClr val="accent6"/>
              </a:solidFill>
              <a:latin typeface="Source Sans 3"/>
            </a:endParaRPr>
          </a:p>
        </p:txBody>
      </p:sp>
      <p:sp>
        <p:nvSpPr>
          <p:cNvPr id="29" name="!!bg_gradient">
            <a:extLst>
              <a:ext uri="{FF2B5EF4-FFF2-40B4-BE49-F238E27FC236}">
                <a16:creationId xmlns:a16="http://schemas.microsoft.com/office/drawing/2014/main" id="{849E13B8-703C-2462-246F-A3929300FE20}"/>
              </a:ext>
            </a:extLst>
          </p:cNvPr>
          <p:cNvSpPr/>
          <p:nvPr/>
        </p:nvSpPr>
        <p:spPr>
          <a:xfrm>
            <a:off x="3325013" y="2615135"/>
            <a:ext cx="7190587" cy="3658284"/>
          </a:xfrm>
          <a:custGeom>
            <a:avLst/>
            <a:gdLst>
              <a:gd name="csX0" fmla="*/ 0 w 7908498"/>
              <a:gd name="csY0" fmla="*/ 0 h 4023528"/>
              <a:gd name="csX1" fmla="*/ 7908498 w 7908498"/>
              <a:gd name="csY1" fmla="*/ 0 h 4023528"/>
              <a:gd name="csX2" fmla="*/ 7908498 w 7908498"/>
              <a:gd name="csY2" fmla="*/ 4023528 h 4023528"/>
              <a:gd name="csX3" fmla="*/ 218341 w 7908498"/>
              <a:gd name="csY3" fmla="*/ 4023528 h 4023528"/>
              <a:gd name="csX4" fmla="*/ 405441 w 7908498"/>
              <a:gd name="csY4" fmla="*/ 3994973 h 4023528"/>
              <a:gd name="csX5" fmla="*/ 2011764 w 7908498"/>
              <a:gd name="csY5" fmla="*/ 2024081 h 4023528"/>
              <a:gd name="csX6" fmla="*/ 0 w 7908498"/>
              <a:gd name="csY6" fmla="*/ 12317 h 40235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908498" h="4023528">
                <a:moveTo>
                  <a:pt x="0" y="0"/>
                </a:moveTo>
                <a:lnTo>
                  <a:pt x="7908498" y="0"/>
                </a:lnTo>
                <a:lnTo>
                  <a:pt x="7908498" y="4023528"/>
                </a:lnTo>
                <a:lnTo>
                  <a:pt x="218341" y="4023528"/>
                </a:lnTo>
                <a:lnTo>
                  <a:pt x="405441" y="3994973"/>
                </a:lnTo>
                <a:cubicBezTo>
                  <a:pt x="1322168" y="3807384"/>
                  <a:pt x="2011764" y="2996265"/>
                  <a:pt x="2011764" y="2024081"/>
                </a:cubicBezTo>
                <a:cubicBezTo>
                  <a:pt x="2011764" y="913014"/>
                  <a:pt x="1111067" y="12317"/>
                  <a:pt x="0" y="12317"/>
                </a:cubicBezTo>
                <a:close/>
              </a:path>
            </a:pathLst>
          </a:custGeom>
          <a:gradFill flip="none" rotWithShape="1">
            <a:gsLst>
              <a:gs pos="92000">
                <a:schemeClr val="accent5">
                  <a:alpha val="0"/>
                </a:schemeClr>
              </a:gs>
              <a:gs pos="0">
                <a:srgbClr val="C0A6FF">
                  <a:alpha val="19052"/>
                </a:srgbClr>
              </a:gs>
            </a:gsLst>
            <a:lin ang="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pPr>
            <a:endParaRPr lang="en-US" sz="900" spc="-70" dirty="0">
              <a:solidFill>
                <a:schemeClr val="accent6"/>
              </a:solidFill>
              <a:latin typeface="Source Sans 3"/>
            </a:endParaRPr>
          </a:p>
        </p:txBody>
      </p:sp>
      <p:sp>
        <p:nvSpPr>
          <p:cNvPr id="46" name="!!bg_gradientframe">
            <a:extLst>
              <a:ext uri="{FF2B5EF4-FFF2-40B4-BE49-F238E27FC236}">
                <a16:creationId xmlns:a16="http://schemas.microsoft.com/office/drawing/2014/main" id="{8C24D8B1-7FD6-8C34-81FC-0464C104CD88}"/>
              </a:ext>
            </a:extLst>
          </p:cNvPr>
          <p:cNvSpPr/>
          <p:nvPr/>
        </p:nvSpPr>
        <p:spPr>
          <a:xfrm>
            <a:off x="3325013" y="2615135"/>
            <a:ext cx="7190587" cy="3658284"/>
          </a:xfrm>
          <a:custGeom>
            <a:avLst/>
            <a:gdLst>
              <a:gd name="csX0" fmla="*/ 0 w 7908498"/>
              <a:gd name="csY0" fmla="*/ 0 h 4023528"/>
              <a:gd name="csX1" fmla="*/ 7908498 w 7908498"/>
              <a:gd name="csY1" fmla="*/ 0 h 4023528"/>
              <a:gd name="csX2" fmla="*/ 7908498 w 7908498"/>
              <a:gd name="csY2" fmla="*/ 4023528 h 4023528"/>
              <a:gd name="csX3" fmla="*/ 218341 w 7908498"/>
              <a:gd name="csY3" fmla="*/ 4023528 h 4023528"/>
              <a:gd name="csX4" fmla="*/ 405441 w 7908498"/>
              <a:gd name="csY4" fmla="*/ 3994973 h 4023528"/>
              <a:gd name="csX5" fmla="*/ 2011764 w 7908498"/>
              <a:gd name="csY5" fmla="*/ 2024081 h 4023528"/>
              <a:gd name="csX6" fmla="*/ 0 w 7908498"/>
              <a:gd name="csY6" fmla="*/ 12317 h 40235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908498" h="4023528">
                <a:moveTo>
                  <a:pt x="0" y="0"/>
                </a:moveTo>
                <a:lnTo>
                  <a:pt x="7908498" y="0"/>
                </a:lnTo>
                <a:lnTo>
                  <a:pt x="7908498" y="4023528"/>
                </a:lnTo>
                <a:lnTo>
                  <a:pt x="218341" y="4023528"/>
                </a:lnTo>
                <a:lnTo>
                  <a:pt x="405441" y="3994973"/>
                </a:lnTo>
                <a:cubicBezTo>
                  <a:pt x="1322168" y="3807384"/>
                  <a:pt x="2011764" y="2996265"/>
                  <a:pt x="2011764" y="2024081"/>
                </a:cubicBezTo>
                <a:cubicBezTo>
                  <a:pt x="2011764" y="913014"/>
                  <a:pt x="1111067" y="12317"/>
                  <a:pt x="0" y="12317"/>
                </a:cubicBezTo>
                <a:close/>
              </a:path>
            </a:pathLst>
          </a:custGeom>
          <a:noFill/>
          <a:ln w="3175">
            <a:gradFill>
              <a:gsLst>
                <a:gs pos="0">
                  <a:srgbClr val="C0A6FF">
                    <a:alpha val="53000"/>
                  </a:srgbClr>
                </a:gs>
                <a:gs pos="70000">
                  <a:schemeClr val="accent3">
                    <a:alpha val="14000"/>
                  </a:schemeClr>
                </a:gs>
                <a:gs pos="86000">
                  <a:srgbClr val="C0A6FF">
                    <a:alpha val="0"/>
                  </a:srgbClr>
                </a:gs>
              </a:gsLst>
              <a:lin ang="0" scaled="0"/>
            </a:grad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pPr>
            <a:endParaRPr lang="en-US" sz="900" spc="-70" dirty="0">
              <a:solidFill>
                <a:schemeClr val="accent6"/>
              </a:solidFill>
              <a:latin typeface="Source Sans 3"/>
            </a:endParaRPr>
          </a:p>
        </p:txBody>
      </p:sp>
      <p:sp>
        <p:nvSpPr>
          <p:cNvPr id="3" name="Title 1">
            <a:extLst>
              <a:ext uri="{FF2B5EF4-FFF2-40B4-BE49-F238E27FC236}">
                <a16:creationId xmlns:a16="http://schemas.microsoft.com/office/drawing/2014/main" id="{8B053AC7-C903-DD83-99D2-4FEA34FD2DAD}"/>
              </a:ext>
            </a:extLst>
          </p:cNvPr>
          <p:cNvSpPr>
            <a:spLocks noGrp="1"/>
          </p:cNvSpPr>
          <p:nvPr>
            <p:ph type="title"/>
          </p:nvPr>
        </p:nvSpPr>
        <p:spPr>
          <a:xfrm>
            <a:off x="552925" y="747934"/>
            <a:ext cx="11082973" cy="1074317"/>
          </a:xfrm>
        </p:spPr>
        <p:txBody>
          <a:bodyPr vert="horz" lIns="0" tIns="0" rIns="0" bIns="0" rtlCol="0" anchor="t" anchorCtr="0">
            <a:noAutofit/>
          </a:bodyPr>
          <a:lstStyle/>
          <a:p>
            <a:pPr algn="ctr"/>
            <a:r>
              <a:rPr lang="en-US" sz="4800" b="1" dirty="0">
                <a:solidFill>
                  <a:schemeClr val="accent1"/>
                </a:solidFill>
                <a:latin typeface="+mj-lt"/>
                <a:ea typeface="+mj-ea"/>
              </a:rPr>
              <a:t>Think beyond pilots.</a:t>
            </a:r>
            <a:br>
              <a:rPr lang="en-US" sz="4800" b="1" dirty="0">
                <a:solidFill>
                  <a:schemeClr val="accent1"/>
                </a:solidFill>
                <a:latin typeface="+mj-lt"/>
                <a:ea typeface="+mj-ea"/>
              </a:rPr>
            </a:br>
            <a:r>
              <a:rPr lang="en-US" sz="4800" b="1" dirty="0">
                <a:latin typeface="+mj-lt"/>
                <a:ea typeface="+mj-ea"/>
              </a:rPr>
              <a:t>Aim for transformation.</a:t>
            </a:r>
          </a:p>
        </p:txBody>
      </p:sp>
      <p:sp>
        <p:nvSpPr>
          <p:cNvPr id="9" name="!!text1">
            <a:extLst>
              <a:ext uri="{FF2B5EF4-FFF2-40B4-BE49-F238E27FC236}">
                <a16:creationId xmlns:a16="http://schemas.microsoft.com/office/drawing/2014/main" id="{DA54E5B0-A294-1128-113F-42467FA0DD5C}"/>
              </a:ext>
            </a:extLst>
          </p:cNvPr>
          <p:cNvSpPr txBox="1"/>
          <p:nvPr/>
        </p:nvSpPr>
        <p:spPr>
          <a:xfrm>
            <a:off x="5983685" y="3182105"/>
            <a:ext cx="5144436" cy="2551032"/>
          </a:xfrm>
          <a:prstGeom prst="rect">
            <a:avLst/>
          </a:prstGeom>
        </p:spPr>
        <p:txBody>
          <a:bodyPr vert="horz" lIns="0" tIns="0" rIns="0" bIns="0" rtlCol="0" anchor="ctr" anchorCtr="0">
            <a:noAutofit/>
          </a:bodyPr>
          <a:lstStyle>
            <a:defPPr>
              <a:defRPr lang="en-US"/>
            </a:defPPr>
            <a:lvl1pPr algn="ctr">
              <a:lnSpc>
                <a:spcPct val="85000"/>
              </a:lnSpc>
              <a:spcBef>
                <a:spcPct val="0"/>
              </a:spcBef>
              <a:buNone/>
              <a:tabLst>
                <a:tab pos="398463" algn="l"/>
              </a:tabLst>
              <a:defRPr sz="2800" b="0" i="0" spc="0" baseline="0">
                <a:solidFill>
                  <a:schemeClr val="bg1"/>
                </a:solidFill>
                <a:latin typeface="Source Sans 3" panose="020B0504040101010104" pitchFamily="34" charset="77"/>
                <a:ea typeface="+mj-ea"/>
                <a:cs typeface="Source Sans 3" panose="020B0504040101010104" pitchFamily="34" charset="77"/>
              </a:defRPr>
            </a:lvl1pPr>
          </a:lstStyle>
          <a:p>
            <a:pPr algn="l" defTabSz="456902" hangingPunct="0">
              <a:lnSpc>
                <a:spcPct val="100000"/>
              </a:lnSpc>
              <a:buClr>
                <a:schemeClr val="bg2"/>
              </a:buClr>
              <a:tabLst>
                <a:tab pos="398343" algn="l"/>
              </a:tabLst>
            </a:pPr>
            <a:r>
              <a:rPr lang="en-US" sz="3200" b="1" kern="0" dirty="0">
                <a:latin typeface="Source Sans 3" panose="020B0504040101010104" pitchFamily="34" charset="77"/>
                <a:cs typeface="+mj-cs"/>
              </a:rPr>
              <a:t>AI that completes work — grounded in trusted data, guided by workflows, and bounded by clear controls.</a:t>
            </a:r>
          </a:p>
        </p:txBody>
      </p:sp>
      <p:pic>
        <p:nvPicPr>
          <p:cNvPr id="58" name="Crossfuze mark" descr="Crossfuze infinity mark"/>
          <p:cNvPicPr>
            <a:picLocks noChangeAspect="1"/>
          </p:cNvPicPr>
          <p:nvPr/>
        </p:nvPicPr>
        <p:blipFill>
          <a:blip r:embed="rId6"/>
          <a:stretch>
            <a:fillRect/>
          </a:stretch>
        </p:blipFill>
        <p:spPr>
          <a:xfrm>
            <a:off x="2099945" y="2930900"/>
            <a:ext cx="2585998" cy="2526915"/>
          </a:xfrm>
          <a:prstGeom prst="rect">
            <a:avLst/>
          </a:prstGeom>
        </p:spPr>
      </p:pic>
      <p:grpSp>
        <p:nvGrpSpPr>
          <p:cNvPr id="57" name="Group 56">
            <a:extLst>
              <a:ext uri="{FF2B5EF4-FFF2-40B4-BE49-F238E27FC236}">
                <a16:creationId xmlns:a16="http://schemas.microsoft.com/office/drawing/2014/main" id="{86B68F88-8791-0233-BCD8-FF062B5F061F}"/>
              </a:ext>
            </a:extLst>
          </p:cNvPr>
          <p:cNvGrpSpPr/>
          <p:nvPr/>
        </p:nvGrpSpPr>
        <p:grpSpPr>
          <a:xfrm>
            <a:off x="1854396" y="5777397"/>
            <a:ext cx="2994242" cy="605515"/>
            <a:chOff x="1389351" y="5570645"/>
            <a:chExt cx="2258473" cy="456723"/>
          </a:xfrm>
        </p:grpSpPr>
        <p:sp>
          <p:nvSpPr>
            <p:cNvPr id="56" name="Rounded Rectangle 55">
              <a:extLst>
                <a:ext uri="{FF2B5EF4-FFF2-40B4-BE49-F238E27FC236}">
                  <a16:creationId xmlns:a16="http://schemas.microsoft.com/office/drawing/2014/main" id="{642317C4-C17F-D2C0-419C-28556B88D9B4}"/>
                </a:ext>
              </a:extLst>
            </p:cNvPr>
            <p:cNvSpPr/>
            <p:nvPr/>
          </p:nvSpPr>
          <p:spPr>
            <a:xfrm>
              <a:off x="1389352" y="5570646"/>
              <a:ext cx="2258472" cy="456722"/>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400" dirty="0">
                <a:solidFill>
                  <a:schemeClr val="tx1"/>
                </a:solidFill>
              </a:endParaRPr>
            </a:p>
          </p:txBody>
        </p:sp>
        <p:sp>
          <p:nvSpPr>
            <p:cNvPr id="38" name="Rounded Rectangle 37">
              <a:extLst>
                <a:ext uri="{FF2B5EF4-FFF2-40B4-BE49-F238E27FC236}">
                  <a16:creationId xmlns:a16="http://schemas.microsoft.com/office/drawing/2014/main" id="{1499D2CE-5421-1B6A-934B-5D3D83E07236}"/>
                </a:ext>
              </a:extLst>
            </p:cNvPr>
            <p:cNvSpPr/>
            <p:nvPr/>
          </p:nvSpPr>
          <p:spPr>
            <a:xfrm>
              <a:off x="1389351" y="5570645"/>
              <a:ext cx="2258472" cy="456722"/>
            </a:xfrm>
            <a:prstGeom prst="roundRect">
              <a:avLst>
                <a:gd name="adj" fmla="val 49552"/>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ource Sans 3" panose="020B0504040101010104" pitchFamily="34" charset="77"/>
                  <a:ea typeface="+mn-ea"/>
                  <a:cs typeface="+mn-cs"/>
                </a:rPr>
                <a:t>CIO</a:t>
              </a:r>
            </a:p>
          </p:txBody>
        </p:sp>
      </p:grpSp>
      <p:sp>
        <p:nvSpPr>
          <p:cNvPr id="4" name="Footer Placeholder 4">
            <a:extLst>
              <a:ext uri="{FF2B5EF4-FFF2-40B4-BE49-F238E27FC236}">
                <a16:creationId xmlns:a16="http://schemas.microsoft.com/office/drawing/2014/main" id="{E334E846-CDA6-33FD-88D0-AD9CCA79BC60}"/>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2224790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425B3-53F0-E8F2-3C0F-C5E5CA1145BB}"/>
            </a:ext>
          </a:extLst>
        </p:cNvPr>
        <p:cNvGrpSpPr/>
        <p:nvPr/>
      </p:nvGrpSpPr>
      <p:grpSpPr>
        <a:xfrm>
          <a:off x="0" y="0"/>
          <a:ext cx="0" cy="0"/>
          <a:chOff x="0" y="0"/>
          <a:chExt cx="0" cy="0"/>
        </a:xfrm>
      </p:grpSpPr>
      <p:sp>
        <p:nvSpPr>
          <p:cNvPr id="2" name="Title 32">
            <a:extLst>
              <a:ext uri="{FF2B5EF4-FFF2-40B4-BE49-F238E27FC236}">
                <a16:creationId xmlns:a16="http://schemas.microsoft.com/office/drawing/2014/main" id="{1F8EBF61-174B-CAB3-1B6C-05B207A64D06}"/>
              </a:ext>
            </a:extLst>
          </p:cNvPr>
          <p:cNvSpPr txBox="1">
            <a:spLocks noGrp="1" noRot="1" noMove="1" noResize="1" noEditPoints="1" noAdjustHandles="1" noChangeArrowheads="1" noChangeShapeType="1"/>
          </p:cNvSpPr>
          <p:nvPr/>
        </p:nvSpPr>
        <p:spPr>
          <a:xfrm>
            <a:off x="3175" y="2976493"/>
            <a:ext cx="12182478" cy="835378"/>
          </a:xfrm>
          <a:prstGeom prst="rect">
            <a:avLst/>
          </a:prstGeom>
        </p:spPr>
        <p:txBody>
          <a:bodyPr anchor="ctr"/>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algn="ctr" defTabSz="913102">
              <a:tabLst>
                <a:tab pos="397897" algn="l"/>
              </a:tabLst>
              <a:defRPr/>
            </a:pPr>
            <a:r>
              <a:rPr lang="en-US" sz="4350" dirty="0">
                <a:solidFill>
                  <a:srgbClr val="8FFFDB"/>
                </a:solidFill>
                <a:latin typeface="Source Sans 3" panose="020B0504040101010104" pitchFamily="34" charset="77"/>
              </a:rPr>
              <a:t>Who can help turn </a:t>
            </a:r>
            <a:r>
              <a:rPr lang="en-US" sz="4350" dirty="0">
                <a:latin typeface="Source Sans 3" panose="020B0504040101010104" pitchFamily="34" charset="77"/>
              </a:rPr>
              <a:t>AI ambition into outcomes?</a:t>
            </a:r>
            <a:endParaRPr lang="en-US" sz="4373" b="1" dirty="0">
              <a:latin typeface="Source Sans 3" panose="020B0504040101010104" pitchFamily="34" charset="77"/>
            </a:endParaRPr>
          </a:p>
        </p:txBody>
      </p:sp>
      <p:grpSp>
        <p:nvGrpSpPr>
          <p:cNvPr id="10" name="Group 9">
            <a:extLst>
              <a:ext uri="{FF2B5EF4-FFF2-40B4-BE49-F238E27FC236}">
                <a16:creationId xmlns:a16="http://schemas.microsoft.com/office/drawing/2014/main" id="{89A941C9-250A-B661-59C4-E00E0D391ED7}"/>
              </a:ext>
            </a:extLst>
          </p:cNvPr>
          <p:cNvGrpSpPr>
            <a:grpSpLocks noGrp="1" noUngrp="1" noRot="1" noMove="1" noResize="1"/>
          </p:cNvGrpSpPr>
          <p:nvPr/>
        </p:nvGrpSpPr>
        <p:grpSpPr>
          <a:xfrm>
            <a:off x="928367" y="573659"/>
            <a:ext cx="5439627" cy="2102024"/>
            <a:chOff x="928609" y="572914"/>
            <a:chExt cx="5441044" cy="2102572"/>
          </a:xfrm>
        </p:grpSpPr>
        <p:sp>
          <p:nvSpPr>
            <p:cNvPr id="18" name="Rounded Rectangle 17">
              <a:extLst>
                <a:ext uri="{FF2B5EF4-FFF2-40B4-BE49-F238E27FC236}">
                  <a16:creationId xmlns:a16="http://schemas.microsoft.com/office/drawing/2014/main" id="{6D429B79-EB2E-DDA8-204A-AA9403FC1809}"/>
                </a:ext>
              </a:extLst>
            </p:cNvPr>
            <p:cNvSpPr>
              <a:spLocks noGrp="1" noRot="1" noMove="1" noResize="1" noEditPoints="1" noAdjustHandles="1" noChangeArrowheads="1" noChangeShapeType="1"/>
            </p:cNvSpPr>
            <p:nvPr/>
          </p:nvSpPr>
          <p:spPr>
            <a:xfrm>
              <a:off x="948524" y="572916"/>
              <a:ext cx="5061775" cy="2101873"/>
            </a:xfrm>
            <a:prstGeom prst="roundRect">
              <a:avLst>
                <a:gd name="adj" fmla="val 6838"/>
              </a:avLst>
            </a:prstGeom>
            <a:gradFill flip="none" rotWithShape="1">
              <a:gsLst>
                <a:gs pos="0">
                  <a:schemeClr val="accent3">
                    <a:alpha val="55821"/>
                  </a:schemeClr>
                </a:gs>
                <a:gs pos="57000">
                  <a:schemeClr val="accent3">
                    <a:alpha val="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a:endParaRPr>
            </a:p>
          </p:txBody>
        </p:sp>
        <p:sp>
          <p:nvSpPr>
            <p:cNvPr id="3" name="Rounded Rectangle 14">
              <a:extLst>
                <a:ext uri="{FF2B5EF4-FFF2-40B4-BE49-F238E27FC236}">
                  <a16:creationId xmlns:a16="http://schemas.microsoft.com/office/drawing/2014/main" id="{8CC07746-ADC8-9DAC-7315-99188BBFC8C1}"/>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28609" y="572914"/>
              <a:ext cx="5081691" cy="2102572"/>
            </a:xfrm>
            <a:prstGeom prst="roundRect">
              <a:avLst>
                <a:gd name="adj" fmla="val 6847"/>
              </a:avLst>
            </a:prstGeom>
            <a:blipFill dpi="0" rotWithShape="1">
              <a:blip r:embed="rId3" cstate="screen">
                <a:alphaModFix amt="0"/>
                <a:extLst>
                  <a:ext uri="{28A0092B-C50C-407E-A947-70E740481C1C}">
                    <a14:useLocalDpi xmlns:a14="http://schemas.microsoft.com/office/drawing/2010/main"/>
                  </a:ext>
                </a:extLst>
              </a:blip>
              <a:srcRect/>
              <a:stretch>
                <a:fillRect/>
              </a:stretch>
            </a:blipFill>
            <a:ln w="6350">
              <a:solidFill>
                <a:schemeClr val="tx1">
                  <a:lumMod val="50000"/>
                  <a:lumOff val="50000"/>
                </a:schemeClr>
              </a:solidFill>
            </a:ln>
            <a:scene3d>
              <a:camera prst="orthographicFront"/>
              <a:lightRig rig="threePt" dir="t"/>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endParaRPr lang="en-US" sz="1600" b="1">
                <a:solidFill>
                  <a:srgbClr val="000000"/>
                </a:solidFill>
                <a:latin typeface="Source Sans 3" panose="020B0504040101010104" pitchFamily="34" charset="77"/>
              </a:endParaRPr>
            </a:p>
          </p:txBody>
        </p:sp>
        <p:sp>
          <p:nvSpPr>
            <p:cNvPr id="11" name="Rectangle 10">
              <a:extLst>
                <a:ext uri="{FF2B5EF4-FFF2-40B4-BE49-F238E27FC236}">
                  <a16:creationId xmlns:a16="http://schemas.microsoft.com/office/drawing/2014/main" id="{51A2DA8D-8225-4773-CEAD-BC683312A67C}"/>
                </a:ext>
              </a:extLst>
            </p:cNvPr>
            <p:cNvSpPr>
              <a:spLocks noGrp="1" noRot="1" noMove="1" noResize="1" noEditPoints="1" noAdjustHandles="1" noChangeArrowheads="1" noChangeShapeType="1"/>
            </p:cNvSpPr>
            <p:nvPr/>
          </p:nvSpPr>
          <p:spPr>
            <a:xfrm>
              <a:off x="1156962" y="682742"/>
              <a:ext cx="2339233" cy="923010"/>
            </a:xfrm>
            <a:prstGeom prst="rect">
              <a:avLst/>
            </a:prstGeom>
          </p:spPr>
          <p:txBody>
            <a:bodyPr wrap="square" lIns="0" tIns="0" rIns="0" bIns="0">
              <a:spAutoFit/>
            </a:bodyPr>
            <a:lstStyle/>
            <a:p>
              <a:pPr defTabSz="912208">
                <a:buClr>
                  <a:srgbClr val="71F1F7"/>
                </a:buClr>
                <a:defRPr/>
              </a:pPr>
              <a:r>
                <a:rPr lang="en-US" sz="5996" b="1" kern="0" dirty="0">
                  <a:solidFill>
                    <a:srgbClr val="FFFFFF"/>
                  </a:solidFill>
                  <a:latin typeface="Source Sans 3" panose="020B0504040101010104" pitchFamily="34" charset="77"/>
                  <a:cs typeface="Source Sans 3" panose="020B0604040101010104" pitchFamily="34" charset="0"/>
                </a:rPr>
                <a:t>4000+</a:t>
              </a:r>
            </a:p>
          </p:txBody>
        </p:sp>
        <p:sp>
          <p:nvSpPr>
            <p:cNvPr id="12" name="Title 32">
              <a:extLst>
                <a:ext uri="{FF2B5EF4-FFF2-40B4-BE49-F238E27FC236}">
                  <a16:creationId xmlns:a16="http://schemas.microsoft.com/office/drawing/2014/main" id="{C8ECFE51-FB56-B6F4-8C5E-0F588DBDA18C}"/>
                </a:ext>
              </a:extLst>
            </p:cNvPr>
            <p:cNvSpPr txBox="1">
              <a:spLocks noGrp="1" noRot="1" noMove="1" noResize="1" noEditPoints="1" noAdjustHandles="1" noChangeArrowheads="1" noChangeShapeType="1"/>
            </p:cNvSpPr>
            <p:nvPr/>
          </p:nvSpPr>
          <p:spPr>
            <a:xfrm>
              <a:off x="1090564" y="1564203"/>
              <a:ext cx="5279089" cy="474160"/>
            </a:xfrm>
            <a:prstGeom prst="rect">
              <a:avLst/>
            </a:prstGeom>
          </p:spPr>
          <p:txBody>
            <a:bodyPr/>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defTabSz="913102">
                <a:tabLst>
                  <a:tab pos="397897" algn="l"/>
                </a:tabLst>
                <a:defRPr/>
              </a:pPr>
              <a:r>
                <a:rPr lang="en-US" sz="2398" b="0" dirty="0">
                  <a:solidFill>
                    <a:srgbClr val="FFFFFF"/>
                  </a:solidFill>
                  <a:latin typeface="Source Sans 3" panose="020B0504040101010104" pitchFamily="34" charset="77"/>
                </a:rPr>
                <a:t>ServiceNow </a:t>
              </a:r>
            </a:p>
            <a:p>
              <a:pPr defTabSz="913102">
                <a:tabLst>
                  <a:tab pos="397897" algn="l"/>
                </a:tabLst>
                <a:defRPr/>
              </a:pPr>
              <a:r>
                <a:rPr lang="en-US" sz="2398" b="0" dirty="0">
                  <a:solidFill>
                    <a:srgbClr val="FFFFFF"/>
                  </a:solidFill>
                  <a:latin typeface="Source Sans 3" panose="020B0504040101010104" pitchFamily="34" charset="77"/>
                </a:rPr>
                <a:t>implementations</a:t>
              </a:r>
            </a:p>
          </p:txBody>
        </p:sp>
      </p:grpSp>
      <p:grpSp>
        <p:nvGrpSpPr>
          <p:cNvPr id="22" name="Group 21">
            <a:extLst>
              <a:ext uri="{FF2B5EF4-FFF2-40B4-BE49-F238E27FC236}">
                <a16:creationId xmlns:a16="http://schemas.microsoft.com/office/drawing/2014/main" id="{97B20FCF-0ADF-FA6A-3551-FCB7553E75D4}"/>
              </a:ext>
            </a:extLst>
          </p:cNvPr>
          <p:cNvGrpSpPr>
            <a:grpSpLocks noGrp="1" noUngrp="1" noRot="1" noMove="1" noResize="1"/>
          </p:cNvGrpSpPr>
          <p:nvPr/>
        </p:nvGrpSpPr>
        <p:grpSpPr>
          <a:xfrm>
            <a:off x="6196686" y="573660"/>
            <a:ext cx="5149131" cy="2101326"/>
            <a:chOff x="6198301" y="572916"/>
            <a:chExt cx="5150472" cy="2101873"/>
          </a:xfrm>
        </p:grpSpPr>
        <p:sp>
          <p:nvSpPr>
            <p:cNvPr id="16" name="Rounded Rectangle 15">
              <a:extLst>
                <a:ext uri="{FF2B5EF4-FFF2-40B4-BE49-F238E27FC236}">
                  <a16:creationId xmlns:a16="http://schemas.microsoft.com/office/drawing/2014/main" id="{9504F009-28AB-EF10-AE75-6E4B755D20CD}"/>
                </a:ext>
              </a:extLst>
            </p:cNvPr>
            <p:cNvSpPr>
              <a:spLocks noGrp="1" noRot="1" noMove="1" noResize="1" noEditPoints="1" noAdjustHandles="1" noChangeArrowheads="1" noChangeShapeType="1"/>
            </p:cNvSpPr>
            <p:nvPr/>
          </p:nvSpPr>
          <p:spPr>
            <a:xfrm>
              <a:off x="6198301" y="572916"/>
              <a:ext cx="5086822" cy="2101873"/>
            </a:xfrm>
            <a:prstGeom prst="roundRect">
              <a:avLst>
                <a:gd name="adj" fmla="val 6838"/>
              </a:avLst>
            </a:prstGeom>
            <a:gradFill flip="none" rotWithShape="1">
              <a:gsLst>
                <a:gs pos="0">
                  <a:schemeClr val="accent3">
                    <a:alpha val="55821"/>
                  </a:schemeClr>
                </a:gs>
                <a:gs pos="57000">
                  <a:schemeClr val="accent3">
                    <a:alpha val="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a:endParaRPr>
            </a:p>
          </p:txBody>
        </p:sp>
        <p:sp>
          <p:nvSpPr>
            <p:cNvPr id="14" name="Rounded Rectangle 14">
              <a:extLst>
                <a:ext uri="{FF2B5EF4-FFF2-40B4-BE49-F238E27FC236}">
                  <a16:creationId xmlns:a16="http://schemas.microsoft.com/office/drawing/2014/main" id="{EA50E564-81DF-0860-7C8C-D73FF8169D3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198303" y="572916"/>
              <a:ext cx="5086821" cy="2101873"/>
            </a:xfrm>
            <a:prstGeom prst="roundRect">
              <a:avLst>
                <a:gd name="adj" fmla="val 6849"/>
              </a:avLst>
            </a:prstGeom>
            <a:blipFill dpi="0" rotWithShape="1">
              <a:blip r:embed="rId3" cstate="screen">
                <a:alphaModFix amt="0"/>
                <a:extLst>
                  <a:ext uri="{28A0092B-C50C-407E-A947-70E740481C1C}">
                    <a14:useLocalDpi xmlns:a14="http://schemas.microsoft.com/office/drawing/2010/main"/>
                  </a:ext>
                </a:extLst>
              </a:blip>
              <a:srcRect/>
              <a:stretch>
                <a:fillRect/>
              </a:stretch>
            </a:blipFill>
            <a:ln w="6350">
              <a:solidFill>
                <a:schemeClr val="tx1">
                  <a:lumMod val="50000"/>
                  <a:lumOff val="50000"/>
                </a:schemeClr>
              </a:solidFill>
            </a:ln>
            <a:scene3d>
              <a:camera prst="orthographicFront"/>
              <a:lightRig rig="threePt" dir="t"/>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endParaRPr lang="en-US" sz="1600" b="1">
                <a:solidFill>
                  <a:srgbClr val="000000"/>
                </a:solidFill>
                <a:latin typeface="Source Sans 3" panose="020B0504040101010104" pitchFamily="34" charset="77"/>
              </a:endParaRPr>
            </a:p>
          </p:txBody>
        </p:sp>
        <p:sp>
          <p:nvSpPr>
            <p:cNvPr id="13" name="Rectangle 12">
              <a:extLst>
                <a:ext uri="{FF2B5EF4-FFF2-40B4-BE49-F238E27FC236}">
                  <a16:creationId xmlns:a16="http://schemas.microsoft.com/office/drawing/2014/main" id="{0F0EBAC2-85A7-9FB2-348E-E800DAF04A0B}"/>
                </a:ext>
              </a:extLst>
            </p:cNvPr>
            <p:cNvSpPr>
              <a:spLocks noGrp="1" noRot="1" noMove="1" noResize="1" noEditPoints="1" noAdjustHandles="1" noChangeArrowheads="1" noChangeShapeType="1"/>
            </p:cNvSpPr>
            <p:nvPr/>
          </p:nvSpPr>
          <p:spPr>
            <a:xfrm>
              <a:off x="6449960" y="682742"/>
              <a:ext cx="2388405" cy="923090"/>
            </a:xfrm>
            <a:prstGeom prst="rect">
              <a:avLst/>
            </a:prstGeom>
          </p:spPr>
          <p:txBody>
            <a:bodyPr wrap="square" lIns="0" tIns="0" rIns="0" bIns="0">
              <a:spAutoFit/>
            </a:bodyPr>
            <a:lstStyle/>
            <a:p>
              <a:pPr defTabSz="912208">
                <a:buClr>
                  <a:srgbClr val="71F1F7"/>
                </a:buClr>
                <a:defRPr/>
              </a:pPr>
              <a:r>
                <a:rPr lang="en-US" sz="5996" b="1" kern="0" dirty="0">
                  <a:solidFill>
                    <a:srgbClr val="FFFFFF"/>
                  </a:solidFill>
                  <a:latin typeface="Source Sans 3" panose="020B0504040101010104" pitchFamily="34" charset="77"/>
                  <a:cs typeface="Source Sans 3" panose="020B0604040101010104" pitchFamily="34" charset="0"/>
                </a:rPr>
                <a:t>500+</a:t>
              </a:r>
            </a:p>
          </p:txBody>
        </p:sp>
        <p:sp>
          <p:nvSpPr>
            <p:cNvPr id="17" name="Title 32">
              <a:extLst>
                <a:ext uri="{FF2B5EF4-FFF2-40B4-BE49-F238E27FC236}">
                  <a16:creationId xmlns:a16="http://schemas.microsoft.com/office/drawing/2014/main" id="{5806A85B-58EE-6BF2-9173-2DE5B088928C}"/>
                </a:ext>
              </a:extLst>
            </p:cNvPr>
            <p:cNvSpPr txBox="1">
              <a:spLocks noGrp="1" noRot="1" noMove="1" noResize="1" noEditPoints="1" noAdjustHandles="1" noChangeArrowheads="1" noChangeShapeType="1"/>
            </p:cNvSpPr>
            <p:nvPr/>
          </p:nvSpPr>
          <p:spPr>
            <a:xfrm>
              <a:off x="6383560" y="1564203"/>
              <a:ext cx="3637242" cy="474160"/>
            </a:xfrm>
            <a:prstGeom prst="rect">
              <a:avLst/>
            </a:prstGeom>
          </p:spPr>
          <p:txBody>
            <a:bodyPr/>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defTabSz="913102">
                <a:tabLst>
                  <a:tab pos="397897" algn="l"/>
                </a:tabLst>
                <a:defRPr/>
              </a:pPr>
              <a:r>
                <a:rPr lang="en-US" sz="2398" b="0" dirty="0">
                  <a:solidFill>
                    <a:srgbClr val="FFFFFF"/>
                  </a:solidFill>
                  <a:latin typeface="Source Sans 3" panose="020B0504040101010104" pitchFamily="34" charset="77"/>
                </a:rPr>
                <a:t>ServiceNow </a:t>
              </a:r>
            </a:p>
            <a:p>
              <a:pPr defTabSz="913102">
                <a:tabLst>
                  <a:tab pos="397897" algn="l"/>
                </a:tabLst>
                <a:defRPr/>
              </a:pPr>
              <a:r>
                <a:rPr lang="en-US" sz="2398" b="0" dirty="0">
                  <a:solidFill>
                    <a:srgbClr val="FFFFFF"/>
                  </a:solidFill>
                  <a:latin typeface="Source Sans 3" panose="020B0504040101010104" pitchFamily="34" charset="77"/>
                </a:rPr>
                <a:t>certifications</a:t>
              </a:r>
            </a:p>
          </p:txBody>
        </p:sp>
      </p:grpSp>
      <p:grpSp>
        <p:nvGrpSpPr>
          <p:cNvPr id="29" name="Group 28">
            <a:extLst>
              <a:ext uri="{FF2B5EF4-FFF2-40B4-BE49-F238E27FC236}">
                <a16:creationId xmlns:a16="http://schemas.microsoft.com/office/drawing/2014/main" id="{1F79C40F-A181-D255-5A5E-AF7BA1EDC3AC}"/>
              </a:ext>
            </a:extLst>
          </p:cNvPr>
          <p:cNvGrpSpPr>
            <a:grpSpLocks noGrp="1" noUngrp="1" noRot="1" noMove="1" noResize="1"/>
          </p:cNvGrpSpPr>
          <p:nvPr/>
        </p:nvGrpSpPr>
        <p:grpSpPr>
          <a:xfrm>
            <a:off x="928367" y="4100146"/>
            <a:ext cx="5080368" cy="2102025"/>
            <a:chOff x="928609" y="4100320"/>
            <a:chExt cx="5081691" cy="2102572"/>
          </a:xfrm>
        </p:grpSpPr>
        <p:sp>
          <p:nvSpPr>
            <p:cNvPr id="28" name="Rounded Rectangle 27">
              <a:extLst>
                <a:ext uri="{FF2B5EF4-FFF2-40B4-BE49-F238E27FC236}">
                  <a16:creationId xmlns:a16="http://schemas.microsoft.com/office/drawing/2014/main" id="{2D97C8D6-E89B-88F8-F3CA-CEDC0E28890C}"/>
                </a:ext>
              </a:extLst>
            </p:cNvPr>
            <p:cNvSpPr>
              <a:spLocks noGrp="1" noRot="1" noMove="1" noResize="1" noEditPoints="1" noAdjustHandles="1" noChangeArrowheads="1" noChangeShapeType="1"/>
            </p:cNvSpPr>
            <p:nvPr/>
          </p:nvSpPr>
          <p:spPr>
            <a:xfrm>
              <a:off x="948524" y="4100322"/>
              <a:ext cx="5061775" cy="2101873"/>
            </a:xfrm>
            <a:prstGeom prst="roundRect">
              <a:avLst>
                <a:gd name="adj" fmla="val 6838"/>
              </a:avLst>
            </a:prstGeom>
            <a:gradFill flip="none" rotWithShape="1">
              <a:gsLst>
                <a:gs pos="0">
                  <a:schemeClr val="accent3">
                    <a:alpha val="55821"/>
                  </a:schemeClr>
                </a:gs>
                <a:gs pos="57000">
                  <a:schemeClr val="accent3">
                    <a:alpha val="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a:endParaRPr>
            </a:p>
          </p:txBody>
        </p:sp>
        <p:sp>
          <p:nvSpPr>
            <p:cNvPr id="15" name="Rounded Rectangle 14">
              <a:extLst>
                <a:ext uri="{FF2B5EF4-FFF2-40B4-BE49-F238E27FC236}">
                  <a16:creationId xmlns:a16="http://schemas.microsoft.com/office/drawing/2014/main" id="{501C4574-2757-95BA-58C0-9C83E0B1DA7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928609" y="4100320"/>
              <a:ext cx="5081691" cy="2102572"/>
            </a:xfrm>
            <a:prstGeom prst="roundRect">
              <a:avLst>
                <a:gd name="adj" fmla="val 6847"/>
              </a:avLst>
            </a:prstGeom>
            <a:blipFill dpi="0" rotWithShape="1">
              <a:blip r:embed="rId3" cstate="screen">
                <a:alphaModFix amt="0"/>
                <a:extLst>
                  <a:ext uri="{28A0092B-C50C-407E-A947-70E740481C1C}">
                    <a14:useLocalDpi xmlns:a14="http://schemas.microsoft.com/office/drawing/2010/main"/>
                  </a:ext>
                </a:extLst>
              </a:blip>
              <a:srcRect/>
              <a:stretch>
                <a:fillRect/>
              </a:stretch>
            </a:blipFill>
            <a:ln w="6350">
              <a:solidFill>
                <a:schemeClr val="tx1">
                  <a:lumMod val="50000"/>
                  <a:lumOff val="50000"/>
                </a:schemeClr>
              </a:solidFill>
            </a:ln>
            <a:scene3d>
              <a:camera prst="orthographicFront"/>
              <a:lightRig rig="threePt" dir="t"/>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endParaRPr lang="en-US" sz="1600" b="1">
                <a:solidFill>
                  <a:srgbClr val="000000"/>
                </a:solidFill>
                <a:latin typeface="Source Sans 3" panose="020B0504040101010104" pitchFamily="34" charset="77"/>
              </a:endParaRPr>
            </a:p>
          </p:txBody>
        </p:sp>
        <p:sp>
          <p:nvSpPr>
            <p:cNvPr id="5" name="Rectangle 4">
              <a:extLst>
                <a:ext uri="{FF2B5EF4-FFF2-40B4-BE49-F238E27FC236}">
                  <a16:creationId xmlns:a16="http://schemas.microsoft.com/office/drawing/2014/main" id="{F475225A-ABC3-A8B5-FCDC-8DA14FB5F1B8}"/>
                </a:ext>
              </a:extLst>
            </p:cNvPr>
            <p:cNvSpPr>
              <a:spLocks noGrp="1" noRot="1" noMove="1" noResize="1" noEditPoints="1" noAdjustHandles="1" noChangeArrowheads="1" noChangeShapeType="1"/>
            </p:cNvSpPr>
            <p:nvPr/>
          </p:nvSpPr>
          <p:spPr>
            <a:xfrm>
              <a:off x="1156963" y="4228613"/>
              <a:ext cx="2733202" cy="923090"/>
            </a:xfrm>
            <a:prstGeom prst="rect">
              <a:avLst/>
            </a:prstGeom>
          </p:spPr>
          <p:txBody>
            <a:bodyPr wrap="square" lIns="0" tIns="0" rIns="0" bIns="0">
              <a:spAutoFit/>
            </a:bodyPr>
            <a:lstStyle/>
            <a:p>
              <a:pPr defTabSz="912208">
                <a:buClr>
                  <a:srgbClr val="71F1F7"/>
                </a:buClr>
                <a:defRPr/>
              </a:pPr>
              <a:r>
                <a:rPr lang="en-US" sz="5996" b="1" kern="0" dirty="0">
                  <a:solidFill>
                    <a:srgbClr val="FFFFFF"/>
                  </a:solidFill>
                  <a:latin typeface="Source Sans 3" panose="020B0504040101010104" pitchFamily="34" charset="77"/>
                  <a:cs typeface="Source Sans 3" panose="020B0604040101010104" pitchFamily="34" charset="0"/>
                </a:rPr>
                <a:t>1m+</a:t>
              </a:r>
            </a:p>
          </p:txBody>
        </p:sp>
        <p:sp>
          <p:nvSpPr>
            <p:cNvPr id="8" name="Title 32">
              <a:extLst>
                <a:ext uri="{FF2B5EF4-FFF2-40B4-BE49-F238E27FC236}">
                  <a16:creationId xmlns:a16="http://schemas.microsoft.com/office/drawing/2014/main" id="{6BE0C84F-8419-D24C-3E41-89E43D75FF4E}"/>
                </a:ext>
              </a:extLst>
            </p:cNvPr>
            <p:cNvSpPr txBox="1">
              <a:spLocks noGrp="1" noRot="1" noMove="1" noResize="1" noEditPoints="1" noAdjustHandles="1" noChangeArrowheads="1" noChangeShapeType="1"/>
            </p:cNvSpPr>
            <p:nvPr/>
          </p:nvSpPr>
          <p:spPr>
            <a:xfrm>
              <a:off x="1090564" y="5110074"/>
              <a:ext cx="3163001" cy="474160"/>
            </a:xfrm>
            <a:prstGeom prst="rect">
              <a:avLst/>
            </a:prstGeom>
          </p:spPr>
          <p:txBody>
            <a:bodyPr/>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defTabSz="913102">
                <a:tabLst>
                  <a:tab pos="397897" algn="l"/>
                </a:tabLst>
                <a:defRPr/>
              </a:pPr>
              <a:r>
                <a:rPr lang="en-US" sz="2398" b="0" dirty="0">
                  <a:solidFill>
                    <a:srgbClr val="FFFFFF"/>
                  </a:solidFill>
                  <a:latin typeface="Source Sans 3" panose="020B0504040101010104" pitchFamily="34" charset="77"/>
                </a:rPr>
                <a:t>Consulting hours delivered</a:t>
              </a:r>
            </a:p>
          </p:txBody>
        </p:sp>
      </p:grpSp>
      <p:grpSp>
        <p:nvGrpSpPr>
          <p:cNvPr id="23" name="Group 22">
            <a:extLst>
              <a:ext uri="{FF2B5EF4-FFF2-40B4-BE49-F238E27FC236}">
                <a16:creationId xmlns:a16="http://schemas.microsoft.com/office/drawing/2014/main" id="{6EDB9567-07F1-7E75-3E7B-FEE77F6DDF7E}"/>
              </a:ext>
            </a:extLst>
          </p:cNvPr>
          <p:cNvGrpSpPr>
            <a:grpSpLocks noGrp="1" noUngrp="1" noRot="1" noMove="1" noResize="1"/>
          </p:cNvGrpSpPr>
          <p:nvPr/>
        </p:nvGrpSpPr>
        <p:grpSpPr>
          <a:xfrm>
            <a:off x="6196687" y="4100148"/>
            <a:ext cx="5085498" cy="2101326"/>
            <a:chOff x="6198301" y="4100322"/>
            <a:chExt cx="5086823" cy="2101873"/>
          </a:xfrm>
        </p:grpSpPr>
        <p:sp>
          <p:nvSpPr>
            <p:cNvPr id="26" name="Rounded Rectangle 25">
              <a:extLst>
                <a:ext uri="{FF2B5EF4-FFF2-40B4-BE49-F238E27FC236}">
                  <a16:creationId xmlns:a16="http://schemas.microsoft.com/office/drawing/2014/main" id="{D1526344-29D5-485C-234C-5AC9317666C2}"/>
                </a:ext>
              </a:extLst>
            </p:cNvPr>
            <p:cNvSpPr>
              <a:spLocks noGrp="1" noRot="1" noMove="1" noResize="1" noEditPoints="1" noAdjustHandles="1" noChangeArrowheads="1" noChangeShapeType="1"/>
            </p:cNvSpPr>
            <p:nvPr/>
          </p:nvSpPr>
          <p:spPr>
            <a:xfrm>
              <a:off x="6198301" y="4100322"/>
              <a:ext cx="5086823" cy="2101873"/>
            </a:xfrm>
            <a:prstGeom prst="roundRect">
              <a:avLst>
                <a:gd name="adj" fmla="val 6838"/>
              </a:avLst>
            </a:prstGeom>
            <a:gradFill flip="none" rotWithShape="1">
              <a:gsLst>
                <a:gs pos="0">
                  <a:schemeClr val="accent3">
                    <a:alpha val="55821"/>
                  </a:schemeClr>
                </a:gs>
                <a:gs pos="57000">
                  <a:schemeClr val="accent3">
                    <a:alpha val="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sz="1600">
                <a:solidFill>
                  <a:srgbClr val="000000"/>
                </a:solidFill>
                <a:latin typeface="Source Sans 3"/>
              </a:endParaRPr>
            </a:p>
          </p:txBody>
        </p:sp>
        <p:sp>
          <p:nvSpPr>
            <p:cNvPr id="7" name="Rounded Rectangle 14">
              <a:extLst>
                <a:ext uri="{FF2B5EF4-FFF2-40B4-BE49-F238E27FC236}">
                  <a16:creationId xmlns:a16="http://schemas.microsoft.com/office/drawing/2014/main" id="{8F34DF44-D0C3-0E6B-92B4-F605BEC689F8}"/>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198303" y="4100322"/>
              <a:ext cx="5086821" cy="2101873"/>
            </a:xfrm>
            <a:prstGeom prst="roundRect">
              <a:avLst>
                <a:gd name="adj" fmla="val 6849"/>
              </a:avLst>
            </a:prstGeom>
            <a:blipFill dpi="0" rotWithShape="1">
              <a:blip r:embed="rId3" cstate="screen">
                <a:alphaModFix amt="0"/>
                <a:extLst>
                  <a:ext uri="{28A0092B-C50C-407E-A947-70E740481C1C}">
                    <a14:useLocalDpi xmlns:a14="http://schemas.microsoft.com/office/drawing/2010/main"/>
                  </a:ext>
                </a:extLst>
              </a:blip>
              <a:srcRect/>
              <a:stretch>
                <a:fillRect/>
              </a:stretch>
            </a:blipFill>
            <a:ln w="6350">
              <a:solidFill>
                <a:schemeClr val="tx1">
                  <a:lumMod val="50000"/>
                  <a:lumOff val="50000"/>
                </a:schemeClr>
              </a:solidFill>
            </a:ln>
            <a:scene3d>
              <a:camera prst="orthographicFront"/>
              <a:lightRig rig="threePt" dir="t"/>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endParaRPr lang="en-US" sz="1600" b="1">
                <a:solidFill>
                  <a:srgbClr val="000000"/>
                </a:solidFill>
                <a:latin typeface="Source Sans 3" panose="020B0504040101010104" pitchFamily="34" charset="77"/>
              </a:endParaRPr>
            </a:p>
          </p:txBody>
        </p:sp>
        <p:sp>
          <p:nvSpPr>
            <p:cNvPr id="19" name="Rectangle 18">
              <a:extLst>
                <a:ext uri="{FF2B5EF4-FFF2-40B4-BE49-F238E27FC236}">
                  <a16:creationId xmlns:a16="http://schemas.microsoft.com/office/drawing/2014/main" id="{777855C8-C6C1-99EF-F1D8-9C983AF612F1}"/>
                </a:ext>
              </a:extLst>
            </p:cNvPr>
            <p:cNvSpPr>
              <a:spLocks noGrp="1" noRot="1" noMove="1" noResize="1" noEditPoints="1" noAdjustHandles="1" noChangeArrowheads="1" noChangeShapeType="1"/>
            </p:cNvSpPr>
            <p:nvPr/>
          </p:nvSpPr>
          <p:spPr>
            <a:xfrm>
              <a:off x="6449960" y="4228613"/>
              <a:ext cx="2245404" cy="923090"/>
            </a:xfrm>
            <a:prstGeom prst="rect">
              <a:avLst/>
            </a:prstGeom>
          </p:spPr>
          <p:txBody>
            <a:bodyPr wrap="square" lIns="0" tIns="0" rIns="0" bIns="0">
              <a:spAutoFit/>
            </a:bodyPr>
            <a:lstStyle/>
            <a:p>
              <a:pPr defTabSz="912208">
                <a:buClr>
                  <a:srgbClr val="71F1F7"/>
                </a:buClr>
                <a:defRPr/>
              </a:pPr>
              <a:r>
                <a:rPr lang="en-US" sz="5996" b="1" kern="0" dirty="0">
                  <a:solidFill>
                    <a:srgbClr val="FFFFFF"/>
                  </a:solidFill>
                  <a:latin typeface="Source Sans 3" panose="020B0504040101010104" pitchFamily="34" charset="77"/>
                  <a:cs typeface="Source Sans 3" panose="020B0604040101010104" pitchFamily="34" charset="0"/>
                </a:rPr>
                <a:t>11</a:t>
              </a:r>
            </a:p>
          </p:txBody>
        </p:sp>
        <p:sp>
          <p:nvSpPr>
            <p:cNvPr id="20" name="Title 32">
              <a:extLst>
                <a:ext uri="{FF2B5EF4-FFF2-40B4-BE49-F238E27FC236}">
                  <a16:creationId xmlns:a16="http://schemas.microsoft.com/office/drawing/2014/main" id="{336686AC-C76E-6813-BBFB-C1699380DB56}"/>
                </a:ext>
              </a:extLst>
            </p:cNvPr>
            <p:cNvSpPr txBox="1">
              <a:spLocks noGrp="1" noRot="1" noMove="1" noResize="1" noEditPoints="1" noAdjustHandles="1" noChangeArrowheads="1" noChangeShapeType="1"/>
            </p:cNvSpPr>
            <p:nvPr/>
          </p:nvSpPr>
          <p:spPr>
            <a:xfrm>
              <a:off x="6383560" y="5110074"/>
              <a:ext cx="3637242" cy="474160"/>
            </a:xfrm>
            <a:prstGeom prst="rect">
              <a:avLst/>
            </a:prstGeom>
          </p:spPr>
          <p:txBody>
            <a:bodyPr/>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r>
                <a:rPr lang="en-GB" sz="2400" dirty="0"/>
                <a:t>CMA and CTA architecture programmes </a:t>
              </a:r>
              <a:r>
                <a:rPr lang="en-GB" sz="2400" dirty="0" err="1"/>
                <a:t>gradudates</a:t>
              </a:r>
              <a:endParaRPr lang="en-GB" sz="2400" dirty="0"/>
            </a:p>
          </p:txBody>
        </p:sp>
      </p:grpSp>
      <p:sp>
        <p:nvSpPr>
          <p:cNvPr id="9" name="Footer Placeholder 4">
            <a:extLst>
              <a:ext uri="{FF2B5EF4-FFF2-40B4-BE49-F238E27FC236}">
                <a16:creationId xmlns:a16="http://schemas.microsoft.com/office/drawing/2014/main" id="{BF0844A6-0199-9EEF-106C-B11E9C30D982}"/>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179671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par>
                                <p:cTn id="8" presetID="35" presetClass="path" presetSubtype="0" decel="50000" fill="hold" nodeType="withEffect">
                                  <p:stCondLst>
                                    <p:cond delay="0"/>
                                  </p:stCondLst>
                                  <p:childTnLst>
                                    <p:animMotion origin="layout" path="M -0.02474 2.22222E-6 L -2.08333E-6 2.22222E-6 " pathEditMode="relative" rAng="0" ptsTypes="AA">
                                      <p:cBhvr>
                                        <p:cTn id="9" dur="1000" fill="hold"/>
                                        <p:tgtEl>
                                          <p:spTgt spid="10"/>
                                        </p:tgtEl>
                                        <p:attrNameLst>
                                          <p:attrName>ppt_x</p:attrName>
                                          <p:attrName>ppt_y</p:attrName>
                                        </p:attrNameLst>
                                      </p:cBhvr>
                                      <p:rCtr x="1237" y="0"/>
                                    </p:animMotion>
                                  </p:childTnLst>
                                </p:cTn>
                              </p:par>
                              <p:par>
                                <p:cTn id="10" presetID="10" presetClass="entr" presetSubtype="0" fill="hold" nodeType="withEffect">
                                  <p:stCondLst>
                                    <p:cond delay="25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childTnLst>
                                </p:cTn>
                              </p:par>
                              <p:par>
                                <p:cTn id="13" presetID="35" presetClass="path" presetSubtype="0" decel="50000" fill="hold" nodeType="withEffect">
                                  <p:stCondLst>
                                    <p:cond delay="250"/>
                                  </p:stCondLst>
                                  <p:childTnLst>
                                    <p:animMotion origin="layout" path="M -0.02474 3.33333E-6 L -1.85725E-6 3.33333E-6 " pathEditMode="relative" rAng="0" ptsTypes="AA">
                                      <p:cBhvr>
                                        <p:cTn id="14" dur="1000" fill="hold"/>
                                        <p:tgtEl>
                                          <p:spTgt spid="22"/>
                                        </p:tgtEl>
                                        <p:attrNameLst>
                                          <p:attrName>ppt_x</p:attrName>
                                          <p:attrName>ppt_y</p:attrName>
                                        </p:attrNameLst>
                                      </p:cBhvr>
                                      <p:rCtr x="1237" y="0"/>
                                    </p:animMotion>
                                  </p:childTnLst>
                                </p:cTn>
                              </p:par>
                              <p:par>
                                <p:cTn id="15" presetID="10" presetClass="entr" presetSubtype="0" fill="hold" nodeType="withEffect">
                                  <p:stCondLst>
                                    <p:cond delay="5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1000"/>
                                        <p:tgtEl>
                                          <p:spTgt spid="29"/>
                                        </p:tgtEl>
                                      </p:cBhvr>
                                    </p:animEffect>
                                  </p:childTnLst>
                                </p:cTn>
                              </p:par>
                              <p:par>
                                <p:cTn id="18" presetID="35" presetClass="path" presetSubtype="0" decel="50000" fill="hold" nodeType="withEffect">
                                  <p:stCondLst>
                                    <p:cond delay="500"/>
                                  </p:stCondLst>
                                  <p:childTnLst>
                                    <p:animMotion origin="layout" path="M -0.02474 3.33333E-6 L -1.85725E-6 3.33333E-6 " pathEditMode="relative" rAng="0" ptsTypes="AA">
                                      <p:cBhvr>
                                        <p:cTn id="19" dur="1000" fill="hold"/>
                                        <p:tgtEl>
                                          <p:spTgt spid="29"/>
                                        </p:tgtEl>
                                        <p:attrNameLst>
                                          <p:attrName>ppt_x</p:attrName>
                                          <p:attrName>ppt_y</p:attrName>
                                        </p:attrNameLst>
                                      </p:cBhvr>
                                      <p:rCtr x="1237" y="0"/>
                                    </p:animMotion>
                                  </p:childTnLst>
                                </p:cTn>
                              </p:par>
                              <p:par>
                                <p:cTn id="20" presetID="10" presetClass="entr" presetSubtype="0" fill="hold" nodeType="withEffect">
                                  <p:stCondLst>
                                    <p:cond delay="75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childTnLst>
                                </p:cTn>
                              </p:par>
                              <p:par>
                                <p:cTn id="23" presetID="35" presetClass="path" presetSubtype="0" decel="50000" fill="hold" nodeType="withEffect">
                                  <p:stCondLst>
                                    <p:cond delay="750"/>
                                  </p:stCondLst>
                                  <p:childTnLst>
                                    <p:animMotion origin="layout" path="M -0.02474 3.33333E-6 L -1.85725E-6 3.33333E-6 " pathEditMode="relative" rAng="0" ptsTypes="AA">
                                      <p:cBhvr>
                                        <p:cTn id="24" dur="1000" fill="hold"/>
                                        <p:tgtEl>
                                          <p:spTgt spid="23"/>
                                        </p:tgtEl>
                                        <p:attrNameLst>
                                          <p:attrName>ppt_x</p:attrName>
                                          <p:attrName>ppt_y</p:attrName>
                                        </p:attrNameLst>
                                      </p:cBhvr>
                                      <p:rCtr x="123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6F115-EBD7-1746-9BA4-3D3A39ADDF3F}"/>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F1D1941A-530C-7F1A-9C65-CF55F3874916}"/>
              </a:ext>
            </a:extLst>
          </p:cNvPr>
          <p:cNvGrpSpPr/>
          <p:nvPr/>
        </p:nvGrpSpPr>
        <p:grpSpPr>
          <a:xfrm>
            <a:off x="603989" y="2713463"/>
            <a:ext cx="3203554" cy="2710289"/>
            <a:chOff x="379643" y="2774878"/>
            <a:chExt cx="3203554" cy="2710289"/>
          </a:xfrm>
        </p:grpSpPr>
        <p:sp>
          <p:nvSpPr>
            <p:cNvPr id="62" name="Rounded Rectangle 61">
              <a:extLst>
                <a:ext uri="{FF2B5EF4-FFF2-40B4-BE49-F238E27FC236}">
                  <a16:creationId xmlns:a16="http://schemas.microsoft.com/office/drawing/2014/main" id="{5E3AFE94-49BE-22C1-3A3C-4E6F6298C8A7}"/>
                </a:ext>
              </a:extLst>
            </p:cNvPr>
            <p:cNvSpPr/>
            <p:nvPr/>
          </p:nvSpPr>
          <p:spPr>
            <a:xfrm>
              <a:off x="379643" y="3064373"/>
              <a:ext cx="3180703" cy="2420794"/>
            </a:xfrm>
            <a:prstGeom prst="roundRect">
              <a:avLst>
                <a:gd name="adj" fmla="val 5007"/>
              </a:avLst>
            </a:prstGeom>
            <a:solidFill>
              <a:srgbClr val="040E3D">
                <a:alpha val="60372"/>
              </a:srgbClr>
            </a:solidFill>
            <a:ln w="12700">
              <a:noFill/>
            </a:ln>
            <a:effectLst>
              <a:outerShdw blurRad="528181" dist="275313" dir="8100000" algn="tr" rotWithShape="0">
                <a:srgbClr val="040E3D">
                  <a:alpha val="517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629">
                <a:defRPr/>
              </a:pPr>
              <a:endParaRPr lang="en-US" sz="1600" b="1">
                <a:solidFill>
                  <a:srgbClr val="FFFFFF"/>
                </a:solidFill>
                <a:latin typeface="Source Sans 3" panose="020B0504040101010104" pitchFamily="34" charset="77"/>
              </a:endParaRPr>
            </a:p>
          </p:txBody>
        </p:sp>
        <p:grpSp>
          <p:nvGrpSpPr>
            <p:cNvPr id="10" name="Group 9">
              <a:extLst>
                <a:ext uri="{FF2B5EF4-FFF2-40B4-BE49-F238E27FC236}">
                  <a16:creationId xmlns:a16="http://schemas.microsoft.com/office/drawing/2014/main" id="{68EDDD8F-0DB5-9777-DE20-5B448C7D0913}"/>
                </a:ext>
              </a:extLst>
            </p:cNvPr>
            <p:cNvGrpSpPr/>
            <p:nvPr/>
          </p:nvGrpSpPr>
          <p:grpSpPr>
            <a:xfrm>
              <a:off x="380106" y="2774878"/>
              <a:ext cx="3186717" cy="2710289"/>
              <a:chOff x="1321711" y="2539093"/>
              <a:chExt cx="3526755" cy="3152476"/>
            </a:xfrm>
          </p:grpSpPr>
          <p:sp>
            <p:nvSpPr>
              <p:cNvPr id="21" name="Round Same Side Corner Rectangle 20">
                <a:extLst>
                  <a:ext uri="{FF2B5EF4-FFF2-40B4-BE49-F238E27FC236}">
                    <a16:creationId xmlns:a16="http://schemas.microsoft.com/office/drawing/2014/main" id="{F39012CB-5100-ACF5-295F-B8D437359635}"/>
                  </a:ext>
                </a:extLst>
              </p:cNvPr>
              <p:cNvSpPr/>
              <p:nvPr/>
            </p:nvSpPr>
            <p:spPr>
              <a:xfrm>
                <a:off x="2057884" y="2539093"/>
                <a:ext cx="2054407" cy="352316"/>
              </a:xfrm>
              <a:prstGeom prst="round2SameRect">
                <a:avLst>
                  <a:gd name="adj1" fmla="val 34588"/>
                  <a:gd name="adj2" fmla="val 0"/>
                </a:avLst>
              </a:prstGeom>
              <a:solidFill>
                <a:schemeClr val="accent5"/>
              </a:soli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91440" tIns="27418" rIns="91440" bIns="45720" rtlCol="0" anchor="ctr">
                <a:noAutofit/>
              </a:bodyPr>
              <a:lstStyle/>
              <a:p>
                <a:pPr algn="ctr" defTabSz="913852">
                  <a:defRPr/>
                </a:pPr>
                <a:r>
                  <a:rPr lang="en-US" sz="1400" b="1" dirty="0">
                    <a:solidFill>
                      <a:schemeClr val="bg1"/>
                    </a:solidFill>
                    <a:latin typeface="Source Sans 3"/>
                  </a:rPr>
                  <a:t>AI Agents</a:t>
                </a:r>
                <a:endParaRPr lang="en-US" sz="1400" b="1" dirty="0">
                  <a:solidFill>
                    <a:schemeClr val="bg1"/>
                  </a:solidFill>
                  <a:latin typeface="Source Sans 3" panose="020B0504040101010104" pitchFamily="34" charset="77"/>
                </a:endParaRPr>
              </a:p>
            </p:txBody>
          </p:sp>
          <p:sp>
            <p:nvSpPr>
              <p:cNvPr id="22" name="Rounded Rectangle 21">
                <a:extLst>
                  <a:ext uri="{FF2B5EF4-FFF2-40B4-BE49-F238E27FC236}">
                    <a16:creationId xmlns:a16="http://schemas.microsoft.com/office/drawing/2014/main" id="{B5ECEA37-45AC-3E5C-D71E-B8A48AA255A8}"/>
                  </a:ext>
                </a:extLst>
              </p:cNvPr>
              <p:cNvSpPr/>
              <p:nvPr/>
            </p:nvSpPr>
            <p:spPr>
              <a:xfrm>
                <a:off x="1321711" y="2890787"/>
                <a:ext cx="3526755" cy="2800782"/>
              </a:xfrm>
              <a:prstGeom prst="roundRect">
                <a:avLst>
                  <a:gd name="adj" fmla="val 5421"/>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629">
                  <a:defRPr/>
                </a:pPr>
                <a:endParaRPr lang="en-US" sz="1600" b="1">
                  <a:solidFill>
                    <a:srgbClr val="FFFFFF"/>
                  </a:solidFill>
                  <a:latin typeface="Source Sans 3" panose="020B0504040101010104" pitchFamily="34" charset="77"/>
                </a:endParaRPr>
              </a:p>
            </p:txBody>
          </p:sp>
        </p:grpSp>
        <p:grpSp>
          <p:nvGrpSpPr>
            <p:cNvPr id="23" name="Group 22">
              <a:extLst>
                <a:ext uri="{FF2B5EF4-FFF2-40B4-BE49-F238E27FC236}">
                  <a16:creationId xmlns:a16="http://schemas.microsoft.com/office/drawing/2014/main" id="{074FB203-643F-9540-2E42-F5D0974F3B54}"/>
                </a:ext>
              </a:extLst>
            </p:cNvPr>
            <p:cNvGrpSpPr/>
            <p:nvPr/>
          </p:nvGrpSpPr>
          <p:grpSpPr>
            <a:xfrm>
              <a:off x="650132" y="3345026"/>
              <a:ext cx="2933065" cy="238596"/>
              <a:chOff x="1578934" y="3263164"/>
              <a:chExt cx="3924999" cy="319288"/>
            </a:xfrm>
          </p:grpSpPr>
          <p:sp>
            <p:nvSpPr>
              <p:cNvPr id="24" name="TextBox 23">
                <a:extLst>
                  <a:ext uri="{FF2B5EF4-FFF2-40B4-BE49-F238E27FC236}">
                    <a16:creationId xmlns:a16="http://schemas.microsoft.com/office/drawing/2014/main" id="{3A9034FF-5B05-E13C-E4F0-F19AA6365B1D}"/>
                  </a:ext>
                </a:extLst>
              </p:cNvPr>
              <p:cNvSpPr txBox="1"/>
              <p:nvPr/>
            </p:nvSpPr>
            <p:spPr>
              <a:xfrm>
                <a:off x="2005828" y="3337948"/>
                <a:ext cx="3498105" cy="18533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000" b="0">
                    <a:solidFill>
                      <a:srgbClr val="FFFFFF"/>
                    </a:solidFill>
                    <a:latin typeface="Source Sans 3"/>
                    <a:cs typeface="Source Sans 3" panose="020B0404040101010104" pitchFamily="34" charset="77"/>
                  </a:rPr>
                  <a:t>Do specific, </a:t>
                </a:r>
                <a:r>
                  <a:rPr lang="en-US" sz="1000" b="0">
                    <a:solidFill>
                      <a:srgbClr val="FFFFFF"/>
                    </a:solidFill>
                    <a:latin typeface="+mj-lt"/>
                    <a:cs typeface="Source Sans 3" panose="020B0404040101010104" pitchFamily="34" charset="77"/>
                  </a:rPr>
                  <a:t>singular</a:t>
                </a:r>
                <a:r>
                  <a:rPr lang="en-US" sz="1000" b="0">
                    <a:solidFill>
                      <a:srgbClr val="FFFFFF"/>
                    </a:solidFill>
                    <a:latin typeface="Source Sans 3"/>
                    <a:cs typeface="Source Sans 3" panose="020B0404040101010104" pitchFamily="34" charset="77"/>
                  </a:rPr>
                  <a:t> </a:t>
                </a:r>
                <a:r>
                  <a:rPr lang="en-US" sz="1000" b="0">
                    <a:solidFill>
                      <a:srgbClr val="FFFFFF"/>
                    </a:solidFill>
                    <a:latin typeface="+mj-lt"/>
                    <a:cs typeface="Source Sans 3" panose="020B0404040101010104" pitchFamily="34" charset="77"/>
                  </a:rPr>
                  <a:t>tasks</a:t>
                </a:r>
                <a:endParaRPr lang="en-US" sz="1000" b="0">
                  <a:solidFill>
                    <a:srgbClr val="000000"/>
                  </a:solidFill>
                  <a:latin typeface="+mj-lt"/>
                  <a:cs typeface="Source Sans 3" panose="020B0404040101010104" pitchFamily="34" charset="77"/>
                </a:endParaRPr>
              </a:p>
            </p:txBody>
          </p:sp>
        </p:grpSp>
        <p:grpSp>
          <p:nvGrpSpPr>
            <p:cNvPr id="26" name="Group 25">
              <a:extLst>
                <a:ext uri="{FF2B5EF4-FFF2-40B4-BE49-F238E27FC236}">
                  <a16:creationId xmlns:a16="http://schemas.microsoft.com/office/drawing/2014/main" id="{99068F8A-8EE8-692C-9FF4-020D6897D60B}"/>
                </a:ext>
              </a:extLst>
            </p:cNvPr>
            <p:cNvGrpSpPr/>
            <p:nvPr/>
          </p:nvGrpSpPr>
          <p:grpSpPr>
            <a:xfrm>
              <a:off x="650132" y="3733909"/>
              <a:ext cx="2665438" cy="238596"/>
              <a:chOff x="1578934" y="3176247"/>
              <a:chExt cx="3566863" cy="319288"/>
            </a:xfrm>
          </p:grpSpPr>
          <p:sp>
            <p:nvSpPr>
              <p:cNvPr id="27" name="TextBox 26">
                <a:extLst>
                  <a:ext uri="{FF2B5EF4-FFF2-40B4-BE49-F238E27FC236}">
                    <a16:creationId xmlns:a16="http://schemas.microsoft.com/office/drawing/2014/main" id="{2D4FDAA4-C6EF-FEBF-D739-CB98088E30F9}"/>
                  </a:ext>
                </a:extLst>
              </p:cNvPr>
              <p:cNvSpPr txBox="1"/>
              <p:nvPr/>
            </p:nvSpPr>
            <p:spPr>
              <a:xfrm>
                <a:off x="2005828" y="3244532"/>
                <a:ext cx="3139969" cy="18533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000" b="0">
                    <a:solidFill>
                      <a:srgbClr val="FFFFFF"/>
                    </a:solidFill>
                    <a:latin typeface="Source Sans 3"/>
                  </a:rPr>
                  <a:t>Use tools (GenAI skills, Flows, etc.)</a:t>
                </a:r>
                <a:endParaRPr lang="en-US" sz="1000"/>
              </a:p>
            </p:txBody>
          </p:sp>
        </p:grpSp>
        <p:grpSp>
          <p:nvGrpSpPr>
            <p:cNvPr id="29" name="Group 28">
              <a:extLst>
                <a:ext uri="{FF2B5EF4-FFF2-40B4-BE49-F238E27FC236}">
                  <a16:creationId xmlns:a16="http://schemas.microsoft.com/office/drawing/2014/main" id="{5CDD13BF-2C8B-82F2-5792-D00CA60BF128}"/>
                </a:ext>
              </a:extLst>
            </p:cNvPr>
            <p:cNvGrpSpPr/>
            <p:nvPr/>
          </p:nvGrpSpPr>
          <p:grpSpPr>
            <a:xfrm>
              <a:off x="650132" y="4110330"/>
              <a:ext cx="2933065" cy="238596"/>
              <a:chOff x="1578934" y="3072655"/>
              <a:chExt cx="3924999" cy="319288"/>
            </a:xfrm>
          </p:grpSpPr>
          <p:sp>
            <p:nvSpPr>
              <p:cNvPr id="30" name="TextBox 29">
                <a:extLst>
                  <a:ext uri="{FF2B5EF4-FFF2-40B4-BE49-F238E27FC236}">
                    <a16:creationId xmlns:a16="http://schemas.microsoft.com/office/drawing/2014/main" id="{4131216B-42E6-7C0E-1AD0-FB8DD2A055BF}"/>
                  </a:ext>
                </a:extLst>
              </p:cNvPr>
              <p:cNvSpPr txBox="1"/>
              <p:nvPr/>
            </p:nvSpPr>
            <p:spPr>
              <a:xfrm>
                <a:off x="2005828" y="3151113"/>
                <a:ext cx="3498105" cy="18533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000" b="0">
                    <a:solidFill>
                      <a:srgbClr val="FFFFFF"/>
                    </a:solidFill>
                    <a:latin typeface="Source Sans 3"/>
                    <a:cs typeface="Source Sans 3" panose="020B0404040101010104" pitchFamily="34" charset="77"/>
                  </a:rPr>
                  <a:t>Are modular</a:t>
                </a:r>
                <a:endParaRPr lang="en-US" sz="1000" b="0">
                  <a:solidFill>
                    <a:srgbClr val="000000"/>
                  </a:solidFill>
                  <a:latin typeface="Source Sans 3"/>
                  <a:cs typeface="Source Sans 3" panose="020B0404040101010104" pitchFamily="34" charset="77"/>
                </a:endParaRPr>
              </a:p>
            </p:txBody>
          </p:sp>
        </p:grpSp>
        <p:grpSp>
          <p:nvGrpSpPr>
            <p:cNvPr id="36" name="Group 35">
              <a:extLst>
                <a:ext uri="{FF2B5EF4-FFF2-40B4-BE49-F238E27FC236}">
                  <a16:creationId xmlns:a16="http://schemas.microsoft.com/office/drawing/2014/main" id="{10C1DA74-6C63-CABD-FC99-70E77FA4DCE4}"/>
                </a:ext>
              </a:extLst>
            </p:cNvPr>
            <p:cNvGrpSpPr/>
            <p:nvPr/>
          </p:nvGrpSpPr>
          <p:grpSpPr>
            <a:xfrm>
              <a:off x="650132" y="4499287"/>
              <a:ext cx="2933065" cy="238596"/>
              <a:chOff x="1578934" y="2985835"/>
              <a:chExt cx="3924999" cy="319288"/>
            </a:xfrm>
          </p:grpSpPr>
          <p:sp>
            <p:nvSpPr>
              <p:cNvPr id="44" name="TextBox 43">
                <a:extLst>
                  <a:ext uri="{FF2B5EF4-FFF2-40B4-BE49-F238E27FC236}">
                    <a16:creationId xmlns:a16="http://schemas.microsoft.com/office/drawing/2014/main" id="{1B7841C6-58AB-2F9F-2FD3-93459F19306F}"/>
                  </a:ext>
                </a:extLst>
              </p:cNvPr>
              <p:cNvSpPr txBox="1"/>
              <p:nvPr/>
            </p:nvSpPr>
            <p:spPr>
              <a:xfrm>
                <a:off x="2005828" y="3057690"/>
                <a:ext cx="3498105" cy="18533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000" b="0">
                    <a:solidFill>
                      <a:srgbClr val="FFFFFF"/>
                    </a:solidFill>
                  </a:rPr>
                  <a:t>Require some configuration</a:t>
                </a:r>
                <a:endParaRPr lang="en-US" sz="1000" b="0">
                  <a:solidFill>
                    <a:srgbClr val="000000"/>
                  </a:solidFill>
                </a:endParaRPr>
              </a:p>
            </p:txBody>
          </p:sp>
        </p:grpSp>
        <p:grpSp>
          <p:nvGrpSpPr>
            <p:cNvPr id="46" name="Group 45">
              <a:extLst>
                <a:ext uri="{FF2B5EF4-FFF2-40B4-BE49-F238E27FC236}">
                  <a16:creationId xmlns:a16="http://schemas.microsoft.com/office/drawing/2014/main" id="{B17EE9C1-EB9E-92AD-EA58-8C08E18EBFC2}"/>
                </a:ext>
              </a:extLst>
            </p:cNvPr>
            <p:cNvGrpSpPr/>
            <p:nvPr/>
          </p:nvGrpSpPr>
          <p:grpSpPr>
            <a:xfrm>
              <a:off x="650131" y="4937011"/>
              <a:ext cx="2248201" cy="276999"/>
              <a:chOff x="1578934" y="2964274"/>
              <a:chExt cx="3008519" cy="370678"/>
            </a:xfrm>
          </p:grpSpPr>
          <p:sp>
            <p:nvSpPr>
              <p:cNvPr id="47" name="TextBox 46">
                <a:extLst>
                  <a:ext uri="{FF2B5EF4-FFF2-40B4-BE49-F238E27FC236}">
                    <a16:creationId xmlns:a16="http://schemas.microsoft.com/office/drawing/2014/main" id="{533EDB3B-16B0-4894-2E6A-DA47AE0DA55A}"/>
                  </a:ext>
                </a:extLst>
              </p:cNvPr>
              <p:cNvSpPr txBox="1"/>
              <p:nvPr/>
            </p:nvSpPr>
            <p:spPr>
              <a:xfrm>
                <a:off x="2005828" y="2964274"/>
                <a:ext cx="2581625" cy="370678"/>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000" b="0">
                    <a:solidFill>
                      <a:srgbClr val="FFFFFF"/>
                    </a:solidFill>
                    <a:latin typeface="Source Sans 3"/>
                  </a:rPr>
                  <a:t>Can be orchestrated to complete an individual workflow</a:t>
                </a:r>
                <a:endParaRPr lang="en-US" sz="1000" b="0">
                  <a:solidFill>
                    <a:srgbClr val="000000"/>
                  </a:solidFill>
                </a:endParaRPr>
              </a:p>
            </p:txBody>
          </p:sp>
        </p:grpSp>
        <p:cxnSp>
          <p:nvCxnSpPr>
            <p:cNvPr id="67" name="Straight Connector 66">
              <a:extLst>
                <a:ext uri="{FF2B5EF4-FFF2-40B4-BE49-F238E27FC236}">
                  <a16:creationId xmlns:a16="http://schemas.microsoft.com/office/drawing/2014/main" id="{7E2BB45C-D964-299E-3ED1-FB388F0F9116}"/>
                </a:ext>
              </a:extLst>
            </p:cNvPr>
            <p:cNvCxnSpPr>
              <a:cxnSpLocks/>
            </p:cNvCxnSpPr>
            <p:nvPr/>
          </p:nvCxnSpPr>
          <p:spPr>
            <a:xfrm>
              <a:off x="895207" y="4814246"/>
              <a:ext cx="2579211"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EB9873F-8D19-94AB-C145-87FD107DAFD2}"/>
                </a:ext>
              </a:extLst>
            </p:cNvPr>
            <p:cNvCxnSpPr>
              <a:cxnSpLocks/>
            </p:cNvCxnSpPr>
            <p:nvPr/>
          </p:nvCxnSpPr>
          <p:spPr>
            <a:xfrm>
              <a:off x="895207" y="4430223"/>
              <a:ext cx="2579211"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C8E3A09-E64A-855D-7C83-0F372107D3BE}"/>
                </a:ext>
              </a:extLst>
            </p:cNvPr>
            <p:cNvCxnSpPr>
              <a:cxnSpLocks/>
            </p:cNvCxnSpPr>
            <p:nvPr/>
          </p:nvCxnSpPr>
          <p:spPr>
            <a:xfrm>
              <a:off x="895207" y="4046200"/>
              <a:ext cx="2579211"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DFD7249-851B-017D-1466-69A1D03D0115}"/>
                </a:ext>
              </a:extLst>
            </p:cNvPr>
            <p:cNvCxnSpPr>
              <a:cxnSpLocks/>
            </p:cNvCxnSpPr>
            <p:nvPr/>
          </p:nvCxnSpPr>
          <p:spPr>
            <a:xfrm>
              <a:off x="895207" y="3662177"/>
              <a:ext cx="2579211"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7CF8FBE3-70FC-A474-BBF1-A69A32E221DD}"/>
              </a:ext>
            </a:extLst>
          </p:cNvPr>
          <p:cNvGrpSpPr/>
          <p:nvPr/>
        </p:nvGrpSpPr>
        <p:grpSpPr>
          <a:xfrm>
            <a:off x="3580397" y="2470387"/>
            <a:ext cx="3370406" cy="3196441"/>
            <a:chOff x="3725710" y="2531819"/>
            <a:chExt cx="3370406" cy="3196441"/>
          </a:xfrm>
        </p:grpSpPr>
        <p:sp>
          <p:nvSpPr>
            <p:cNvPr id="61" name="Rounded Rectangle 60">
              <a:extLst>
                <a:ext uri="{FF2B5EF4-FFF2-40B4-BE49-F238E27FC236}">
                  <a16:creationId xmlns:a16="http://schemas.microsoft.com/office/drawing/2014/main" id="{B619841B-697D-8F18-08E9-EC23A43DA2D0}"/>
                </a:ext>
              </a:extLst>
            </p:cNvPr>
            <p:cNvSpPr/>
            <p:nvPr/>
          </p:nvSpPr>
          <p:spPr>
            <a:xfrm>
              <a:off x="3725710" y="2839782"/>
              <a:ext cx="3177967" cy="2869895"/>
            </a:xfrm>
            <a:prstGeom prst="roundRect">
              <a:avLst>
                <a:gd name="adj" fmla="val 5007"/>
              </a:avLst>
            </a:prstGeom>
            <a:solidFill>
              <a:srgbClr val="040E3D">
                <a:alpha val="89900"/>
              </a:srgbClr>
            </a:solidFill>
            <a:ln w="12700">
              <a:noFill/>
            </a:ln>
            <a:effectLst>
              <a:outerShdw blurRad="528181" dist="275313" dir="8100000" algn="tr" rotWithShape="0">
                <a:srgbClr val="040E3D">
                  <a:alpha val="517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629">
                <a:defRPr/>
              </a:pPr>
              <a:endParaRPr lang="en-US" sz="1600" b="1">
                <a:solidFill>
                  <a:srgbClr val="FFFFFF"/>
                </a:solidFill>
                <a:latin typeface="Source Sans 3" panose="020B0504040101010104" pitchFamily="34" charset="77"/>
              </a:endParaRPr>
            </a:p>
          </p:txBody>
        </p:sp>
        <p:grpSp>
          <p:nvGrpSpPr>
            <p:cNvPr id="77" name="Group 76">
              <a:extLst>
                <a:ext uri="{FF2B5EF4-FFF2-40B4-BE49-F238E27FC236}">
                  <a16:creationId xmlns:a16="http://schemas.microsoft.com/office/drawing/2014/main" id="{59049972-766E-C813-F33D-444E0009D400}"/>
                </a:ext>
              </a:extLst>
            </p:cNvPr>
            <p:cNvGrpSpPr/>
            <p:nvPr/>
          </p:nvGrpSpPr>
          <p:grpSpPr>
            <a:xfrm>
              <a:off x="3725711" y="2531819"/>
              <a:ext cx="3180239" cy="3196441"/>
              <a:chOff x="101868" y="2457919"/>
              <a:chExt cx="3519586" cy="3537518"/>
            </a:xfrm>
          </p:grpSpPr>
          <p:sp>
            <p:nvSpPr>
              <p:cNvPr id="17" name="Round Same Side Corner Rectangle 16">
                <a:extLst>
                  <a:ext uri="{FF2B5EF4-FFF2-40B4-BE49-F238E27FC236}">
                    <a16:creationId xmlns:a16="http://schemas.microsoft.com/office/drawing/2014/main" id="{A66A0B00-9829-494B-FC5F-2F92247A301A}"/>
                  </a:ext>
                </a:extLst>
              </p:cNvPr>
              <p:cNvSpPr/>
              <p:nvPr/>
            </p:nvSpPr>
            <p:spPr>
              <a:xfrm>
                <a:off x="773129" y="2457919"/>
                <a:ext cx="2469057" cy="352316"/>
              </a:xfrm>
              <a:prstGeom prst="round2SameRect">
                <a:avLst>
                  <a:gd name="adj1" fmla="val 34588"/>
                  <a:gd name="adj2" fmla="val 0"/>
                </a:avLst>
              </a:prstGeom>
              <a:gradFill>
                <a:gsLst>
                  <a:gs pos="0">
                    <a:schemeClr val="accent3"/>
                  </a:gs>
                  <a:gs pos="100000">
                    <a:schemeClr val="accent3">
                      <a:lumMod val="85000"/>
                    </a:schemeClr>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lIns="91440" tIns="27418" rIns="91440" bIns="45720" rtlCol="0" anchor="ctr">
                <a:noAutofit/>
              </a:bodyPr>
              <a:lstStyle/>
              <a:p>
                <a:pPr algn="ctr" defTabSz="913852">
                  <a:defRPr/>
                </a:pPr>
                <a:r>
                  <a:rPr lang="en-US" sz="1400" b="1" dirty="0">
                    <a:solidFill>
                      <a:schemeClr val="bg1"/>
                    </a:solidFill>
                    <a:latin typeface="Source Sans 3"/>
                  </a:rPr>
                  <a:t>Agentic Workflows</a:t>
                </a:r>
                <a:endParaRPr lang="en-US" dirty="0">
                  <a:solidFill>
                    <a:schemeClr val="bg1"/>
                  </a:solidFill>
                </a:endParaRPr>
              </a:p>
            </p:txBody>
          </p:sp>
          <p:sp>
            <p:nvSpPr>
              <p:cNvPr id="13" name="Rounded Rectangle 12">
                <a:extLst>
                  <a:ext uri="{FF2B5EF4-FFF2-40B4-BE49-F238E27FC236}">
                    <a16:creationId xmlns:a16="http://schemas.microsoft.com/office/drawing/2014/main" id="{5E6A42D6-47A4-BEC2-C1EB-26BCBD473F35}"/>
                  </a:ext>
                </a:extLst>
              </p:cNvPr>
              <p:cNvSpPr/>
              <p:nvPr/>
            </p:nvSpPr>
            <p:spPr>
              <a:xfrm>
                <a:off x="101868" y="2819309"/>
                <a:ext cx="3519586" cy="3176128"/>
              </a:xfrm>
              <a:prstGeom prst="roundRect">
                <a:avLst>
                  <a:gd name="adj" fmla="val 5421"/>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629">
                  <a:defRPr/>
                </a:pPr>
                <a:endParaRPr lang="en-US" sz="1600" b="1">
                  <a:solidFill>
                    <a:srgbClr val="FFFFFF"/>
                  </a:solidFill>
                  <a:latin typeface="Source Sans 3" panose="020B0504040101010104" pitchFamily="34" charset="77"/>
                </a:endParaRPr>
              </a:p>
            </p:txBody>
          </p:sp>
        </p:grpSp>
        <p:grpSp>
          <p:nvGrpSpPr>
            <p:cNvPr id="32" name="Group 31">
              <a:extLst>
                <a:ext uri="{FF2B5EF4-FFF2-40B4-BE49-F238E27FC236}">
                  <a16:creationId xmlns:a16="http://schemas.microsoft.com/office/drawing/2014/main" id="{AFAD81F1-F702-9F80-2BE7-0EAAEF26C0A9}"/>
                </a:ext>
              </a:extLst>
            </p:cNvPr>
            <p:cNvGrpSpPr/>
            <p:nvPr/>
          </p:nvGrpSpPr>
          <p:grpSpPr>
            <a:xfrm>
              <a:off x="3940078" y="3209265"/>
              <a:ext cx="2974564" cy="693572"/>
              <a:chOff x="1600381" y="3155896"/>
              <a:chExt cx="3980533" cy="928134"/>
            </a:xfrm>
          </p:grpSpPr>
          <p:sp>
            <p:nvSpPr>
              <p:cNvPr id="2" name="TextBox 1">
                <a:extLst>
                  <a:ext uri="{FF2B5EF4-FFF2-40B4-BE49-F238E27FC236}">
                    <a16:creationId xmlns:a16="http://schemas.microsoft.com/office/drawing/2014/main" id="{A1AA15C1-3666-23EB-6539-FB653DD7531C}"/>
                  </a:ext>
                </a:extLst>
              </p:cNvPr>
              <p:cNvSpPr txBox="1"/>
              <p:nvPr/>
            </p:nvSpPr>
            <p:spPr>
              <a:xfrm>
                <a:off x="2082809" y="3861623"/>
                <a:ext cx="3498105" cy="222407"/>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b="0">
                    <a:solidFill>
                      <a:srgbClr val="FFFFFF"/>
                    </a:solidFill>
                    <a:latin typeface="Source Sans 3"/>
                  </a:rPr>
                  <a:t>Encompass multiple tasks</a:t>
                </a:r>
              </a:p>
            </p:txBody>
          </p:sp>
        </p:grpSp>
        <p:grpSp>
          <p:nvGrpSpPr>
            <p:cNvPr id="33" name="Group 32">
              <a:extLst>
                <a:ext uri="{FF2B5EF4-FFF2-40B4-BE49-F238E27FC236}">
                  <a16:creationId xmlns:a16="http://schemas.microsoft.com/office/drawing/2014/main" id="{6BDC8D21-F493-0D8F-0310-582D81419F4F}"/>
                </a:ext>
              </a:extLst>
            </p:cNvPr>
            <p:cNvGrpSpPr/>
            <p:nvPr/>
          </p:nvGrpSpPr>
          <p:grpSpPr>
            <a:xfrm>
              <a:off x="3940078" y="3224212"/>
              <a:ext cx="2482860" cy="725466"/>
              <a:chOff x="1600381" y="2568577"/>
              <a:chExt cx="3322539" cy="970814"/>
            </a:xfrm>
          </p:grpSpPr>
          <p:sp>
            <p:nvSpPr>
              <p:cNvPr id="35" name="TextBox 34">
                <a:extLst>
                  <a:ext uri="{FF2B5EF4-FFF2-40B4-BE49-F238E27FC236}">
                    <a16:creationId xmlns:a16="http://schemas.microsoft.com/office/drawing/2014/main" id="{65B52486-0E54-CFD7-0F27-9545DCD1D259}"/>
                  </a:ext>
                </a:extLst>
              </p:cNvPr>
              <p:cNvSpPr txBox="1"/>
              <p:nvPr/>
            </p:nvSpPr>
            <p:spPr>
              <a:xfrm>
                <a:off x="2082809" y="2568577"/>
                <a:ext cx="2840111" cy="222406"/>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b="0">
                    <a:solidFill>
                      <a:srgbClr val="FFFFFF"/>
                    </a:solidFill>
                    <a:latin typeface="Source Sans 3"/>
                  </a:rPr>
                  <a:t>Scoped to a </a:t>
                </a:r>
                <a:r>
                  <a:rPr lang="en-US" b="0">
                    <a:solidFill>
                      <a:srgbClr val="FFFFFF"/>
                    </a:solidFill>
                    <a:latin typeface="+mj-lt"/>
                  </a:rPr>
                  <a:t>specific</a:t>
                </a:r>
                <a:r>
                  <a:rPr lang="en-US" b="0">
                    <a:solidFill>
                      <a:srgbClr val="FFFFFF"/>
                    </a:solidFill>
                    <a:latin typeface="Source Sans 3"/>
                  </a:rPr>
                  <a:t> </a:t>
                </a:r>
                <a:r>
                  <a:rPr lang="en-US" b="0">
                    <a:solidFill>
                      <a:srgbClr val="FFFFFF"/>
                    </a:solidFill>
                    <a:latin typeface="+mj-lt"/>
                  </a:rPr>
                  <a:t>process</a:t>
                </a:r>
                <a:endParaRPr lang="en-US" b="0">
                  <a:solidFill>
                    <a:srgbClr val="000000"/>
                  </a:solidFill>
                  <a:latin typeface="+mj-lt"/>
                </a:endParaRPr>
              </a:p>
            </p:txBody>
          </p:sp>
        </p:grpSp>
        <p:grpSp>
          <p:nvGrpSpPr>
            <p:cNvPr id="39" name="Group 38">
              <a:extLst>
                <a:ext uri="{FF2B5EF4-FFF2-40B4-BE49-F238E27FC236}">
                  <a16:creationId xmlns:a16="http://schemas.microsoft.com/office/drawing/2014/main" id="{206ADCAB-6E08-6962-DB8D-761E48053B34}"/>
                </a:ext>
              </a:extLst>
            </p:cNvPr>
            <p:cNvGrpSpPr/>
            <p:nvPr/>
          </p:nvGrpSpPr>
          <p:grpSpPr>
            <a:xfrm>
              <a:off x="3940078" y="4116933"/>
              <a:ext cx="2974564" cy="323813"/>
              <a:chOff x="1600381" y="3155892"/>
              <a:chExt cx="3980533" cy="433324"/>
            </a:xfrm>
          </p:grpSpPr>
          <p:sp>
            <p:nvSpPr>
              <p:cNvPr id="40" name="TextBox 39">
                <a:extLst>
                  <a:ext uri="{FF2B5EF4-FFF2-40B4-BE49-F238E27FC236}">
                    <a16:creationId xmlns:a16="http://schemas.microsoft.com/office/drawing/2014/main" id="{8ECDDD66-64DC-EB17-43ED-CD357B248BFE}"/>
                  </a:ext>
                </a:extLst>
              </p:cNvPr>
              <p:cNvSpPr txBox="1"/>
              <p:nvPr/>
            </p:nvSpPr>
            <p:spPr>
              <a:xfrm>
                <a:off x="2082809" y="3342097"/>
                <a:ext cx="3498105" cy="24711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lnSpc>
                    <a:spcPct val="100000"/>
                  </a:lnSpc>
                  <a:defRPr/>
                </a:pPr>
                <a:r>
                  <a:rPr lang="en-US" b="0">
                    <a:solidFill>
                      <a:srgbClr val="FFFFFF"/>
                    </a:solidFill>
                    <a:latin typeface="Source Sans 3"/>
                  </a:rPr>
                  <a:t>Involve multiple AI agents</a:t>
                </a:r>
                <a:endParaRPr lang="en-US"/>
              </a:p>
            </p:txBody>
          </p:sp>
        </p:grpSp>
        <p:grpSp>
          <p:nvGrpSpPr>
            <p:cNvPr id="42" name="Group 41">
              <a:extLst>
                <a:ext uri="{FF2B5EF4-FFF2-40B4-BE49-F238E27FC236}">
                  <a16:creationId xmlns:a16="http://schemas.microsoft.com/office/drawing/2014/main" id="{29CE0005-C4E4-766A-58FB-1B5F5176F50D}"/>
                </a:ext>
              </a:extLst>
            </p:cNvPr>
            <p:cNvGrpSpPr/>
            <p:nvPr/>
          </p:nvGrpSpPr>
          <p:grpSpPr>
            <a:xfrm>
              <a:off x="3940078" y="4570768"/>
              <a:ext cx="2974564" cy="286575"/>
              <a:chOff x="1600381" y="3155891"/>
              <a:chExt cx="3980533" cy="383492"/>
            </a:xfrm>
          </p:grpSpPr>
          <p:sp>
            <p:nvSpPr>
              <p:cNvPr id="43" name="TextBox 42">
                <a:extLst>
                  <a:ext uri="{FF2B5EF4-FFF2-40B4-BE49-F238E27FC236}">
                    <a16:creationId xmlns:a16="http://schemas.microsoft.com/office/drawing/2014/main" id="{46818E9E-0638-7561-A6A1-4F78ABE811C8}"/>
                  </a:ext>
                </a:extLst>
              </p:cNvPr>
              <p:cNvSpPr txBox="1"/>
              <p:nvPr/>
            </p:nvSpPr>
            <p:spPr>
              <a:xfrm>
                <a:off x="2082809" y="3301941"/>
                <a:ext cx="3498105" cy="222407"/>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b="0">
                    <a:solidFill>
                      <a:srgbClr val="FFFFFF"/>
                    </a:solidFill>
                    <a:latin typeface="Source Sans 3"/>
                  </a:rPr>
                  <a:t>Require orchestration</a:t>
                </a:r>
                <a:endParaRPr lang="en-US" b="0">
                  <a:solidFill>
                    <a:srgbClr val="000000"/>
                  </a:solidFill>
                  <a:latin typeface="Source Sans 3"/>
                </a:endParaRPr>
              </a:p>
            </p:txBody>
          </p:sp>
        </p:grpSp>
        <p:grpSp>
          <p:nvGrpSpPr>
            <p:cNvPr id="51" name="Group 50">
              <a:extLst>
                <a:ext uri="{FF2B5EF4-FFF2-40B4-BE49-F238E27FC236}">
                  <a16:creationId xmlns:a16="http://schemas.microsoft.com/office/drawing/2014/main" id="{289E75CF-8683-A07B-CDB9-C20BAD0960B8}"/>
                </a:ext>
              </a:extLst>
            </p:cNvPr>
            <p:cNvGrpSpPr/>
            <p:nvPr/>
          </p:nvGrpSpPr>
          <p:grpSpPr>
            <a:xfrm>
              <a:off x="3940076" y="5024599"/>
              <a:ext cx="3156040" cy="286575"/>
              <a:chOff x="1600381" y="3155896"/>
              <a:chExt cx="4223381" cy="383493"/>
            </a:xfrm>
          </p:grpSpPr>
          <p:sp>
            <p:nvSpPr>
              <p:cNvPr id="52" name="TextBox 51">
                <a:extLst>
                  <a:ext uri="{FF2B5EF4-FFF2-40B4-BE49-F238E27FC236}">
                    <a16:creationId xmlns:a16="http://schemas.microsoft.com/office/drawing/2014/main" id="{7B7A0345-45E5-04A6-D245-FF9307523F74}"/>
                  </a:ext>
                </a:extLst>
              </p:cNvPr>
              <p:cNvSpPr txBox="1"/>
              <p:nvPr/>
            </p:nvSpPr>
            <p:spPr>
              <a:xfrm>
                <a:off x="2082809" y="3237069"/>
                <a:ext cx="3740953" cy="24711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lnSpc>
                    <a:spcPct val="100000"/>
                  </a:lnSpc>
                  <a:defRPr/>
                </a:pPr>
                <a:r>
                  <a:rPr lang="en-US" b="0">
                    <a:solidFill>
                      <a:srgbClr val="FFFFFF"/>
                    </a:solidFill>
                    <a:latin typeface="Source Sans 3"/>
                  </a:rPr>
                  <a:t>Initiated by a prompt or trigger</a:t>
                </a:r>
                <a:endParaRPr lang="en-US"/>
              </a:p>
            </p:txBody>
          </p:sp>
        </p:grpSp>
        <p:cxnSp>
          <p:nvCxnSpPr>
            <p:cNvPr id="60" name="Straight Connector 59">
              <a:extLst>
                <a:ext uri="{FF2B5EF4-FFF2-40B4-BE49-F238E27FC236}">
                  <a16:creationId xmlns:a16="http://schemas.microsoft.com/office/drawing/2014/main" id="{D351D5A7-9DDF-8709-CBFD-CFA5EAEBDF22}"/>
                </a:ext>
              </a:extLst>
            </p:cNvPr>
            <p:cNvCxnSpPr>
              <a:cxnSpLocks/>
            </p:cNvCxnSpPr>
            <p:nvPr/>
          </p:nvCxnSpPr>
          <p:spPr>
            <a:xfrm>
              <a:off x="4226652" y="3564937"/>
              <a:ext cx="2659104"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2278B7D-E9C2-D61D-F162-31AC98D9C2D6}"/>
                </a:ext>
              </a:extLst>
            </p:cNvPr>
            <p:cNvCxnSpPr>
              <a:cxnSpLocks/>
            </p:cNvCxnSpPr>
            <p:nvPr/>
          </p:nvCxnSpPr>
          <p:spPr>
            <a:xfrm>
              <a:off x="4226652" y="4136496"/>
              <a:ext cx="2659104"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82FBC05-0B24-9032-A06F-7776473B9AD9}"/>
                </a:ext>
              </a:extLst>
            </p:cNvPr>
            <p:cNvCxnSpPr>
              <a:cxnSpLocks/>
            </p:cNvCxnSpPr>
            <p:nvPr/>
          </p:nvCxnSpPr>
          <p:spPr>
            <a:xfrm>
              <a:off x="4226652" y="4560322"/>
              <a:ext cx="2659104"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9147FFE-8434-4B89-FE9F-CF4CA800F8A6}"/>
                </a:ext>
              </a:extLst>
            </p:cNvPr>
            <p:cNvCxnSpPr>
              <a:cxnSpLocks/>
            </p:cNvCxnSpPr>
            <p:nvPr/>
          </p:nvCxnSpPr>
          <p:spPr>
            <a:xfrm>
              <a:off x="4226652" y="4965681"/>
              <a:ext cx="2659104"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grpSp>
      <p:pic>
        <p:nvPicPr>
          <p:cNvPr id="6" name="Picture 15">
            <a:extLst>
              <a:ext uri="{FF2B5EF4-FFF2-40B4-BE49-F238E27FC236}">
                <a16:creationId xmlns:a16="http://schemas.microsoft.com/office/drawing/2014/main" id="{841236E3-EA14-FB11-AE90-09F2E8B68D1D}"/>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9837" y="6353915"/>
            <a:ext cx="980334" cy="280022"/>
          </a:xfrm>
          <a:prstGeom prst="rect">
            <a:avLst/>
          </a:prstGeom>
        </p:spPr>
      </p:pic>
      <p:sp>
        <p:nvSpPr>
          <p:cNvPr id="5" name="Title 14">
            <a:extLst>
              <a:ext uri="{FF2B5EF4-FFF2-40B4-BE49-F238E27FC236}">
                <a16:creationId xmlns:a16="http://schemas.microsoft.com/office/drawing/2014/main" id="{4169D3C8-9493-8116-0EF2-2553A05A19C9}"/>
              </a:ext>
            </a:extLst>
          </p:cNvPr>
          <p:cNvSpPr txBox="1">
            <a:spLocks/>
          </p:cNvSpPr>
          <p:nvPr/>
        </p:nvSpPr>
        <p:spPr>
          <a:xfrm>
            <a:off x="1929554" y="421346"/>
            <a:ext cx="8329716" cy="1151335"/>
          </a:xfrm>
          <a:prstGeom prst="rect">
            <a:avLst/>
          </a:prstGeom>
        </p:spPr>
        <p:txBody>
          <a:bodyPr vert="horz" lIns="0" tIns="0" rIns="0" bIns="0" rtlCol="0" anchor="t" anchorCtr="0">
            <a:noAutofit/>
          </a:bodyPr>
          <a:lstStyle>
            <a:lvl1pPr marL="0" algn="l" defTabSz="914400" rtl="0" eaLnBrk="1" latinLnBrk="0" hangingPunct="1">
              <a:lnSpc>
                <a:spcPct val="85000"/>
              </a:lnSpc>
              <a:spcBef>
                <a:spcPct val="0"/>
              </a:spcBef>
              <a:buNone/>
              <a:tabLst>
                <a:tab pos="398463" algn="l"/>
              </a:tabLst>
              <a:defRPr lang="en-US" sz="4000" b="1" i="0" kern="1200" spc="0" baseline="0" dirty="0">
                <a:solidFill>
                  <a:schemeClr val="bg1"/>
                </a:solidFill>
                <a:latin typeface="+mj-lt"/>
                <a:ea typeface="+mj-ea"/>
                <a:cs typeface="Source Sans 3" panose="020B0504040101010104" pitchFamily="34" charset="77"/>
              </a:defRPr>
            </a:lvl1pPr>
          </a:lstStyle>
          <a:p>
            <a:pPr algn="ctr" defTabSz="913852">
              <a:tabLst>
                <a:tab pos="398223" algn="l"/>
              </a:tabLst>
              <a:defRPr/>
            </a:pPr>
            <a:r>
              <a:rPr lang="en-US" sz="5350" b="1">
                <a:solidFill>
                  <a:srgbClr val="8FFFDB"/>
                </a:solidFill>
                <a:latin typeface="Source Sans 3"/>
              </a:rPr>
              <a:t>Meet your</a:t>
            </a:r>
            <a:endParaRPr lang="en-US" sz="4298" b="1">
              <a:solidFill>
                <a:srgbClr val="FFFFFF"/>
              </a:solidFill>
              <a:latin typeface="Source Sans 3"/>
            </a:endParaRPr>
          </a:p>
          <a:p>
            <a:pPr algn="ctr" defTabSz="913852">
              <a:tabLst>
                <a:tab pos="398223" algn="l"/>
              </a:tabLst>
              <a:defRPr/>
            </a:pPr>
            <a:r>
              <a:rPr lang="en-US" sz="5350" b="1">
                <a:solidFill>
                  <a:srgbClr val="FFFFFF"/>
                </a:solidFill>
                <a:latin typeface="Source Sans 3"/>
              </a:rPr>
              <a:t>Autonomous Workforce</a:t>
            </a:r>
            <a:endParaRPr lang="en-US" sz="4250" b="1">
              <a:solidFill>
                <a:srgbClr val="FFFFFF"/>
              </a:solidFill>
              <a:latin typeface="Source Sans 3"/>
            </a:endParaRPr>
          </a:p>
        </p:txBody>
      </p:sp>
      <p:grpSp>
        <p:nvGrpSpPr>
          <p:cNvPr id="75" name="Group 74">
            <a:extLst>
              <a:ext uri="{FF2B5EF4-FFF2-40B4-BE49-F238E27FC236}">
                <a16:creationId xmlns:a16="http://schemas.microsoft.com/office/drawing/2014/main" id="{2279545B-8A47-8F7D-5212-83FA19DF6ABF}"/>
              </a:ext>
            </a:extLst>
          </p:cNvPr>
          <p:cNvGrpSpPr/>
          <p:nvPr/>
        </p:nvGrpSpPr>
        <p:grpSpPr>
          <a:xfrm>
            <a:off x="6641729" y="1999071"/>
            <a:ext cx="4909637" cy="3980743"/>
            <a:chOff x="6632966" y="2244432"/>
            <a:chExt cx="4909637" cy="3980743"/>
          </a:xfrm>
        </p:grpSpPr>
        <p:grpSp>
          <p:nvGrpSpPr>
            <p:cNvPr id="78" name="Group 77">
              <a:extLst>
                <a:ext uri="{FF2B5EF4-FFF2-40B4-BE49-F238E27FC236}">
                  <a16:creationId xmlns:a16="http://schemas.microsoft.com/office/drawing/2014/main" id="{7D0E23D9-A401-DD32-B498-779FDBD4EC5A}"/>
                </a:ext>
              </a:extLst>
            </p:cNvPr>
            <p:cNvGrpSpPr/>
            <p:nvPr/>
          </p:nvGrpSpPr>
          <p:grpSpPr>
            <a:xfrm>
              <a:off x="6632966" y="2244432"/>
              <a:ext cx="4909637" cy="3980743"/>
              <a:chOff x="6625368" y="2541320"/>
              <a:chExt cx="4416207" cy="3751621"/>
            </a:xfrm>
          </p:grpSpPr>
          <p:sp>
            <p:nvSpPr>
              <p:cNvPr id="14" name="Rounded Rectangle 13">
                <a:extLst>
                  <a:ext uri="{FF2B5EF4-FFF2-40B4-BE49-F238E27FC236}">
                    <a16:creationId xmlns:a16="http://schemas.microsoft.com/office/drawing/2014/main" id="{F9BAAE7D-EA08-0FCE-20DE-0A22F2AF70CB}"/>
                  </a:ext>
                </a:extLst>
              </p:cNvPr>
              <p:cNvSpPr/>
              <p:nvPr/>
            </p:nvSpPr>
            <p:spPr>
              <a:xfrm>
                <a:off x="6625368" y="2897421"/>
                <a:ext cx="4416207" cy="3379811"/>
              </a:xfrm>
              <a:prstGeom prst="roundRect">
                <a:avLst>
                  <a:gd name="adj" fmla="val 5007"/>
                </a:avLst>
              </a:prstGeom>
              <a:gradFill flip="none" rotWithShape="1">
                <a:gsLst>
                  <a:gs pos="0">
                    <a:srgbClr val="040E3D">
                      <a:lumMod val="59000"/>
                      <a:alpha val="93000"/>
                    </a:srgbClr>
                  </a:gs>
                  <a:gs pos="33000">
                    <a:srgbClr val="040E3D">
                      <a:alpha val="71000"/>
                    </a:srgbClr>
                  </a:gs>
                  <a:gs pos="100000">
                    <a:schemeClr val="accent1">
                      <a:alpha val="33960"/>
                    </a:schemeClr>
                  </a:gs>
                </a:gsLst>
                <a:lin ang="18900000" scaled="1"/>
                <a:tileRect/>
              </a:gradFill>
              <a:ln w="12700">
                <a:noFill/>
              </a:ln>
              <a:effectLst>
                <a:outerShdw blurRad="528181" dist="275313" dir="8100000" algn="tr" rotWithShape="0">
                  <a:srgbClr val="040E3D">
                    <a:alpha val="517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629">
                  <a:defRPr/>
                </a:pPr>
                <a:endParaRPr lang="en-US" sz="1600" b="1">
                  <a:solidFill>
                    <a:srgbClr val="FFFFFF"/>
                  </a:solidFill>
                  <a:latin typeface="Source Sans 3" panose="020B0504040101010104" pitchFamily="34" charset="77"/>
                </a:endParaRPr>
              </a:p>
            </p:txBody>
          </p:sp>
          <p:sp>
            <p:nvSpPr>
              <p:cNvPr id="18" name="Round Same Side Corner Rectangle 17">
                <a:extLst>
                  <a:ext uri="{FF2B5EF4-FFF2-40B4-BE49-F238E27FC236}">
                    <a16:creationId xmlns:a16="http://schemas.microsoft.com/office/drawing/2014/main" id="{38DED6ED-7AA9-1089-FB30-D95A12B9C4E3}"/>
                  </a:ext>
                </a:extLst>
              </p:cNvPr>
              <p:cNvSpPr/>
              <p:nvPr/>
            </p:nvSpPr>
            <p:spPr>
              <a:xfrm>
                <a:off x="7603868" y="2541320"/>
                <a:ext cx="2469058" cy="352316"/>
              </a:xfrm>
              <a:prstGeom prst="round2SameRect">
                <a:avLst>
                  <a:gd name="adj1" fmla="val 34588"/>
                  <a:gd name="adj2" fmla="val 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tIns="27418" rtlCol="0" anchor="ctr">
                <a:noAutofit/>
              </a:bodyPr>
              <a:lstStyle/>
              <a:p>
                <a:pPr algn="ctr" defTabSz="913852">
                  <a:defRPr/>
                </a:pPr>
                <a:r>
                  <a:rPr lang="en-US" sz="1600" b="1">
                    <a:solidFill>
                      <a:srgbClr val="000000"/>
                    </a:solidFill>
                    <a:latin typeface="Source Sans 3" panose="020B0504040101010104" pitchFamily="34" charset="77"/>
                  </a:rPr>
                  <a:t>AI Specialists</a:t>
                </a:r>
              </a:p>
            </p:txBody>
          </p:sp>
          <p:sp>
            <p:nvSpPr>
              <p:cNvPr id="16" name="Rounded Rectangle 15">
                <a:extLst>
                  <a:ext uri="{FF2B5EF4-FFF2-40B4-BE49-F238E27FC236}">
                    <a16:creationId xmlns:a16="http://schemas.microsoft.com/office/drawing/2014/main" id="{02FE1312-B84C-F39F-6264-AC7EBE36C120}"/>
                  </a:ext>
                </a:extLst>
              </p:cNvPr>
              <p:cNvSpPr/>
              <p:nvPr/>
            </p:nvSpPr>
            <p:spPr>
              <a:xfrm>
                <a:off x="6625368" y="2897421"/>
                <a:ext cx="4416207" cy="3395520"/>
              </a:xfrm>
              <a:prstGeom prst="roundRect">
                <a:avLst>
                  <a:gd name="adj" fmla="val 5007"/>
                </a:avLst>
              </a:prstGeom>
              <a:gradFill>
                <a:gsLst>
                  <a:gs pos="0">
                    <a:schemeClr val="tx2">
                      <a:lumMod val="75000"/>
                      <a:lumOff val="25000"/>
                    </a:schemeClr>
                  </a:gs>
                  <a:gs pos="30000">
                    <a:schemeClr val="tx1"/>
                  </a:gs>
                  <a:gs pos="100000">
                    <a:schemeClr val="tx2">
                      <a:lumMod val="25000"/>
                      <a:lumOff val="75000"/>
                    </a:schemeClr>
                  </a:gs>
                </a:gsLst>
                <a:lin ang="16200000" scaled="0"/>
              </a:gradFill>
              <a:ln w="12700">
                <a:gradFill>
                  <a:gsLst>
                    <a:gs pos="0">
                      <a:schemeClr val="accent1">
                        <a:lumMod val="5000"/>
                        <a:lumOff val="95000"/>
                      </a:schemeClr>
                    </a:gs>
                    <a:gs pos="100000">
                      <a:schemeClr val="tx2">
                        <a:lumMod val="25000"/>
                        <a:lumOff val="75000"/>
                      </a:schemeClr>
                    </a:gs>
                  </a:gsLst>
                  <a:lin ang="5400000" scaled="1"/>
                </a:gradFill>
              </a:ln>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629">
                  <a:defRPr/>
                </a:pPr>
                <a:endParaRPr lang="en-US" sz="1600" b="1">
                  <a:solidFill>
                    <a:srgbClr val="FFFFFF"/>
                  </a:solidFill>
                  <a:latin typeface="Source Sans 3" panose="020B0504040101010104" pitchFamily="34" charset="77"/>
                </a:endParaRPr>
              </a:p>
            </p:txBody>
          </p:sp>
        </p:grpSp>
        <p:sp>
          <p:nvSpPr>
            <p:cNvPr id="31" name="TextBox 30">
              <a:extLst>
                <a:ext uri="{FF2B5EF4-FFF2-40B4-BE49-F238E27FC236}">
                  <a16:creationId xmlns:a16="http://schemas.microsoft.com/office/drawing/2014/main" id="{94224958-0C61-A0D9-FEC2-B62A4276C223}"/>
                </a:ext>
              </a:extLst>
            </p:cNvPr>
            <p:cNvSpPr txBox="1"/>
            <p:nvPr/>
          </p:nvSpPr>
          <p:spPr>
            <a:xfrm>
              <a:off x="7339543" y="2942579"/>
              <a:ext cx="3939149" cy="27699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lnSpc>
                  <a:spcPct val="100000"/>
                </a:lnSpc>
                <a:defRPr/>
              </a:pPr>
              <a:r>
                <a:rPr lang="en-US" sz="1800" b="0">
                  <a:solidFill>
                    <a:srgbClr val="FFFFFF"/>
                  </a:solidFill>
                </a:rPr>
                <a:t>Do </a:t>
              </a:r>
              <a:r>
                <a:rPr lang="en-US" sz="1800" b="0">
                  <a:solidFill>
                    <a:srgbClr val="FFFFFF"/>
                  </a:solidFill>
                  <a:latin typeface="+mj-lt"/>
                </a:rPr>
                <a:t>jobs</a:t>
              </a:r>
              <a:r>
                <a:rPr lang="en-US" sz="1800" b="0">
                  <a:solidFill>
                    <a:srgbClr val="FFFFFF"/>
                  </a:solidFill>
                </a:rPr>
                <a:t> </a:t>
              </a:r>
              <a:r>
                <a:rPr lang="en-US" sz="1800" b="0">
                  <a:solidFill>
                    <a:srgbClr val="FFFFFF"/>
                  </a:solidFill>
                  <a:latin typeface="+mj-lt"/>
                </a:rPr>
                <a:t>end-to-end</a:t>
              </a:r>
              <a:endParaRPr lang="en-US" sz="1800">
                <a:latin typeface="+mj-lt"/>
              </a:endParaRPr>
            </a:p>
          </p:txBody>
        </p:sp>
        <p:sp>
          <p:nvSpPr>
            <p:cNvPr id="55" name="TextBox 54">
              <a:extLst>
                <a:ext uri="{FF2B5EF4-FFF2-40B4-BE49-F238E27FC236}">
                  <a16:creationId xmlns:a16="http://schemas.microsoft.com/office/drawing/2014/main" id="{5E3478B4-C87D-5892-205C-2BA22978D546}"/>
                </a:ext>
              </a:extLst>
            </p:cNvPr>
            <p:cNvSpPr txBox="1"/>
            <p:nvPr/>
          </p:nvSpPr>
          <p:spPr>
            <a:xfrm>
              <a:off x="7339543" y="4226109"/>
              <a:ext cx="3939149" cy="27699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lnSpc>
                  <a:spcPct val="100000"/>
                </a:lnSpc>
                <a:buClr>
                  <a:srgbClr val="8FFFDB"/>
                </a:buClr>
                <a:defRPr/>
              </a:pPr>
              <a:r>
                <a:rPr lang="en-US" sz="1800" b="0">
                  <a:solidFill>
                    <a:srgbClr val="FFFFFF"/>
                  </a:solidFill>
                  <a:cs typeface="Source Sans 3" panose="020B0504040101010104" pitchFamily="34" charset="77"/>
                </a:rPr>
                <a:t>Coordinate many AI agents and tools</a:t>
              </a:r>
            </a:p>
          </p:txBody>
        </p:sp>
        <p:sp>
          <p:nvSpPr>
            <p:cNvPr id="56" name="TextBox 55">
              <a:extLst>
                <a:ext uri="{FF2B5EF4-FFF2-40B4-BE49-F238E27FC236}">
                  <a16:creationId xmlns:a16="http://schemas.microsoft.com/office/drawing/2014/main" id="{D090FCB8-50E6-D072-4325-05219A415316}"/>
                </a:ext>
              </a:extLst>
            </p:cNvPr>
            <p:cNvSpPr txBox="1"/>
            <p:nvPr/>
          </p:nvSpPr>
          <p:spPr>
            <a:xfrm>
              <a:off x="7339543" y="4881653"/>
              <a:ext cx="3939149" cy="27699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lnSpc>
                  <a:spcPct val="100000"/>
                </a:lnSpc>
                <a:defRPr/>
              </a:pPr>
              <a:r>
                <a:rPr lang="en-US" sz="1800" b="0">
                  <a:solidFill>
                    <a:srgbClr val="FFFFFF"/>
                  </a:solidFill>
                </a:rPr>
                <a:t>Have assigned roles, skills, and rules</a:t>
              </a:r>
            </a:p>
          </p:txBody>
        </p:sp>
        <p:sp>
          <p:nvSpPr>
            <p:cNvPr id="57" name="TextBox 56">
              <a:extLst>
                <a:ext uri="{FF2B5EF4-FFF2-40B4-BE49-F238E27FC236}">
                  <a16:creationId xmlns:a16="http://schemas.microsoft.com/office/drawing/2014/main" id="{5BE6B642-C5CA-1F05-3674-3ADF56BFADA2}"/>
                </a:ext>
              </a:extLst>
            </p:cNvPr>
            <p:cNvSpPr txBox="1"/>
            <p:nvPr/>
          </p:nvSpPr>
          <p:spPr>
            <a:xfrm>
              <a:off x="7339543" y="5541042"/>
              <a:ext cx="3939149" cy="24929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800" b="0">
                  <a:solidFill>
                    <a:srgbClr val="FFFFFF"/>
                  </a:solidFill>
                </a:rPr>
                <a:t>Learn and improve over time</a:t>
              </a:r>
              <a:endParaRPr lang="en-US" sz="1800" b="0">
                <a:solidFill>
                  <a:srgbClr val="000000"/>
                </a:solidFill>
              </a:endParaRPr>
            </a:p>
          </p:txBody>
        </p:sp>
        <p:cxnSp>
          <p:nvCxnSpPr>
            <p:cNvPr id="68" name="Straight Connector 67">
              <a:extLst>
                <a:ext uri="{FF2B5EF4-FFF2-40B4-BE49-F238E27FC236}">
                  <a16:creationId xmlns:a16="http://schemas.microsoft.com/office/drawing/2014/main" id="{574394E2-CC68-324D-0DA5-D403878837EA}"/>
                </a:ext>
              </a:extLst>
            </p:cNvPr>
            <p:cNvCxnSpPr>
              <a:cxnSpLocks/>
            </p:cNvCxnSpPr>
            <p:nvPr/>
          </p:nvCxnSpPr>
          <p:spPr>
            <a:xfrm>
              <a:off x="7339543" y="3406962"/>
              <a:ext cx="3732259"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3A30DCB-BFF6-9691-8E90-151B40B29397}"/>
                </a:ext>
              </a:extLst>
            </p:cNvPr>
            <p:cNvCxnSpPr>
              <a:cxnSpLocks/>
            </p:cNvCxnSpPr>
            <p:nvPr/>
          </p:nvCxnSpPr>
          <p:spPr>
            <a:xfrm>
              <a:off x="7339543" y="4038725"/>
              <a:ext cx="3732259"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07B3042-37D3-25EC-CD8C-A9A4D15A5ADD}"/>
                </a:ext>
              </a:extLst>
            </p:cNvPr>
            <p:cNvCxnSpPr>
              <a:cxnSpLocks/>
            </p:cNvCxnSpPr>
            <p:nvPr/>
          </p:nvCxnSpPr>
          <p:spPr>
            <a:xfrm>
              <a:off x="7339543" y="4690493"/>
              <a:ext cx="3732259"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BCF18D1-8978-E90B-4297-0E866C1A5FD3}"/>
                </a:ext>
              </a:extLst>
            </p:cNvPr>
            <p:cNvCxnSpPr>
              <a:cxnSpLocks/>
            </p:cNvCxnSpPr>
            <p:nvPr/>
          </p:nvCxnSpPr>
          <p:spPr>
            <a:xfrm>
              <a:off x="7339543" y="5349812"/>
              <a:ext cx="3732259" cy="0"/>
            </a:xfrm>
            <a:prstGeom prst="line">
              <a:avLst/>
            </a:prstGeom>
            <a:ln>
              <a:solidFill>
                <a:srgbClr val="2CB0CD"/>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67D08992-935E-A9F8-4C3E-500DEED9F722}"/>
                </a:ext>
              </a:extLst>
            </p:cNvPr>
            <p:cNvSpPr txBox="1"/>
            <p:nvPr/>
          </p:nvSpPr>
          <p:spPr>
            <a:xfrm>
              <a:off x="7339543" y="3598194"/>
              <a:ext cx="3939149" cy="249299"/>
            </a:xfrm>
            <a:prstGeom prst="rect">
              <a:avLst/>
            </a:prstGeom>
            <a:noFill/>
          </p:spPr>
          <p:txBody>
            <a:bodyPr wrap="square" lIns="0" tIns="0" rIns="0" bIns="0" rtlCol="0" anchor="ctr">
              <a:spAutoFit/>
            </a:bodyPr>
            <a:lstStyle>
              <a:defPPr>
                <a:defRPr lang="en-US"/>
              </a:defPPr>
              <a:lvl1pPr defTabSz="457040">
                <a:lnSpc>
                  <a:spcPct val="90000"/>
                </a:lnSpc>
                <a:defRPr sz="1200" b="1">
                  <a:solidFill>
                    <a:schemeClr val="accent4">
                      <a:lumMod val="20000"/>
                      <a:lumOff val="80000"/>
                    </a:schemeClr>
                  </a:solidFill>
                  <a:latin typeface="+mn-lt"/>
                </a:defRPr>
              </a:lvl1pPr>
            </a:lstStyle>
            <a:p>
              <a:pPr defTabSz="456492">
                <a:defRPr/>
              </a:pPr>
              <a:r>
                <a:rPr lang="en-US" sz="1800" b="0">
                  <a:solidFill>
                    <a:srgbClr val="FFFFFF"/>
                  </a:solidFill>
                  <a:cs typeface="Source Sans 3" panose="020B0504040101010104" pitchFamily="34" charset="77"/>
                </a:rPr>
                <a:t>Can be deployed in a few clicks</a:t>
              </a:r>
              <a:endParaRPr lang="en-US" sz="1800" b="0">
                <a:solidFill>
                  <a:srgbClr val="000000"/>
                </a:solidFill>
                <a:cs typeface="Source Sans 3" panose="020B0504040101010104" pitchFamily="34" charset="77"/>
              </a:endParaRPr>
            </a:p>
          </p:txBody>
        </p:sp>
      </p:grpSp>
      <p:sp>
        <p:nvSpPr>
          <p:cNvPr id="8" name="TextBox 7">
            <a:extLst>
              <a:ext uri="{FF2B5EF4-FFF2-40B4-BE49-F238E27FC236}">
                <a16:creationId xmlns:a16="http://schemas.microsoft.com/office/drawing/2014/main" id="{4DBAFE76-D1CF-7408-4666-9C901573EE1C}"/>
              </a:ext>
            </a:extLst>
          </p:cNvPr>
          <p:cNvSpPr txBox="1"/>
          <p:nvPr/>
        </p:nvSpPr>
        <p:spPr>
          <a:xfrm>
            <a:off x="1922631" y="5461239"/>
            <a:ext cx="543418" cy="276999"/>
          </a:xfrm>
          <a:prstGeom prst="rect">
            <a:avLst/>
          </a:prstGeom>
          <a:noFill/>
        </p:spPr>
        <p:txBody>
          <a:bodyPr wrap="none" lIns="0" tIns="0" rIns="0" bIns="0" rtlCol="0">
            <a:spAutoFit/>
          </a:bodyPr>
          <a:lstStyle/>
          <a:p>
            <a:pPr algn="l"/>
            <a:r>
              <a:rPr lang="en-US" sz="1800" b="0" i="0">
                <a:solidFill>
                  <a:schemeClr val="bg1"/>
                </a:solidFill>
                <a:latin typeface="Source Sans 3" panose="020B0404040101010104" pitchFamily="34" charset="77"/>
                <a:cs typeface="Source Sans 3" panose="020B0404040101010104" pitchFamily="34" charset="77"/>
              </a:rPr>
              <a:t>2024</a:t>
            </a:r>
          </a:p>
        </p:txBody>
      </p:sp>
      <p:sp>
        <p:nvSpPr>
          <p:cNvPr id="9" name="TextBox 8">
            <a:extLst>
              <a:ext uri="{FF2B5EF4-FFF2-40B4-BE49-F238E27FC236}">
                <a16:creationId xmlns:a16="http://schemas.microsoft.com/office/drawing/2014/main" id="{EB93CFF4-DA7B-A13D-D600-6FFC8E51B0D8}"/>
              </a:ext>
            </a:extLst>
          </p:cNvPr>
          <p:cNvSpPr txBox="1"/>
          <p:nvPr/>
        </p:nvSpPr>
        <p:spPr>
          <a:xfrm>
            <a:off x="4901678" y="5710555"/>
            <a:ext cx="535403" cy="276999"/>
          </a:xfrm>
          <a:prstGeom prst="rect">
            <a:avLst/>
          </a:prstGeom>
          <a:noFill/>
        </p:spPr>
        <p:txBody>
          <a:bodyPr wrap="none" lIns="0" tIns="0" rIns="0" bIns="0" rtlCol="0">
            <a:spAutoFit/>
          </a:bodyPr>
          <a:lstStyle/>
          <a:p>
            <a:pPr algn="l"/>
            <a:r>
              <a:rPr lang="en-US" sz="1800" b="0" i="0" dirty="0">
                <a:solidFill>
                  <a:schemeClr val="bg1"/>
                </a:solidFill>
                <a:latin typeface="Source Sans 3" panose="020B0404040101010104" pitchFamily="34" charset="77"/>
                <a:cs typeface="Source Sans 3" panose="020B0404040101010104" pitchFamily="34" charset="77"/>
              </a:rPr>
              <a:t>2025</a:t>
            </a:r>
          </a:p>
        </p:txBody>
      </p:sp>
      <p:sp>
        <p:nvSpPr>
          <p:cNvPr id="11" name="TextBox 10">
            <a:extLst>
              <a:ext uri="{FF2B5EF4-FFF2-40B4-BE49-F238E27FC236}">
                <a16:creationId xmlns:a16="http://schemas.microsoft.com/office/drawing/2014/main" id="{C6DAA5E8-B8D8-DA20-5A1D-DE294FB1A072}"/>
              </a:ext>
            </a:extLst>
          </p:cNvPr>
          <p:cNvSpPr txBox="1"/>
          <p:nvPr/>
        </p:nvSpPr>
        <p:spPr>
          <a:xfrm>
            <a:off x="8947028" y="6039455"/>
            <a:ext cx="533800" cy="276999"/>
          </a:xfrm>
          <a:prstGeom prst="rect">
            <a:avLst/>
          </a:prstGeom>
          <a:noFill/>
        </p:spPr>
        <p:txBody>
          <a:bodyPr wrap="none" lIns="0" tIns="0" rIns="0" bIns="0" rtlCol="0">
            <a:spAutoFit/>
          </a:bodyPr>
          <a:lstStyle/>
          <a:p>
            <a:pPr algn="l"/>
            <a:r>
              <a:rPr lang="en-US" sz="1800" b="0" i="0">
                <a:solidFill>
                  <a:schemeClr val="bg1"/>
                </a:solidFill>
                <a:latin typeface="Source Sans 3" panose="020B0404040101010104" pitchFamily="34" charset="77"/>
                <a:cs typeface="Source Sans 3" panose="020B0404040101010104" pitchFamily="34" charset="77"/>
              </a:rPr>
              <a:t>2026</a:t>
            </a:r>
          </a:p>
        </p:txBody>
      </p:sp>
      <p:sp>
        <p:nvSpPr>
          <p:cNvPr id="12" name="Footer Placeholder 4">
            <a:extLst>
              <a:ext uri="{FF2B5EF4-FFF2-40B4-BE49-F238E27FC236}">
                <a16:creationId xmlns:a16="http://schemas.microsoft.com/office/drawing/2014/main" id="{4BBA800C-075B-63A2-471D-F3A5FD4BAF61}"/>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1239016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1000"/>
                                        <p:tgtEl>
                                          <p:spTgt spid="49"/>
                                        </p:tgtEl>
                                      </p:cBhvr>
                                    </p:animEffect>
                                  </p:childTnLst>
                                </p:cTn>
                              </p:par>
                              <p:par>
                                <p:cTn id="8" presetID="42" presetClass="path" presetSubtype="0" decel="50000" fill="hold" nodeType="withEffect">
                                  <p:stCondLst>
                                    <p:cond delay="0"/>
                                  </p:stCondLst>
                                  <p:childTnLst>
                                    <p:animMotion origin="layout" path="M 3.51394E-6 2.96296E-6 L -0.0396 -0.0007 " pathEditMode="relative" rAng="0" ptsTypes="AA">
                                      <p:cBhvr>
                                        <p:cTn id="9" dur="1000" spd="-100000" fill="hold"/>
                                        <p:tgtEl>
                                          <p:spTgt spid="49"/>
                                        </p:tgtEl>
                                        <p:attrNameLst>
                                          <p:attrName>ppt_x</p:attrName>
                                          <p:attrName>ppt_y</p:attrName>
                                        </p:attrNameLst>
                                      </p:cBhvr>
                                      <p:rCtr x="-1980" y="-46"/>
                                    </p:animMotion>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1000"/>
                                        <p:tgtEl>
                                          <p:spTgt spid="66"/>
                                        </p:tgtEl>
                                      </p:cBhvr>
                                    </p:animEffect>
                                  </p:childTnLst>
                                </p:cTn>
                              </p:par>
                              <p:par>
                                <p:cTn id="19" presetID="42" presetClass="path" presetSubtype="0" decel="50000" fill="hold" nodeType="withEffect">
                                  <p:stCondLst>
                                    <p:cond delay="0"/>
                                  </p:stCondLst>
                                  <p:childTnLst>
                                    <p:animMotion origin="layout" path="M -3.30294E-6 2.96296E-6 L -0.03959 -0.0007 " pathEditMode="relative" rAng="0" ptsTypes="AA">
                                      <p:cBhvr>
                                        <p:cTn id="20" dur="1000" spd="-100000" fill="hold"/>
                                        <p:tgtEl>
                                          <p:spTgt spid="66"/>
                                        </p:tgtEl>
                                        <p:attrNameLst>
                                          <p:attrName>ppt_x</p:attrName>
                                          <p:attrName>ppt_y</p:attrName>
                                        </p:attrNameLst>
                                      </p:cBhvr>
                                      <p:rCtr x="-1980" y="-46"/>
                                    </p:animMotion>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fade">
                                      <p:cBhvr>
                                        <p:cTn id="29" dur="1000"/>
                                        <p:tgtEl>
                                          <p:spTgt spid="75"/>
                                        </p:tgtEl>
                                      </p:cBhvr>
                                    </p:animEffect>
                                  </p:childTnLst>
                                </p:cTn>
                              </p:par>
                              <p:par>
                                <p:cTn id="30" presetID="42" presetClass="path" presetSubtype="0" decel="50000" fill="hold" nodeType="withEffect">
                                  <p:stCondLst>
                                    <p:cond delay="0"/>
                                  </p:stCondLst>
                                  <p:childTnLst>
                                    <p:animMotion origin="layout" path="M 1.90414E-6 -2.96296E-6 L -0.0396 -0.00069 " pathEditMode="relative" rAng="0" ptsTypes="AA">
                                      <p:cBhvr>
                                        <p:cTn id="31" dur="1000" spd="-100000" fill="hold"/>
                                        <p:tgtEl>
                                          <p:spTgt spid="75"/>
                                        </p:tgtEl>
                                        <p:attrNameLst>
                                          <p:attrName>ppt_x</p:attrName>
                                          <p:attrName>ppt_y</p:attrName>
                                        </p:attrNameLst>
                                      </p:cBhvr>
                                      <p:rCtr x="-1980" y="-46"/>
                                    </p:animMotion>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193A6-7695-9038-A771-E59BB78C7E4E}"/>
            </a:ext>
          </a:extLst>
        </p:cNvPr>
        <p:cNvGrpSpPr/>
        <p:nvPr/>
      </p:nvGrpSpPr>
      <p:grpSpPr>
        <a:xfrm>
          <a:off x="0" y="0"/>
          <a:ext cx="0" cy="0"/>
          <a:chOff x="0" y="0"/>
          <a:chExt cx="0" cy="0"/>
        </a:xfrm>
      </p:grpSpPr>
      <p:pic>
        <p:nvPicPr>
          <p:cNvPr id="7" name="Picture 6" descr="A blue and white background&#10;&#10;AI-generated content may be incorrect.">
            <a:extLst>
              <a:ext uri="{FF2B5EF4-FFF2-40B4-BE49-F238E27FC236}">
                <a16:creationId xmlns:a16="http://schemas.microsoft.com/office/drawing/2014/main" id="{4F8F2459-07A3-0B7A-A1DD-A2D71B9DCF5C}"/>
              </a:ext>
            </a:extLst>
          </p:cNvPr>
          <p:cNvPicPr/>
          <p:nvPr/>
        </p:nvPicPr>
        <p:blipFill>
          <a:blip r:embed="rId3">
            <a:alphaModFix amt="39000"/>
          </a:blip>
          <a:stretch>
            <a:fillRect/>
          </a:stretch>
        </p:blipFill>
        <p:spPr>
          <a:xfrm flipH="1">
            <a:off x="-1" y="893"/>
            <a:ext cx="12188825" cy="6854429"/>
          </a:xfrm>
          <a:prstGeom prst="rect">
            <a:avLst/>
          </a:prstGeom>
          <a:ln>
            <a:noFill/>
          </a:ln>
          <a:effectLst/>
        </p:spPr>
      </p:pic>
      <p:sp>
        <p:nvSpPr>
          <p:cNvPr id="5" name="Oval 4">
            <a:extLst>
              <a:ext uri="{FF2B5EF4-FFF2-40B4-BE49-F238E27FC236}">
                <a16:creationId xmlns:a16="http://schemas.microsoft.com/office/drawing/2014/main" id="{AA0F5232-4609-60EB-096A-8D2A8ADDF306}"/>
              </a:ext>
            </a:extLst>
          </p:cNvPr>
          <p:cNvSpPr/>
          <p:nvPr/>
        </p:nvSpPr>
        <p:spPr>
          <a:xfrm>
            <a:off x="3193981" y="37980"/>
            <a:ext cx="10942241" cy="10472201"/>
          </a:xfrm>
          <a:prstGeom prst="ellipse">
            <a:avLst/>
          </a:prstGeom>
          <a:gradFill>
            <a:gsLst>
              <a:gs pos="75000">
                <a:srgbClr val="C0A6FF">
                  <a:alpha val="0"/>
                </a:srgbClr>
              </a:gs>
              <a:gs pos="0">
                <a:srgbClr val="C0A6FF"/>
              </a:gs>
            </a:gsLst>
            <a:path path="circle">
              <a:fillToRect l="50000" t="50000" r="50000" b="50000"/>
            </a:path>
          </a:gradFill>
          <a:ln w="12700" cap="flat" cmpd="sng" algn="ctr">
            <a:noFill/>
            <a:prstDash val="solid"/>
            <a:miter lim="800000"/>
          </a:ln>
          <a:effectLst>
            <a:softEdge rad="791421"/>
          </a:effectLst>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21" name="TextBox 20">
            <a:extLst>
              <a:ext uri="{FF2B5EF4-FFF2-40B4-BE49-F238E27FC236}">
                <a16:creationId xmlns:a16="http://schemas.microsoft.com/office/drawing/2014/main" id="{313212AD-01B7-D048-850B-3CE440789328}"/>
              </a:ext>
            </a:extLst>
          </p:cNvPr>
          <p:cNvSpPr txBox="1"/>
          <p:nvPr/>
        </p:nvSpPr>
        <p:spPr>
          <a:xfrm>
            <a:off x="1254105" y="2466695"/>
            <a:ext cx="3516177" cy="707838"/>
          </a:xfrm>
          <a:prstGeom prst="rect">
            <a:avLst/>
          </a:prstGeom>
          <a:noFill/>
        </p:spPr>
        <p:txBody>
          <a:bodyPr wrap="square" lIns="91392" tIns="45696" rIns="91392" bIns="45696" rtlCol="0" anchor="t">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3"/>
                <a:ea typeface="+mn-ea"/>
                <a:cs typeface="+mn-cs"/>
              </a:rPr>
              <a:t>Where could AI free up capacity?</a:t>
            </a:r>
          </a:p>
        </p:txBody>
      </p:sp>
      <p:sp>
        <p:nvSpPr>
          <p:cNvPr id="27" name="Title 4">
            <a:extLst>
              <a:ext uri="{FF2B5EF4-FFF2-40B4-BE49-F238E27FC236}">
                <a16:creationId xmlns:a16="http://schemas.microsoft.com/office/drawing/2014/main" id="{9244371F-5485-E716-003E-2BE5133E0950}"/>
              </a:ext>
            </a:extLst>
          </p:cNvPr>
          <p:cNvSpPr txBox="1">
            <a:spLocks/>
          </p:cNvSpPr>
          <p:nvPr/>
        </p:nvSpPr>
        <p:spPr>
          <a:xfrm>
            <a:off x="590651" y="530352"/>
            <a:ext cx="12082160" cy="786085"/>
          </a:xfrm>
          <a:prstGeom prst="rect">
            <a:avLst/>
          </a:prstGeom>
        </p:spPr>
        <p:txBody>
          <a:bodyPr lIns="91416" tIns="45708" rIns="91416" bIns="45708" anchor="t"/>
          <a:lst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a:lstStyle>
          <a:p>
            <a:pPr marL="0" marR="0" lvl="0" indent="0" algn="l" defTabSz="913852"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0">
                <a:ln>
                  <a:noFill/>
                </a:ln>
                <a:solidFill>
                  <a:srgbClr val="8FFFDB"/>
                </a:solidFill>
                <a:effectLst/>
                <a:uLnTx/>
                <a:uFillTx/>
                <a:latin typeface="Source Sans 3"/>
                <a:ea typeface="+mj-ea"/>
                <a:cs typeface="+mj-cs"/>
              </a:rPr>
              <a:t>ServiceNow Autonomous Workforce</a:t>
            </a:r>
          </a:p>
        </p:txBody>
      </p:sp>
      <p:sp>
        <p:nvSpPr>
          <p:cNvPr id="29" name="Rectangle 28">
            <a:extLst>
              <a:ext uri="{FF2B5EF4-FFF2-40B4-BE49-F238E27FC236}">
                <a16:creationId xmlns:a16="http://schemas.microsoft.com/office/drawing/2014/main" id="{1FA3AA97-86F6-A21C-EB83-418DCC563B9A}"/>
              </a:ext>
            </a:extLst>
          </p:cNvPr>
          <p:cNvSpPr/>
          <p:nvPr/>
        </p:nvSpPr>
        <p:spPr>
          <a:xfrm>
            <a:off x="6317029" y="1944673"/>
            <a:ext cx="5484414" cy="3482524"/>
          </a:xfrm>
          <a:prstGeom prst="rect">
            <a:avLst/>
          </a:prstGeom>
          <a:gradFill>
            <a:gsLst>
              <a:gs pos="10000">
                <a:schemeClr val="tx2"/>
              </a:gs>
              <a:gs pos="100000">
                <a:schemeClr val="accent4">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385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Source Sans 3" panose="020B0504040101010104" pitchFamily="34" charset="77"/>
              <a:ea typeface="+mn-ea"/>
              <a:cs typeface="+mn-cs"/>
            </a:endParaRPr>
          </a:p>
        </p:txBody>
      </p:sp>
      <p:sp>
        <p:nvSpPr>
          <p:cNvPr id="10" name="TextBox 9">
            <a:extLst>
              <a:ext uri="{FF2B5EF4-FFF2-40B4-BE49-F238E27FC236}">
                <a16:creationId xmlns:a16="http://schemas.microsoft.com/office/drawing/2014/main" id="{AF908D19-D36B-97F0-EBBD-D6252A1AE9C4}"/>
              </a:ext>
            </a:extLst>
          </p:cNvPr>
          <p:cNvSpPr txBox="1"/>
          <p:nvPr/>
        </p:nvSpPr>
        <p:spPr>
          <a:xfrm>
            <a:off x="1237115" y="3658628"/>
            <a:ext cx="4229188" cy="707838"/>
          </a:xfrm>
          <a:prstGeom prst="rect">
            <a:avLst/>
          </a:prstGeom>
          <a:noFill/>
        </p:spPr>
        <p:txBody>
          <a:bodyPr wrap="square" lIns="91392" tIns="45696" rIns="91392" bIns="45696" rtlCol="0" anchor="t">
            <a:spAutoFit/>
          </a:bodyPr>
          <a:lstStyle/>
          <a:p>
            <a:pPr lvl="0">
              <a:defRPr/>
            </a:pPr>
            <a:r>
              <a:rPr lang="en-US" sz="2000" b="1">
                <a:solidFill>
                  <a:srgbClr val="FFFFFF"/>
                </a:solidFill>
                <a:latin typeface="Source Sans 3"/>
              </a:rPr>
              <a:t>Realize compounding value as </a:t>
            </a:r>
            <a:br>
              <a:rPr lang="en-US" sz="2000" b="1">
                <a:solidFill>
                  <a:srgbClr val="FFFFFF"/>
                </a:solidFill>
                <a:latin typeface="Source Sans 3"/>
              </a:rPr>
            </a:br>
            <a:r>
              <a:rPr lang="en-US" sz="2000" b="1">
                <a:solidFill>
                  <a:srgbClr val="FFFFFF"/>
                </a:solidFill>
                <a:latin typeface="Source Sans 3"/>
              </a:rPr>
              <a:t>AI specialists learn and improve </a:t>
            </a:r>
          </a:p>
        </p:txBody>
      </p:sp>
      <p:sp>
        <p:nvSpPr>
          <p:cNvPr id="13" name="TextBox 12">
            <a:extLst>
              <a:ext uri="{FF2B5EF4-FFF2-40B4-BE49-F238E27FC236}">
                <a16:creationId xmlns:a16="http://schemas.microsoft.com/office/drawing/2014/main" id="{70F8D542-51F8-C9DA-2747-C2E6E5CE569B}"/>
              </a:ext>
            </a:extLst>
          </p:cNvPr>
          <p:cNvSpPr txBox="1"/>
          <p:nvPr/>
        </p:nvSpPr>
        <p:spPr>
          <a:xfrm>
            <a:off x="1237114" y="4853392"/>
            <a:ext cx="4453585" cy="707838"/>
          </a:xfrm>
          <a:prstGeom prst="rect">
            <a:avLst/>
          </a:prstGeom>
          <a:noFill/>
        </p:spPr>
        <p:txBody>
          <a:bodyPr wrap="square" lIns="91392" tIns="45696" rIns="91392" bIns="45696" rtlCol="0" anchor="t">
            <a:spAutoFit/>
          </a:bodyPr>
          <a:lstStyle/>
          <a:p>
            <a:pPr lvl="0">
              <a:defRPr/>
            </a:pPr>
            <a:r>
              <a:rPr lang="en-US" sz="2000" b="1">
                <a:solidFill>
                  <a:srgbClr val="FFFFFF"/>
                </a:solidFill>
                <a:latin typeface="Source Sans 3"/>
                <a:ea typeface="+mn-lt"/>
                <a:cs typeface="+mn-lt"/>
              </a:rPr>
              <a:t>Easily deploy AI specialists with built-in context and security</a:t>
            </a:r>
            <a:endParaRPr lang="en-US" sz="2000" b="1">
              <a:solidFill>
                <a:srgbClr val="FFFFFF"/>
              </a:solidFill>
              <a:latin typeface="Source Sans 3"/>
            </a:endParaRPr>
          </a:p>
        </p:txBody>
      </p:sp>
      <p:pic>
        <p:nvPicPr>
          <p:cNvPr id="6" name="Picture 15">
            <a:extLst>
              <a:ext uri="{FF2B5EF4-FFF2-40B4-BE49-F238E27FC236}">
                <a16:creationId xmlns:a16="http://schemas.microsoft.com/office/drawing/2014/main" id="{7A08A0A9-4B90-125F-E16D-8DA934A0E865}"/>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8373" y="6355437"/>
            <a:ext cx="980589" cy="280168"/>
          </a:xfrm>
          <a:prstGeom prst="rect">
            <a:avLst/>
          </a:prstGeom>
        </p:spPr>
      </p:pic>
      <p:sp>
        <p:nvSpPr>
          <p:cNvPr id="8" name="TextBox 7">
            <a:extLst>
              <a:ext uri="{FF2B5EF4-FFF2-40B4-BE49-F238E27FC236}">
                <a16:creationId xmlns:a16="http://schemas.microsoft.com/office/drawing/2014/main" id="{B10D213E-0F43-D323-132D-7FE9BD8B743D}"/>
              </a:ext>
            </a:extLst>
          </p:cNvPr>
          <p:cNvSpPr txBox="1"/>
          <p:nvPr/>
        </p:nvSpPr>
        <p:spPr>
          <a:xfrm>
            <a:off x="666350" y="1115568"/>
            <a:ext cx="9494256" cy="400110"/>
          </a:xfrm>
          <a:prstGeom prst="rect">
            <a:avLst/>
          </a:prstGeom>
          <a:noFill/>
        </p:spPr>
        <p:txBody>
          <a:bodyPr wrap="square" lIns="0" tIns="45720" rIns="0" bIns="45720" rtlCol="0" anchor="t">
            <a:spAutoFit/>
          </a:bodyPr>
          <a:lstStyle/>
          <a:p>
            <a:pPr marL="0" marR="0" lvl="0" indent="0" algn="l" defTabSz="45704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ource Sans 3"/>
                <a:ea typeface="+mn-ea"/>
                <a:cs typeface="+mn-cs"/>
              </a:rPr>
              <a:t>Introducing domain-specific AI specialists that do jobs, not just tasks</a:t>
            </a:r>
            <a:endParaRPr kumimoji="0" lang="en-US" sz="1950" b="0" i="0" u="none" strike="noStrike" kern="1200" cap="none" spc="0" normalizeH="0" baseline="0" noProof="0">
              <a:ln>
                <a:noFill/>
              </a:ln>
              <a:solidFill>
                <a:srgbClr val="FFFFFF"/>
              </a:solidFill>
              <a:effectLst/>
              <a:uLnTx/>
              <a:uFillTx/>
              <a:latin typeface="Source Sans 3"/>
              <a:ea typeface="+mn-ea"/>
              <a:cs typeface="+mn-cs"/>
            </a:endParaRPr>
          </a:p>
        </p:txBody>
      </p:sp>
      <p:pic>
        <p:nvPicPr>
          <p:cNvPr id="26" name="Picture 25">
            <a:extLst>
              <a:ext uri="{FF2B5EF4-FFF2-40B4-BE49-F238E27FC236}">
                <a16:creationId xmlns:a16="http://schemas.microsoft.com/office/drawing/2014/main" id="{BE6D10DB-0BAB-914D-A547-0A291EC34662}"/>
              </a:ext>
            </a:extLst>
          </p:cNvPr>
          <p:cNvPicPr>
            <a:picLocks noChangeAspect="1"/>
          </p:cNvPicPr>
          <p:nvPr/>
        </p:nvPicPr>
        <p:blipFill>
          <a:blip r:embed="rId5" cstate="screen">
            <a:extLst>
              <a:ext uri="{28A0092B-C50C-407E-A947-70E740481C1C}">
                <a14:useLocalDpi xmlns:a14="http://schemas.microsoft.com/office/drawing/2010/main"/>
              </a:ext>
            </a:extLst>
          </a:blip>
          <a:srcRect r="10972" b="1911"/>
          <a:stretch>
            <a:fillRect/>
          </a:stretch>
        </p:blipFill>
        <p:spPr>
          <a:xfrm>
            <a:off x="6311950" y="1967086"/>
            <a:ext cx="5484414" cy="3398945"/>
          </a:xfrm>
          <a:prstGeom prst="rect">
            <a:avLst/>
          </a:prstGeom>
        </p:spPr>
      </p:pic>
      <p:pic>
        <p:nvPicPr>
          <p:cNvPr id="20" name="Picture 19">
            <a:extLst>
              <a:ext uri="{FF2B5EF4-FFF2-40B4-BE49-F238E27FC236}">
                <a16:creationId xmlns:a16="http://schemas.microsoft.com/office/drawing/2014/main" id="{3E6F72D2-2CB1-AF6B-1EE8-AE31FD6F040C}"/>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676" t="-844" r="-2861"/>
          <a:stretch/>
        </p:blipFill>
        <p:spPr>
          <a:xfrm>
            <a:off x="5157663" y="1061608"/>
            <a:ext cx="7983975" cy="6184971"/>
          </a:xfrm>
          <a:prstGeom prst="rect">
            <a:avLst/>
          </a:prstGeom>
        </p:spPr>
      </p:pic>
      <p:sp>
        <p:nvSpPr>
          <p:cNvPr id="3" name="Footer Placeholder 4">
            <a:extLst>
              <a:ext uri="{FF2B5EF4-FFF2-40B4-BE49-F238E27FC236}">
                <a16:creationId xmlns:a16="http://schemas.microsoft.com/office/drawing/2014/main" id="{90BF80CE-EE9F-6918-E8AF-D7952F345A56}"/>
              </a:ext>
            </a:extLst>
          </p:cNvPr>
          <p:cNvSpPr txBox="1">
            <a:spLocks/>
          </p:cNvSpPr>
          <p:nvPr/>
        </p:nvSpPr>
        <p:spPr>
          <a:xfrm>
            <a:off x="1145250"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1748192649"/>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5EE8-95A6-7AE5-AB67-3E6EEEAAC8E6}"/>
            </a:ext>
          </a:extLst>
        </p:cNvPr>
        <p:cNvGrpSpPr/>
        <p:nvPr/>
      </p:nvGrpSpPr>
      <p:grpSpPr>
        <a:xfrm>
          <a:off x="0" y="0"/>
          <a:ext cx="0" cy="0"/>
          <a:chOff x="0" y="0"/>
          <a:chExt cx="0" cy="0"/>
        </a:xfrm>
      </p:grpSpPr>
      <p:pic>
        <p:nvPicPr>
          <p:cNvPr id="73" name="Picture 72" descr="A green and blue gradient&#10;&#10;AI-generated content may be incorrect.">
            <a:extLst>
              <a:ext uri="{FF2B5EF4-FFF2-40B4-BE49-F238E27FC236}">
                <a16:creationId xmlns:a16="http://schemas.microsoft.com/office/drawing/2014/main" id="{EB8242ED-F345-D404-842A-BF1040B2439C}"/>
              </a:ext>
            </a:extLst>
          </p:cNvPr>
          <p:cNvPicPr/>
          <p:nvPr/>
        </p:nvPicPr>
        <p:blipFill>
          <a:blip r:embed="rId3"/>
          <a:stretch>
            <a:fillRect/>
          </a:stretch>
        </p:blipFill>
        <p:spPr>
          <a:xfrm>
            <a:off x="-1" y="891"/>
            <a:ext cx="12190415" cy="6867144"/>
          </a:xfrm>
          <a:prstGeom prst="rect">
            <a:avLst/>
          </a:prstGeom>
          <a:solidFill>
            <a:schemeClr val="bg1">
              <a:alpha val="5000"/>
            </a:schemeClr>
          </a:solidFill>
          <a:ln>
            <a:noFill/>
          </a:ln>
        </p:spPr>
      </p:pic>
      <p:sp>
        <p:nvSpPr>
          <p:cNvPr id="2" name="Card 0_0">
            <a:extLst>
              <a:ext uri="{FF2B5EF4-FFF2-40B4-BE49-F238E27FC236}">
                <a16:creationId xmlns:a16="http://schemas.microsoft.com/office/drawing/2014/main" id="{D6087F75-EF08-BF82-DEE1-91492A5C13DD}"/>
              </a:ext>
            </a:extLst>
          </p:cNvPr>
          <p:cNvSpPr/>
          <p:nvPr/>
        </p:nvSpPr>
        <p:spPr>
          <a:xfrm rot="5400000">
            <a:off x="-892748" y="1987932"/>
            <a:ext cx="5674446" cy="3008768"/>
          </a:xfrm>
          <a:prstGeom prst="homePlate">
            <a:avLst>
              <a:gd name="adj" fmla="val 0"/>
            </a:avLst>
          </a:prstGeom>
          <a:gradFill>
            <a:gsLst>
              <a:gs pos="100000">
                <a:schemeClr val="tx2">
                  <a:lumMod val="75000"/>
                  <a:alpha val="0"/>
                </a:schemeClr>
              </a:gs>
              <a:gs pos="82000">
                <a:schemeClr val="tx2">
                  <a:alpha val="53000"/>
                  <a:lumMod val="75000"/>
                </a:schemeClr>
              </a:gs>
              <a:gs pos="0">
                <a:schemeClr val="tx2">
                  <a:alpha val="0"/>
                </a:schemeClr>
              </a:gs>
            </a:gsLst>
            <a:lin ang="0" scaled="0"/>
          </a:gradFill>
          <a:ln w="0">
            <a:noFill/>
          </a:ln>
          <a:effectLst/>
        </p:spPr>
        <p:txBody>
          <a:bodyPr wrap="square" lIns="274320" tIns="0" rIns="72000" bIns="0" anchor="ctr"/>
          <a:lstStyle/>
          <a:p>
            <a:pPr>
              <a:lnSpc>
                <a:spcPct val="85000"/>
              </a:lnSpc>
            </a:pPr>
            <a:endParaRPr lang="en-US" sz="2400" b="1">
              <a:solidFill>
                <a:schemeClr val="bg1"/>
              </a:solidFill>
              <a:latin typeface="Source Sans 3" panose="020B0504040101010104" pitchFamily="34" charset="77"/>
              <a:cs typeface="Source Sans 3" panose="020B0504040101010104" pitchFamily="34" charset="77"/>
            </a:endParaRPr>
          </a:p>
        </p:txBody>
      </p:sp>
      <p:sp>
        <p:nvSpPr>
          <p:cNvPr id="3" name="Rounded Rectangle 2">
            <a:extLst>
              <a:ext uri="{FF2B5EF4-FFF2-40B4-BE49-F238E27FC236}">
                <a16:creationId xmlns:a16="http://schemas.microsoft.com/office/drawing/2014/main" id="{FA3BEC7D-8AA8-D236-C5D7-BBF120CA1DE0}"/>
              </a:ext>
            </a:extLst>
          </p:cNvPr>
          <p:cNvSpPr/>
          <p:nvPr/>
        </p:nvSpPr>
        <p:spPr>
          <a:xfrm>
            <a:off x="814386" y="2727838"/>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Password resets</a:t>
            </a:r>
          </a:p>
        </p:txBody>
      </p:sp>
      <p:sp>
        <p:nvSpPr>
          <p:cNvPr id="4" name="Rounded Rectangle 3">
            <a:extLst>
              <a:ext uri="{FF2B5EF4-FFF2-40B4-BE49-F238E27FC236}">
                <a16:creationId xmlns:a16="http://schemas.microsoft.com/office/drawing/2014/main" id="{5A84C77F-4AB3-74BD-ECB4-12D363F4A669}"/>
              </a:ext>
            </a:extLst>
          </p:cNvPr>
          <p:cNvSpPr/>
          <p:nvPr/>
        </p:nvSpPr>
        <p:spPr>
          <a:xfrm>
            <a:off x="814386" y="3238591"/>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Access provisioning</a:t>
            </a:r>
          </a:p>
        </p:txBody>
      </p:sp>
      <p:sp>
        <p:nvSpPr>
          <p:cNvPr id="5" name="Rounded Rectangle 4">
            <a:extLst>
              <a:ext uri="{FF2B5EF4-FFF2-40B4-BE49-F238E27FC236}">
                <a16:creationId xmlns:a16="http://schemas.microsoft.com/office/drawing/2014/main" id="{253E991A-BFA9-48E1-A775-FD228E6E3E79}"/>
              </a:ext>
            </a:extLst>
          </p:cNvPr>
          <p:cNvSpPr/>
          <p:nvPr/>
        </p:nvSpPr>
        <p:spPr>
          <a:xfrm>
            <a:off x="814386" y="2217085"/>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L1 triage</a:t>
            </a:r>
          </a:p>
        </p:txBody>
      </p:sp>
      <p:sp>
        <p:nvSpPr>
          <p:cNvPr id="6" name="Rounded Rectangle 5">
            <a:extLst>
              <a:ext uri="{FF2B5EF4-FFF2-40B4-BE49-F238E27FC236}">
                <a16:creationId xmlns:a16="http://schemas.microsoft.com/office/drawing/2014/main" id="{75A1B785-9391-97EC-AD6D-876391240957}"/>
              </a:ext>
            </a:extLst>
          </p:cNvPr>
          <p:cNvSpPr/>
          <p:nvPr/>
        </p:nvSpPr>
        <p:spPr>
          <a:xfrm>
            <a:off x="814386" y="3749344"/>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Ticket routing</a:t>
            </a:r>
          </a:p>
        </p:txBody>
      </p:sp>
      <p:sp>
        <p:nvSpPr>
          <p:cNvPr id="7" name="Rounded Rectangle 6">
            <a:extLst>
              <a:ext uri="{FF2B5EF4-FFF2-40B4-BE49-F238E27FC236}">
                <a16:creationId xmlns:a16="http://schemas.microsoft.com/office/drawing/2014/main" id="{D7B81A65-BB4E-27A0-5616-DCEBDA05AA91}"/>
              </a:ext>
            </a:extLst>
          </p:cNvPr>
          <p:cNvSpPr/>
          <p:nvPr/>
        </p:nvSpPr>
        <p:spPr>
          <a:xfrm>
            <a:off x="814386" y="4260097"/>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Software deployment</a:t>
            </a:r>
          </a:p>
        </p:txBody>
      </p:sp>
      <p:sp>
        <p:nvSpPr>
          <p:cNvPr id="8" name="Rounded Rectangle 7">
            <a:extLst>
              <a:ext uri="{FF2B5EF4-FFF2-40B4-BE49-F238E27FC236}">
                <a16:creationId xmlns:a16="http://schemas.microsoft.com/office/drawing/2014/main" id="{BBDF769C-16E2-E192-02DB-D89B2F8D8A91}"/>
              </a:ext>
            </a:extLst>
          </p:cNvPr>
          <p:cNvSpPr/>
          <p:nvPr/>
        </p:nvSpPr>
        <p:spPr>
          <a:xfrm>
            <a:off x="814386" y="4770850"/>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Vulnerability scanning</a:t>
            </a:r>
          </a:p>
        </p:txBody>
      </p:sp>
      <p:sp>
        <p:nvSpPr>
          <p:cNvPr id="9" name="Rounded Rectangle 8">
            <a:extLst>
              <a:ext uri="{FF2B5EF4-FFF2-40B4-BE49-F238E27FC236}">
                <a16:creationId xmlns:a16="http://schemas.microsoft.com/office/drawing/2014/main" id="{9F1C6A6B-9F68-CF0C-E8F5-FDA15952C447}"/>
              </a:ext>
            </a:extLst>
          </p:cNvPr>
          <p:cNvSpPr/>
          <p:nvPr/>
        </p:nvSpPr>
        <p:spPr>
          <a:xfrm>
            <a:off x="814386" y="5281602"/>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Remediation tracking</a:t>
            </a:r>
          </a:p>
        </p:txBody>
      </p:sp>
      <p:sp>
        <p:nvSpPr>
          <p:cNvPr id="10" name="Rounded Rectangle 9">
            <a:extLst>
              <a:ext uri="{FF2B5EF4-FFF2-40B4-BE49-F238E27FC236}">
                <a16:creationId xmlns:a16="http://schemas.microsoft.com/office/drawing/2014/main" id="{93D2D616-04DA-48F8-7511-7C6323C4FF67}"/>
              </a:ext>
            </a:extLst>
          </p:cNvPr>
          <p:cNvSpPr/>
          <p:nvPr/>
        </p:nvSpPr>
        <p:spPr>
          <a:xfrm>
            <a:off x="814386" y="1706332"/>
            <a:ext cx="2287048" cy="365760"/>
          </a:xfrm>
          <a:prstGeom prst="roundRect">
            <a:avLst>
              <a:gd name="adj" fmla="val 50000"/>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a:solidFill>
                  <a:schemeClr val="accent4"/>
                </a:solidFill>
                <a:latin typeface="Source Sans 3" panose="020B0504040101010104" pitchFamily="34" charset="77"/>
                <a:cs typeface="Source Sans 3" panose="020B0504040101010104" pitchFamily="34" charset="77"/>
              </a:rPr>
              <a:t>Status update requests</a:t>
            </a:r>
          </a:p>
        </p:txBody>
      </p:sp>
      <p:pic>
        <p:nvPicPr>
          <p:cNvPr id="12" name="Picture 11">
            <a:extLst>
              <a:ext uri="{FF2B5EF4-FFF2-40B4-BE49-F238E27FC236}">
                <a16:creationId xmlns:a16="http://schemas.microsoft.com/office/drawing/2014/main" id="{D24B8F99-A605-08BE-09A5-458B2D76CA7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 contrast="-20000"/>
                    </a14:imgEffect>
                  </a14:imgLayer>
                </a14:imgProps>
              </a:ext>
              <a:ext uri="{28A0092B-C50C-407E-A947-70E740481C1C}">
                <a14:useLocalDpi xmlns:a14="http://schemas.microsoft.com/office/drawing/2010/main" val="0"/>
              </a:ext>
            </a:extLst>
          </a:blip>
          <a:stretch>
            <a:fillRect/>
          </a:stretch>
        </p:blipFill>
        <p:spPr>
          <a:xfrm>
            <a:off x="667803" y="4939840"/>
            <a:ext cx="9855864" cy="1813025"/>
          </a:xfrm>
          <a:prstGeom prst="rect">
            <a:avLst/>
          </a:prstGeom>
        </p:spPr>
      </p:pic>
      <p:pic>
        <p:nvPicPr>
          <p:cNvPr id="13" name="Picture 12">
            <a:extLst>
              <a:ext uri="{FF2B5EF4-FFF2-40B4-BE49-F238E27FC236}">
                <a16:creationId xmlns:a16="http://schemas.microsoft.com/office/drawing/2014/main" id="{C36EB78B-9058-2327-442E-1683DFD55519}"/>
              </a:ext>
            </a:extLst>
          </p:cNvPr>
          <p:cNvPicPr/>
          <p:nvPr/>
        </p:nvPicPr>
        <p:blipFill>
          <a:blip r:embed="rId6">
            <a:extLst>
              <a:ext uri="{28A0092B-C50C-407E-A947-70E740481C1C}">
                <a14:useLocalDpi xmlns:a14="http://schemas.microsoft.com/office/drawing/2010/main" val="0"/>
              </a:ext>
            </a:extLst>
          </a:blip>
          <a:stretch>
            <a:fillRect/>
          </a:stretch>
        </p:blipFill>
        <p:spPr>
          <a:xfrm>
            <a:off x="4319270" y="5933177"/>
            <a:ext cx="1225248" cy="350071"/>
          </a:xfrm>
          <a:prstGeom prst="rect">
            <a:avLst/>
          </a:prstGeom>
        </p:spPr>
      </p:pic>
      <p:sp>
        <p:nvSpPr>
          <p:cNvPr id="14" name="Platform of Platforms">
            <a:extLst>
              <a:ext uri="{FF2B5EF4-FFF2-40B4-BE49-F238E27FC236}">
                <a16:creationId xmlns:a16="http://schemas.microsoft.com/office/drawing/2014/main" id="{BED838AD-1D1B-F8B9-5F9E-6C2A04C5B4E1}"/>
              </a:ext>
            </a:extLst>
          </p:cNvPr>
          <p:cNvSpPr txBox="1"/>
          <p:nvPr/>
        </p:nvSpPr>
        <p:spPr>
          <a:xfrm>
            <a:off x="4976286" y="6011431"/>
            <a:ext cx="2023020" cy="245167"/>
          </a:xfrm>
          <a:prstGeom prst="rect">
            <a:avLst/>
          </a:prstGeom>
          <a:ln w="12700">
            <a:miter lim="400000"/>
          </a:ln>
          <a:extLst>
            <a:ext uri="{C572A759-6A51-4108-AA02-DFA0A04FC94B}">
              <ma14:wrappingTextBoxFlag xmlns="" xmlns:p188="http://schemas.microsoft.com/office/powerpoint/2018/8/main" xmlns:ma14="http://schemas.microsoft.com/office/mac/drawingml/2011/main" xmlns:a14="http://schemas.microsoft.com/office/drawing/2010/main" xmlns:m="http://schemas.openxmlformats.org/officeDocument/2006/math" xmlns:v="urn:schemas-microsoft-com:vml" xmlns:mc="http://schemas.openxmlformats.org/markup-compatibility/2006" xmlns:p14="http://schemas.microsoft.com/office/powerpoint/2010/main" xmlns:a16="http://schemas.microsoft.com/office/drawing/2014/main" val="1"/>
            </a:ext>
          </a:extLst>
        </p:spPr>
        <p:txBody>
          <a:bodyPr wrap="square" lIns="25386" tIns="25386" rIns="25386" bIns="25386" anchor="ctr">
            <a:spAutoFit/>
          </a:bodyPr>
          <a:lstStyle/>
          <a:p>
            <a:pPr marL="0" marR="0" lvl="0" indent="0" algn="ctr" defTabSz="228485" rtl="0" eaLnBrk="1" fontAlgn="auto" latinLnBrk="0" hangingPunct="1">
              <a:lnSpc>
                <a:spcPct val="90000"/>
              </a:lnSpc>
              <a:spcBef>
                <a:spcPts val="0"/>
              </a:spcBef>
              <a:spcAft>
                <a:spcPts val="0"/>
              </a:spcAft>
              <a:buClrTx/>
              <a:buSzTx/>
              <a:buFontTx/>
              <a:buNone/>
              <a:tabLst/>
              <a:defRPr sz="7000" b="1" spc="-140">
                <a:latin typeface="Source Sans 3" panose="01000000000000000000" pitchFamily="2" charset="0"/>
                <a:ea typeface="Source Sans 3" panose="01000000000000000000" pitchFamily="2" charset="0"/>
                <a:cs typeface="Source Sans 3" panose="01000000000000000000" pitchFamily="2" charset="0"/>
                <a:sym typeface="Source Sans 3" panose="01000000000000000000" pitchFamily="2" charset="0"/>
              </a:defRPr>
            </a:pPr>
            <a:r>
              <a:rPr kumimoji="0" lang="en-US" sz="1400" b="1" i="0" u="none" strike="noStrike" kern="1200" cap="none" spc="-30" normalizeH="0" baseline="0" noProof="0">
                <a:ln>
                  <a:noFill/>
                </a:ln>
                <a:solidFill>
                  <a:srgbClr val="8FFFDB"/>
                </a:solidFill>
                <a:effectLst/>
                <a:uLnTx/>
                <a:uFillTx/>
                <a:latin typeface="Source Sans 3" panose="020B0504040101010104" pitchFamily="34" charset="77"/>
                <a:cs typeface="Source Sans 3" panose="020B0604040101010104" pitchFamily="34" charset="0"/>
                <a:sym typeface="Source Sans 3" panose="01000000000000000000" pitchFamily="2" charset="0"/>
              </a:rPr>
              <a:t>AI</a:t>
            </a:r>
            <a:r>
              <a:rPr kumimoji="0" lang="en-US" sz="1400" b="1" i="0" u="none" strike="noStrike" kern="1200" cap="none" spc="-30" normalizeH="0" baseline="0" noProof="0">
                <a:ln>
                  <a:noFill/>
                </a:ln>
                <a:solidFill>
                  <a:srgbClr val="FFFFFF"/>
                </a:solidFill>
                <a:effectLst/>
                <a:uLnTx/>
                <a:uFillTx/>
                <a:latin typeface="Source Sans 3" panose="020B0504040101010104" pitchFamily="34" charset="77"/>
                <a:cs typeface="Source Sans 3" panose="020B0604040101010104" pitchFamily="34" charset="0"/>
                <a:sym typeface="Source Sans 3" panose="01000000000000000000" pitchFamily="2" charset="0"/>
              </a:rPr>
              <a:t> Platform</a:t>
            </a:r>
          </a:p>
        </p:txBody>
      </p:sp>
      <p:sp>
        <p:nvSpPr>
          <p:cNvPr id="23" name="Card 0_0">
            <a:extLst>
              <a:ext uri="{FF2B5EF4-FFF2-40B4-BE49-F238E27FC236}">
                <a16:creationId xmlns:a16="http://schemas.microsoft.com/office/drawing/2014/main" id="{BD53B4AC-681C-52E6-1EF3-21423D57FBE9}"/>
              </a:ext>
            </a:extLst>
          </p:cNvPr>
          <p:cNvSpPr/>
          <p:nvPr/>
        </p:nvSpPr>
        <p:spPr>
          <a:xfrm rot="16200000">
            <a:off x="2817232" y="1050726"/>
            <a:ext cx="5391766" cy="4128512"/>
          </a:xfrm>
          <a:prstGeom prst="homePlate">
            <a:avLst>
              <a:gd name="adj" fmla="val 19155"/>
            </a:avLst>
          </a:prstGeom>
          <a:gradFill>
            <a:gsLst>
              <a:gs pos="100000">
                <a:schemeClr val="accent1">
                  <a:alpha val="70000"/>
                </a:schemeClr>
              </a:gs>
              <a:gs pos="74000">
                <a:schemeClr val="accent1">
                  <a:alpha val="45897"/>
                </a:schemeClr>
              </a:gs>
              <a:gs pos="0">
                <a:schemeClr val="accent1">
                  <a:alpha val="0"/>
                </a:schemeClr>
              </a:gs>
            </a:gsLst>
            <a:lin ang="0" scaled="0"/>
          </a:gradFill>
          <a:ln w="0">
            <a:noFill/>
          </a:ln>
          <a:effectLst/>
        </p:spPr>
        <p:txBody>
          <a:bodyPr wrap="square" lIns="274320" tIns="0" rIns="72000" bIns="0" anchor="ctr"/>
          <a:lstStyle/>
          <a:p>
            <a:pPr>
              <a:lnSpc>
                <a:spcPct val="85000"/>
              </a:lnSpc>
            </a:pPr>
            <a:endParaRPr lang="en-US" sz="2400" b="1">
              <a:solidFill>
                <a:schemeClr val="bg1"/>
              </a:solidFill>
              <a:latin typeface="Source Sans 3" panose="020B0504040101010104" pitchFamily="34" charset="77"/>
              <a:cs typeface="Source Sans 3" panose="020B0504040101010104" pitchFamily="34" charset="77"/>
            </a:endParaRPr>
          </a:p>
        </p:txBody>
      </p:sp>
      <p:sp>
        <p:nvSpPr>
          <p:cNvPr id="24" name="Rounded Rectangle 23">
            <a:extLst>
              <a:ext uri="{FF2B5EF4-FFF2-40B4-BE49-F238E27FC236}">
                <a16:creationId xmlns:a16="http://schemas.microsoft.com/office/drawing/2014/main" id="{9B1F6D65-7BCD-71F7-D95C-66EBADACF82E}"/>
              </a:ext>
            </a:extLst>
          </p:cNvPr>
          <p:cNvSpPr/>
          <p:nvPr/>
        </p:nvSpPr>
        <p:spPr>
          <a:xfrm>
            <a:off x="3751817" y="4195138"/>
            <a:ext cx="3565288" cy="630894"/>
          </a:xfrm>
          <a:prstGeom prst="roundRect">
            <a:avLst>
              <a:gd name="adj" fmla="val 50000"/>
            </a:avLst>
          </a:prstGeom>
          <a:solidFill>
            <a:schemeClr val="accent2">
              <a:lumMod val="1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5000"/>
              </a:lnSpc>
            </a:pPr>
            <a:r>
              <a:rPr lang="en-US" sz="1800" b="1">
                <a:solidFill>
                  <a:schemeClr val="bg1"/>
                </a:solidFill>
                <a:latin typeface="Source Sans 3" panose="020B0504040101010104" pitchFamily="34" charset="77"/>
                <a:cs typeface="Source Sans 3" panose="020B0504040101010104" pitchFamily="34" charset="77"/>
              </a:rPr>
              <a:t>Address staffing shortages</a:t>
            </a:r>
          </a:p>
        </p:txBody>
      </p:sp>
      <p:sp>
        <p:nvSpPr>
          <p:cNvPr id="25" name="Rounded Rectangle 24">
            <a:extLst>
              <a:ext uri="{FF2B5EF4-FFF2-40B4-BE49-F238E27FC236}">
                <a16:creationId xmlns:a16="http://schemas.microsoft.com/office/drawing/2014/main" id="{D28907DD-8619-ED82-FEA7-2882291D119C}"/>
              </a:ext>
            </a:extLst>
          </p:cNvPr>
          <p:cNvSpPr/>
          <p:nvPr/>
        </p:nvSpPr>
        <p:spPr>
          <a:xfrm>
            <a:off x="3751817" y="4974338"/>
            <a:ext cx="3565288" cy="630894"/>
          </a:xfrm>
          <a:prstGeom prst="roundRect">
            <a:avLst>
              <a:gd name="adj" fmla="val 50000"/>
            </a:avLst>
          </a:prstGeom>
          <a:solidFill>
            <a:schemeClr val="accent2">
              <a:lumMod val="1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5000"/>
              </a:lnSpc>
            </a:pPr>
            <a:r>
              <a:rPr lang="en-US" sz="1800" b="1">
                <a:solidFill>
                  <a:schemeClr val="bg1"/>
                </a:solidFill>
                <a:latin typeface="Source Sans 3" panose="020B0504040101010104" pitchFamily="34" charset="77"/>
                <a:cs typeface="Source Sans 3" panose="020B0504040101010104" pitchFamily="34" charset="77"/>
              </a:rPr>
              <a:t>Reduce cybersecurity risks</a:t>
            </a:r>
          </a:p>
        </p:txBody>
      </p:sp>
      <p:sp>
        <p:nvSpPr>
          <p:cNvPr id="26" name="Rounded Rectangle 25">
            <a:extLst>
              <a:ext uri="{FF2B5EF4-FFF2-40B4-BE49-F238E27FC236}">
                <a16:creationId xmlns:a16="http://schemas.microsoft.com/office/drawing/2014/main" id="{EF22F9C4-B8B4-0FC7-435E-4D76214EB83A}"/>
              </a:ext>
            </a:extLst>
          </p:cNvPr>
          <p:cNvSpPr/>
          <p:nvPr/>
        </p:nvSpPr>
        <p:spPr>
          <a:xfrm>
            <a:off x="3751817" y="1857535"/>
            <a:ext cx="3565288" cy="630894"/>
          </a:xfrm>
          <a:prstGeom prst="roundRect">
            <a:avLst>
              <a:gd name="adj" fmla="val 50000"/>
            </a:avLst>
          </a:prstGeom>
          <a:solidFill>
            <a:schemeClr val="accent2">
              <a:lumMod val="1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5000"/>
              </a:lnSpc>
            </a:pPr>
            <a:r>
              <a:rPr lang="en-US" sz="1800" b="1">
                <a:solidFill>
                  <a:schemeClr val="bg1"/>
                </a:solidFill>
                <a:latin typeface="Source Sans 3" panose="020B0504040101010104" pitchFamily="34" charset="77"/>
                <a:cs typeface="Source Sans 3" panose="020B0504040101010104" pitchFamily="34" charset="77"/>
              </a:rPr>
              <a:t>Improve service quality</a:t>
            </a:r>
          </a:p>
        </p:txBody>
      </p:sp>
      <p:sp>
        <p:nvSpPr>
          <p:cNvPr id="27" name="Rounded Rectangle 26">
            <a:extLst>
              <a:ext uri="{FF2B5EF4-FFF2-40B4-BE49-F238E27FC236}">
                <a16:creationId xmlns:a16="http://schemas.microsoft.com/office/drawing/2014/main" id="{D046F849-AF2B-CCD9-3B3C-6493120E5CFC}"/>
              </a:ext>
            </a:extLst>
          </p:cNvPr>
          <p:cNvSpPr/>
          <p:nvPr/>
        </p:nvSpPr>
        <p:spPr>
          <a:xfrm>
            <a:off x="3751817" y="2636736"/>
            <a:ext cx="3565288" cy="630894"/>
          </a:xfrm>
          <a:prstGeom prst="roundRect">
            <a:avLst>
              <a:gd name="adj" fmla="val 50000"/>
            </a:avLst>
          </a:prstGeom>
          <a:solidFill>
            <a:schemeClr val="accent2">
              <a:lumMod val="1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5000"/>
              </a:lnSpc>
            </a:pPr>
            <a:r>
              <a:rPr lang="en-US" sz="1800" b="1">
                <a:solidFill>
                  <a:schemeClr val="bg1"/>
                </a:solidFill>
                <a:latin typeface="Source Sans 3" panose="020B0504040101010104" pitchFamily="34" charset="77"/>
                <a:cs typeface="Source Sans 3" panose="020B0504040101010104" pitchFamily="34" charset="77"/>
              </a:rPr>
              <a:t>Reduce response times</a:t>
            </a:r>
          </a:p>
        </p:txBody>
      </p:sp>
      <p:sp>
        <p:nvSpPr>
          <p:cNvPr id="28" name="Rounded Rectangle 27">
            <a:extLst>
              <a:ext uri="{FF2B5EF4-FFF2-40B4-BE49-F238E27FC236}">
                <a16:creationId xmlns:a16="http://schemas.microsoft.com/office/drawing/2014/main" id="{20DEAFD7-F667-CE65-C364-B97484B92B1B}"/>
              </a:ext>
            </a:extLst>
          </p:cNvPr>
          <p:cNvSpPr/>
          <p:nvPr/>
        </p:nvSpPr>
        <p:spPr>
          <a:xfrm>
            <a:off x="3751817" y="3415937"/>
            <a:ext cx="3565288" cy="630894"/>
          </a:xfrm>
          <a:prstGeom prst="roundRect">
            <a:avLst>
              <a:gd name="adj" fmla="val 50000"/>
            </a:avLst>
          </a:prstGeom>
          <a:solidFill>
            <a:schemeClr val="accent2">
              <a:lumMod val="1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5000"/>
              </a:lnSpc>
            </a:pPr>
            <a:r>
              <a:rPr lang="en-US" sz="1800" b="1">
                <a:solidFill>
                  <a:schemeClr val="bg1"/>
                </a:solidFill>
                <a:latin typeface="Source Sans 3" panose="020B0504040101010104" pitchFamily="34" charset="77"/>
                <a:cs typeface="Source Sans 3" panose="020B0504040101010104" pitchFamily="34" charset="77"/>
              </a:rPr>
              <a:t>Manage growing complexity</a:t>
            </a:r>
          </a:p>
        </p:txBody>
      </p:sp>
      <p:grpSp>
        <p:nvGrpSpPr>
          <p:cNvPr id="29" name="Group 28">
            <a:extLst>
              <a:ext uri="{FF2B5EF4-FFF2-40B4-BE49-F238E27FC236}">
                <a16:creationId xmlns:a16="http://schemas.microsoft.com/office/drawing/2014/main" id="{6676353A-DC79-1A65-EF86-BE76101E07E9}"/>
              </a:ext>
            </a:extLst>
          </p:cNvPr>
          <p:cNvGrpSpPr/>
          <p:nvPr/>
        </p:nvGrpSpPr>
        <p:grpSpPr>
          <a:xfrm>
            <a:off x="4470482" y="145236"/>
            <a:ext cx="2085276" cy="1353464"/>
            <a:chOff x="5399797" y="5315318"/>
            <a:chExt cx="1414986" cy="918408"/>
          </a:xfrm>
        </p:grpSpPr>
        <p:sp>
          <p:nvSpPr>
            <p:cNvPr id="32" name="Rounded Rectangle 20">
              <a:extLst>
                <a:ext uri="{FF2B5EF4-FFF2-40B4-BE49-F238E27FC236}">
                  <a16:creationId xmlns:a16="http://schemas.microsoft.com/office/drawing/2014/main" id="{45140AD9-B507-0FFB-B038-126F14456E68}"/>
                </a:ext>
                <a:ext uri="{C183D7F6-B498-43B3-948B-1728B52AA6E4}">
                  <adec:decorative xmlns:adec="http://schemas.microsoft.com/office/drawing/2017/decorative" val="1"/>
                </a:ext>
              </a:extLst>
            </p:cNvPr>
            <p:cNvSpPr>
              <a:spLocks/>
            </p:cNvSpPr>
            <p:nvPr/>
          </p:nvSpPr>
          <p:spPr>
            <a:xfrm>
              <a:off x="5399797" y="6033290"/>
              <a:ext cx="1414986" cy="200436"/>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b="1">
                  <a:solidFill>
                    <a:schemeClr val="tx1"/>
                  </a:solidFill>
                  <a:latin typeface="Source Sans 3" panose="020B0504040101010104" pitchFamily="34" charset="77"/>
                </a:rPr>
                <a:t>IT Team</a:t>
              </a:r>
            </a:p>
          </p:txBody>
        </p:sp>
      </p:grpSp>
      <p:sp>
        <p:nvSpPr>
          <p:cNvPr id="80" name="Title 1">
            <a:extLst>
              <a:ext uri="{FF2B5EF4-FFF2-40B4-BE49-F238E27FC236}">
                <a16:creationId xmlns:a16="http://schemas.microsoft.com/office/drawing/2014/main" id="{D78F7A38-545A-0E97-7913-5A51FF876AE7}"/>
              </a:ext>
            </a:extLst>
          </p:cNvPr>
          <p:cNvSpPr txBox="1">
            <a:spLocks/>
          </p:cNvSpPr>
          <p:nvPr/>
        </p:nvSpPr>
        <p:spPr>
          <a:xfrm>
            <a:off x="8190268" y="1606125"/>
            <a:ext cx="3998557" cy="2108010"/>
          </a:xfrm>
          <a:prstGeom prst="rect">
            <a:avLst/>
          </a:prstGeom>
        </p:spPr>
        <p:txBody>
          <a:bodyPr vert="horz" lIns="0" tIns="0" rIns="0" bIns="0" rtlCol="0" anchor="ctr" anchorCtr="0">
            <a:noAutofit/>
          </a:bodyPr>
          <a:lstStyle>
            <a:lvl1pPr marL="0" algn="l" defTabSz="914400" rtl="0" eaLnBrk="1" latinLnBrk="0" hangingPunct="1">
              <a:lnSpc>
                <a:spcPct val="85000"/>
              </a:lnSpc>
              <a:spcBef>
                <a:spcPct val="0"/>
              </a:spcBef>
              <a:buNone/>
              <a:tabLst>
                <a:tab pos="398463" algn="l"/>
              </a:tabLst>
              <a:defRPr lang="en-US" sz="4000" b="1" i="0" kern="1200" spc="0" baseline="0" dirty="0">
                <a:solidFill>
                  <a:schemeClr val="bg1"/>
                </a:solidFill>
                <a:latin typeface="+mj-lt"/>
                <a:ea typeface="+mj-ea"/>
                <a:cs typeface="Source Sans 3" panose="020B0504040101010104" pitchFamily="34" charset="77"/>
              </a:defRPr>
            </a:lvl1pPr>
          </a:lstStyle>
          <a:p>
            <a:r>
              <a:rPr lang="en-US" sz="6200" dirty="0">
                <a:solidFill>
                  <a:schemeClr val="accent1"/>
                </a:solidFill>
              </a:rPr>
              <a:t>Do the work </a:t>
            </a:r>
            <a:br>
              <a:rPr lang="en-US" sz="6200" dirty="0">
                <a:solidFill>
                  <a:schemeClr val="accent1"/>
                </a:solidFill>
              </a:rPr>
            </a:br>
            <a:r>
              <a:rPr lang="en-US" sz="6200" dirty="0"/>
              <a:t>that matters most</a:t>
            </a:r>
          </a:p>
        </p:txBody>
      </p:sp>
      <p:grpSp>
        <p:nvGrpSpPr>
          <p:cNvPr id="34" name="Group 33">
            <a:extLst>
              <a:ext uri="{FF2B5EF4-FFF2-40B4-BE49-F238E27FC236}">
                <a16:creationId xmlns:a16="http://schemas.microsoft.com/office/drawing/2014/main" id="{CEE8B663-1E1A-B7C8-0532-0CBED111C98C}"/>
              </a:ext>
            </a:extLst>
          </p:cNvPr>
          <p:cNvGrpSpPr/>
          <p:nvPr/>
        </p:nvGrpSpPr>
        <p:grpSpPr>
          <a:xfrm>
            <a:off x="764536" y="927181"/>
            <a:ext cx="2365803" cy="576736"/>
            <a:chOff x="764536" y="482249"/>
            <a:chExt cx="2365803" cy="576736"/>
          </a:xfrm>
        </p:grpSpPr>
        <p:sp>
          <p:nvSpPr>
            <p:cNvPr id="33" name="TextBox 32">
              <a:extLst>
                <a:ext uri="{FF2B5EF4-FFF2-40B4-BE49-F238E27FC236}">
                  <a16:creationId xmlns:a16="http://schemas.microsoft.com/office/drawing/2014/main" id="{B906ABB9-9027-0ECA-7C30-68920B686B82}"/>
                </a:ext>
              </a:extLst>
            </p:cNvPr>
            <p:cNvSpPr txBox="1"/>
            <p:nvPr/>
          </p:nvSpPr>
          <p:spPr>
            <a:xfrm>
              <a:off x="1142924" y="503349"/>
              <a:ext cx="1987415" cy="535384"/>
            </a:xfrm>
            <a:prstGeom prst="rect">
              <a:avLst/>
            </a:prstGeom>
            <a:gradFill>
              <a:gsLst>
                <a:gs pos="100000">
                  <a:schemeClr val="accent1">
                    <a:alpha val="0"/>
                  </a:schemeClr>
                </a:gs>
                <a:gs pos="7000">
                  <a:schemeClr val="accent1">
                    <a:alpha val="27969"/>
                  </a:schemeClr>
                </a:gs>
              </a:gsLst>
              <a:lin ang="0" scaled="0"/>
            </a:gradFill>
          </p:spPr>
          <p:txBody>
            <a:bodyPr wrap="square" lIns="365760" anchor="ctr">
              <a:noAutofit/>
            </a:bodyPr>
            <a:lstStyle/>
            <a:p>
              <a:pPr lvl="0">
                <a:defRPr/>
              </a:pPr>
              <a:r>
                <a:rPr lang="en-US" sz="1200" b="1">
                  <a:solidFill>
                    <a:schemeClr val="bg1"/>
                  </a:solidFill>
                  <a:latin typeface="Source Sans 3" panose="020B0504040101010104" pitchFamily="34" charset="77"/>
                  <a:cs typeface="Source Sans 3" panose="020B0504040101010104" pitchFamily="34" charset="77"/>
                </a:rPr>
                <a:t>AI specialists </a:t>
              </a:r>
            </a:p>
          </p:txBody>
        </p:sp>
        <p:grpSp>
          <p:nvGrpSpPr>
            <p:cNvPr id="15" name="Group 14">
              <a:extLst>
                <a:ext uri="{FF2B5EF4-FFF2-40B4-BE49-F238E27FC236}">
                  <a16:creationId xmlns:a16="http://schemas.microsoft.com/office/drawing/2014/main" id="{8530B5A0-9FF2-E49B-5F90-2D024F689D59}"/>
                </a:ext>
              </a:extLst>
            </p:cNvPr>
            <p:cNvGrpSpPr/>
            <p:nvPr/>
          </p:nvGrpSpPr>
          <p:grpSpPr>
            <a:xfrm>
              <a:off x="764536" y="482249"/>
              <a:ext cx="582828" cy="576736"/>
              <a:chOff x="6975345" y="1900712"/>
              <a:chExt cx="1073624" cy="1062405"/>
            </a:xfrm>
          </p:grpSpPr>
          <p:sp>
            <p:nvSpPr>
              <p:cNvPr id="16" name="Oval 15">
                <a:extLst>
                  <a:ext uri="{FF2B5EF4-FFF2-40B4-BE49-F238E27FC236}">
                    <a16:creationId xmlns:a16="http://schemas.microsoft.com/office/drawing/2014/main" id="{F2DB7D97-D30C-4D86-EBDD-1D064650BA25}"/>
                  </a:ext>
                </a:extLst>
              </p:cNvPr>
              <p:cNvSpPr/>
              <p:nvPr/>
            </p:nvSpPr>
            <p:spPr>
              <a:xfrm>
                <a:off x="6981395" y="1900712"/>
                <a:ext cx="1067574" cy="1062405"/>
              </a:xfrm>
              <a:prstGeom prst="ellips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3"/>
                  <a:ea typeface="+mn-ea"/>
                  <a:cs typeface="+mn-cs"/>
                </a:endParaRPr>
              </a:p>
            </p:txBody>
          </p:sp>
          <p:grpSp>
            <p:nvGrpSpPr>
              <p:cNvPr id="17" name="!!gglow">
                <a:extLst>
                  <a:ext uri="{FF2B5EF4-FFF2-40B4-BE49-F238E27FC236}">
                    <a16:creationId xmlns:a16="http://schemas.microsoft.com/office/drawing/2014/main" id="{01AC00F0-2DD4-0995-C590-3EEF90FF5799}"/>
                  </a:ext>
                </a:extLst>
              </p:cNvPr>
              <p:cNvGrpSpPr/>
              <p:nvPr/>
            </p:nvGrpSpPr>
            <p:grpSpPr>
              <a:xfrm>
                <a:off x="6975345" y="1900712"/>
                <a:ext cx="1067574" cy="1062405"/>
                <a:chOff x="6118287" y="1900712"/>
                <a:chExt cx="1067574" cy="1062405"/>
              </a:xfrm>
            </p:grpSpPr>
            <p:grpSp>
              <p:nvGrpSpPr>
                <p:cNvPr id="19" name="Group 18">
                  <a:extLst>
                    <a:ext uri="{FF2B5EF4-FFF2-40B4-BE49-F238E27FC236}">
                      <a16:creationId xmlns:a16="http://schemas.microsoft.com/office/drawing/2014/main" id="{9E70707D-32EF-CC27-445D-C38AD3FE70C3}"/>
                    </a:ext>
                  </a:extLst>
                </p:cNvPr>
                <p:cNvGrpSpPr/>
                <p:nvPr/>
              </p:nvGrpSpPr>
              <p:grpSpPr>
                <a:xfrm>
                  <a:off x="6118287" y="1900712"/>
                  <a:ext cx="1067574" cy="1062405"/>
                  <a:chOff x="4692302" y="2027850"/>
                  <a:chExt cx="2804219" cy="2790641"/>
                </a:xfrm>
              </p:grpSpPr>
              <p:sp>
                <p:nvSpPr>
                  <p:cNvPr id="21" name="Oval 20">
                    <a:extLst>
                      <a:ext uri="{FF2B5EF4-FFF2-40B4-BE49-F238E27FC236}">
                        <a16:creationId xmlns:a16="http://schemas.microsoft.com/office/drawing/2014/main" id="{FA023007-2C24-5C2A-38DA-76562860C4FA}"/>
                      </a:ext>
                    </a:extLst>
                  </p:cNvPr>
                  <p:cNvSpPr/>
                  <p:nvPr/>
                </p:nvSpPr>
                <p:spPr>
                  <a:xfrm>
                    <a:off x="4692302" y="2027850"/>
                    <a:ext cx="2804219" cy="2790641"/>
                  </a:xfrm>
                  <a:prstGeom prst="ellipse">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14300" h="1143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3"/>
                      <a:ea typeface="+mn-ea"/>
                      <a:cs typeface="+mn-cs"/>
                    </a:endParaRPr>
                  </a:p>
                </p:txBody>
              </p:sp>
              <p:sp>
                <p:nvSpPr>
                  <p:cNvPr id="22" name="Oval 21">
                    <a:extLst>
                      <a:ext uri="{FF2B5EF4-FFF2-40B4-BE49-F238E27FC236}">
                        <a16:creationId xmlns:a16="http://schemas.microsoft.com/office/drawing/2014/main" id="{28292EA2-3EE1-7CEB-FC25-D69AF243C4AA}"/>
                      </a:ext>
                    </a:extLst>
                  </p:cNvPr>
                  <p:cNvSpPr/>
                  <p:nvPr/>
                </p:nvSpPr>
                <p:spPr>
                  <a:xfrm>
                    <a:off x="4692302" y="2027850"/>
                    <a:ext cx="2804219" cy="2790641"/>
                  </a:xfrm>
                  <a:prstGeom prst="ellipse">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114300" h="1143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3"/>
                      <a:ea typeface="+mn-ea"/>
                      <a:cs typeface="+mn-cs"/>
                    </a:endParaRPr>
                  </a:p>
                </p:txBody>
              </p:sp>
            </p:grpSp>
            <p:sp>
              <p:nvSpPr>
                <p:cNvPr id="20" name="Oval 19">
                  <a:extLst>
                    <a:ext uri="{FF2B5EF4-FFF2-40B4-BE49-F238E27FC236}">
                      <a16:creationId xmlns:a16="http://schemas.microsoft.com/office/drawing/2014/main" id="{53F28CCE-D340-E6C5-7ECC-4E6BA749DC1A}"/>
                    </a:ext>
                  </a:extLst>
                </p:cNvPr>
                <p:cNvSpPr/>
                <p:nvPr/>
              </p:nvSpPr>
              <p:spPr>
                <a:xfrm rot="10800000">
                  <a:off x="6159601" y="1938018"/>
                  <a:ext cx="984946" cy="987792"/>
                </a:xfrm>
                <a:prstGeom prst="ellipse">
                  <a:avLst/>
                </a:prstGeom>
                <a:gradFill flip="none" rotWithShape="1">
                  <a:gsLst>
                    <a:gs pos="0">
                      <a:schemeClr val="accent1">
                        <a:alpha val="35414"/>
                      </a:schemeClr>
                    </a:gs>
                    <a:gs pos="57000">
                      <a:schemeClr val="accent1">
                        <a:alpha val="0"/>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grpSp>
        </p:grpSp>
      </p:grpSp>
      <p:sp>
        <p:nvSpPr>
          <p:cNvPr id="11" name="Footer Placeholder 4">
            <a:extLst>
              <a:ext uri="{FF2B5EF4-FFF2-40B4-BE49-F238E27FC236}">
                <a16:creationId xmlns:a16="http://schemas.microsoft.com/office/drawing/2014/main" id="{E19506FB-DC22-1886-1E33-701D6327F9CC}"/>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81" name="Crossfuze readiness question"/>
          <p:cNvSpPr txBox="1"/>
          <p:nvPr/>
        </p:nvSpPr>
        <p:spPr>
          <a:xfrm>
            <a:off x="8298308" y="4820211"/>
            <a:ext cx="3593592" cy="832104"/>
          </a:xfrm>
          <a:prstGeom prst="rect">
            <a:avLst/>
          </a:prstGeom>
          <a:noFill/>
        </p:spPr>
        <p:txBody>
          <a:bodyPr wrap="square" lIns="0" tIns="0" rIns="0" bIns="0">
            <a:spAutoFit/>
          </a:bodyPr>
          <a:lstStyle/>
          <a:p>
            <a:pPr algn="l"/>
            <a:r>
              <a:rPr sz="1750" b="0" dirty="0">
                <a:solidFill>
                  <a:srgbClr val="F2F2F4"/>
                </a:solidFill>
                <a:latin typeface="Source Sans 3"/>
              </a:rPr>
              <a:t>Which workflows are ready
to run safely?</a:t>
            </a:r>
          </a:p>
        </p:txBody>
      </p:sp>
    </p:spTree>
    <p:extLst>
      <p:ext uri="{BB962C8B-B14F-4D97-AF65-F5344CB8AC3E}">
        <p14:creationId xmlns:p14="http://schemas.microsoft.com/office/powerpoint/2010/main" val="32146231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378E9-4DA3-4F3C-D6F7-80DF8D88FA6E}"/>
            </a:ext>
          </a:extLst>
        </p:cNvPr>
        <p:cNvGrpSpPr/>
        <p:nvPr/>
      </p:nvGrpSpPr>
      <p:grpSpPr>
        <a:xfrm>
          <a:off x="0" y="0"/>
          <a:ext cx="0" cy="0"/>
          <a:chOff x="0" y="0"/>
          <a:chExt cx="0" cy="0"/>
        </a:xfrm>
      </p:grpSpPr>
      <p:pic>
        <p:nvPicPr>
          <p:cNvPr id="30" name="Picture 29" descr="A blue and purple background&#10;&#10;AI-generated content may be incorrect.">
            <a:extLst>
              <a:ext uri="{FF2B5EF4-FFF2-40B4-BE49-F238E27FC236}">
                <a16:creationId xmlns:a16="http://schemas.microsoft.com/office/drawing/2014/main" id="{4F7A3DF5-CE04-92E9-6B4D-F70A82DA65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0415" cy="6857107"/>
          </a:xfrm>
          <a:prstGeom prst="rect">
            <a:avLst/>
          </a:prstGeom>
        </p:spPr>
      </p:pic>
      <p:pic>
        <p:nvPicPr>
          <p:cNvPr id="1024" name="Picture 1023">
            <a:extLst>
              <a:ext uri="{FF2B5EF4-FFF2-40B4-BE49-F238E27FC236}">
                <a16:creationId xmlns:a16="http://schemas.microsoft.com/office/drawing/2014/main" id="{E2B005F4-0427-4AEC-DC67-437068EDF0EC}"/>
              </a:ext>
            </a:extLst>
          </p:cNvPr>
          <p:cNvPicPr>
            <a:picLocks noChangeAspect="1"/>
          </p:cNvPicPr>
          <p:nvPr/>
        </p:nvPicPr>
        <p:blipFill>
          <a:blip r:embed="rId4">
            <a:alphaModFix amt="46000"/>
            <a:extLst>
              <a:ext uri="{BEBA8EAE-BF5A-486C-A8C5-ECC9F3942E4B}">
                <a14:imgProps xmlns:a14="http://schemas.microsoft.com/office/drawing/2010/main">
                  <a14:imgLayer r:embed="rId5">
                    <a14:imgEffect>
                      <a14:artisticBlur radius="53"/>
                    </a14:imgEffect>
                  </a14:imgLayer>
                </a14:imgProps>
              </a:ext>
            </a:extLst>
          </a:blip>
          <a:srcRect t="13368" r="15493"/>
          <a:stretch>
            <a:fillRect/>
          </a:stretch>
        </p:blipFill>
        <p:spPr>
          <a:xfrm rot="4237642">
            <a:off x="-2751344" y="-995972"/>
            <a:ext cx="5482364" cy="4694841"/>
          </a:xfrm>
          <a:prstGeom prst="rect">
            <a:avLst/>
          </a:prstGeom>
        </p:spPr>
      </p:pic>
      <p:sp>
        <p:nvSpPr>
          <p:cNvPr id="16" name="Title 15">
            <a:extLst>
              <a:ext uri="{FF2B5EF4-FFF2-40B4-BE49-F238E27FC236}">
                <a16:creationId xmlns:a16="http://schemas.microsoft.com/office/drawing/2014/main" id="{F4A16588-B988-28B1-D836-141BE4DEF445}"/>
              </a:ext>
            </a:extLst>
          </p:cNvPr>
          <p:cNvSpPr>
            <a:spLocks noGrp="1"/>
          </p:cNvSpPr>
          <p:nvPr>
            <p:ph type="title"/>
          </p:nvPr>
        </p:nvSpPr>
        <p:spPr>
          <a:xfrm>
            <a:off x="548640" y="530352"/>
            <a:ext cx="11082973" cy="494411"/>
          </a:xfrm>
        </p:spPr>
        <p:txBody>
          <a:bodyPr/>
          <a:lstStyle/>
          <a:p>
            <a:pPr algn="ctr"/>
            <a:r>
              <a:rPr lang="en-US" sz="3600">
                <a:solidFill>
                  <a:schemeClr val="accent1"/>
                </a:solidFill>
                <a:latin typeface="Source Sans 3" panose="020B0504040101010104" pitchFamily="34" charset="77"/>
              </a:rPr>
              <a:t>AI pacesetters </a:t>
            </a:r>
            <a:r>
              <a:rPr lang="en-US" sz="3600">
                <a:latin typeface="Source Sans 3" panose="020B0504040101010104" pitchFamily="34" charset="77"/>
              </a:rPr>
              <a:t>turned AI into real business value</a:t>
            </a:r>
          </a:p>
        </p:txBody>
      </p:sp>
      <p:grpSp>
        <p:nvGrpSpPr>
          <p:cNvPr id="15" name="Group 14">
            <a:extLst>
              <a:ext uri="{FF2B5EF4-FFF2-40B4-BE49-F238E27FC236}">
                <a16:creationId xmlns:a16="http://schemas.microsoft.com/office/drawing/2014/main" id="{4DADDEF2-B2E4-CB28-0655-E3175F8C76B7}"/>
              </a:ext>
            </a:extLst>
          </p:cNvPr>
          <p:cNvGrpSpPr/>
          <p:nvPr/>
        </p:nvGrpSpPr>
        <p:grpSpPr>
          <a:xfrm>
            <a:off x="7936304" y="3058822"/>
            <a:ext cx="2945455" cy="1309091"/>
            <a:chOff x="7936304" y="3058822"/>
            <a:chExt cx="2945455" cy="1309091"/>
          </a:xfrm>
        </p:grpSpPr>
        <p:sp>
          <p:nvSpPr>
            <p:cNvPr id="173" name="Rounded Rectangle 115">
              <a:extLst>
                <a:ext uri="{FF2B5EF4-FFF2-40B4-BE49-F238E27FC236}">
                  <a16:creationId xmlns:a16="http://schemas.microsoft.com/office/drawing/2014/main" id="{077A4082-F654-1928-661E-B091C42B0638}"/>
                </a:ext>
              </a:extLst>
            </p:cNvPr>
            <p:cNvSpPr>
              <a:spLocks noChangeAspect="1"/>
            </p:cNvSpPr>
            <p:nvPr/>
          </p:nvSpPr>
          <p:spPr>
            <a:xfrm flipH="1">
              <a:off x="7936304" y="3058822"/>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135" name="TextBox 134">
              <a:extLst>
                <a:ext uri="{FF2B5EF4-FFF2-40B4-BE49-F238E27FC236}">
                  <a16:creationId xmlns:a16="http://schemas.microsoft.com/office/drawing/2014/main" id="{5663BCC6-81C7-02A1-632B-3A9481B47258}"/>
                </a:ext>
              </a:extLst>
            </p:cNvPr>
            <p:cNvSpPr txBox="1">
              <a:spLocks/>
            </p:cNvSpPr>
            <p:nvPr/>
          </p:nvSpPr>
          <p:spPr>
            <a:xfrm>
              <a:off x="9265644" y="3227353"/>
              <a:ext cx="1207644"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15–25</a:t>
              </a:r>
            </a:p>
          </p:txBody>
        </p:sp>
        <p:sp>
          <p:nvSpPr>
            <p:cNvPr id="136" name="TextBox 135">
              <a:extLst>
                <a:ext uri="{FF2B5EF4-FFF2-40B4-BE49-F238E27FC236}">
                  <a16:creationId xmlns:a16="http://schemas.microsoft.com/office/drawing/2014/main" id="{FDB53952-4169-6A98-56EB-0452FF8D682C}"/>
                </a:ext>
              </a:extLst>
            </p:cNvPr>
            <p:cNvSpPr txBox="1">
              <a:spLocks/>
            </p:cNvSpPr>
            <p:nvPr/>
          </p:nvSpPr>
          <p:spPr>
            <a:xfrm>
              <a:off x="9265645" y="3741680"/>
              <a:ext cx="1407574" cy="369332"/>
            </a:xfrm>
            <a:prstGeom prst="rect">
              <a:avLst/>
            </a:prstGeom>
            <a:noFill/>
          </p:spPr>
          <p:txBody>
            <a:bodyPr wrap="square" lIns="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minutes saved </a:t>
              </a:r>
              <a:br>
                <a:rPr lang="en-US" sz="1200">
                  <a:latin typeface="Source Sans 3" panose="020B0404040101010104" pitchFamily="34" charset="77"/>
                </a:rPr>
              </a:br>
              <a:r>
                <a:rPr lang="en-US" sz="1200">
                  <a:latin typeface="Source Sans 3" panose="020B0404040101010104" pitchFamily="34" charset="77"/>
                </a:rPr>
                <a:t>per major incident</a:t>
              </a:r>
            </a:p>
          </p:txBody>
        </p:sp>
        <p:pic>
          <p:nvPicPr>
            <p:cNvPr id="138" name="Picture 137">
              <a:extLst>
                <a:ext uri="{FF2B5EF4-FFF2-40B4-BE49-F238E27FC236}">
                  <a16:creationId xmlns:a16="http://schemas.microsoft.com/office/drawing/2014/main" id="{FCA9C0A6-868B-5263-CFD2-1C10EB7B925D}"/>
                </a:ext>
              </a:extLst>
            </p:cNvPr>
            <p:cNvPicPr>
              <a:picLocks noChangeAspect="1"/>
            </p:cNvPicPr>
            <p:nvPr/>
          </p:nvPicPr>
          <p:blipFill>
            <a:blip r:embed="rId7" cstate="screen">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r="82568"/>
            <a:stretch>
              <a:fillRect/>
            </a:stretch>
          </p:blipFill>
          <p:spPr>
            <a:xfrm>
              <a:off x="8418405" y="3496841"/>
              <a:ext cx="410580" cy="448012"/>
            </a:xfrm>
            <a:prstGeom prst="rect">
              <a:avLst/>
            </a:prstGeom>
          </p:spPr>
        </p:pic>
      </p:grpSp>
      <p:grpSp>
        <p:nvGrpSpPr>
          <p:cNvPr id="18" name="Group 17">
            <a:extLst>
              <a:ext uri="{FF2B5EF4-FFF2-40B4-BE49-F238E27FC236}">
                <a16:creationId xmlns:a16="http://schemas.microsoft.com/office/drawing/2014/main" id="{F59EDE13-A18C-1DF6-87E2-B30FC973E946}"/>
              </a:ext>
            </a:extLst>
          </p:cNvPr>
          <p:cNvGrpSpPr/>
          <p:nvPr/>
        </p:nvGrpSpPr>
        <p:grpSpPr>
          <a:xfrm>
            <a:off x="7936304" y="1344868"/>
            <a:ext cx="2945455" cy="1309091"/>
            <a:chOff x="7936304" y="1344868"/>
            <a:chExt cx="2945455" cy="1309091"/>
          </a:xfrm>
        </p:grpSpPr>
        <p:sp>
          <p:nvSpPr>
            <p:cNvPr id="154" name="Rounded Rectangle 115">
              <a:extLst>
                <a:ext uri="{FF2B5EF4-FFF2-40B4-BE49-F238E27FC236}">
                  <a16:creationId xmlns:a16="http://schemas.microsoft.com/office/drawing/2014/main" id="{A7575334-F5D0-366B-B384-52AEAFB8A473}"/>
                </a:ext>
              </a:extLst>
            </p:cNvPr>
            <p:cNvSpPr>
              <a:spLocks noChangeAspect="1"/>
            </p:cNvSpPr>
            <p:nvPr/>
          </p:nvSpPr>
          <p:spPr>
            <a:xfrm flipH="1">
              <a:off x="7936304" y="1344868"/>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141" name="TextBox 140">
              <a:extLst>
                <a:ext uri="{FF2B5EF4-FFF2-40B4-BE49-F238E27FC236}">
                  <a16:creationId xmlns:a16="http://schemas.microsoft.com/office/drawing/2014/main" id="{DA7BC4A5-B7F0-C44A-DEC4-3863EAE22417}"/>
                </a:ext>
              </a:extLst>
            </p:cNvPr>
            <p:cNvSpPr txBox="1">
              <a:spLocks/>
            </p:cNvSpPr>
            <p:nvPr/>
          </p:nvSpPr>
          <p:spPr>
            <a:xfrm>
              <a:off x="9265644" y="2034948"/>
              <a:ext cx="1565403"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increase in overall</a:t>
              </a:r>
              <a:br>
                <a:rPr lang="en-US" sz="1200">
                  <a:latin typeface="Source Sans 3" panose="020B0404040101010104" pitchFamily="34" charset="77"/>
                </a:rPr>
              </a:br>
              <a:r>
                <a:rPr lang="en-US" sz="1200">
                  <a:latin typeface="Source Sans 3" panose="020B0404040101010104" pitchFamily="34" charset="77"/>
                </a:rPr>
                <a:t>self-service rate</a:t>
              </a:r>
            </a:p>
          </p:txBody>
        </p:sp>
        <p:pic>
          <p:nvPicPr>
            <p:cNvPr id="142" name="Picture 141" descr="A red text on a black background&#10;&#10;AI-generated content may be incorrect.">
              <a:extLst>
                <a:ext uri="{FF2B5EF4-FFF2-40B4-BE49-F238E27FC236}">
                  <a16:creationId xmlns:a16="http://schemas.microsoft.com/office/drawing/2014/main" id="{1ABB70B8-4528-040E-93BB-252A55291FA6}"/>
                </a:ext>
              </a:extLst>
            </p:cNvPr>
            <p:cNvPicPr>
              <a:picLocks noChangeAspect="1"/>
            </p:cNvPicPr>
            <p:nvPr/>
          </p:nvPicPr>
          <p:blipFill>
            <a:blip r:embed="rId9" cstate="screen">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a:ext>
              </a:extLst>
            </a:blip>
            <a:stretch>
              <a:fillRect/>
            </a:stretch>
          </p:blipFill>
          <p:spPr>
            <a:xfrm>
              <a:off x="8183670" y="1884714"/>
              <a:ext cx="855377" cy="193690"/>
            </a:xfrm>
            <a:prstGeom prst="rect">
              <a:avLst/>
            </a:prstGeom>
          </p:spPr>
        </p:pic>
        <p:sp>
          <p:nvSpPr>
            <p:cNvPr id="140" name="TextBox 139">
              <a:extLst>
                <a:ext uri="{FF2B5EF4-FFF2-40B4-BE49-F238E27FC236}">
                  <a16:creationId xmlns:a16="http://schemas.microsoft.com/office/drawing/2014/main" id="{F5D9187B-11B2-28F6-5D38-8165F124D89B}"/>
                </a:ext>
              </a:extLst>
            </p:cNvPr>
            <p:cNvSpPr txBox="1">
              <a:spLocks/>
            </p:cNvSpPr>
            <p:nvPr/>
          </p:nvSpPr>
          <p:spPr>
            <a:xfrm>
              <a:off x="9519773" y="1509428"/>
              <a:ext cx="1022470"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87</a:t>
              </a:r>
              <a:r>
                <a:rPr lang="en-US" b="1" baseline="30000">
                  <a:latin typeface="Source Sans 3" panose="020B0504040101010104" pitchFamily="34" charset="77"/>
                </a:rPr>
                <a:t>%</a:t>
              </a:r>
            </a:p>
          </p:txBody>
        </p:sp>
        <p:sp>
          <p:nvSpPr>
            <p:cNvPr id="143" name="Freeform: Shape 239">
              <a:extLst>
                <a:ext uri="{FF2B5EF4-FFF2-40B4-BE49-F238E27FC236}">
                  <a16:creationId xmlns:a16="http://schemas.microsoft.com/office/drawing/2014/main" id="{AB32B662-858A-F324-0926-B1F963A533BE}"/>
                </a:ext>
              </a:extLst>
            </p:cNvPr>
            <p:cNvSpPr>
              <a:spLocks/>
            </p:cNvSpPr>
            <p:nvPr/>
          </p:nvSpPr>
          <p:spPr>
            <a:xfrm rot="16200000">
              <a:off x="9316488" y="1704668"/>
              <a:ext cx="146903" cy="183402"/>
            </a:xfrm>
            <a:custGeom>
              <a:avLst/>
              <a:gdLst>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58016 w 285783"/>
                <a:gd name="connsiteY6" fmla="*/ 178411 h 356788"/>
                <a:gd name="connsiteX7" fmla="*/ 6061 w 285783"/>
                <a:gd name="connsiteY7" fmla="*/ 211315 h 356788"/>
                <a:gd name="connsiteX8" fmla="*/ 0 w 285783"/>
                <a:gd name="connsiteY8" fmla="*/ 222572 h 356788"/>
                <a:gd name="connsiteX9" fmla="*/ 0 w 285783"/>
                <a:gd name="connsiteY9" fmla="*/ 343799 h 356788"/>
                <a:gd name="connsiteX10" fmla="*/ 12989 w 285783"/>
                <a:gd name="connsiteY10" fmla="*/ 356788 h 356788"/>
                <a:gd name="connsiteX11" fmla="*/ 12989 w 285783"/>
                <a:gd name="connsiteY11" fmla="*/ 356788 h 356788"/>
                <a:gd name="connsiteX12" fmla="*/ 19916 w 285783"/>
                <a:gd name="connsiteY12" fmla="*/ 355056 h 356788"/>
                <a:gd name="connsiteX13" fmla="*/ 279689 w 285783"/>
                <a:gd name="connsiteY13" fmla="*/ 189668 h 356788"/>
                <a:gd name="connsiteX14" fmla="*/ 284018 w 285783"/>
                <a:gd name="connsiteY14" fmla="*/ 171483 h 356788"/>
                <a:gd name="connsiteX15" fmla="*/ 279689 w 285783"/>
                <a:gd name="connsiteY15"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6061 w 285783"/>
                <a:gd name="connsiteY6" fmla="*/ 211315 h 356788"/>
                <a:gd name="connsiteX7" fmla="*/ 0 w 285783"/>
                <a:gd name="connsiteY7" fmla="*/ 222572 h 356788"/>
                <a:gd name="connsiteX8" fmla="*/ 0 w 285783"/>
                <a:gd name="connsiteY8" fmla="*/ 343799 h 356788"/>
                <a:gd name="connsiteX9" fmla="*/ 12989 w 285783"/>
                <a:gd name="connsiteY9" fmla="*/ 356788 h 356788"/>
                <a:gd name="connsiteX10" fmla="*/ 12989 w 285783"/>
                <a:gd name="connsiteY10" fmla="*/ 356788 h 356788"/>
                <a:gd name="connsiteX11" fmla="*/ 19916 w 285783"/>
                <a:gd name="connsiteY11" fmla="*/ 355056 h 356788"/>
                <a:gd name="connsiteX12" fmla="*/ 279689 w 285783"/>
                <a:gd name="connsiteY12" fmla="*/ 189668 h 356788"/>
                <a:gd name="connsiteX13" fmla="*/ 284018 w 285783"/>
                <a:gd name="connsiteY13" fmla="*/ 171483 h 356788"/>
                <a:gd name="connsiteX14" fmla="*/ 279689 w 285783"/>
                <a:gd name="connsiteY14"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145506 h 356788"/>
                <a:gd name="connsiteX6" fmla="*/ 6203 w 285925"/>
                <a:gd name="connsiteY6" fmla="*/ 211315 h 356788"/>
                <a:gd name="connsiteX7" fmla="*/ 142 w 285925"/>
                <a:gd name="connsiteY7" fmla="*/ 343799 h 356788"/>
                <a:gd name="connsiteX8" fmla="*/ 13131 w 285925"/>
                <a:gd name="connsiteY8" fmla="*/ 356788 h 356788"/>
                <a:gd name="connsiteX9" fmla="*/ 13131 w 285925"/>
                <a:gd name="connsiteY9" fmla="*/ 356788 h 356788"/>
                <a:gd name="connsiteX10" fmla="*/ 20058 w 285925"/>
                <a:gd name="connsiteY10" fmla="*/ 355056 h 356788"/>
                <a:gd name="connsiteX11" fmla="*/ 279831 w 285925"/>
                <a:gd name="connsiteY11" fmla="*/ 189668 h 356788"/>
                <a:gd name="connsiteX12" fmla="*/ 284160 w 285925"/>
                <a:gd name="connsiteY12" fmla="*/ 171483 h 356788"/>
                <a:gd name="connsiteX13" fmla="*/ 279831 w 285925"/>
                <a:gd name="connsiteY13"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211315 h 356788"/>
                <a:gd name="connsiteX6" fmla="*/ 142 w 285925"/>
                <a:gd name="connsiteY6" fmla="*/ 343799 h 356788"/>
                <a:gd name="connsiteX7" fmla="*/ 13131 w 285925"/>
                <a:gd name="connsiteY7" fmla="*/ 356788 h 356788"/>
                <a:gd name="connsiteX8" fmla="*/ 13131 w 285925"/>
                <a:gd name="connsiteY8" fmla="*/ 356788 h 356788"/>
                <a:gd name="connsiteX9" fmla="*/ 20058 w 285925"/>
                <a:gd name="connsiteY9" fmla="*/ 355056 h 356788"/>
                <a:gd name="connsiteX10" fmla="*/ 279831 w 285925"/>
                <a:gd name="connsiteY10" fmla="*/ 189668 h 356788"/>
                <a:gd name="connsiteX11" fmla="*/ 284160 w 285925"/>
                <a:gd name="connsiteY11" fmla="*/ 171483 h 356788"/>
                <a:gd name="connsiteX12" fmla="*/ 279831 w 285925"/>
                <a:gd name="connsiteY12"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6203 w 285925"/>
                <a:gd name="connsiteY4" fmla="*/ 211315 h 356788"/>
                <a:gd name="connsiteX5" fmla="*/ 142 w 285925"/>
                <a:gd name="connsiteY5" fmla="*/ 343799 h 356788"/>
                <a:gd name="connsiteX6" fmla="*/ 13131 w 285925"/>
                <a:gd name="connsiteY6" fmla="*/ 356788 h 356788"/>
                <a:gd name="connsiteX7" fmla="*/ 13131 w 285925"/>
                <a:gd name="connsiteY7" fmla="*/ 356788 h 356788"/>
                <a:gd name="connsiteX8" fmla="*/ 20058 w 285925"/>
                <a:gd name="connsiteY8" fmla="*/ 355056 h 356788"/>
                <a:gd name="connsiteX9" fmla="*/ 279831 w 285925"/>
                <a:gd name="connsiteY9" fmla="*/ 189668 h 356788"/>
                <a:gd name="connsiteX10" fmla="*/ 284160 w 285925"/>
                <a:gd name="connsiteY10" fmla="*/ 171483 h 356788"/>
                <a:gd name="connsiteX11" fmla="*/ 279831 w 285925"/>
                <a:gd name="connsiteY11"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343799 h 356788"/>
                <a:gd name="connsiteX5" fmla="*/ 12989 w 285783"/>
                <a:gd name="connsiteY5" fmla="*/ 356788 h 356788"/>
                <a:gd name="connsiteX6" fmla="*/ 12989 w 285783"/>
                <a:gd name="connsiteY6" fmla="*/ 356788 h 356788"/>
                <a:gd name="connsiteX7" fmla="*/ 19916 w 285783"/>
                <a:gd name="connsiteY7" fmla="*/ 355056 h 356788"/>
                <a:gd name="connsiteX8" fmla="*/ 279689 w 285783"/>
                <a:gd name="connsiteY8" fmla="*/ 189668 h 356788"/>
                <a:gd name="connsiteX9" fmla="*/ 284018 w 285783"/>
                <a:gd name="connsiteY9" fmla="*/ 171483 h 356788"/>
                <a:gd name="connsiteX10" fmla="*/ 279689 w 285783"/>
                <a:gd name="connsiteY10" fmla="*/ 167154 h 35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83" h="356788">
                  <a:moveTo>
                    <a:pt x="279689" y="167154"/>
                  </a:moveTo>
                  <a:lnTo>
                    <a:pt x="19916" y="1765"/>
                  </a:lnTo>
                  <a:cubicBezTo>
                    <a:pt x="13855" y="-1698"/>
                    <a:pt x="6061" y="33"/>
                    <a:pt x="1732" y="6095"/>
                  </a:cubicBezTo>
                  <a:cubicBezTo>
                    <a:pt x="0" y="7827"/>
                    <a:pt x="0" y="10424"/>
                    <a:pt x="0" y="13022"/>
                  </a:cubicBezTo>
                  <a:lnTo>
                    <a:pt x="0" y="343799"/>
                  </a:lnTo>
                  <a:cubicBezTo>
                    <a:pt x="0" y="350727"/>
                    <a:pt x="6061" y="356788"/>
                    <a:pt x="12989" y="356788"/>
                  </a:cubicBezTo>
                  <a:lnTo>
                    <a:pt x="12989" y="356788"/>
                  </a:lnTo>
                  <a:cubicBezTo>
                    <a:pt x="15586" y="356788"/>
                    <a:pt x="18184" y="355922"/>
                    <a:pt x="19916" y="355056"/>
                  </a:cubicBezTo>
                  <a:lnTo>
                    <a:pt x="279689" y="189668"/>
                  </a:lnTo>
                  <a:cubicBezTo>
                    <a:pt x="285750" y="185338"/>
                    <a:pt x="287482" y="177545"/>
                    <a:pt x="284018" y="171483"/>
                  </a:cubicBezTo>
                  <a:cubicBezTo>
                    <a:pt x="282286" y="169752"/>
                    <a:pt x="280555" y="168886"/>
                    <a:pt x="279689" y="167154"/>
                  </a:cubicBezTo>
                  <a:close/>
                </a:path>
              </a:pathLst>
            </a:custGeom>
            <a:solidFill>
              <a:srgbClr val="8FFFDB"/>
            </a:solidFill>
            <a:ln w="8653" cap="flat">
              <a:noFill/>
              <a:prstDash val="solid"/>
              <a:miter/>
            </a:ln>
          </p:spPr>
          <p:txBody>
            <a:bodyPr lIns="100558" tIns="50279" rIns="100558" bIns="50279"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u="none" strike="noStrike" kern="0" cap="none" spc="0" normalizeH="0" baseline="0" noProof="0">
                <a:ln>
                  <a:noFill/>
                </a:ln>
                <a:solidFill>
                  <a:srgbClr val="000000"/>
                </a:solidFill>
                <a:effectLst/>
                <a:uLnTx/>
                <a:uFillTx/>
                <a:latin typeface="Source Sans 3" panose="020B0504040101010104" pitchFamily="34" charset="77"/>
                <a:cs typeface="Source Sans 3" panose="020F0502020204030204" pitchFamily="34" charset="0"/>
              </a:endParaRPr>
            </a:p>
          </p:txBody>
        </p:sp>
      </p:grpSp>
      <p:grpSp>
        <p:nvGrpSpPr>
          <p:cNvPr id="14" name="Group 13">
            <a:extLst>
              <a:ext uri="{FF2B5EF4-FFF2-40B4-BE49-F238E27FC236}">
                <a16:creationId xmlns:a16="http://schemas.microsoft.com/office/drawing/2014/main" id="{5929476E-7F74-F738-3732-F503EBD549A9}"/>
              </a:ext>
            </a:extLst>
          </p:cNvPr>
          <p:cNvGrpSpPr/>
          <p:nvPr/>
        </p:nvGrpSpPr>
        <p:grpSpPr>
          <a:xfrm>
            <a:off x="7936304" y="4772777"/>
            <a:ext cx="2945455" cy="1309091"/>
            <a:chOff x="7936304" y="4772777"/>
            <a:chExt cx="2945455" cy="1309091"/>
          </a:xfrm>
        </p:grpSpPr>
        <p:sp>
          <p:nvSpPr>
            <p:cNvPr id="175" name="Rounded Rectangle 115">
              <a:extLst>
                <a:ext uri="{FF2B5EF4-FFF2-40B4-BE49-F238E27FC236}">
                  <a16:creationId xmlns:a16="http://schemas.microsoft.com/office/drawing/2014/main" id="{B44789D4-41D6-AC84-D21B-FA985BFD3725}"/>
                </a:ext>
              </a:extLst>
            </p:cNvPr>
            <p:cNvSpPr>
              <a:spLocks noChangeAspect="1"/>
            </p:cNvSpPr>
            <p:nvPr/>
          </p:nvSpPr>
          <p:spPr>
            <a:xfrm flipH="1">
              <a:off x="7936304" y="4772777"/>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146" name="TextBox 145">
              <a:extLst>
                <a:ext uri="{FF2B5EF4-FFF2-40B4-BE49-F238E27FC236}">
                  <a16:creationId xmlns:a16="http://schemas.microsoft.com/office/drawing/2014/main" id="{BD458D29-2C4C-DCFB-99D1-5514B12BE584}"/>
                </a:ext>
              </a:extLst>
            </p:cNvPr>
            <p:cNvSpPr txBox="1">
              <a:spLocks/>
            </p:cNvSpPr>
            <p:nvPr/>
          </p:nvSpPr>
          <p:spPr>
            <a:xfrm>
              <a:off x="9265644" y="5391913"/>
              <a:ext cx="1565403" cy="553998"/>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increase in </a:t>
              </a:r>
              <a:br>
                <a:rPr lang="en-US" sz="1200">
                  <a:latin typeface="Source Sans 3" panose="020B0404040101010104" pitchFamily="34" charset="77"/>
                </a:rPr>
              </a:br>
              <a:r>
                <a:rPr lang="en-US" sz="1200">
                  <a:latin typeface="Source Sans 3" panose="020B0404040101010104" pitchFamily="34" charset="77"/>
                </a:rPr>
                <a:t>developer</a:t>
              </a:r>
              <a:br>
                <a:rPr lang="en-US" sz="1200">
                  <a:latin typeface="Source Sans 3" panose="020B0404040101010104" pitchFamily="34" charset="77"/>
                </a:rPr>
              </a:br>
              <a:r>
                <a:rPr lang="en-US" sz="1200">
                  <a:latin typeface="Source Sans 3" panose="020B0404040101010104" pitchFamily="34" charset="77"/>
                </a:rPr>
                <a:t>productivity</a:t>
              </a:r>
            </a:p>
          </p:txBody>
        </p:sp>
        <p:pic>
          <p:nvPicPr>
            <p:cNvPr id="147" name="Picture 146">
              <a:extLst>
                <a:ext uri="{FF2B5EF4-FFF2-40B4-BE49-F238E27FC236}">
                  <a16:creationId xmlns:a16="http://schemas.microsoft.com/office/drawing/2014/main" id="{9FED002F-19E1-0D00-A77D-BB41E71022B7}"/>
                </a:ext>
              </a:extLst>
            </p:cNvPr>
            <p:cNvPicPr>
              <a:picLocks noChangeAspect="1"/>
            </p:cNvPicPr>
            <p:nvPr/>
          </p:nvPicPr>
          <p:blipFill>
            <a:blip r:embed="rId11" cstate="screen">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a:ext>
              </a:extLst>
            </a:blip>
            <a:stretch>
              <a:fillRect/>
            </a:stretch>
          </p:blipFill>
          <p:spPr>
            <a:xfrm>
              <a:off x="8154440" y="5312023"/>
              <a:ext cx="943495" cy="218549"/>
            </a:xfrm>
            <a:prstGeom prst="rect">
              <a:avLst/>
            </a:prstGeom>
          </p:spPr>
        </p:pic>
        <p:sp>
          <p:nvSpPr>
            <p:cNvPr id="145" name="TextBox 144">
              <a:extLst>
                <a:ext uri="{FF2B5EF4-FFF2-40B4-BE49-F238E27FC236}">
                  <a16:creationId xmlns:a16="http://schemas.microsoft.com/office/drawing/2014/main" id="{E3FE48EF-DB5C-6F42-0FD6-454179AF1FA7}"/>
                </a:ext>
              </a:extLst>
            </p:cNvPr>
            <p:cNvSpPr txBox="1">
              <a:spLocks/>
            </p:cNvSpPr>
            <p:nvPr/>
          </p:nvSpPr>
          <p:spPr>
            <a:xfrm>
              <a:off x="9534272" y="4891388"/>
              <a:ext cx="1022470"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22</a:t>
              </a:r>
              <a:r>
                <a:rPr lang="en-US" b="1" baseline="30000">
                  <a:latin typeface="Source Sans 3" panose="020B0504040101010104" pitchFamily="34" charset="77"/>
                </a:rPr>
                <a:t>%</a:t>
              </a:r>
            </a:p>
          </p:txBody>
        </p:sp>
        <p:sp>
          <p:nvSpPr>
            <p:cNvPr id="148" name="Freeform: Shape 239">
              <a:extLst>
                <a:ext uri="{FF2B5EF4-FFF2-40B4-BE49-F238E27FC236}">
                  <a16:creationId xmlns:a16="http://schemas.microsoft.com/office/drawing/2014/main" id="{BA8996AA-07AF-D3D8-D2C2-FC54673B1D45}"/>
                </a:ext>
              </a:extLst>
            </p:cNvPr>
            <p:cNvSpPr>
              <a:spLocks/>
            </p:cNvSpPr>
            <p:nvPr/>
          </p:nvSpPr>
          <p:spPr>
            <a:xfrm rot="16200000">
              <a:off x="9316236" y="5094256"/>
              <a:ext cx="144864" cy="180857"/>
            </a:xfrm>
            <a:custGeom>
              <a:avLst/>
              <a:gdLst>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58016 w 285783"/>
                <a:gd name="connsiteY6" fmla="*/ 178411 h 356788"/>
                <a:gd name="connsiteX7" fmla="*/ 6061 w 285783"/>
                <a:gd name="connsiteY7" fmla="*/ 211315 h 356788"/>
                <a:gd name="connsiteX8" fmla="*/ 0 w 285783"/>
                <a:gd name="connsiteY8" fmla="*/ 222572 h 356788"/>
                <a:gd name="connsiteX9" fmla="*/ 0 w 285783"/>
                <a:gd name="connsiteY9" fmla="*/ 343799 h 356788"/>
                <a:gd name="connsiteX10" fmla="*/ 12989 w 285783"/>
                <a:gd name="connsiteY10" fmla="*/ 356788 h 356788"/>
                <a:gd name="connsiteX11" fmla="*/ 12989 w 285783"/>
                <a:gd name="connsiteY11" fmla="*/ 356788 h 356788"/>
                <a:gd name="connsiteX12" fmla="*/ 19916 w 285783"/>
                <a:gd name="connsiteY12" fmla="*/ 355056 h 356788"/>
                <a:gd name="connsiteX13" fmla="*/ 279689 w 285783"/>
                <a:gd name="connsiteY13" fmla="*/ 189668 h 356788"/>
                <a:gd name="connsiteX14" fmla="*/ 284018 w 285783"/>
                <a:gd name="connsiteY14" fmla="*/ 171483 h 356788"/>
                <a:gd name="connsiteX15" fmla="*/ 279689 w 285783"/>
                <a:gd name="connsiteY15"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6061 w 285783"/>
                <a:gd name="connsiteY6" fmla="*/ 211315 h 356788"/>
                <a:gd name="connsiteX7" fmla="*/ 0 w 285783"/>
                <a:gd name="connsiteY7" fmla="*/ 222572 h 356788"/>
                <a:gd name="connsiteX8" fmla="*/ 0 w 285783"/>
                <a:gd name="connsiteY8" fmla="*/ 343799 h 356788"/>
                <a:gd name="connsiteX9" fmla="*/ 12989 w 285783"/>
                <a:gd name="connsiteY9" fmla="*/ 356788 h 356788"/>
                <a:gd name="connsiteX10" fmla="*/ 12989 w 285783"/>
                <a:gd name="connsiteY10" fmla="*/ 356788 h 356788"/>
                <a:gd name="connsiteX11" fmla="*/ 19916 w 285783"/>
                <a:gd name="connsiteY11" fmla="*/ 355056 h 356788"/>
                <a:gd name="connsiteX12" fmla="*/ 279689 w 285783"/>
                <a:gd name="connsiteY12" fmla="*/ 189668 h 356788"/>
                <a:gd name="connsiteX13" fmla="*/ 284018 w 285783"/>
                <a:gd name="connsiteY13" fmla="*/ 171483 h 356788"/>
                <a:gd name="connsiteX14" fmla="*/ 279689 w 285783"/>
                <a:gd name="connsiteY14"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145506 h 356788"/>
                <a:gd name="connsiteX6" fmla="*/ 6203 w 285925"/>
                <a:gd name="connsiteY6" fmla="*/ 211315 h 356788"/>
                <a:gd name="connsiteX7" fmla="*/ 142 w 285925"/>
                <a:gd name="connsiteY7" fmla="*/ 343799 h 356788"/>
                <a:gd name="connsiteX8" fmla="*/ 13131 w 285925"/>
                <a:gd name="connsiteY8" fmla="*/ 356788 h 356788"/>
                <a:gd name="connsiteX9" fmla="*/ 13131 w 285925"/>
                <a:gd name="connsiteY9" fmla="*/ 356788 h 356788"/>
                <a:gd name="connsiteX10" fmla="*/ 20058 w 285925"/>
                <a:gd name="connsiteY10" fmla="*/ 355056 h 356788"/>
                <a:gd name="connsiteX11" fmla="*/ 279831 w 285925"/>
                <a:gd name="connsiteY11" fmla="*/ 189668 h 356788"/>
                <a:gd name="connsiteX12" fmla="*/ 284160 w 285925"/>
                <a:gd name="connsiteY12" fmla="*/ 171483 h 356788"/>
                <a:gd name="connsiteX13" fmla="*/ 279831 w 285925"/>
                <a:gd name="connsiteY13"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211315 h 356788"/>
                <a:gd name="connsiteX6" fmla="*/ 142 w 285925"/>
                <a:gd name="connsiteY6" fmla="*/ 343799 h 356788"/>
                <a:gd name="connsiteX7" fmla="*/ 13131 w 285925"/>
                <a:gd name="connsiteY7" fmla="*/ 356788 h 356788"/>
                <a:gd name="connsiteX8" fmla="*/ 13131 w 285925"/>
                <a:gd name="connsiteY8" fmla="*/ 356788 h 356788"/>
                <a:gd name="connsiteX9" fmla="*/ 20058 w 285925"/>
                <a:gd name="connsiteY9" fmla="*/ 355056 h 356788"/>
                <a:gd name="connsiteX10" fmla="*/ 279831 w 285925"/>
                <a:gd name="connsiteY10" fmla="*/ 189668 h 356788"/>
                <a:gd name="connsiteX11" fmla="*/ 284160 w 285925"/>
                <a:gd name="connsiteY11" fmla="*/ 171483 h 356788"/>
                <a:gd name="connsiteX12" fmla="*/ 279831 w 285925"/>
                <a:gd name="connsiteY12"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6203 w 285925"/>
                <a:gd name="connsiteY4" fmla="*/ 211315 h 356788"/>
                <a:gd name="connsiteX5" fmla="*/ 142 w 285925"/>
                <a:gd name="connsiteY5" fmla="*/ 343799 h 356788"/>
                <a:gd name="connsiteX6" fmla="*/ 13131 w 285925"/>
                <a:gd name="connsiteY6" fmla="*/ 356788 h 356788"/>
                <a:gd name="connsiteX7" fmla="*/ 13131 w 285925"/>
                <a:gd name="connsiteY7" fmla="*/ 356788 h 356788"/>
                <a:gd name="connsiteX8" fmla="*/ 20058 w 285925"/>
                <a:gd name="connsiteY8" fmla="*/ 355056 h 356788"/>
                <a:gd name="connsiteX9" fmla="*/ 279831 w 285925"/>
                <a:gd name="connsiteY9" fmla="*/ 189668 h 356788"/>
                <a:gd name="connsiteX10" fmla="*/ 284160 w 285925"/>
                <a:gd name="connsiteY10" fmla="*/ 171483 h 356788"/>
                <a:gd name="connsiteX11" fmla="*/ 279831 w 285925"/>
                <a:gd name="connsiteY11"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343799 h 356788"/>
                <a:gd name="connsiteX5" fmla="*/ 12989 w 285783"/>
                <a:gd name="connsiteY5" fmla="*/ 356788 h 356788"/>
                <a:gd name="connsiteX6" fmla="*/ 12989 w 285783"/>
                <a:gd name="connsiteY6" fmla="*/ 356788 h 356788"/>
                <a:gd name="connsiteX7" fmla="*/ 19916 w 285783"/>
                <a:gd name="connsiteY7" fmla="*/ 355056 h 356788"/>
                <a:gd name="connsiteX8" fmla="*/ 279689 w 285783"/>
                <a:gd name="connsiteY8" fmla="*/ 189668 h 356788"/>
                <a:gd name="connsiteX9" fmla="*/ 284018 w 285783"/>
                <a:gd name="connsiteY9" fmla="*/ 171483 h 356788"/>
                <a:gd name="connsiteX10" fmla="*/ 279689 w 285783"/>
                <a:gd name="connsiteY10" fmla="*/ 167154 h 35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83" h="356788">
                  <a:moveTo>
                    <a:pt x="279689" y="167154"/>
                  </a:moveTo>
                  <a:lnTo>
                    <a:pt x="19916" y="1765"/>
                  </a:lnTo>
                  <a:cubicBezTo>
                    <a:pt x="13855" y="-1698"/>
                    <a:pt x="6061" y="33"/>
                    <a:pt x="1732" y="6095"/>
                  </a:cubicBezTo>
                  <a:cubicBezTo>
                    <a:pt x="0" y="7827"/>
                    <a:pt x="0" y="10424"/>
                    <a:pt x="0" y="13022"/>
                  </a:cubicBezTo>
                  <a:lnTo>
                    <a:pt x="0" y="343799"/>
                  </a:lnTo>
                  <a:cubicBezTo>
                    <a:pt x="0" y="350727"/>
                    <a:pt x="6061" y="356788"/>
                    <a:pt x="12989" y="356788"/>
                  </a:cubicBezTo>
                  <a:lnTo>
                    <a:pt x="12989" y="356788"/>
                  </a:lnTo>
                  <a:cubicBezTo>
                    <a:pt x="15586" y="356788"/>
                    <a:pt x="18184" y="355922"/>
                    <a:pt x="19916" y="355056"/>
                  </a:cubicBezTo>
                  <a:lnTo>
                    <a:pt x="279689" y="189668"/>
                  </a:lnTo>
                  <a:cubicBezTo>
                    <a:pt x="285750" y="185338"/>
                    <a:pt x="287482" y="177545"/>
                    <a:pt x="284018" y="171483"/>
                  </a:cubicBezTo>
                  <a:cubicBezTo>
                    <a:pt x="282286" y="169752"/>
                    <a:pt x="280555" y="168886"/>
                    <a:pt x="279689" y="167154"/>
                  </a:cubicBezTo>
                  <a:close/>
                </a:path>
              </a:pathLst>
            </a:custGeom>
            <a:solidFill>
              <a:srgbClr val="8FFFDB"/>
            </a:solidFill>
            <a:ln w="8653" cap="flat">
              <a:noFill/>
              <a:prstDash val="solid"/>
              <a:miter/>
            </a:ln>
          </p:spPr>
          <p:txBody>
            <a:bodyPr lIns="100558" tIns="50279" rIns="100558" bIns="50279"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u="none" strike="noStrike" kern="0" cap="none" spc="0" normalizeH="0" baseline="0" noProof="0">
                <a:ln>
                  <a:noFill/>
                </a:ln>
                <a:solidFill>
                  <a:srgbClr val="000000"/>
                </a:solidFill>
                <a:effectLst/>
                <a:uLnTx/>
                <a:uFillTx/>
                <a:latin typeface="Source Sans 3" panose="020B0504040101010104" pitchFamily="34" charset="77"/>
                <a:cs typeface="Source Sans 3" panose="020F0502020204030204" pitchFamily="34" charset="0"/>
              </a:endParaRPr>
            </a:p>
          </p:txBody>
        </p:sp>
      </p:grpSp>
      <p:grpSp>
        <p:nvGrpSpPr>
          <p:cNvPr id="12" name="Group 11">
            <a:extLst>
              <a:ext uri="{FF2B5EF4-FFF2-40B4-BE49-F238E27FC236}">
                <a16:creationId xmlns:a16="http://schemas.microsoft.com/office/drawing/2014/main" id="{52761AD5-B133-27A8-939E-B91790448932}"/>
              </a:ext>
            </a:extLst>
          </p:cNvPr>
          <p:cNvGrpSpPr/>
          <p:nvPr/>
        </p:nvGrpSpPr>
        <p:grpSpPr>
          <a:xfrm>
            <a:off x="1304818" y="4772777"/>
            <a:ext cx="2945455" cy="1309091"/>
            <a:chOff x="1304818" y="4772777"/>
            <a:chExt cx="2945455" cy="1309091"/>
          </a:xfrm>
        </p:grpSpPr>
        <p:sp>
          <p:nvSpPr>
            <p:cNvPr id="176" name="Rounded Rectangle 115">
              <a:extLst>
                <a:ext uri="{FF2B5EF4-FFF2-40B4-BE49-F238E27FC236}">
                  <a16:creationId xmlns:a16="http://schemas.microsoft.com/office/drawing/2014/main" id="{551CCB31-D41B-9340-210B-8614AD42015D}"/>
                </a:ext>
              </a:extLst>
            </p:cNvPr>
            <p:cNvSpPr>
              <a:spLocks noChangeAspect="1"/>
            </p:cNvSpPr>
            <p:nvPr/>
          </p:nvSpPr>
          <p:spPr>
            <a:xfrm flipH="1">
              <a:off x="1304818" y="4772777"/>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152" name="Graphic 87">
              <a:extLst>
                <a:ext uri="{FF2B5EF4-FFF2-40B4-BE49-F238E27FC236}">
                  <a16:creationId xmlns:a16="http://schemas.microsoft.com/office/drawing/2014/main" id="{8AFCB844-2C40-5655-516E-60E0CA779F86}"/>
                </a:ext>
              </a:extLst>
            </p:cNvPr>
            <p:cNvSpPr>
              <a:spLocks noChangeAspect="1"/>
            </p:cNvSpPr>
            <p:nvPr/>
          </p:nvSpPr>
          <p:spPr>
            <a:xfrm>
              <a:off x="1486173" y="5356653"/>
              <a:ext cx="914288" cy="129289"/>
            </a:xfrm>
            <a:custGeom>
              <a:avLst/>
              <a:gdLst>
                <a:gd name="connsiteX0" fmla="*/ 1075014 w 7773745"/>
                <a:gd name="connsiteY0" fmla="*/ 548870 h 1099287"/>
                <a:gd name="connsiteX1" fmla="*/ 1629714 w 7773745"/>
                <a:gd name="connsiteY1" fmla="*/ 7202 h 1099287"/>
                <a:gd name="connsiteX2" fmla="*/ 2186635 w 7773745"/>
                <a:gd name="connsiteY2" fmla="*/ 548870 h 1099287"/>
                <a:gd name="connsiteX3" fmla="*/ 1629714 w 7773745"/>
                <a:gd name="connsiteY3" fmla="*/ 1092758 h 1099287"/>
                <a:gd name="connsiteX4" fmla="*/ 1075014 w 7773745"/>
                <a:gd name="connsiteY4" fmla="*/ 548870 h 1099287"/>
                <a:gd name="connsiteX5" fmla="*/ 1920287 w 7773745"/>
                <a:gd name="connsiteY5" fmla="*/ 548870 h 1099287"/>
                <a:gd name="connsiteX6" fmla="*/ 1629714 w 7773745"/>
                <a:gd name="connsiteY6" fmla="*/ 267030 h 1099287"/>
                <a:gd name="connsiteX7" fmla="*/ 1341362 w 7773745"/>
                <a:gd name="connsiteY7" fmla="*/ 548870 h 1099287"/>
                <a:gd name="connsiteX8" fmla="*/ 1629714 w 7773745"/>
                <a:gd name="connsiteY8" fmla="*/ 832930 h 1099287"/>
                <a:gd name="connsiteX9" fmla="*/ 1920287 w 7773745"/>
                <a:gd name="connsiteY9" fmla="*/ 548870 h 1099287"/>
                <a:gd name="connsiteX10" fmla="*/ 6668719 w 7773745"/>
                <a:gd name="connsiteY10" fmla="*/ 557688 h 1099287"/>
                <a:gd name="connsiteX11" fmla="*/ 7177257 w 7773745"/>
                <a:gd name="connsiteY11" fmla="*/ 7202 h 1099287"/>
                <a:gd name="connsiteX12" fmla="*/ 7500804 w 7773745"/>
                <a:gd name="connsiteY12" fmla="*/ 154752 h 1099287"/>
                <a:gd name="connsiteX13" fmla="*/ 7526174 w 7773745"/>
                <a:gd name="connsiteY13" fmla="*/ 26858 h 1099287"/>
                <a:gd name="connsiteX14" fmla="*/ 7773746 w 7773745"/>
                <a:gd name="connsiteY14" fmla="*/ 26858 h 1099287"/>
                <a:gd name="connsiteX15" fmla="*/ 7773746 w 7773745"/>
                <a:gd name="connsiteY15" fmla="*/ 1072901 h 1099287"/>
                <a:gd name="connsiteX16" fmla="*/ 7526174 w 7773745"/>
                <a:gd name="connsiteY16" fmla="*/ 1072901 h 1099287"/>
                <a:gd name="connsiteX17" fmla="*/ 7494209 w 7773745"/>
                <a:gd name="connsiteY17" fmla="*/ 965200 h 1099287"/>
                <a:gd name="connsiteX18" fmla="*/ 7177257 w 7773745"/>
                <a:gd name="connsiteY18" fmla="*/ 1093095 h 1099287"/>
                <a:gd name="connsiteX19" fmla="*/ 6668719 w 7773745"/>
                <a:gd name="connsiteY19" fmla="*/ 557688 h 1099287"/>
                <a:gd name="connsiteX20" fmla="*/ 7513993 w 7773745"/>
                <a:gd name="connsiteY20" fmla="*/ 555466 h 1099287"/>
                <a:gd name="connsiteX21" fmla="*/ 7224631 w 7773745"/>
                <a:gd name="connsiteY21" fmla="*/ 267131 h 1099287"/>
                <a:gd name="connsiteX22" fmla="*/ 6935269 w 7773745"/>
                <a:gd name="connsiteY22" fmla="*/ 556577 h 1099287"/>
                <a:gd name="connsiteX23" fmla="*/ 6935269 w 7773745"/>
                <a:gd name="connsiteY23" fmla="*/ 557688 h 1099287"/>
                <a:gd name="connsiteX24" fmla="*/ 7223689 w 7773745"/>
                <a:gd name="connsiteY24" fmla="*/ 832930 h 1099287"/>
                <a:gd name="connsiteX25" fmla="*/ 7513993 w 7773745"/>
                <a:gd name="connsiteY25" fmla="*/ 555466 h 1099287"/>
                <a:gd name="connsiteX26" fmla="*/ 6364486 w 7773745"/>
                <a:gd name="connsiteY26" fmla="*/ 148088 h 1099287"/>
                <a:gd name="connsiteX27" fmla="*/ 6364486 w 7773745"/>
                <a:gd name="connsiteY27" fmla="*/ 26925 h 1099287"/>
                <a:gd name="connsiteX28" fmla="*/ 6093764 w 7773745"/>
                <a:gd name="connsiteY28" fmla="*/ 26925 h 1099287"/>
                <a:gd name="connsiteX29" fmla="*/ 6093764 w 7773745"/>
                <a:gd name="connsiteY29" fmla="*/ 1072901 h 1099287"/>
                <a:gd name="connsiteX30" fmla="*/ 6364486 w 7773745"/>
                <a:gd name="connsiteY30" fmla="*/ 1072901 h 1099287"/>
                <a:gd name="connsiteX31" fmla="*/ 6364486 w 7773745"/>
                <a:gd name="connsiteY31" fmla="*/ 509290 h 1099287"/>
                <a:gd name="connsiteX32" fmla="*/ 6593284 w 7773745"/>
                <a:gd name="connsiteY32" fmla="*/ 251683 h 1099287"/>
                <a:gd name="connsiteX33" fmla="*/ 6621009 w 7773745"/>
                <a:gd name="connsiteY33" fmla="*/ 253231 h 1099287"/>
                <a:gd name="connsiteX34" fmla="*/ 6671209 w 7773745"/>
                <a:gd name="connsiteY34" fmla="*/ 740 h 1099287"/>
                <a:gd name="connsiteX35" fmla="*/ 6364486 w 7773745"/>
                <a:gd name="connsiteY35" fmla="*/ 148088 h 1099287"/>
                <a:gd name="connsiteX36" fmla="*/ 3644011 w 7773745"/>
                <a:gd name="connsiteY36" fmla="*/ 148156 h 1099287"/>
                <a:gd name="connsiteX37" fmla="*/ 3644011 w 7773745"/>
                <a:gd name="connsiteY37" fmla="*/ 26992 h 1099287"/>
                <a:gd name="connsiteX38" fmla="*/ 3373289 w 7773745"/>
                <a:gd name="connsiteY38" fmla="*/ 27598 h 1099287"/>
                <a:gd name="connsiteX39" fmla="*/ 3375577 w 7773745"/>
                <a:gd name="connsiteY39" fmla="*/ 1073439 h 1099287"/>
                <a:gd name="connsiteX40" fmla="*/ 3646299 w 7773745"/>
                <a:gd name="connsiteY40" fmla="*/ 1072834 h 1099287"/>
                <a:gd name="connsiteX41" fmla="*/ 3644818 w 7773745"/>
                <a:gd name="connsiteY41" fmla="*/ 509290 h 1099287"/>
                <a:gd name="connsiteX42" fmla="*/ 3873145 w 7773745"/>
                <a:gd name="connsiteY42" fmla="*/ 251212 h 1099287"/>
                <a:gd name="connsiteX43" fmla="*/ 3900870 w 7773745"/>
                <a:gd name="connsiteY43" fmla="*/ 252760 h 1099287"/>
                <a:gd name="connsiteX44" fmla="*/ 3950802 w 7773745"/>
                <a:gd name="connsiteY44" fmla="*/ 0 h 1099287"/>
                <a:gd name="connsiteX45" fmla="*/ 3644011 w 7773745"/>
                <a:gd name="connsiteY45" fmla="*/ 148156 h 1099287"/>
                <a:gd name="connsiteX46" fmla="*/ 2280443 w 7773745"/>
                <a:gd name="connsiteY46" fmla="*/ 667744 h 1099287"/>
                <a:gd name="connsiteX47" fmla="*/ 2280443 w 7773745"/>
                <a:gd name="connsiteY47" fmla="*/ 26992 h 1099287"/>
                <a:gd name="connsiteX48" fmla="*/ 2551097 w 7773745"/>
                <a:gd name="connsiteY48" fmla="*/ 26992 h 1099287"/>
                <a:gd name="connsiteX49" fmla="*/ 2551097 w 7773745"/>
                <a:gd name="connsiteY49" fmla="*/ 634761 h 1099287"/>
                <a:gd name="connsiteX50" fmla="*/ 2755804 w 7773745"/>
                <a:gd name="connsiteY50" fmla="*/ 848345 h 1099287"/>
                <a:gd name="connsiteX51" fmla="*/ 2984602 w 7773745"/>
                <a:gd name="connsiteY51" fmla="*/ 590671 h 1099287"/>
                <a:gd name="connsiteX52" fmla="*/ 2984602 w 7773745"/>
                <a:gd name="connsiteY52" fmla="*/ 26992 h 1099287"/>
                <a:gd name="connsiteX53" fmla="*/ 3255391 w 7773745"/>
                <a:gd name="connsiteY53" fmla="*/ 26992 h 1099287"/>
                <a:gd name="connsiteX54" fmla="*/ 3255391 w 7773745"/>
                <a:gd name="connsiteY54" fmla="*/ 1072901 h 1099287"/>
                <a:gd name="connsiteX55" fmla="*/ 2984804 w 7773745"/>
                <a:gd name="connsiteY55" fmla="*/ 1072901 h 1099287"/>
                <a:gd name="connsiteX56" fmla="*/ 2984804 w 7773745"/>
                <a:gd name="connsiteY56" fmla="*/ 951737 h 1099287"/>
                <a:gd name="connsiteX57" fmla="*/ 2674446 w 7773745"/>
                <a:gd name="connsiteY57" fmla="*/ 1099287 h 1099287"/>
                <a:gd name="connsiteX58" fmla="*/ 2280443 w 7773745"/>
                <a:gd name="connsiteY58" fmla="*/ 667744 h 1099287"/>
                <a:gd name="connsiteX59" fmla="*/ 4916598 w 7773745"/>
                <a:gd name="connsiteY59" fmla="*/ 550081 h 1099287"/>
                <a:gd name="connsiteX60" fmla="*/ 5459119 w 7773745"/>
                <a:gd name="connsiteY60" fmla="*/ 7202 h 1099287"/>
                <a:gd name="connsiteX61" fmla="*/ 5984008 w 7773745"/>
                <a:gd name="connsiteY61" fmla="*/ 545706 h 1099287"/>
                <a:gd name="connsiteX62" fmla="*/ 5977279 w 7773745"/>
                <a:gd name="connsiteY62" fmla="*/ 631597 h 1099287"/>
                <a:gd name="connsiteX63" fmla="*/ 5180456 w 7773745"/>
                <a:gd name="connsiteY63" fmla="*/ 630116 h 1099287"/>
                <a:gd name="connsiteX64" fmla="*/ 5470626 w 7773745"/>
                <a:gd name="connsiteY64" fmla="*/ 846460 h 1099287"/>
                <a:gd name="connsiteX65" fmla="*/ 5728360 w 7773745"/>
                <a:gd name="connsiteY65" fmla="*/ 732432 h 1099287"/>
                <a:gd name="connsiteX66" fmla="*/ 5913013 w 7773745"/>
                <a:gd name="connsiteY66" fmla="*/ 880520 h 1099287"/>
                <a:gd name="connsiteX67" fmla="*/ 5472376 w 7773745"/>
                <a:gd name="connsiteY67" fmla="*/ 1093297 h 1099287"/>
                <a:gd name="connsiteX68" fmla="*/ 4916598 w 7773745"/>
                <a:gd name="connsiteY68" fmla="*/ 550081 h 1099287"/>
                <a:gd name="connsiteX69" fmla="*/ 5711469 w 7773745"/>
                <a:gd name="connsiteY69" fmla="*/ 441438 h 1099287"/>
                <a:gd name="connsiteX70" fmla="*/ 5456494 w 7773745"/>
                <a:gd name="connsiteY70" fmla="*/ 253837 h 1099287"/>
                <a:gd name="connsiteX71" fmla="*/ 5189810 w 7773745"/>
                <a:gd name="connsiteY71" fmla="*/ 440496 h 1099287"/>
                <a:gd name="connsiteX72" fmla="*/ 5711469 w 7773745"/>
                <a:gd name="connsiteY72" fmla="*/ 441438 h 1099287"/>
                <a:gd name="connsiteX73" fmla="*/ 3952417 w 7773745"/>
                <a:gd name="connsiteY73" fmla="*/ 844912 h 1099287"/>
                <a:gd name="connsiteX74" fmla="*/ 4193058 w 7773745"/>
                <a:gd name="connsiteY74" fmla="*/ 718902 h 1099287"/>
                <a:gd name="connsiteX75" fmla="*/ 4425087 w 7773745"/>
                <a:gd name="connsiteY75" fmla="*/ 855951 h 1099287"/>
                <a:gd name="connsiteX76" fmla="*/ 4568691 w 7773745"/>
                <a:gd name="connsiteY76" fmla="*/ 776387 h 1099287"/>
                <a:gd name="connsiteX77" fmla="*/ 3998648 w 7773745"/>
                <a:gd name="connsiteY77" fmla="*/ 325391 h 1099287"/>
                <a:gd name="connsiteX78" fmla="*/ 4413983 w 7773745"/>
                <a:gd name="connsiteY78" fmla="*/ 539 h 1099287"/>
                <a:gd name="connsiteX79" fmla="*/ 4827165 w 7773745"/>
                <a:gd name="connsiteY79" fmla="*/ 221527 h 1099287"/>
                <a:gd name="connsiteX80" fmla="*/ 4588677 w 7773745"/>
                <a:gd name="connsiteY80" fmla="*/ 347739 h 1099287"/>
                <a:gd name="connsiteX81" fmla="*/ 4403082 w 7773745"/>
                <a:gd name="connsiteY81" fmla="*/ 237211 h 1099287"/>
                <a:gd name="connsiteX82" fmla="*/ 4281550 w 7773745"/>
                <a:gd name="connsiteY82" fmla="*/ 314553 h 1099287"/>
                <a:gd name="connsiteX83" fmla="*/ 4851593 w 7773745"/>
                <a:gd name="connsiteY83" fmla="*/ 765550 h 1099287"/>
                <a:gd name="connsiteX84" fmla="*/ 4418559 w 7773745"/>
                <a:gd name="connsiteY84" fmla="*/ 1092624 h 1099287"/>
                <a:gd name="connsiteX85" fmla="*/ 3952417 w 7773745"/>
                <a:gd name="connsiteY85" fmla="*/ 844912 h 1099287"/>
                <a:gd name="connsiteX86" fmla="*/ 0 w 7773745"/>
                <a:gd name="connsiteY86" fmla="*/ 548870 h 1099287"/>
                <a:gd name="connsiteX87" fmla="*/ 554700 w 7773745"/>
                <a:gd name="connsiteY87" fmla="*/ 4981 h 1099287"/>
                <a:gd name="connsiteX88" fmla="*/ 1023534 w 7773745"/>
                <a:gd name="connsiteY88" fmla="*/ 254039 h 1099287"/>
                <a:gd name="connsiteX89" fmla="*/ 792448 w 7773745"/>
                <a:gd name="connsiteY89" fmla="*/ 388126 h 1099287"/>
                <a:gd name="connsiteX90" fmla="*/ 554700 w 7773745"/>
                <a:gd name="connsiteY90" fmla="*/ 264809 h 1099287"/>
                <a:gd name="connsiteX91" fmla="*/ 266348 w 7773745"/>
                <a:gd name="connsiteY91" fmla="*/ 548870 h 1099287"/>
                <a:gd name="connsiteX92" fmla="*/ 554700 w 7773745"/>
                <a:gd name="connsiteY92" fmla="*/ 832930 h 1099287"/>
                <a:gd name="connsiteX93" fmla="*/ 799043 w 7773745"/>
                <a:gd name="connsiteY93" fmla="*/ 698304 h 1099287"/>
                <a:gd name="connsiteX94" fmla="*/ 1027841 w 7773745"/>
                <a:gd name="connsiteY94" fmla="*/ 834815 h 1099287"/>
                <a:gd name="connsiteX95" fmla="*/ 554566 w 7773745"/>
                <a:gd name="connsiteY95" fmla="*/ 1092489 h 1099287"/>
                <a:gd name="connsiteX96" fmla="*/ 0 w 7773745"/>
                <a:gd name="connsiteY96" fmla="*/ 548870 h 1099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7773745" h="1099287">
                  <a:moveTo>
                    <a:pt x="1075014" y="548870"/>
                  </a:moveTo>
                  <a:cubicBezTo>
                    <a:pt x="1075014" y="249394"/>
                    <a:pt x="1321510" y="7202"/>
                    <a:pt x="1629714" y="7202"/>
                  </a:cubicBezTo>
                  <a:cubicBezTo>
                    <a:pt x="1940072" y="7202"/>
                    <a:pt x="2186635" y="249529"/>
                    <a:pt x="2186635" y="548870"/>
                  </a:cubicBezTo>
                  <a:cubicBezTo>
                    <a:pt x="2186635" y="846124"/>
                    <a:pt x="1940072" y="1092758"/>
                    <a:pt x="1629714" y="1092758"/>
                  </a:cubicBezTo>
                  <a:cubicBezTo>
                    <a:pt x="1321510" y="1092758"/>
                    <a:pt x="1075014" y="845854"/>
                    <a:pt x="1075014" y="548870"/>
                  </a:cubicBezTo>
                  <a:close/>
                  <a:moveTo>
                    <a:pt x="1920287" y="548870"/>
                  </a:moveTo>
                  <a:cubicBezTo>
                    <a:pt x="1920287" y="399166"/>
                    <a:pt x="1790411" y="267030"/>
                    <a:pt x="1629714" y="267030"/>
                  </a:cubicBezTo>
                  <a:cubicBezTo>
                    <a:pt x="1471238" y="267030"/>
                    <a:pt x="1341362" y="399166"/>
                    <a:pt x="1341362" y="548870"/>
                  </a:cubicBezTo>
                  <a:cubicBezTo>
                    <a:pt x="1341362" y="700795"/>
                    <a:pt x="1471238" y="832930"/>
                    <a:pt x="1629714" y="832930"/>
                  </a:cubicBezTo>
                  <a:cubicBezTo>
                    <a:pt x="1790680" y="832930"/>
                    <a:pt x="1920287" y="700795"/>
                    <a:pt x="1920287" y="548870"/>
                  </a:cubicBezTo>
                  <a:close/>
                  <a:moveTo>
                    <a:pt x="6668719" y="557688"/>
                  </a:moveTo>
                  <a:cubicBezTo>
                    <a:pt x="6668719" y="229604"/>
                    <a:pt x="6935067" y="7202"/>
                    <a:pt x="7177257" y="7202"/>
                  </a:cubicBezTo>
                  <a:cubicBezTo>
                    <a:pt x="7342327" y="7202"/>
                    <a:pt x="7437010" y="57822"/>
                    <a:pt x="7500804" y="154752"/>
                  </a:cubicBezTo>
                  <a:lnTo>
                    <a:pt x="7526174" y="26858"/>
                  </a:lnTo>
                  <a:lnTo>
                    <a:pt x="7773746" y="26858"/>
                  </a:lnTo>
                  <a:lnTo>
                    <a:pt x="7773746" y="1072901"/>
                  </a:lnTo>
                  <a:lnTo>
                    <a:pt x="7526174" y="1072901"/>
                  </a:lnTo>
                  <a:lnTo>
                    <a:pt x="7494209" y="965200"/>
                  </a:lnTo>
                  <a:cubicBezTo>
                    <a:pt x="7421599" y="1044495"/>
                    <a:pt x="7331291" y="1093095"/>
                    <a:pt x="7177257" y="1093095"/>
                  </a:cubicBezTo>
                  <a:cubicBezTo>
                    <a:pt x="6939508" y="1092758"/>
                    <a:pt x="6668719" y="883549"/>
                    <a:pt x="6668719" y="557688"/>
                  </a:cubicBezTo>
                  <a:close/>
                  <a:moveTo>
                    <a:pt x="7513993" y="555466"/>
                  </a:moveTo>
                  <a:cubicBezTo>
                    <a:pt x="7513388" y="397099"/>
                    <a:pt x="7382973" y="267131"/>
                    <a:pt x="7224631" y="267131"/>
                  </a:cubicBezTo>
                  <a:cubicBezTo>
                    <a:pt x="7065886" y="267131"/>
                    <a:pt x="6935269" y="397792"/>
                    <a:pt x="6935269" y="556577"/>
                  </a:cubicBezTo>
                  <a:lnTo>
                    <a:pt x="6935269" y="557688"/>
                  </a:lnTo>
                  <a:cubicBezTo>
                    <a:pt x="6935269" y="703016"/>
                    <a:pt x="7065146" y="832930"/>
                    <a:pt x="7223689" y="832930"/>
                  </a:cubicBezTo>
                  <a:cubicBezTo>
                    <a:pt x="7384184" y="832930"/>
                    <a:pt x="7513993" y="703016"/>
                    <a:pt x="7513993" y="555466"/>
                  </a:cubicBezTo>
                  <a:close/>
                  <a:moveTo>
                    <a:pt x="6364486" y="148088"/>
                  </a:moveTo>
                  <a:lnTo>
                    <a:pt x="6364486" y="26925"/>
                  </a:lnTo>
                  <a:lnTo>
                    <a:pt x="6093764" y="26925"/>
                  </a:lnTo>
                  <a:lnTo>
                    <a:pt x="6093764" y="1072901"/>
                  </a:lnTo>
                  <a:lnTo>
                    <a:pt x="6364486" y="1072901"/>
                  </a:lnTo>
                  <a:lnTo>
                    <a:pt x="6364486" y="509290"/>
                  </a:lnTo>
                  <a:cubicBezTo>
                    <a:pt x="6364486" y="339728"/>
                    <a:pt x="6448198" y="251683"/>
                    <a:pt x="6593284" y="251683"/>
                  </a:cubicBezTo>
                  <a:cubicBezTo>
                    <a:pt x="6602907" y="251683"/>
                    <a:pt x="6612058" y="252356"/>
                    <a:pt x="6621009" y="253231"/>
                  </a:cubicBezTo>
                  <a:lnTo>
                    <a:pt x="6671209" y="740"/>
                  </a:lnTo>
                  <a:cubicBezTo>
                    <a:pt x="6530095" y="1481"/>
                    <a:pt x="6427809" y="49879"/>
                    <a:pt x="6364486" y="148088"/>
                  </a:cubicBezTo>
                  <a:close/>
                  <a:moveTo>
                    <a:pt x="3644011" y="148156"/>
                  </a:moveTo>
                  <a:lnTo>
                    <a:pt x="3644011" y="26992"/>
                  </a:lnTo>
                  <a:lnTo>
                    <a:pt x="3373289" y="27598"/>
                  </a:lnTo>
                  <a:lnTo>
                    <a:pt x="3375577" y="1073439"/>
                  </a:lnTo>
                  <a:lnTo>
                    <a:pt x="3646299" y="1072834"/>
                  </a:lnTo>
                  <a:lnTo>
                    <a:pt x="3644818" y="509290"/>
                  </a:lnTo>
                  <a:cubicBezTo>
                    <a:pt x="3644415" y="339796"/>
                    <a:pt x="3727926" y="251548"/>
                    <a:pt x="3873145" y="251212"/>
                  </a:cubicBezTo>
                  <a:cubicBezTo>
                    <a:pt x="3882405" y="251239"/>
                    <a:pt x="3891664" y="251757"/>
                    <a:pt x="3900870" y="252760"/>
                  </a:cubicBezTo>
                  <a:lnTo>
                    <a:pt x="3950802" y="0"/>
                  </a:lnTo>
                  <a:cubicBezTo>
                    <a:pt x="3809485" y="1144"/>
                    <a:pt x="3707065" y="49744"/>
                    <a:pt x="3644011" y="148156"/>
                  </a:cubicBezTo>
                  <a:close/>
                  <a:moveTo>
                    <a:pt x="2280443" y="667744"/>
                  </a:moveTo>
                  <a:lnTo>
                    <a:pt x="2280443" y="26992"/>
                  </a:lnTo>
                  <a:lnTo>
                    <a:pt x="2551097" y="26992"/>
                  </a:lnTo>
                  <a:lnTo>
                    <a:pt x="2551097" y="634761"/>
                  </a:lnTo>
                  <a:cubicBezTo>
                    <a:pt x="2551097" y="769050"/>
                    <a:pt x="2625927" y="848345"/>
                    <a:pt x="2755804" y="848345"/>
                  </a:cubicBezTo>
                  <a:cubicBezTo>
                    <a:pt x="2901090" y="848345"/>
                    <a:pt x="2984602" y="760232"/>
                    <a:pt x="2984602" y="590671"/>
                  </a:cubicBezTo>
                  <a:lnTo>
                    <a:pt x="2984602" y="26992"/>
                  </a:lnTo>
                  <a:lnTo>
                    <a:pt x="3255391" y="26992"/>
                  </a:lnTo>
                  <a:lnTo>
                    <a:pt x="3255391" y="1072901"/>
                  </a:lnTo>
                  <a:lnTo>
                    <a:pt x="2984804" y="1072901"/>
                  </a:lnTo>
                  <a:lnTo>
                    <a:pt x="2984804" y="951737"/>
                  </a:lnTo>
                  <a:cubicBezTo>
                    <a:pt x="2921009" y="1050822"/>
                    <a:pt x="2817512" y="1099287"/>
                    <a:pt x="2674446" y="1099287"/>
                  </a:cubicBezTo>
                  <a:cubicBezTo>
                    <a:pt x="2432324" y="1099355"/>
                    <a:pt x="2280443" y="923197"/>
                    <a:pt x="2280443" y="667744"/>
                  </a:cubicBezTo>
                  <a:close/>
                  <a:moveTo>
                    <a:pt x="4916598" y="550081"/>
                  </a:moveTo>
                  <a:cubicBezTo>
                    <a:pt x="4917204" y="257203"/>
                    <a:pt x="5126756" y="6597"/>
                    <a:pt x="5459119" y="7202"/>
                  </a:cubicBezTo>
                  <a:cubicBezTo>
                    <a:pt x="5767323" y="7808"/>
                    <a:pt x="5984748" y="254779"/>
                    <a:pt x="5984008" y="545706"/>
                  </a:cubicBezTo>
                  <a:cubicBezTo>
                    <a:pt x="5984075" y="574469"/>
                    <a:pt x="5981787" y="603191"/>
                    <a:pt x="5977279" y="631597"/>
                  </a:cubicBezTo>
                  <a:lnTo>
                    <a:pt x="5180456" y="630116"/>
                  </a:lnTo>
                  <a:cubicBezTo>
                    <a:pt x="5211007" y="755655"/>
                    <a:pt x="5314303" y="846124"/>
                    <a:pt x="5470626" y="846460"/>
                  </a:cubicBezTo>
                  <a:cubicBezTo>
                    <a:pt x="5565241" y="846460"/>
                    <a:pt x="5666585" y="811592"/>
                    <a:pt x="5728360" y="732432"/>
                  </a:cubicBezTo>
                  <a:lnTo>
                    <a:pt x="5913013" y="880520"/>
                  </a:lnTo>
                  <a:cubicBezTo>
                    <a:pt x="5818062" y="1014675"/>
                    <a:pt x="5650569" y="1093633"/>
                    <a:pt x="5472376" y="1093297"/>
                  </a:cubicBezTo>
                  <a:cubicBezTo>
                    <a:pt x="5157778" y="1092220"/>
                    <a:pt x="4916060" y="856153"/>
                    <a:pt x="4916598" y="550081"/>
                  </a:cubicBezTo>
                  <a:close/>
                  <a:moveTo>
                    <a:pt x="5711469" y="441438"/>
                  </a:moveTo>
                  <a:cubicBezTo>
                    <a:pt x="5696261" y="335757"/>
                    <a:pt x="5586371" y="254039"/>
                    <a:pt x="5456494" y="253837"/>
                  </a:cubicBezTo>
                  <a:cubicBezTo>
                    <a:pt x="5330992" y="253837"/>
                    <a:pt x="5229648" y="328285"/>
                    <a:pt x="5189810" y="440496"/>
                  </a:cubicBezTo>
                  <a:lnTo>
                    <a:pt x="5711469" y="441438"/>
                  </a:lnTo>
                  <a:close/>
                  <a:moveTo>
                    <a:pt x="3952417" y="844912"/>
                  </a:moveTo>
                  <a:lnTo>
                    <a:pt x="4193058" y="718902"/>
                  </a:lnTo>
                  <a:cubicBezTo>
                    <a:pt x="4232829" y="805130"/>
                    <a:pt x="4312370" y="855951"/>
                    <a:pt x="4425087" y="855951"/>
                  </a:cubicBezTo>
                  <a:cubicBezTo>
                    <a:pt x="4528921" y="855951"/>
                    <a:pt x="4568691" y="822833"/>
                    <a:pt x="4568691" y="776387"/>
                  </a:cubicBezTo>
                  <a:cubicBezTo>
                    <a:pt x="4568691" y="608105"/>
                    <a:pt x="3998648" y="710084"/>
                    <a:pt x="3998648" y="325391"/>
                  </a:cubicBezTo>
                  <a:cubicBezTo>
                    <a:pt x="3998648" y="113220"/>
                    <a:pt x="4184243" y="539"/>
                    <a:pt x="4413983" y="539"/>
                  </a:cubicBezTo>
                  <a:cubicBezTo>
                    <a:pt x="4588543" y="539"/>
                    <a:pt x="4743183" y="77881"/>
                    <a:pt x="4827165" y="221527"/>
                  </a:cubicBezTo>
                  <a:lnTo>
                    <a:pt x="4588677" y="347739"/>
                  </a:lnTo>
                  <a:cubicBezTo>
                    <a:pt x="4553348" y="276993"/>
                    <a:pt x="4487064" y="237211"/>
                    <a:pt x="4403082" y="237211"/>
                  </a:cubicBezTo>
                  <a:cubicBezTo>
                    <a:pt x="4321387" y="237211"/>
                    <a:pt x="4281550" y="265953"/>
                    <a:pt x="4281550" y="314553"/>
                  </a:cubicBezTo>
                  <a:cubicBezTo>
                    <a:pt x="4281550" y="478124"/>
                    <a:pt x="4851593" y="374260"/>
                    <a:pt x="4851593" y="765550"/>
                  </a:cubicBezTo>
                  <a:cubicBezTo>
                    <a:pt x="4851593" y="968902"/>
                    <a:pt x="4685916" y="1092624"/>
                    <a:pt x="4418559" y="1092624"/>
                  </a:cubicBezTo>
                  <a:cubicBezTo>
                    <a:pt x="4190972" y="1092422"/>
                    <a:pt x="4031891" y="1017300"/>
                    <a:pt x="3952417" y="844912"/>
                  </a:cubicBezTo>
                  <a:close/>
                  <a:moveTo>
                    <a:pt x="0" y="548870"/>
                  </a:moveTo>
                  <a:cubicBezTo>
                    <a:pt x="0" y="247240"/>
                    <a:pt x="246496" y="4981"/>
                    <a:pt x="554700" y="4981"/>
                  </a:cubicBezTo>
                  <a:cubicBezTo>
                    <a:pt x="742766" y="3662"/>
                    <a:pt x="919310" y="97449"/>
                    <a:pt x="1023534" y="254039"/>
                  </a:cubicBezTo>
                  <a:lnTo>
                    <a:pt x="792448" y="388126"/>
                  </a:lnTo>
                  <a:cubicBezTo>
                    <a:pt x="738149" y="310578"/>
                    <a:pt x="649350" y="264518"/>
                    <a:pt x="554700" y="264809"/>
                  </a:cubicBezTo>
                  <a:cubicBezTo>
                    <a:pt x="396224" y="264809"/>
                    <a:pt x="266348" y="396944"/>
                    <a:pt x="266348" y="548870"/>
                  </a:cubicBezTo>
                  <a:cubicBezTo>
                    <a:pt x="266348" y="700795"/>
                    <a:pt x="396224" y="832930"/>
                    <a:pt x="554700" y="832930"/>
                  </a:cubicBezTo>
                  <a:cubicBezTo>
                    <a:pt x="653988" y="833523"/>
                    <a:pt x="746480" y="782560"/>
                    <a:pt x="799043" y="698304"/>
                  </a:cubicBezTo>
                  <a:lnTo>
                    <a:pt x="1027841" y="834815"/>
                  </a:lnTo>
                  <a:cubicBezTo>
                    <a:pt x="924835" y="996063"/>
                    <a:pt x="745868" y="1093505"/>
                    <a:pt x="554566" y="1092489"/>
                  </a:cubicBezTo>
                  <a:cubicBezTo>
                    <a:pt x="246496" y="1092758"/>
                    <a:pt x="0" y="845854"/>
                    <a:pt x="0" y="548870"/>
                  </a:cubicBezTo>
                  <a:close/>
                </a:path>
              </a:pathLst>
            </a:custGeom>
            <a:solidFill>
              <a:schemeClr val="bg1"/>
            </a:solidFill>
            <a:ln w="6729" cap="flat">
              <a:noFill/>
              <a:prstDash val="solid"/>
              <a:round/>
            </a:ln>
          </p:spPr>
          <p:txBody>
            <a:bodyPr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i="0" u="none" strike="noStrike" kern="0" cap="none" spc="0" normalizeH="0" baseline="0" noProof="0">
                <a:ln>
                  <a:noFill/>
                </a:ln>
                <a:solidFill>
                  <a:srgbClr val="FFFFFF"/>
                </a:solidFill>
                <a:effectLst/>
                <a:uLnTx/>
                <a:uFillTx/>
                <a:latin typeface="Source Sans 3" panose="020F0502020204030204" pitchFamily="34" charset="0"/>
                <a:ea typeface="+mn-ea"/>
                <a:cs typeface="Source Sans 3" panose="020F0502020204030204" pitchFamily="34" charset="0"/>
              </a:endParaRPr>
            </a:p>
          </p:txBody>
        </p:sp>
        <p:grpSp>
          <p:nvGrpSpPr>
            <p:cNvPr id="3" name="Group 2">
              <a:extLst>
                <a:ext uri="{FF2B5EF4-FFF2-40B4-BE49-F238E27FC236}">
                  <a16:creationId xmlns:a16="http://schemas.microsoft.com/office/drawing/2014/main" id="{A3604F4E-B833-BBED-E813-866E7C89F416}"/>
                </a:ext>
              </a:extLst>
            </p:cNvPr>
            <p:cNvGrpSpPr/>
            <p:nvPr/>
          </p:nvGrpSpPr>
          <p:grpSpPr>
            <a:xfrm>
              <a:off x="2613799" y="4861739"/>
              <a:ext cx="1503739" cy="1056740"/>
              <a:chOff x="2430919" y="4861739"/>
              <a:chExt cx="1503739" cy="1056740"/>
            </a:xfrm>
          </p:grpSpPr>
          <p:sp>
            <p:nvSpPr>
              <p:cNvPr id="151" name="TextBox 150">
                <a:extLst>
                  <a:ext uri="{FF2B5EF4-FFF2-40B4-BE49-F238E27FC236}">
                    <a16:creationId xmlns:a16="http://schemas.microsoft.com/office/drawing/2014/main" id="{91F934F7-CA4E-A603-0648-479756DA2F4A}"/>
                  </a:ext>
                </a:extLst>
              </p:cNvPr>
              <p:cNvSpPr txBox="1">
                <a:spLocks/>
              </p:cNvSpPr>
              <p:nvPr/>
            </p:nvSpPr>
            <p:spPr>
              <a:xfrm>
                <a:off x="2430919" y="5364481"/>
                <a:ext cx="1398655" cy="553998"/>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dirty="0">
                    <a:latin typeface="Source Sans 3" panose="020B0404040101010104" pitchFamily="34" charset="77"/>
                  </a:rPr>
                  <a:t>reduction in incidents escalated to an expert</a:t>
                </a:r>
              </a:p>
            </p:txBody>
          </p:sp>
          <p:sp>
            <p:nvSpPr>
              <p:cNvPr id="150" name="TextBox 149">
                <a:extLst>
                  <a:ext uri="{FF2B5EF4-FFF2-40B4-BE49-F238E27FC236}">
                    <a16:creationId xmlns:a16="http://schemas.microsoft.com/office/drawing/2014/main" id="{FCABC5D2-1492-BF35-B780-E1FDA7163811}"/>
                  </a:ext>
                </a:extLst>
              </p:cNvPr>
              <p:cNvSpPr txBox="1">
                <a:spLocks/>
              </p:cNvSpPr>
              <p:nvPr/>
            </p:nvSpPr>
            <p:spPr>
              <a:xfrm>
                <a:off x="2750162" y="4861739"/>
                <a:ext cx="1184496"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dirty="0">
                    <a:latin typeface="Source Sans 3" panose="020B0504040101010104" pitchFamily="34" charset="77"/>
                  </a:rPr>
                  <a:t>18</a:t>
                </a:r>
                <a:r>
                  <a:rPr lang="en-US" b="1" baseline="30000" dirty="0">
                    <a:latin typeface="Source Sans 3" panose="020B0504040101010104" pitchFamily="34" charset="77"/>
                  </a:rPr>
                  <a:t>%</a:t>
                </a:r>
              </a:p>
            </p:txBody>
          </p:sp>
          <p:sp>
            <p:nvSpPr>
              <p:cNvPr id="153" name="Freeform: Shape 239">
                <a:extLst>
                  <a:ext uri="{FF2B5EF4-FFF2-40B4-BE49-F238E27FC236}">
                    <a16:creationId xmlns:a16="http://schemas.microsoft.com/office/drawing/2014/main" id="{1456B0F4-9AC4-BD39-8ABD-432134B5CEBF}"/>
                  </a:ext>
                </a:extLst>
              </p:cNvPr>
              <p:cNvSpPr>
                <a:spLocks/>
              </p:cNvSpPr>
              <p:nvPr/>
            </p:nvSpPr>
            <p:spPr>
              <a:xfrm rot="5400000">
                <a:off x="2506453" y="5072634"/>
                <a:ext cx="145594" cy="181768"/>
              </a:xfrm>
              <a:custGeom>
                <a:avLst/>
                <a:gdLst>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58016 w 285783"/>
                  <a:gd name="connsiteY6" fmla="*/ 178411 h 356788"/>
                  <a:gd name="connsiteX7" fmla="*/ 6061 w 285783"/>
                  <a:gd name="connsiteY7" fmla="*/ 211315 h 356788"/>
                  <a:gd name="connsiteX8" fmla="*/ 0 w 285783"/>
                  <a:gd name="connsiteY8" fmla="*/ 222572 h 356788"/>
                  <a:gd name="connsiteX9" fmla="*/ 0 w 285783"/>
                  <a:gd name="connsiteY9" fmla="*/ 343799 h 356788"/>
                  <a:gd name="connsiteX10" fmla="*/ 12989 w 285783"/>
                  <a:gd name="connsiteY10" fmla="*/ 356788 h 356788"/>
                  <a:gd name="connsiteX11" fmla="*/ 12989 w 285783"/>
                  <a:gd name="connsiteY11" fmla="*/ 356788 h 356788"/>
                  <a:gd name="connsiteX12" fmla="*/ 19916 w 285783"/>
                  <a:gd name="connsiteY12" fmla="*/ 355056 h 356788"/>
                  <a:gd name="connsiteX13" fmla="*/ 279689 w 285783"/>
                  <a:gd name="connsiteY13" fmla="*/ 189668 h 356788"/>
                  <a:gd name="connsiteX14" fmla="*/ 284018 w 285783"/>
                  <a:gd name="connsiteY14" fmla="*/ 171483 h 356788"/>
                  <a:gd name="connsiteX15" fmla="*/ 279689 w 285783"/>
                  <a:gd name="connsiteY15"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6061 w 285783"/>
                  <a:gd name="connsiteY6" fmla="*/ 211315 h 356788"/>
                  <a:gd name="connsiteX7" fmla="*/ 0 w 285783"/>
                  <a:gd name="connsiteY7" fmla="*/ 222572 h 356788"/>
                  <a:gd name="connsiteX8" fmla="*/ 0 w 285783"/>
                  <a:gd name="connsiteY8" fmla="*/ 343799 h 356788"/>
                  <a:gd name="connsiteX9" fmla="*/ 12989 w 285783"/>
                  <a:gd name="connsiteY9" fmla="*/ 356788 h 356788"/>
                  <a:gd name="connsiteX10" fmla="*/ 12989 w 285783"/>
                  <a:gd name="connsiteY10" fmla="*/ 356788 h 356788"/>
                  <a:gd name="connsiteX11" fmla="*/ 19916 w 285783"/>
                  <a:gd name="connsiteY11" fmla="*/ 355056 h 356788"/>
                  <a:gd name="connsiteX12" fmla="*/ 279689 w 285783"/>
                  <a:gd name="connsiteY12" fmla="*/ 189668 h 356788"/>
                  <a:gd name="connsiteX13" fmla="*/ 284018 w 285783"/>
                  <a:gd name="connsiteY13" fmla="*/ 171483 h 356788"/>
                  <a:gd name="connsiteX14" fmla="*/ 279689 w 285783"/>
                  <a:gd name="connsiteY14"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145506 h 356788"/>
                  <a:gd name="connsiteX6" fmla="*/ 6203 w 285925"/>
                  <a:gd name="connsiteY6" fmla="*/ 211315 h 356788"/>
                  <a:gd name="connsiteX7" fmla="*/ 142 w 285925"/>
                  <a:gd name="connsiteY7" fmla="*/ 343799 h 356788"/>
                  <a:gd name="connsiteX8" fmla="*/ 13131 w 285925"/>
                  <a:gd name="connsiteY8" fmla="*/ 356788 h 356788"/>
                  <a:gd name="connsiteX9" fmla="*/ 13131 w 285925"/>
                  <a:gd name="connsiteY9" fmla="*/ 356788 h 356788"/>
                  <a:gd name="connsiteX10" fmla="*/ 20058 w 285925"/>
                  <a:gd name="connsiteY10" fmla="*/ 355056 h 356788"/>
                  <a:gd name="connsiteX11" fmla="*/ 279831 w 285925"/>
                  <a:gd name="connsiteY11" fmla="*/ 189668 h 356788"/>
                  <a:gd name="connsiteX12" fmla="*/ 284160 w 285925"/>
                  <a:gd name="connsiteY12" fmla="*/ 171483 h 356788"/>
                  <a:gd name="connsiteX13" fmla="*/ 279831 w 285925"/>
                  <a:gd name="connsiteY13"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211315 h 356788"/>
                  <a:gd name="connsiteX6" fmla="*/ 142 w 285925"/>
                  <a:gd name="connsiteY6" fmla="*/ 343799 h 356788"/>
                  <a:gd name="connsiteX7" fmla="*/ 13131 w 285925"/>
                  <a:gd name="connsiteY7" fmla="*/ 356788 h 356788"/>
                  <a:gd name="connsiteX8" fmla="*/ 13131 w 285925"/>
                  <a:gd name="connsiteY8" fmla="*/ 356788 h 356788"/>
                  <a:gd name="connsiteX9" fmla="*/ 20058 w 285925"/>
                  <a:gd name="connsiteY9" fmla="*/ 355056 h 356788"/>
                  <a:gd name="connsiteX10" fmla="*/ 279831 w 285925"/>
                  <a:gd name="connsiteY10" fmla="*/ 189668 h 356788"/>
                  <a:gd name="connsiteX11" fmla="*/ 284160 w 285925"/>
                  <a:gd name="connsiteY11" fmla="*/ 171483 h 356788"/>
                  <a:gd name="connsiteX12" fmla="*/ 279831 w 285925"/>
                  <a:gd name="connsiteY12"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6203 w 285925"/>
                  <a:gd name="connsiteY4" fmla="*/ 211315 h 356788"/>
                  <a:gd name="connsiteX5" fmla="*/ 142 w 285925"/>
                  <a:gd name="connsiteY5" fmla="*/ 343799 h 356788"/>
                  <a:gd name="connsiteX6" fmla="*/ 13131 w 285925"/>
                  <a:gd name="connsiteY6" fmla="*/ 356788 h 356788"/>
                  <a:gd name="connsiteX7" fmla="*/ 13131 w 285925"/>
                  <a:gd name="connsiteY7" fmla="*/ 356788 h 356788"/>
                  <a:gd name="connsiteX8" fmla="*/ 20058 w 285925"/>
                  <a:gd name="connsiteY8" fmla="*/ 355056 h 356788"/>
                  <a:gd name="connsiteX9" fmla="*/ 279831 w 285925"/>
                  <a:gd name="connsiteY9" fmla="*/ 189668 h 356788"/>
                  <a:gd name="connsiteX10" fmla="*/ 284160 w 285925"/>
                  <a:gd name="connsiteY10" fmla="*/ 171483 h 356788"/>
                  <a:gd name="connsiteX11" fmla="*/ 279831 w 285925"/>
                  <a:gd name="connsiteY11"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343799 h 356788"/>
                  <a:gd name="connsiteX5" fmla="*/ 12989 w 285783"/>
                  <a:gd name="connsiteY5" fmla="*/ 356788 h 356788"/>
                  <a:gd name="connsiteX6" fmla="*/ 12989 w 285783"/>
                  <a:gd name="connsiteY6" fmla="*/ 356788 h 356788"/>
                  <a:gd name="connsiteX7" fmla="*/ 19916 w 285783"/>
                  <a:gd name="connsiteY7" fmla="*/ 355056 h 356788"/>
                  <a:gd name="connsiteX8" fmla="*/ 279689 w 285783"/>
                  <a:gd name="connsiteY8" fmla="*/ 189668 h 356788"/>
                  <a:gd name="connsiteX9" fmla="*/ 284018 w 285783"/>
                  <a:gd name="connsiteY9" fmla="*/ 171483 h 356788"/>
                  <a:gd name="connsiteX10" fmla="*/ 279689 w 285783"/>
                  <a:gd name="connsiteY10" fmla="*/ 167154 h 35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83" h="356788">
                    <a:moveTo>
                      <a:pt x="279689" y="167154"/>
                    </a:moveTo>
                    <a:lnTo>
                      <a:pt x="19916" y="1765"/>
                    </a:lnTo>
                    <a:cubicBezTo>
                      <a:pt x="13855" y="-1698"/>
                      <a:pt x="6061" y="33"/>
                      <a:pt x="1732" y="6095"/>
                    </a:cubicBezTo>
                    <a:cubicBezTo>
                      <a:pt x="0" y="7827"/>
                      <a:pt x="0" y="10424"/>
                      <a:pt x="0" y="13022"/>
                    </a:cubicBezTo>
                    <a:lnTo>
                      <a:pt x="0" y="343799"/>
                    </a:lnTo>
                    <a:cubicBezTo>
                      <a:pt x="0" y="350727"/>
                      <a:pt x="6061" y="356788"/>
                      <a:pt x="12989" y="356788"/>
                    </a:cubicBezTo>
                    <a:lnTo>
                      <a:pt x="12989" y="356788"/>
                    </a:lnTo>
                    <a:cubicBezTo>
                      <a:pt x="15586" y="356788"/>
                      <a:pt x="18184" y="355922"/>
                      <a:pt x="19916" y="355056"/>
                    </a:cubicBezTo>
                    <a:lnTo>
                      <a:pt x="279689" y="189668"/>
                    </a:lnTo>
                    <a:cubicBezTo>
                      <a:pt x="285750" y="185338"/>
                      <a:pt x="287482" y="177545"/>
                      <a:pt x="284018" y="171483"/>
                    </a:cubicBezTo>
                    <a:cubicBezTo>
                      <a:pt x="282286" y="169752"/>
                      <a:pt x="280555" y="168886"/>
                      <a:pt x="279689" y="167154"/>
                    </a:cubicBezTo>
                    <a:close/>
                  </a:path>
                </a:pathLst>
              </a:custGeom>
              <a:solidFill>
                <a:srgbClr val="8FFFDB"/>
              </a:solidFill>
              <a:ln w="8653" cap="flat">
                <a:noFill/>
                <a:prstDash val="solid"/>
                <a:miter/>
              </a:ln>
            </p:spPr>
            <p:txBody>
              <a:bodyPr lIns="100558" tIns="50279" rIns="100558" bIns="50279"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u="none" strike="noStrike" kern="0" cap="none" spc="0" normalizeH="0" baseline="0" noProof="0">
                  <a:ln>
                    <a:noFill/>
                  </a:ln>
                  <a:solidFill>
                    <a:srgbClr val="000000"/>
                  </a:solidFill>
                  <a:effectLst/>
                  <a:uLnTx/>
                  <a:uFillTx/>
                  <a:latin typeface="Source Sans 3" panose="020B0504040101010104" pitchFamily="34" charset="77"/>
                  <a:cs typeface="Source Sans 3" panose="020F0502020204030204" pitchFamily="34" charset="0"/>
                </a:endParaRPr>
              </a:p>
            </p:txBody>
          </p:sp>
        </p:grpSp>
      </p:grpSp>
      <p:grpSp>
        <p:nvGrpSpPr>
          <p:cNvPr id="19" name="Group 18">
            <a:extLst>
              <a:ext uri="{FF2B5EF4-FFF2-40B4-BE49-F238E27FC236}">
                <a16:creationId xmlns:a16="http://schemas.microsoft.com/office/drawing/2014/main" id="{508E2749-7BB0-B67A-ACD2-CF8EF614D0DD}"/>
              </a:ext>
            </a:extLst>
          </p:cNvPr>
          <p:cNvGrpSpPr/>
          <p:nvPr/>
        </p:nvGrpSpPr>
        <p:grpSpPr>
          <a:xfrm>
            <a:off x="4635801" y="1344868"/>
            <a:ext cx="2945455" cy="1309091"/>
            <a:chOff x="4635801" y="1344868"/>
            <a:chExt cx="2945455" cy="1309091"/>
          </a:xfrm>
        </p:grpSpPr>
        <p:sp>
          <p:nvSpPr>
            <p:cNvPr id="171" name="Rounded Rectangle 115">
              <a:extLst>
                <a:ext uri="{FF2B5EF4-FFF2-40B4-BE49-F238E27FC236}">
                  <a16:creationId xmlns:a16="http://schemas.microsoft.com/office/drawing/2014/main" id="{58F5B4EA-048E-EF7B-67BE-4E3CB5F03FAD}"/>
                </a:ext>
              </a:extLst>
            </p:cNvPr>
            <p:cNvSpPr>
              <a:spLocks noChangeAspect="1"/>
            </p:cNvSpPr>
            <p:nvPr/>
          </p:nvSpPr>
          <p:spPr>
            <a:xfrm flipH="1">
              <a:off x="4635801" y="1344868"/>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pic>
          <p:nvPicPr>
            <p:cNvPr id="165" name="Picture Placeholder 11">
              <a:extLst>
                <a:ext uri="{FF2B5EF4-FFF2-40B4-BE49-F238E27FC236}">
                  <a16:creationId xmlns:a16="http://schemas.microsoft.com/office/drawing/2014/main" id="{90842376-54E0-9112-3006-F7EBC5F2D735}"/>
                </a:ext>
              </a:extLst>
            </p:cNvPr>
            <p:cNvPicPr>
              <a:picLocks noChangeAspect="1"/>
            </p:cNvPicPr>
            <p:nvPr/>
          </p:nvPicPr>
          <p:blipFill>
            <a:blip>
              <a:lum bright="100000"/>
              <a:extLst>
                <a:ext uri="{96DAC541-7B7A-43D3-8B79-37D633B846F1}">
                  <asvg:svgBlip xmlns:asvg="http://schemas.microsoft.com/office/drawing/2016/SVG/main" r:embed="rId13"/>
                </a:ext>
              </a:extLst>
            </a:blip>
            <a:srcRect t="12184" b="12184"/>
            <a:stretch>
              <a:fillRect/>
            </a:stretch>
          </p:blipFill>
          <p:spPr>
            <a:xfrm>
              <a:off x="4851334" y="1846723"/>
              <a:ext cx="857977" cy="269672"/>
            </a:xfrm>
            <a:prstGeom prst="rect">
              <a:avLst/>
            </a:prstGeom>
          </p:spPr>
        </p:pic>
        <p:sp>
          <p:nvSpPr>
            <p:cNvPr id="166" name="TextBox 165">
              <a:extLst>
                <a:ext uri="{FF2B5EF4-FFF2-40B4-BE49-F238E27FC236}">
                  <a16:creationId xmlns:a16="http://schemas.microsoft.com/office/drawing/2014/main" id="{4085AC18-E7D2-2E07-DBDC-C18FAAC85B8D}"/>
                </a:ext>
              </a:extLst>
            </p:cNvPr>
            <p:cNvSpPr txBox="1">
              <a:spLocks/>
            </p:cNvSpPr>
            <p:nvPr/>
          </p:nvSpPr>
          <p:spPr>
            <a:xfrm>
              <a:off x="5887784" y="1438043"/>
              <a:ext cx="1568267"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210K</a:t>
              </a:r>
            </a:p>
          </p:txBody>
        </p:sp>
        <p:sp>
          <p:nvSpPr>
            <p:cNvPr id="167" name="TextBox 166">
              <a:extLst>
                <a:ext uri="{FF2B5EF4-FFF2-40B4-BE49-F238E27FC236}">
                  <a16:creationId xmlns:a16="http://schemas.microsoft.com/office/drawing/2014/main" id="{B2AB6EA3-62B3-C2BC-FD10-D00EB9CECF69}"/>
                </a:ext>
              </a:extLst>
            </p:cNvPr>
            <p:cNvSpPr txBox="1">
              <a:spLocks/>
            </p:cNvSpPr>
            <p:nvPr/>
          </p:nvSpPr>
          <p:spPr>
            <a:xfrm>
              <a:off x="5887784" y="1973326"/>
              <a:ext cx="1519540" cy="553998"/>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tickets resolved </a:t>
              </a:r>
              <a:br>
                <a:rPr lang="en-US" sz="1200">
                  <a:latin typeface="Source Sans 3" panose="020B0404040101010104" pitchFamily="34" charset="77"/>
                </a:rPr>
              </a:br>
              <a:r>
                <a:rPr lang="en-US" sz="1200">
                  <a:latin typeface="Source Sans 3" panose="020B0404040101010104" pitchFamily="34" charset="77"/>
                </a:rPr>
                <a:t>automatically </a:t>
              </a:r>
              <a:br>
                <a:rPr lang="en-US" sz="1200">
                  <a:latin typeface="Source Sans 3" panose="020B0404040101010104" pitchFamily="34" charset="77"/>
                </a:rPr>
              </a:br>
              <a:r>
                <a:rPr lang="en-US" sz="1200">
                  <a:latin typeface="Source Sans 3" panose="020B0404040101010104" pitchFamily="34" charset="77"/>
                </a:rPr>
                <a:t>each month</a:t>
              </a:r>
            </a:p>
          </p:txBody>
        </p:sp>
      </p:grpSp>
      <p:grpSp>
        <p:nvGrpSpPr>
          <p:cNvPr id="20" name="Group 19">
            <a:extLst>
              <a:ext uri="{FF2B5EF4-FFF2-40B4-BE49-F238E27FC236}">
                <a16:creationId xmlns:a16="http://schemas.microsoft.com/office/drawing/2014/main" id="{95B543A9-0F66-3224-796A-A4E55A2D1BC2}"/>
              </a:ext>
            </a:extLst>
          </p:cNvPr>
          <p:cNvGrpSpPr/>
          <p:nvPr/>
        </p:nvGrpSpPr>
        <p:grpSpPr>
          <a:xfrm>
            <a:off x="4635801" y="3058822"/>
            <a:ext cx="2945455" cy="1309091"/>
            <a:chOff x="4635801" y="3058822"/>
            <a:chExt cx="2945455" cy="1309091"/>
          </a:xfrm>
        </p:grpSpPr>
        <p:sp>
          <p:nvSpPr>
            <p:cNvPr id="149" name="Rounded Rectangle 115">
              <a:extLst>
                <a:ext uri="{FF2B5EF4-FFF2-40B4-BE49-F238E27FC236}">
                  <a16:creationId xmlns:a16="http://schemas.microsoft.com/office/drawing/2014/main" id="{8882925C-00C2-B239-5F38-D3F98E2405F1}"/>
                </a:ext>
              </a:extLst>
            </p:cNvPr>
            <p:cNvSpPr>
              <a:spLocks noChangeAspect="1"/>
            </p:cNvSpPr>
            <p:nvPr/>
          </p:nvSpPr>
          <p:spPr>
            <a:xfrm flipH="1">
              <a:off x="4635801" y="3058822"/>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pic>
          <p:nvPicPr>
            <p:cNvPr id="7" name="Picture Placeholder 12">
              <a:extLst>
                <a:ext uri="{FF2B5EF4-FFF2-40B4-BE49-F238E27FC236}">
                  <a16:creationId xmlns:a16="http://schemas.microsoft.com/office/drawing/2014/main" id="{0A1FD122-FB1F-3980-80FC-3E0F7B8F2CD9}"/>
                </a:ext>
              </a:extLst>
            </p:cNvPr>
            <p:cNvPicPr>
              <a:picLocks noChangeAspect="1"/>
            </p:cNvPicPr>
            <p:nvPr/>
          </p:nvPicPr>
          <p:blipFill>
            <a:blip r:embed="rId14" cstate="screen">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rcRect r="-440"/>
            <a:stretch>
              <a:fillRect/>
            </a:stretch>
          </p:blipFill>
          <p:spPr>
            <a:xfrm>
              <a:off x="4948222" y="3490885"/>
              <a:ext cx="664202" cy="459924"/>
            </a:xfrm>
            <a:prstGeom prst="rect">
              <a:avLst/>
            </a:prstGeom>
          </p:spPr>
        </p:pic>
        <p:sp>
          <p:nvSpPr>
            <p:cNvPr id="8" name="TextBox 7">
              <a:extLst>
                <a:ext uri="{FF2B5EF4-FFF2-40B4-BE49-F238E27FC236}">
                  <a16:creationId xmlns:a16="http://schemas.microsoft.com/office/drawing/2014/main" id="{72878D7A-DB77-FB01-F040-C73AEB488793}"/>
                </a:ext>
              </a:extLst>
            </p:cNvPr>
            <p:cNvSpPr txBox="1">
              <a:spLocks/>
            </p:cNvSpPr>
            <p:nvPr/>
          </p:nvSpPr>
          <p:spPr>
            <a:xfrm>
              <a:off x="5887784" y="3159570"/>
              <a:ext cx="1612767"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3,400</a:t>
              </a:r>
            </a:p>
          </p:txBody>
        </p:sp>
        <p:sp>
          <p:nvSpPr>
            <p:cNvPr id="9" name="TextBox 8">
              <a:extLst>
                <a:ext uri="{FF2B5EF4-FFF2-40B4-BE49-F238E27FC236}">
                  <a16:creationId xmlns:a16="http://schemas.microsoft.com/office/drawing/2014/main" id="{769050D4-3BF3-DA26-A9FD-882C8280F500}"/>
                </a:ext>
              </a:extLst>
            </p:cNvPr>
            <p:cNvSpPr txBox="1">
              <a:spLocks/>
            </p:cNvSpPr>
            <p:nvPr/>
          </p:nvSpPr>
          <p:spPr>
            <a:xfrm>
              <a:off x="5887784" y="3684181"/>
              <a:ext cx="1691865" cy="654290"/>
            </a:xfrm>
            <a:prstGeom prst="rect">
              <a:avLst/>
            </a:prstGeom>
            <a:noFill/>
          </p:spPr>
          <p:txBody>
            <a:bodyPr wrap="square" lIns="36000" tIns="0" rIns="0" bIns="0" rtlCol="0" anchor="t">
              <a:no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hours of IT staff productivity savings </a:t>
              </a:r>
              <a:br>
                <a:rPr lang="en-US" sz="1200">
                  <a:latin typeface="Source Sans 3" panose="020B0404040101010104" pitchFamily="34" charset="77"/>
                </a:rPr>
              </a:br>
              <a:r>
                <a:rPr lang="en-US" sz="1200">
                  <a:latin typeface="Source Sans 3" panose="020B0404040101010104" pitchFamily="34" charset="77"/>
                </a:rPr>
                <a:t>per month</a:t>
              </a:r>
            </a:p>
          </p:txBody>
        </p:sp>
      </p:grpSp>
      <p:pic>
        <p:nvPicPr>
          <p:cNvPr id="168" name="Picture 15">
            <a:extLst>
              <a:ext uri="{FF2B5EF4-FFF2-40B4-BE49-F238E27FC236}">
                <a16:creationId xmlns:a16="http://schemas.microsoft.com/office/drawing/2014/main" id="{1516EBBD-A23D-CB80-7991-740E3B5AE8B9}"/>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6"/>
              </a:ext>
            </a:extLst>
          </a:blip>
          <a:srcRect/>
          <a:stretch/>
        </p:blipFill>
        <p:spPr>
          <a:xfrm>
            <a:off x="479837" y="6353915"/>
            <a:ext cx="980334" cy="280022"/>
          </a:xfrm>
          <a:prstGeom prst="rect">
            <a:avLst/>
          </a:prstGeom>
        </p:spPr>
      </p:pic>
      <p:grpSp>
        <p:nvGrpSpPr>
          <p:cNvPr id="13" name="Group 12">
            <a:extLst>
              <a:ext uri="{FF2B5EF4-FFF2-40B4-BE49-F238E27FC236}">
                <a16:creationId xmlns:a16="http://schemas.microsoft.com/office/drawing/2014/main" id="{E277314C-F216-8C45-4CFC-816788F5F216}"/>
              </a:ext>
            </a:extLst>
          </p:cNvPr>
          <p:cNvGrpSpPr/>
          <p:nvPr/>
        </p:nvGrpSpPr>
        <p:grpSpPr>
          <a:xfrm>
            <a:off x="4635801" y="4772777"/>
            <a:ext cx="2945455" cy="1309091"/>
            <a:chOff x="4635801" y="4772777"/>
            <a:chExt cx="2945455" cy="1309091"/>
          </a:xfrm>
        </p:grpSpPr>
        <p:sp>
          <p:nvSpPr>
            <p:cNvPr id="177" name="Rounded Rectangle 115">
              <a:extLst>
                <a:ext uri="{FF2B5EF4-FFF2-40B4-BE49-F238E27FC236}">
                  <a16:creationId xmlns:a16="http://schemas.microsoft.com/office/drawing/2014/main" id="{E2DBE721-5381-C691-C3DD-C200771A6161}"/>
                </a:ext>
              </a:extLst>
            </p:cNvPr>
            <p:cNvSpPr>
              <a:spLocks noChangeAspect="1"/>
            </p:cNvSpPr>
            <p:nvPr/>
          </p:nvSpPr>
          <p:spPr>
            <a:xfrm flipH="1">
              <a:off x="4635801" y="4772777"/>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grpSp>
          <p:nvGrpSpPr>
            <p:cNvPr id="4" name="Group 3">
              <a:extLst>
                <a:ext uri="{FF2B5EF4-FFF2-40B4-BE49-F238E27FC236}">
                  <a16:creationId xmlns:a16="http://schemas.microsoft.com/office/drawing/2014/main" id="{BE1A1293-9B50-AFEA-2BAD-560EA74E28E9}"/>
                </a:ext>
              </a:extLst>
            </p:cNvPr>
            <p:cNvGrpSpPr/>
            <p:nvPr/>
          </p:nvGrpSpPr>
          <p:grpSpPr>
            <a:xfrm>
              <a:off x="5887784" y="4852595"/>
              <a:ext cx="1612767" cy="1056740"/>
              <a:chOff x="5887784" y="4852595"/>
              <a:chExt cx="1612767" cy="1056740"/>
            </a:xfrm>
          </p:grpSpPr>
          <p:sp>
            <p:nvSpPr>
              <p:cNvPr id="5" name="TextBox 4">
                <a:extLst>
                  <a:ext uri="{FF2B5EF4-FFF2-40B4-BE49-F238E27FC236}">
                    <a16:creationId xmlns:a16="http://schemas.microsoft.com/office/drawing/2014/main" id="{D42019AC-8A92-EA6C-C548-DE808FF78B86}"/>
                  </a:ext>
                </a:extLst>
              </p:cNvPr>
              <p:cNvSpPr txBox="1">
                <a:spLocks/>
              </p:cNvSpPr>
              <p:nvPr/>
            </p:nvSpPr>
            <p:spPr>
              <a:xfrm>
                <a:off x="5887784" y="4852595"/>
                <a:ext cx="1612767"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576</a:t>
                </a:r>
              </a:p>
            </p:txBody>
          </p:sp>
          <p:sp>
            <p:nvSpPr>
              <p:cNvPr id="6" name="TextBox 5">
                <a:extLst>
                  <a:ext uri="{FF2B5EF4-FFF2-40B4-BE49-F238E27FC236}">
                    <a16:creationId xmlns:a16="http://schemas.microsoft.com/office/drawing/2014/main" id="{51DB8CA8-E356-4E03-DF9F-F850419D5B02}"/>
                  </a:ext>
                </a:extLst>
              </p:cNvPr>
              <p:cNvSpPr txBox="1">
                <a:spLocks/>
              </p:cNvSpPr>
              <p:nvPr/>
            </p:nvSpPr>
            <p:spPr>
              <a:xfrm>
                <a:off x="5887785" y="5355337"/>
                <a:ext cx="1554954" cy="553998"/>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days saved through </a:t>
                </a:r>
                <a:br>
                  <a:rPr lang="en-US" sz="1200">
                    <a:latin typeface="Source Sans 3" panose="020B0404040101010104" pitchFamily="34" charset="77"/>
                  </a:rPr>
                </a:br>
                <a:r>
                  <a:rPr lang="en-US" sz="1200">
                    <a:latin typeface="Source Sans 3" panose="020B0404040101010104" pitchFamily="34" charset="77"/>
                  </a:rPr>
                  <a:t>automated request processing </a:t>
                </a:r>
              </a:p>
            </p:txBody>
          </p:sp>
        </p:grpSp>
        <p:pic>
          <p:nvPicPr>
            <p:cNvPr id="190" name="Picture 189">
              <a:extLst>
                <a:ext uri="{FF2B5EF4-FFF2-40B4-BE49-F238E27FC236}">
                  <a16:creationId xmlns:a16="http://schemas.microsoft.com/office/drawing/2014/main" id="{CE7D94A4-699B-7751-1B8A-96E041B5B389}"/>
                </a:ext>
              </a:extLst>
            </p:cNvPr>
            <p:cNvPicPr>
              <a:picLocks noChangeAspect="1"/>
            </p:cNvPicPr>
            <p:nvPr/>
          </p:nvPicPr>
          <p:blipFill>
            <a:blip r:embed="rId17" cstate="screen">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a:ext>
              </a:extLst>
            </a:blip>
            <a:srcRect l="9555" r="10192"/>
            <a:stretch>
              <a:fillRect/>
            </a:stretch>
          </p:blipFill>
          <p:spPr>
            <a:xfrm>
              <a:off x="4801041" y="5245412"/>
              <a:ext cx="970771" cy="351771"/>
            </a:xfrm>
            <a:prstGeom prst="rect">
              <a:avLst/>
            </a:prstGeom>
          </p:spPr>
        </p:pic>
      </p:grpSp>
      <p:grpSp>
        <p:nvGrpSpPr>
          <p:cNvPr id="22" name="Group 21">
            <a:extLst>
              <a:ext uri="{FF2B5EF4-FFF2-40B4-BE49-F238E27FC236}">
                <a16:creationId xmlns:a16="http://schemas.microsoft.com/office/drawing/2014/main" id="{0AF819A3-E7AA-F5BC-AFB0-9214E6B15ACF}"/>
              </a:ext>
            </a:extLst>
          </p:cNvPr>
          <p:cNvGrpSpPr/>
          <p:nvPr/>
        </p:nvGrpSpPr>
        <p:grpSpPr>
          <a:xfrm>
            <a:off x="1304818" y="1344868"/>
            <a:ext cx="2945455" cy="1309091"/>
            <a:chOff x="1304818" y="1344868"/>
            <a:chExt cx="2945455" cy="1309091"/>
          </a:xfrm>
        </p:grpSpPr>
        <p:sp>
          <p:nvSpPr>
            <p:cNvPr id="129" name="Rounded Rectangle 115">
              <a:extLst>
                <a:ext uri="{FF2B5EF4-FFF2-40B4-BE49-F238E27FC236}">
                  <a16:creationId xmlns:a16="http://schemas.microsoft.com/office/drawing/2014/main" id="{C9CC83A3-AA42-E4EC-27B5-DA236D951C9C}"/>
                </a:ext>
              </a:extLst>
            </p:cNvPr>
            <p:cNvSpPr>
              <a:spLocks noChangeAspect="1"/>
            </p:cNvSpPr>
            <p:nvPr/>
          </p:nvSpPr>
          <p:spPr>
            <a:xfrm flipH="1">
              <a:off x="1304818" y="1344868"/>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000000"/>
                </a:solidFill>
                <a:effectLst/>
                <a:uLnTx/>
                <a:uFillTx/>
                <a:latin typeface="Source Sans 3" panose="020F0502020204030204" pitchFamily="34" charset="0"/>
                <a:ea typeface="+mn-ea"/>
                <a:cs typeface="Source Sans 3" panose="020F0502020204030204" pitchFamily="34" charset="0"/>
              </a:endParaRPr>
            </a:p>
          </p:txBody>
        </p:sp>
        <p:sp>
          <p:nvSpPr>
            <p:cNvPr id="130" name="TextBox 129">
              <a:extLst>
                <a:ext uri="{FF2B5EF4-FFF2-40B4-BE49-F238E27FC236}">
                  <a16:creationId xmlns:a16="http://schemas.microsoft.com/office/drawing/2014/main" id="{EB9BEAC5-B01E-3D7C-A747-03C93AB65A0F}"/>
                </a:ext>
              </a:extLst>
            </p:cNvPr>
            <p:cNvSpPr txBox="1">
              <a:spLocks/>
            </p:cNvSpPr>
            <p:nvPr/>
          </p:nvSpPr>
          <p:spPr>
            <a:xfrm>
              <a:off x="2613798" y="1509428"/>
              <a:ext cx="1458020" cy="513987"/>
            </a:xfrm>
            <a:prstGeom prst="rect">
              <a:avLst/>
            </a:prstGeom>
            <a:noFill/>
          </p:spPr>
          <p:txBody>
            <a:bodyPr wrap="square" lIns="36000" tIns="0" rIns="0" bIns="0" anchor="b" anchorCtr="0">
              <a:noAutofit/>
            </a:bodyPr>
            <a:lstStyle/>
            <a:p>
              <a:pPr marL="0" marR="0" lvl="0" indent="0" defTabSz="456766" rtl="0" eaLnBrk="1" fontAlgn="auto" latinLnBrk="0" hangingPunct="1">
                <a:lnSpc>
                  <a:spcPct val="95000"/>
                </a:lnSpc>
                <a:spcBef>
                  <a:spcPts val="0"/>
                </a:spcBef>
                <a:spcAft>
                  <a:spcPts val="200"/>
                </a:spcAft>
                <a:buClrTx/>
                <a:buSzTx/>
                <a:buFontTx/>
                <a:buNone/>
                <a:tabLst/>
                <a:defRPr/>
              </a:pPr>
              <a:r>
                <a:rPr kumimoji="0" lang="en-US" sz="3200" b="1" u="none" strike="noStrike" kern="1200" cap="none" spc="0" normalizeH="0" baseline="0" noProof="0" dirty="0">
                  <a:ln>
                    <a:noFill/>
                  </a:ln>
                  <a:solidFill>
                    <a:srgbClr val="8FFFDB"/>
                  </a:solidFill>
                  <a:effectLst/>
                  <a:uLnTx/>
                  <a:uFillTx/>
                  <a:latin typeface="Source Sans 3" panose="020B0504040101010104" pitchFamily="34" charset="77"/>
                  <a:cs typeface="Source Sans 3" panose="020F0502020204030204" pitchFamily="34" charset="0"/>
                </a:rPr>
                <a:t>90</a:t>
              </a:r>
              <a:r>
                <a:rPr kumimoji="0" lang="en-US" sz="3200" b="1" u="none" strike="noStrike" kern="1200" cap="none" spc="0" normalizeH="0" baseline="30000" noProof="0" dirty="0">
                  <a:ln>
                    <a:noFill/>
                  </a:ln>
                  <a:solidFill>
                    <a:srgbClr val="8FFFDB"/>
                  </a:solidFill>
                  <a:effectLst/>
                  <a:uLnTx/>
                  <a:uFillTx/>
                  <a:latin typeface="Source Sans 3" panose="020B0504040101010104" pitchFamily="34" charset="77"/>
                  <a:cs typeface="Source Sans 3" panose="020F0502020204030204" pitchFamily="34" charset="0"/>
                </a:rPr>
                <a:t>%</a:t>
              </a:r>
            </a:p>
          </p:txBody>
        </p:sp>
        <p:sp>
          <p:nvSpPr>
            <p:cNvPr id="131" name="TextBox 130">
              <a:extLst>
                <a:ext uri="{FF2B5EF4-FFF2-40B4-BE49-F238E27FC236}">
                  <a16:creationId xmlns:a16="http://schemas.microsoft.com/office/drawing/2014/main" id="{E3AA40A9-FF14-BC63-651D-27D32B25EA3E}"/>
                </a:ext>
              </a:extLst>
            </p:cNvPr>
            <p:cNvSpPr txBox="1">
              <a:spLocks/>
            </p:cNvSpPr>
            <p:nvPr/>
          </p:nvSpPr>
          <p:spPr>
            <a:xfrm>
              <a:off x="2613799" y="2034948"/>
              <a:ext cx="1458020"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reduction in event incident tickets</a:t>
              </a:r>
            </a:p>
          </p:txBody>
        </p:sp>
        <p:pic>
          <p:nvPicPr>
            <p:cNvPr id="10" name="Picture 4" descr="Collection of Logo Fonterra PNG. | PlusPNG">
              <a:extLst>
                <a:ext uri="{FF2B5EF4-FFF2-40B4-BE49-F238E27FC236}">
                  <a16:creationId xmlns:a16="http://schemas.microsoft.com/office/drawing/2014/main" id="{A34F257F-710A-026E-2F30-2E1B393289FF}"/>
                </a:ext>
              </a:extLst>
            </p:cNvPr>
            <p:cNvPicPr>
              <a:picLocks noChangeAspect="1"/>
            </p:cNvPicPr>
            <p:nvPr/>
          </p:nvPicPr>
          <p:blipFill rotWithShape="1">
            <a:blip r:embed="rId19" cstate="screen">
              <a:extLst>
                <a:ext uri="{28A0092B-C50C-407E-A947-70E740481C1C}">
                  <a14:useLocalDpi xmlns:a14="http://schemas.microsoft.com/office/drawing/2010/main"/>
                </a:ext>
              </a:extLst>
            </a:blip>
            <a:srcRect l="20598" t="7932" r="22277" b="30819"/>
            <a:stretch>
              <a:fillRect/>
            </a:stretch>
          </p:blipFill>
          <p:spPr bwMode="auto">
            <a:xfrm>
              <a:off x="1547960" y="1774320"/>
              <a:ext cx="754279" cy="414479"/>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Text Placeholder 16">
            <a:extLst>
              <a:ext uri="{FF2B5EF4-FFF2-40B4-BE49-F238E27FC236}">
                <a16:creationId xmlns:a16="http://schemas.microsoft.com/office/drawing/2014/main" id="{4BCE5D3A-B354-E229-42A5-C39AA7B94FB5}"/>
              </a:ext>
            </a:extLst>
          </p:cNvPr>
          <p:cNvSpPr>
            <a:spLocks noGrp="1"/>
          </p:cNvSpPr>
          <p:nvPr>
            <p:ph type="body" sz="quarter" idx="11"/>
          </p:nvPr>
        </p:nvSpPr>
        <p:spPr/>
        <p:txBody>
          <a:bodyPr/>
          <a:lstStyle/>
          <a:p>
            <a:r>
              <a:rPr lang="en-US"/>
              <a:t>Other company and product names may be trademarks of the respective companies with which they are associated.</a:t>
            </a:r>
          </a:p>
        </p:txBody>
      </p:sp>
      <p:grpSp>
        <p:nvGrpSpPr>
          <p:cNvPr id="21" name="Group 20">
            <a:extLst>
              <a:ext uri="{FF2B5EF4-FFF2-40B4-BE49-F238E27FC236}">
                <a16:creationId xmlns:a16="http://schemas.microsoft.com/office/drawing/2014/main" id="{E3CB76B1-4277-131D-FC0D-4B7182C67FE3}"/>
              </a:ext>
            </a:extLst>
          </p:cNvPr>
          <p:cNvGrpSpPr/>
          <p:nvPr/>
        </p:nvGrpSpPr>
        <p:grpSpPr>
          <a:xfrm>
            <a:off x="1304818" y="3058822"/>
            <a:ext cx="2945455" cy="1309091"/>
            <a:chOff x="1304818" y="3058822"/>
            <a:chExt cx="2945455" cy="1309091"/>
          </a:xfrm>
        </p:grpSpPr>
        <p:sp>
          <p:nvSpPr>
            <p:cNvPr id="172" name="Rounded Rectangle 115">
              <a:extLst>
                <a:ext uri="{FF2B5EF4-FFF2-40B4-BE49-F238E27FC236}">
                  <a16:creationId xmlns:a16="http://schemas.microsoft.com/office/drawing/2014/main" id="{7EB5A0FF-9D3C-2215-F484-CA701C08E740}"/>
                </a:ext>
              </a:extLst>
            </p:cNvPr>
            <p:cNvSpPr>
              <a:spLocks noChangeAspect="1"/>
            </p:cNvSpPr>
            <p:nvPr/>
          </p:nvSpPr>
          <p:spPr>
            <a:xfrm flipH="1">
              <a:off x="1304818" y="3058822"/>
              <a:ext cx="2945455" cy="1309091"/>
            </a:xfrm>
            <a:prstGeom prst="roundRect">
              <a:avLst>
                <a:gd name="adj" fmla="val 10058"/>
              </a:avLst>
            </a:prstGeom>
            <a:blipFill>
              <a:blip r:embed="rId6"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156" name="TextBox 155">
              <a:extLst>
                <a:ext uri="{FF2B5EF4-FFF2-40B4-BE49-F238E27FC236}">
                  <a16:creationId xmlns:a16="http://schemas.microsoft.com/office/drawing/2014/main" id="{FAA2DB06-6528-27EB-C800-710224062189}"/>
                </a:ext>
              </a:extLst>
            </p:cNvPr>
            <p:cNvSpPr txBox="1">
              <a:spLocks/>
            </p:cNvSpPr>
            <p:nvPr/>
          </p:nvSpPr>
          <p:spPr>
            <a:xfrm>
              <a:off x="2613799" y="3741680"/>
              <a:ext cx="1422008"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pPr algn="l"/>
              <a:r>
                <a:rPr lang="en-US" sz="1200">
                  <a:latin typeface="Source Sans 3" panose="020B0404040101010104" pitchFamily="34" charset="77"/>
                </a:rPr>
                <a:t>reduction in mean </a:t>
              </a:r>
              <a:br>
                <a:rPr lang="en-US" sz="1200">
                  <a:latin typeface="Source Sans 3" panose="020B0404040101010104" pitchFamily="34" charset="77"/>
                </a:rPr>
              </a:br>
              <a:r>
                <a:rPr lang="en-US" sz="1200">
                  <a:latin typeface="Source Sans 3" panose="020B0404040101010104" pitchFamily="34" charset="77"/>
                </a:rPr>
                <a:t>time to resolve</a:t>
              </a:r>
            </a:p>
          </p:txBody>
        </p:sp>
        <p:sp>
          <p:nvSpPr>
            <p:cNvPr id="155" name="TextBox 154">
              <a:extLst>
                <a:ext uri="{FF2B5EF4-FFF2-40B4-BE49-F238E27FC236}">
                  <a16:creationId xmlns:a16="http://schemas.microsoft.com/office/drawing/2014/main" id="{8EEDA0AE-4235-99C8-D514-B702CA139C7E}"/>
                </a:ext>
              </a:extLst>
            </p:cNvPr>
            <p:cNvSpPr txBox="1">
              <a:spLocks/>
            </p:cNvSpPr>
            <p:nvPr/>
          </p:nvSpPr>
          <p:spPr>
            <a:xfrm>
              <a:off x="2933043" y="3227353"/>
              <a:ext cx="1087630"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r>
                <a:rPr lang="en-US" b="1">
                  <a:latin typeface="Source Sans 3" panose="020B0504040101010104" pitchFamily="34" charset="77"/>
                </a:rPr>
                <a:t>33</a:t>
              </a:r>
              <a:r>
                <a:rPr lang="en-US" b="1" baseline="30000">
                  <a:latin typeface="Source Sans 3" panose="020B0504040101010104" pitchFamily="34" charset="77"/>
                </a:rPr>
                <a:t>%</a:t>
              </a:r>
            </a:p>
          </p:txBody>
        </p:sp>
        <p:grpSp>
          <p:nvGrpSpPr>
            <p:cNvPr id="183" name="Group 182">
              <a:extLst>
                <a:ext uri="{FF2B5EF4-FFF2-40B4-BE49-F238E27FC236}">
                  <a16:creationId xmlns:a16="http://schemas.microsoft.com/office/drawing/2014/main" id="{86B50A2F-DBE6-8710-74B9-8DF39C6E033D}"/>
                </a:ext>
              </a:extLst>
            </p:cNvPr>
            <p:cNvGrpSpPr>
              <a:grpSpLocks noChangeAspect="1"/>
            </p:cNvGrpSpPr>
            <p:nvPr/>
          </p:nvGrpSpPr>
          <p:grpSpPr>
            <a:xfrm>
              <a:off x="1663780" y="3472475"/>
              <a:ext cx="496745" cy="496745"/>
              <a:chOff x="1901939" y="3442090"/>
              <a:chExt cx="274276" cy="274276"/>
            </a:xfrm>
          </p:grpSpPr>
          <p:sp>
            <p:nvSpPr>
              <p:cNvPr id="158" name="Freeform 28">
                <a:extLst>
                  <a:ext uri="{FF2B5EF4-FFF2-40B4-BE49-F238E27FC236}">
                    <a16:creationId xmlns:a16="http://schemas.microsoft.com/office/drawing/2014/main" id="{DCB22D1D-0F14-AD36-AB9C-C0ED8754DC31}"/>
                  </a:ext>
                </a:extLst>
              </p:cNvPr>
              <p:cNvSpPr>
                <a:spLocks/>
              </p:cNvSpPr>
              <p:nvPr/>
            </p:nvSpPr>
            <p:spPr>
              <a:xfrm>
                <a:off x="1901939" y="3442090"/>
                <a:ext cx="274276" cy="274276"/>
              </a:xfrm>
              <a:custGeom>
                <a:avLst/>
                <a:gdLst>
                  <a:gd name="connsiteX0" fmla="*/ 378861 w 757722"/>
                  <a:gd name="connsiteY0" fmla="*/ 0 h 757722"/>
                  <a:gd name="connsiteX1" fmla="*/ 0 w 757722"/>
                  <a:gd name="connsiteY1" fmla="*/ 378861 h 757722"/>
                  <a:gd name="connsiteX2" fmla="*/ 378861 w 757722"/>
                  <a:gd name="connsiteY2" fmla="*/ 757722 h 757722"/>
                  <a:gd name="connsiteX3" fmla="*/ 757722 w 757722"/>
                  <a:gd name="connsiteY3" fmla="*/ 378861 h 757722"/>
                  <a:gd name="connsiteX4" fmla="*/ 378861 w 757722"/>
                  <a:gd name="connsiteY4" fmla="*/ 0 h 757722"/>
                  <a:gd name="connsiteX5" fmla="*/ 378709 w 757722"/>
                  <a:gd name="connsiteY5" fmla="*/ 46722 h 757722"/>
                  <a:gd name="connsiteX6" fmla="*/ 711302 w 757722"/>
                  <a:gd name="connsiteY6" fmla="*/ 379316 h 757722"/>
                  <a:gd name="connsiteX7" fmla="*/ 378709 w 757722"/>
                  <a:gd name="connsiteY7" fmla="*/ 711911 h 757722"/>
                  <a:gd name="connsiteX8" fmla="*/ 46116 w 757722"/>
                  <a:gd name="connsiteY8" fmla="*/ 379316 h 757722"/>
                  <a:gd name="connsiteX9" fmla="*/ 378709 w 757722"/>
                  <a:gd name="connsiteY9" fmla="*/ 46722 h 757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722" h="757722">
                    <a:moveTo>
                      <a:pt x="378861" y="0"/>
                    </a:moveTo>
                    <a:cubicBezTo>
                      <a:pt x="169596" y="0"/>
                      <a:pt x="0" y="169596"/>
                      <a:pt x="0" y="378861"/>
                    </a:cubicBezTo>
                    <a:cubicBezTo>
                      <a:pt x="0" y="588125"/>
                      <a:pt x="169596" y="757722"/>
                      <a:pt x="378861" y="757722"/>
                    </a:cubicBezTo>
                    <a:cubicBezTo>
                      <a:pt x="588125" y="757722"/>
                      <a:pt x="757722" y="588049"/>
                      <a:pt x="757722" y="378861"/>
                    </a:cubicBezTo>
                    <a:cubicBezTo>
                      <a:pt x="757722" y="169672"/>
                      <a:pt x="588049" y="0"/>
                      <a:pt x="378861" y="0"/>
                    </a:cubicBezTo>
                    <a:close/>
                    <a:moveTo>
                      <a:pt x="378709" y="46722"/>
                    </a:moveTo>
                    <a:cubicBezTo>
                      <a:pt x="562413" y="46722"/>
                      <a:pt x="711302" y="195612"/>
                      <a:pt x="711302" y="379316"/>
                    </a:cubicBezTo>
                    <a:cubicBezTo>
                      <a:pt x="711302" y="563019"/>
                      <a:pt x="562413" y="711911"/>
                      <a:pt x="378709" y="711911"/>
                    </a:cubicBezTo>
                    <a:cubicBezTo>
                      <a:pt x="195005" y="711911"/>
                      <a:pt x="46116" y="562943"/>
                      <a:pt x="46116" y="379316"/>
                    </a:cubicBezTo>
                    <a:cubicBezTo>
                      <a:pt x="46116" y="195688"/>
                      <a:pt x="195005" y="46722"/>
                      <a:pt x="378709" y="46722"/>
                    </a:cubicBezTo>
                    <a:close/>
                  </a:path>
                </a:pathLst>
              </a:custGeom>
              <a:solidFill>
                <a:schemeClr val="bg1"/>
              </a:solidFill>
              <a:ln w="3135" cap="flat">
                <a:noFill/>
                <a:prstDash val="solid"/>
                <a:miter/>
              </a:ln>
            </p:spPr>
            <p:txBody>
              <a:bodyPr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i="0" u="none" strike="noStrike" kern="0" cap="none" spc="0" normalizeH="0" baseline="0" noProof="0">
                  <a:ln>
                    <a:noFill/>
                  </a:ln>
                  <a:solidFill>
                    <a:srgbClr val="000000"/>
                  </a:solidFill>
                  <a:effectLst/>
                  <a:uLnTx/>
                  <a:uFillTx/>
                  <a:latin typeface="Source Sans 3" panose="020F0502020204030204" pitchFamily="34" charset="0"/>
                  <a:ea typeface="+mn-ea"/>
                  <a:cs typeface="Source Sans 3" panose="020F0502020204030204" pitchFamily="34" charset="0"/>
                </a:endParaRPr>
              </a:p>
            </p:txBody>
          </p:sp>
          <p:sp>
            <p:nvSpPr>
              <p:cNvPr id="159" name="Freeform 29">
                <a:extLst>
                  <a:ext uri="{FF2B5EF4-FFF2-40B4-BE49-F238E27FC236}">
                    <a16:creationId xmlns:a16="http://schemas.microsoft.com/office/drawing/2014/main" id="{335DFDBA-E14E-EEEE-9AF8-310E9C4530E6}"/>
                  </a:ext>
                </a:extLst>
              </p:cNvPr>
              <p:cNvSpPr>
                <a:spLocks/>
              </p:cNvSpPr>
              <p:nvPr/>
            </p:nvSpPr>
            <p:spPr>
              <a:xfrm>
                <a:off x="1970713" y="3532362"/>
                <a:ext cx="68528" cy="93375"/>
              </a:xfrm>
              <a:custGeom>
                <a:avLst/>
                <a:gdLst>
                  <a:gd name="connsiteX0" fmla="*/ 0 w 189317"/>
                  <a:gd name="connsiteY0" fmla="*/ 0 h 257960"/>
                  <a:gd name="connsiteX1" fmla="*/ 0 w 189317"/>
                  <a:gd name="connsiteY1" fmla="*/ 257960 h 257960"/>
                  <a:gd name="connsiteX2" fmla="*/ 104974 w 189317"/>
                  <a:gd name="connsiteY2" fmla="*/ 257960 h 257960"/>
                  <a:gd name="connsiteX3" fmla="*/ 189318 w 189317"/>
                  <a:gd name="connsiteY3" fmla="*/ 180972 h 257960"/>
                  <a:gd name="connsiteX4" fmla="*/ 156853 w 189317"/>
                  <a:gd name="connsiteY4" fmla="*/ 123480 h 257960"/>
                  <a:gd name="connsiteX5" fmla="*/ 181807 w 189317"/>
                  <a:gd name="connsiteY5" fmla="*/ 72208 h 257960"/>
                  <a:gd name="connsiteX6" fmla="*/ 101485 w 189317"/>
                  <a:gd name="connsiteY6" fmla="*/ 0 h 257960"/>
                  <a:gd name="connsiteX7" fmla="*/ 0 w 189317"/>
                  <a:gd name="connsiteY7" fmla="*/ 0 h 257960"/>
                  <a:gd name="connsiteX8" fmla="*/ 58100 w 189317"/>
                  <a:gd name="connsiteY8" fmla="*/ 50363 h 257960"/>
                  <a:gd name="connsiteX9" fmla="*/ 89121 w 189317"/>
                  <a:gd name="connsiteY9" fmla="*/ 50363 h 257960"/>
                  <a:gd name="connsiteX10" fmla="*/ 120750 w 189317"/>
                  <a:gd name="connsiteY10" fmla="*/ 75696 h 257960"/>
                  <a:gd name="connsiteX11" fmla="*/ 90563 w 189317"/>
                  <a:gd name="connsiteY11" fmla="*/ 100499 h 257960"/>
                  <a:gd name="connsiteX12" fmla="*/ 58100 w 189317"/>
                  <a:gd name="connsiteY12" fmla="*/ 100499 h 257960"/>
                  <a:gd name="connsiteX13" fmla="*/ 58100 w 189317"/>
                  <a:gd name="connsiteY13" fmla="*/ 50363 h 257960"/>
                  <a:gd name="connsiteX14" fmla="*/ 58100 w 189317"/>
                  <a:gd name="connsiteY14" fmla="*/ 152151 h 257960"/>
                  <a:gd name="connsiteX15" fmla="*/ 89121 w 189317"/>
                  <a:gd name="connsiteY15" fmla="*/ 152151 h 257960"/>
                  <a:gd name="connsiteX16" fmla="*/ 120750 w 189317"/>
                  <a:gd name="connsiteY16" fmla="*/ 177484 h 257960"/>
                  <a:gd name="connsiteX17" fmla="*/ 90563 w 189317"/>
                  <a:gd name="connsiteY17" fmla="*/ 202287 h 257960"/>
                  <a:gd name="connsiteX18" fmla="*/ 58100 w 189317"/>
                  <a:gd name="connsiteY18" fmla="*/ 202287 h 257960"/>
                  <a:gd name="connsiteX19" fmla="*/ 58100 w 189317"/>
                  <a:gd name="connsiteY19" fmla="*/ 152151 h 257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9317" h="257960">
                    <a:moveTo>
                      <a:pt x="0" y="0"/>
                    </a:moveTo>
                    <a:lnTo>
                      <a:pt x="0" y="257960"/>
                    </a:lnTo>
                    <a:lnTo>
                      <a:pt x="104974" y="257960"/>
                    </a:lnTo>
                    <a:cubicBezTo>
                      <a:pt x="152682" y="257960"/>
                      <a:pt x="189318" y="228150"/>
                      <a:pt x="189318" y="180972"/>
                    </a:cubicBezTo>
                    <a:cubicBezTo>
                      <a:pt x="189318" y="139408"/>
                      <a:pt x="156853" y="123480"/>
                      <a:pt x="156853" y="123480"/>
                    </a:cubicBezTo>
                    <a:cubicBezTo>
                      <a:pt x="156853" y="123480"/>
                      <a:pt x="181807" y="107552"/>
                      <a:pt x="181807" y="72208"/>
                    </a:cubicBezTo>
                    <a:cubicBezTo>
                      <a:pt x="181807" y="31098"/>
                      <a:pt x="149345" y="0"/>
                      <a:pt x="101485" y="0"/>
                    </a:cubicBezTo>
                    <a:lnTo>
                      <a:pt x="0" y="0"/>
                    </a:lnTo>
                    <a:close/>
                    <a:moveTo>
                      <a:pt x="58100" y="50363"/>
                    </a:moveTo>
                    <a:lnTo>
                      <a:pt x="89121" y="50363"/>
                    </a:lnTo>
                    <a:cubicBezTo>
                      <a:pt x="111193" y="50363"/>
                      <a:pt x="120750" y="61664"/>
                      <a:pt x="120750" y="75696"/>
                    </a:cubicBezTo>
                    <a:cubicBezTo>
                      <a:pt x="120750" y="90867"/>
                      <a:pt x="109828" y="100499"/>
                      <a:pt x="90563" y="100499"/>
                    </a:cubicBezTo>
                    <a:lnTo>
                      <a:pt x="58100" y="100499"/>
                    </a:lnTo>
                    <a:lnTo>
                      <a:pt x="58100" y="50363"/>
                    </a:lnTo>
                    <a:close/>
                    <a:moveTo>
                      <a:pt x="58100" y="152151"/>
                    </a:moveTo>
                    <a:lnTo>
                      <a:pt x="89121" y="152151"/>
                    </a:lnTo>
                    <a:cubicBezTo>
                      <a:pt x="111193" y="152151"/>
                      <a:pt x="120750" y="163453"/>
                      <a:pt x="120750" y="177484"/>
                    </a:cubicBezTo>
                    <a:cubicBezTo>
                      <a:pt x="120750" y="192654"/>
                      <a:pt x="109828" y="202287"/>
                      <a:pt x="90563" y="202287"/>
                    </a:cubicBezTo>
                    <a:lnTo>
                      <a:pt x="58100" y="202287"/>
                    </a:lnTo>
                    <a:lnTo>
                      <a:pt x="58100" y="152151"/>
                    </a:lnTo>
                    <a:close/>
                  </a:path>
                </a:pathLst>
              </a:custGeom>
              <a:solidFill>
                <a:schemeClr val="bg1"/>
              </a:solidFill>
              <a:ln w="3135" cap="flat">
                <a:noFill/>
                <a:prstDash val="solid"/>
                <a:miter/>
              </a:ln>
            </p:spPr>
            <p:txBody>
              <a:bodyPr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i="0" u="none" strike="noStrike" kern="0" cap="none" spc="0" normalizeH="0" baseline="0" noProof="0">
                  <a:ln>
                    <a:noFill/>
                  </a:ln>
                  <a:solidFill>
                    <a:srgbClr val="000000"/>
                  </a:solidFill>
                  <a:effectLst/>
                  <a:uLnTx/>
                  <a:uFillTx/>
                  <a:latin typeface="Source Sans 3" panose="020F0502020204030204" pitchFamily="34" charset="0"/>
                  <a:ea typeface="+mn-ea"/>
                  <a:cs typeface="Source Sans 3" panose="020F0502020204030204" pitchFamily="34" charset="0"/>
                </a:endParaRPr>
              </a:p>
            </p:txBody>
          </p:sp>
          <p:sp>
            <p:nvSpPr>
              <p:cNvPr id="160" name="Freeform 30">
                <a:extLst>
                  <a:ext uri="{FF2B5EF4-FFF2-40B4-BE49-F238E27FC236}">
                    <a16:creationId xmlns:a16="http://schemas.microsoft.com/office/drawing/2014/main" id="{9091AEFC-6AFA-9A55-7320-712426E61293}"/>
                  </a:ext>
                </a:extLst>
              </p:cNvPr>
              <p:cNvSpPr>
                <a:spLocks/>
              </p:cNvSpPr>
              <p:nvPr/>
            </p:nvSpPr>
            <p:spPr>
              <a:xfrm>
                <a:off x="2046434" y="3532197"/>
                <a:ext cx="65343" cy="93237"/>
              </a:xfrm>
              <a:custGeom>
                <a:avLst/>
                <a:gdLst>
                  <a:gd name="connsiteX0" fmla="*/ 58023 w 180517"/>
                  <a:gd name="connsiteY0" fmla="*/ 257578 h 257578"/>
                  <a:gd name="connsiteX1" fmla="*/ 58023 w 180517"/>
                  <a:gd name="connsiteY1" fmla="*/ 59616 h 257578"/>
                  <a:gd name="connsiteX2" fmla="*/ 0 w 180517"/>
                  <a:gd name="connsiteY2" fmla="*/ 59616 h 257578"/>
                  <a:gd name="connsiteX3" fmla="*/ 0 w 180517"/>
                  <a:gd name="connsiteY3" fmla="*/ 0 h 257578"/>
                  <a:gd name="connsiteX4" fmla="*/ 180518 w 180517"/>
                  <a:gd name="connsiteY4" fmla="*/ 0 h 257578"/>
                  <a:gd name="connsiteX5" fmla="*/ 180518 w 180517"/>
                  <a:gd name="connsiteY5" fmla="*/ 59616 h 257578"/>
                  <a:gd name="connsiteX6" fmla="*/ 119992 w 180517"/>
                  <a:gd name="connsiteY6" fmla="*/ 59616 h 257578"/>
                  <a:gd name="connsiteX7" fmla="*/ 119992 w 180517"/>
                  <a:gd name="connsiteY7" fmla="*/ 257578 h 257578"/>
                  <a:gd name="connsiteX8" fmla="*/ 58023 w 180517"/>
                  <a:gd name="connsiteY8" fmla="*/ 257578 h 257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517" h="257578">
                    <a:moveTo>
                      <a:pt x="58023" y="257578"/>
                    </a:moveTo>
                    <a:lnTo>
                      <a:pt x="58023" y="59616"/>
                    </a:lnTo>
                    <a:lnTo>
                      <a:pt x="0" y="59616"/>
                    </a:lnTo>
                    <a:lnTo>
                      <a:pt x="0" y="0"/>
                    </a:lnTo>
                    <a:lnTo>
                      <a:pt x="180518" y="0"/>
                    </a:lnTo>
                    <a:lnTo>
                      <a:pt x="180518" y="59616"/>
                    </a:lnTo>
                    <a:lnTo>
                      <a:pt x="119992" y="59616"/>
                    </a:lnTo>
                    <a:lnTo>
                      <a:pt x="119992" y="257578"/>
                    </a:lnTo>
                    <a:lnTo>
                      <a:pt x="58023" y="257578"/>
                    </a:lnTo>
                    <a:close/>
                  </a:path>
                </a:pathLst>
              </a:custGeom>
              <a:solidFill>
                <a:schemeClr val="bg1"/>
              </a:solidFill>
              <a:ln w="3135" cap="flat">
                <a:noFill/>
                <a:prstDash val="solid"/>
                <a:miter/>
              </a:ln>
            </p:spPr>
            <p:txBody>
              <a:bodyPr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i="0" u="none" strike="noStrike" kern="0" cap="none" spc="0" normalizeH="0" baseline="0" noProof="0">
                  <a:ln>
                    <a:noFill/>
                  </a:ln>
                  <a:solidFill>
                    <a:srgbClr val="000000"/>
                  </a:solidFill>
                  <a:effectLst/>
                  <a:uLnTx/>
                  <a:uFillTx/>
                  <a:latin typeface="Source Sans 3" panose="020F0502020204030204" pitchFamily="34" charset="0"/>
                  <a:ea typeface="+mn-ea"/>
                  <a:cs typeface="Source Sans 3" panose="020F0502020204030204" pitchFamily="34" charset="0"/>
                </a:endParaRPr>
              </a:p>
            </p:txBody>
          </p:sp>
        </p:grpSp>
        <p:sp>
          <p:nvSpPr>
            <p:cNvPr id="161" name="Freeform: Shape 239">
              <a:extLst>
                <a:ext uri="{FF2B5EF4-FFF2-40B4-BE49-F238E27FC236}">
                  <a16:creationId xmlns:a16="http://schemas.microsoft.com/office/drawing/2014/main" id="{2B47EE16-CC8D-7D52-44DC-C3F8156FF4E1}"/>
                </a:ext>
              </a:extLst>
            </p:cNvPr>
            <p:cNvSpPr>
              <a:spLocks/>
            </p:cNvSpPr>
            <p:nvPr/>
          </p:nvSpPr>
          <p:spPr>
            <a:xfrm rot="5400000">
              <a:off x="2687454" y="3445166"/>
              <a:ext cx="147265" cy="183854"/>
            </a:xfrm>
            <a:custGeom>
              <a:avLst/>
              <a:gdLst>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58016 w 285783"/>
                <a:gd name="connsiteY6" fmla="*/ 178411 h 356788"/>
                <a:gd name="connsiteX7" fmla="*/ 6061 w 285783"/>
                <a:gd name="connsiteY7" fmla="*/ 211315 h 356788"/>
                <a:gd name="connsiteX8" fmla="*/ 0 w 285783"/>
                <a:gd name="connsiteY8" fmla="*/ 222572 h 356788"/>
                <a:gd name="connsiteX9" fmla="*/ 0 w 285783"/>
                <a:gd name="connsiteY9" fmla="*/ 343799 h 356788"/>
                <a:gd name="connsiteX10" fmla="*/ 12989 w 285783"/>
                <a:gd name="connsiteY10" fmla="*/ 356788 h 356788"/>
                <a:gd name="connsiteX11" fmla="*/ 12989 w 285783"/>
                <a:gd name="connsiteY11" fmla="*/ 356788 h 356788"/>
                <a:gd name="connsiteX12" fmla="*/ 19916 w 285783"/>
                <a:gd name="connsiteY12" fmla="*/ 355056 h 356788"/>
                <a:gd name="connsiteX13" fmla="*/ 279689 w 285783"/>
                <a:gd name="connsiteY13" fmla="*/ 189668 h 356788"/>
                <a:gd name="connsiteX14" fmla="*/ 284018 w 285783"/>
                <a:gd name="connsiteY14" fmla="*/ 171483 h 356788"/>
                <a:gd name="connsiteX15" fmla="*/ 279689 w 285783"/>
                <a:gd name="connsiteY15"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134249 h 356788"/>
                <a:gd name="connsiteX5" fmla="*/ 6061 w 285783"/>
                <a:gd name="connsiteY5" fmla="*/ 145506 h 356788"/>
                <a:gd name="connsiteX6" fmla="*/ 6061 w 285783"/>
                <a:gd name="connsiteY6" fmla="*/ 211315 h 356788"/>
                <a:gd name="connsiteX7" fmla="*/ 0 w 285783"/>
                <a:gd name="connsiteY7" fmla="*/ 222572 h 356788"/>
                <a:gd name="connsiteX8" fmla="*/ 0 w 285783"/>
                <a:gd name="connsiteY8" fmla="*/ 343799 h 356788"/>
                <a:gd name="connsiteX9" fmla="*/ 12989 w 285783"/>
                <a:gd name="connsiteY9" fmla="*/ 356788 h 356788"/>
                <a:gd name="connsiteX10" fmla="*/ 12989 w 285783"/>
                <a:gd name="connsiteY10" fmla="*/ 356788 h 356788"/>
                <a:gd name="connsiteX11" fmla="*/ 19916 w 285783"/>
                <a:gd name="connsiteY11" fmla="*/ 355056 h 356788"/>
                <a:gd name="connsiteX12" fmla="*/ 279689 w 285783"/>
                <a:gd name="connsiteY12" fmla="*/ 189668 h 356788"/>
                <a:gd name="connsiteX13" fmla="*/ 284018 w 285783"/>
                <a:gd name="connsiteY13" fmla="*/ 171483 h 356788"/>
                <a:gd name="connsiteX14" fmla="*/ 279689 w 285783"/>
                <a:gd name="connsiteY14"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145506 h 356788"/>
                <a:gd name="connsiteX6" fmla="*/ 6203 w 285925"/>
                <a:gd name="connsiteY6" fmla="*/ 211315 h 356788"/>
                <a:gd name="connsiteX7" fmla="*/ 142 w 285925"/>
                <a:gd name="connsiteY7" fmla="*/ 343799 h 356788"/>
                <a:gd name="connsiteX8" fmla="*/ 13131 w 285925"/>
                <a:gd name="connsiteY8" fmla="*/ 356788 h 356788"/>
                <a:gd name="connsiteX9" fmla="*/ 13131 w 285925"/>
                <a:gd name="connsiteY9" fmla="*/ 356788 h 356788"/>
                <a:gd name="connsiteX10" fmla="*/ 20058 w 285925"/>
                <a:gd name="connsiteY10" fmla="*/ 355056 h 356788"/>
                <a:gd name="connsiteX11" fmla="*/ 279831 w 285925"/>
                <a:gd name="connsiteY11" fmla="*/ 189668 h 356788"/>
                <a:gd name="connsiteX12" fmla="*/ 284160 w 285925"/>
                <a:gd name="connsiteY12" fmla="*/ 171483 h 356788"/>
                <a:gd name="connsiteX13" fmla="*/ 279831 w 285925"/>
                <a:gd name="connsiteY13"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142 w 285925"/>
                <a:gd name="connsiteY4" fmla="*/ 134249 h 356788"/>
                <a:gd name="connsiteX5" fmla="*/ 6203 w 285925"/>
                <a:gd name="connsiteY5" fmla="*/ 211315 h 356788"/>
                <a:gd name="connsiteX6" fmla="*/ 142 w 285925"/>
                <a:gd name="connsiteY6" fmla="*/ 343799 h 356788"/>
                <a:gd name="connsiteX7" fmla="*/ 13131 w 285925"/>
                <a:gd name="connsiteY7" fmla="*/ 356788 h 356788"/>
                <a:gd name="connsiteX8" fmla="*/ 13131 w 285925"/>
                <a:gd name="connsiteY8" fmla="*/ 356788 h 356788"/>
                <a:gd name="connsiteX9" fmla="*/ 20058 w 285925"/>
                <a:gd name="connsiteY9" fmla="*/ 355056 h 356788"/>
                <a:gd name="connsiteX10" fmla="*/ 279831 w 285925"/>
                <a:gd name="connsiteY10" fmla="*/ 189668 h 356788"/>
                <a:gd name="connsiteX11" fmla="*/ 284160 w 285925"/>
                <a:gd name="connsiteY11" fmla="*/ 171483 h 356788"/>
                <a:gd name="connsiteX12" fmla="*/ 279831 w 285925"/>
                <a:gd name="connsiteY12" fmla="*/ 167154 h 356788"/>
                <a:gd name="connsiteX0" fmla="*/ 279831 w 285925"/>
                <a:gd name="connsiteY0" fmla="*/ 167154 h 356788"/>
                <a:gd name="connsiteX1" fmla="*/ 20058 w 285925"/>
                <a:gd name="connsiteY1" fmla="*/ 1765 h 356788"/>
                <a:gd name="connsiteX2" fmla="*/ 1874 w 285925"/>
                <a:gd name="connsiteY2" fmla="*/ 6095 h 356788"/>
                <a:gd name="connsiteX3" fmla="*/ 142 w 285925"/>
                <a:gd name="connsiteY3" fmla="*/ 13022 h 356788"/>
                <a:gd name="connsiteX4" fmla="*/ 6203 w 285925"/>
                <a:gd name="connsiteY4" fmla="*/ 211315 h 356788"/>
                <a:gd name="connsiteX5" fmla="*/ 142 w 285925"/>
                <a:gd name="connsiteY5" fmla="*/ 343799 h 356788"/>
                <a:gd name="connsiteX6" fmla="*/ 13131 w 285925"/>
                <a:gd name="connsiteY6" fmla="*/ 356788 h 356788"/>
                <a:gd name="connsiteX7" fmla="*/ 13131 w 285925"/>
                <a:gd name="connsiteY7" fmla="*/ 356788 h 356788"/>
                <a:gd name="connsiteX8" fmla="*/ 20058 w 285925"/>
                <a:gd name="connsiteY8" fmla="*/ 355056 h 356788"/>
                <a:gd name="connsiteX9" fmla="*/ 279831 w 285925"/>
                <a:gd name="connsiteY9" fmla="*/ 189668 h 356788"/>
                <a:gd name="connsiteX10" fmla="*/ 284160 w 285925"/>
                <a:gd name="connsiteY10" fmla="*/ 171483 h 356788"/>
                <a:gd name="connsiteX11" fmla="*/ 279831 w 285925"/>
                <a:gd name="connsiteY11" fmla="*/ 167154 h 356788"/>
                <a:gd name="connsiteX0" fmla="*/ 279689 w 285783"/>
                <a:gd name="connsiteY0" fmla="*/ 167154 h 356788"/>
                <a:gd name="connsiteX1" fmla="*/ 19916 w 285783"/>
                <a:gd name="connsiteY1" fmla="*/ 1765 h 356788"/>
                <a:gd name="connsiteX2" fmla="*/ 1732 w 285783"/>
                <a:gd name="connsiteY2" fmla="*/ 6095 h 356788"/>
                <a:gd name="connsiteX3" fmla="*/ 0 w 285783"/>
                <a:gd name="connsiteY3" fmla="*/ 13022 h 356788"/>
                <a:gd name="connsiteX4" fmla="*/ 0 w 285783"/>
                <a:gd name="connsiteY4" fmla="*/ 343799 h 356788"/>
                <a:gd name="connsiteX5" fmla="*/ 12989 w 285783"/>
                <a:gd name="connsiteY5" fmla="*/ 356788 h 356788"/>
                <a:gd name="connsiteX6" fmla="*/ 12989 w 285783"/>
                <a:gd name="connsiteY6" fmla="*/ 356788 h 356788"/>
                <a:gd name="connsiteX7" fmla="*/ 19916 w 285783"/>
                <a:gd name="connsiteY7" fmla="*/ 355056 h 356788"/>
                <a:gd name="connsiteX8" fmla="*/ 279689 w 285783"/>
                <a:gd name="connsiteY8" fmla="*/ 189668 h 356788"/>
                <a:gd name="connsiteX9" fmla="*/ 284018 w 285783"/>
                <a:gd name="connsiteY9" fmla="*/ 171483 h 356788"/>
                <a:gd name="connsiteX10" fmla="*/ 279689 w 285783"/>
                <a:gd name="connsiteY10" fmla="*/ 167154 h 35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5783" h="356788">
                  <a:moveTo>
                    <a:pt x="279689" y="167154"/>
                  </a:moveTo>
                  <a:lnTo>
                    <a:pt x="19916" y="1765"/>
                  </a:lnTo>
                  <a:cubicBezTo>
                    <a:pt x="13855" y="-1698"/>
                    <a:pt x="6061" y="33"/>
                    <a:pt x="1732" y="6095"/>
                  </a:cubicBezTo>
                  <a:cubicBezTo>
                    <a:pt x="0" y="7827"/>
                    <a:pt x="0" y="10424"/>
                    <a:pt x="0" y="13022"/>
                  </a:cubicBezTo>
                  <a:lnTo>
                    <a:pt x="0" y="343799"/>
                  </a:lnTo>
                  <a:cubicBezTo>
                    <a:pt x="0" y="350727"/>
                    <a:pt x="6061" y="356788"/>
                    <a:pt x="12989" y="356788"/>
                  </a:cubicBezTo>
                  <a:lnTo>
                    <a:pt x="12989" y="356788"/>
                  </a:lnTo>
                  <a:cubicBezTo>
                    <a:pt x="15586" y="356788"/>
                    <a:pt x="18184" y="355922"/>
                    <a:pt x="19916" y="355056"/>
                  </a:cubicBezTo>
                  <a:lnTo>
                    <a:pt x="279689" y="189668"/>
                  </a:lnTo>
                  <a:cubicBezTo>
                    <a:pt x="285750" y="185338"/>
                    <a:pt x="287482" y="177545"/>
                    <a:pt x="284018" y="171483"/>
                  </a:cubicBezTo>
                  <a:cubicBezTo>
                    <a:pt x="282286" y="169752"/>
                    <a:pt x="280555" y="168886"/>
                    <a:pt x="279689" y="167154"/>
                  </a:cubicBezTo>
                  <a:close/>
                </a:path>
              </a:pathLst>
            </a:custGeom>
            <a:solidFill>
              <a:srgbClr val="8FFFDB"/>
            </a:solidFill>
            <a:ln w="8653" cap="flat">
              <a:noFill/>
              <a:prstDash val="solid"/>
              <a:miter/>
            </a:ln>
          </p:spPr>
          <p:txBody>
            <a:bodyPr lIns="100558" tIns="50279" rIns="100558" bIns="50279" rtlCol="0" anchor="ctr"/>
            <a:lstStyle/>
            <a:p>
              <a:pPr marL="0" marR="0" lvl="0" indent="0" algn="l" defTabSz="456766" rtl="0" eaLnBrk="1" fontAlgn="auto" latinLnBrk="0" hangingPunct="1">
                <a:lnSpc>
                  <a:spcPct val="100000"/>
                </a:lnSpc>
                <a:spcBef>
                  <a:spcPts val="0"/>
                </a:spcBef>
                <a:spcAft>
                  <a:spcPts val="0"/>
                </a:spcAft>
                <a:buClrTx/>
                <a:buSzTx/>
                <a:buFontTx/>
                <a:buNone/>
                <a:tabLst/>
                <a:defRPr/>
              </a:pPr>
              <a:endParaRPr kumimoji="0" lang="en-US" sz="1797" b="1" i="0" u="none" strike="noStrike" kern="0" cap="none" spc="0" normalizeH="0" baseline="0" noProof="0">
                <a:ln>
                  <a:noFill/>
                </a:ln>
                <a:solidFill>
                  <a:srgbClr val="000000"/>
                </a:solidFill>
                <a:effectLst/>
                <a:uLnTx/>
                <a:uFillTx/>
                <a:latin typeface="Source Sans 3" panose="020F0502020204030204" pitchFamily="34" charset="0"/>
                <a:ea typeface="+mn-ea"/>
                <a:cs typeface="Source Sans 3" panose="020F0502020204030204" pitchFamily="34" charset="0"/>
              </a:endParaRPr>
            </a:p>
          </p:txBody>
        </p:sp>
      </p:grpSp>
      <p:sp>
        <p:nvSpPr>
          <p:cNvPr id="23" name="Footer Placeholder 4">
            <a:extLst>
              <a:ext uri="{FF2B5EF4-FFF2-40B4-BE49-F238E27FC236}">
                <a16:creationId xmlns:a16="http://schemas.microsoft.com/office/drawing/2014/main" id="{1D165179-29E2-BB3E-798D-673098893FD3}"/>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2856486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42" presetClass="path" presetSubtype="0" decel="100000" fill="hold" nodeType="withEffect">
                                  <p:stCondLst>
                                    <p:cond delay="150"/>
                                  </p:stCondLst>
                                  <p:childTnLst>
                                    <p:animMotion origin="layout" path="M 1.25E-6 0.03889 L 1.25E-6 1.85185E-6 " pathEditMode="relative" rAng="0" ptsTypes="AA">
                                      <p:cBhvr>
                                        <p:cTn id="9" dur="500" fill="hold"/>
                                        <p:tgtEl>
                                          <p:spTgt spid="12"/>
                                        </p:tgtEl>
                                        <p:attrNameLst>
                                          <p:attrName>ppt_x</p:attrName>
                                          <p:attrName>ppt_y</p:attrName>
                                        </p:attrNameLst>
                                      </p:cBhvr>
                                      <p:rCtr x="0" y="-1944"/>
                                    </p:animMotion>
                                  </p:childTnLst>
                                </p:cTn>
                              </p:par>
                              <p:par>
                                <p:cTn id="10" presetID="10" presetClass="entr" presetSubtype="0" fill="hold" nodeType="withEffect">
                                  <p:stCondLst>
                                    <p:cond delay="15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250"/>
                                        <p:tgtEl>
                                          <p:spTgt spid="13"/>
                                        </p:tgtEl>
                                      </p:cBhvr>
                                    </p:animEffect>
                                  </p:childTnLst>
                                </p:cTn>
                              </p:par>
                              <p:par>
                                <p:cTn id="13" presetID="42" presetClass="path" presetSubtype="0" decel="100000" fill="hold" nodeType="withEffect">
                                  <p:stCondLst>
                                    <p:cond delay="150"/>
                                  </p:stCondLst>
                                  <p:childTnLst>
                                    <p:animMotion origin="layout" path="M 1.25E-6 0.03889 L 1.25E-6 1.85185E-6 " pathEditMode="relative" rAng="0" ptsTypes="AA">
                                      <p:cBhvr>
                                        <p:cTn id="14" dur="500" fill="hold"/>
                                        <p:tgtEl>
                                          <p:spTgt spid="13"/>
                                        </p:tgtEl>
                                        <p:attrNameLst>
                                          <p:attrName>ppt_x</p:attrName>
                                          <p:attrName>ppt_y</p:attrName>
                                        </p:attrNameLst>
                                      </p:cBhvr>
                                      <p:rCtr x="0" y="-1944"/>
                                    </p:animMotion>
                                  </p:childTnLst>
                                </p:cTn>
                              </p:par>
                              <p:par>
                                <p:cTn id="15" presetID="10" presetClass="entr" presetSubtype="0" fill="hold" nodeType="withEffect">
                                  <p:stCondLst>
                                    <p:cond delay="15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50"/>
                                        <p:tgtEl>
                                          <p:spTgt spid="14"/>
                                        </p:tgtEl>
                                      </p:cBhvr>
                                    </p:animEffect>
                                  </p:childTnLst>
                                </p:cTn>
                              </p:par>
                              <p:par>
                                <p:cTn id="18" presetID="42" presetClass="path" presetSubtype="0" decel="100000" fill="hold" nodeType="withEffect">
                                  <p:stCondLst>
                                    <p:cond delay="150"/>
                                  </p:stCondLst>
                                  <p:childTnLst>
                                    <p:animMotion origin="layout" path="M 1.25E-6 0.03889 L 1.25E-6 1.85185E-6 " pathEditMode="relative" rAng="0" ptsTypes="AA">
                                      <p:cBhvr>
                                        <p:cTn id="19" dur="500" fill="hold"/>
                                        <p:tgtEl>
                                          <p:spTgt spid="14"/>
                                        </p:tgtEl>
                                        <p:attrNameLst>
                                          <p:attrName>ppt_x</p:attrName>
                                          <p:attrName>ppt_y</p:attrName>
                                        </p:attrNameLst>
                                      </p:cBhvr>
                                      <p:rCtr x="0" y="-1944"/>
                                    </p:animMotion>
                                  </p:childTnLst>
                                </p:cTn>
                              </p:par>
                              <p:par>
                                <p:cTn id="20" presetID="10" presetClass="entr" presetSubtype="0" fill="hold" nodeType="withEffect">
                                  <p:stCondLst>
                                    <p:cond delay="35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50"/>
                                        <p:tgtEl>
                                          <p:spTgt spid="21"/>
                                        </p:tgtEl>
                                      </p:cBhvr>
                                    </p:animEffect>
                                  </p:childTnLst>
                                </p:cTn>
                              </p:par>
                              <p:par>
                                <p:cTn id="23" presetID="42" presetClass="path" presetSubtype="0" decel="100000" fill="hold" nodeType="withEffect">
                                  <p:stCondLst>
                                    <p:cond delay="350"/>
                                  </p:stCondLst>
                                  <p:childTnLst>
                                    <p:animMotion origin="layout" path="M 1.25E-6 0.03889 L 1.25E-6 1.85185E-6 " pathEditMode="relative" rAng="0" ptsTypes="AA">
                                      <p:cBhvr>
                                        <p:cTn id="24" dur="500" fill="hold"/>
                                        <p:tgtEl>
                                          <p:spTgt spid="21"/>
                                        </p:tgtEl>
                                        <p:attrNameLst>
                                          <p:attrName>ppt_x</p:attrName>
                                          <p:attrName>ppt_y</p:attrName>
                                        </p:attrNameLst>
                                      </p:cBhvr>
                                      <p:rCtr x="0" y="-1944"/>
                                    </p:animMotion>
                                  </p:childTnLst>
                                </p:cTn>
                              </p:par>
                              <p:par>
                                <p:cTn id="25" presetID="10" presetClass="entr" presetSubtype="0" fill="hold" nodeType="withEffect">
                                  <p:stCondLst>
                                    <p:cond delay="35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250"/>
                                        <p:tgtEl>
                                          <p:spTgt spid="20"/>
                                        </p:tgtEl>
                                      </p:cBhvr>
                                    </p:animEffect>
                                  </p:childTnLst>
                                </p:cTn>
                              </p:par>
                              <p:par>
                                <p:cTn id="28" presetID="42" presetClass="path" presetSubtype="0" decel="100000" fill="hold" nodeType="withEffect">
                                  <p:stCondLst>
                                    <p:cond delay="350"/>
                                  </p:stCondLst>
                                  <p:childTnLst>
                                    <p:animMotion origin="layout" path="M 1.25E-6 0.03889 L 1.25E-6 1.85185E-6 " pathEditMode="relative" rAng="0" ptsTypes="AA">
                                      <p:cBhvr>
                                        <p:cTn id="29" dur="500" fill="hold"/>
                                        <p:tgtEl>
                                          <p:spTgt spid="20"/>
                                        </p:tgtEl>
                                        <p:attrNameLst>
                                          <p:attrName>ppt_x</p:attrName>
                                          <p:attrName>ppt_y</p:attrName>
                                        </p:attrNameLst>
                                      </p:cBhvr>
                                      <p:rCtr x="0" y="-1944"/>
                                    </p:animMotion>
                                  </p:childTnLst>
                                </p:cTn>
                              </p:par>
                              <p:par>
                                <p:cTn id="30" presetID="10" presetClass="entr" presetSubtype="0" fill="hold" nodeType="withEffect">
                                  <p:stCondLst>
                                    <p:cond delay="35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50"/>
                                        <p:tgtEl>
                                          <p:spTgt spid="15"/>
                                        </p:tgtEl>
                                      </p:cBhvr>
                                    </p:animEffect>
                                  </p:childTnLst>
                                </p:cTn>
                              </p:par>
                              <p:par>
                                <p:cTn id="33" presetID="42" presetClass="path" presetSubtype="0" decel="100000" fill="hold" nodeType="withEffect">
                                  <p:stCondLst>
                                    <p:cond delay="350"/>
                                  </p:stCondLst>
                                  <p:childTnLst>
                                    <p:animMotion origin="layout" path="M 1.25E-6 0.03889 L 1.25E-6 1.85185E-6 " pathEditMode="relative" rAng="0" ptsTypes="AA">
                                      <p:cBhvr>
                                        <p:cTn id="34" dur="500" fill="hold"/>
                                        <p:tgtEl>
                                          <p:spTgt spid="15"/>
                                        </p:tgtEl>
                                        <p:attrNameLst>
                                          <p:attrName>ppt_x</p:attrName>
                                          <p:attrName>ppt_y</p:attrName>
                                        </p:attrNameLst>
                                      </p:cBhvr>
                                      <p:rCtr x="0" y="-1944"/>
                                    </p:animMotion>
                                  </p:childTnLst>
                                </p:cTn>
                              </p:par>
                              <p:par>
                                <p:cTn id="35" presetID="10" presetClass="entr" presetSubtype="0" fill="hold" nodeType="withEffect">
                                  <p:stCondLst>
                                    <p:cond delay="55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250"/>
                                        <p:tgtEl>
                                          <p:spTgt spid="18"/>
                                        </p:tgtEl>
                                      </p:cBhvr>
                                    </p:animEffect>
                                  </p:childTnLst>
                                </p:cTn>
                              </p:par>
                              <p:par>
                                <p:cTn id="38" presetID="42" presetClass="path" presetSubtype="0" decel="100000" fill="hold" nodeType="withEffect">
                                  <p:stCondLst>
                                    <p:cond delay="550"/>
                                  </p:stCondLst>
                                  <p:childTnLst>
                                    <p:animMotion origin="layout" path="M 1.25E-6 0.03889 L 1.25E-6 1.85185E-6 " pathEditMode="relative" rAng="0" ptsTypes="AA">
                                      <p:cBhvr>
                                        <p:cTn id="39" dur="500" fill="hold"/>
                                        <p:tgtEl>
                                          <p:spTgt spid="18"/>
                                        </p:tgtEl>
                                        <p:attrNameLst>
                                          <p:attrName>ppt_x</p:attrName>
                                          <p:attrName>ppt_y</p:attrName>
                                        </p:attrNameLst>
                                      </p:cBhvr>
                                      <p:rCtr x="0" y="-1944"/>
                                    </p:animMotion>
                                  </p:childTnLst>
                                </p:cTn>
                              </p:par>
                              <p:par>
                                <p:cTn id="40" presetID="10" presetClass="entr" presetSubtype="0" fill="hold" nodeType="withEffect">
                                  <p:stCondLst>
                                    <p:cond delay="55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250"/>
                                        <p:tgtEl>
                                          <p:spTgt spid="19"/>
                                        </p:tgtEl>
                                      </p:cBhvr>
                                    </p:animEffect>
                                  </p:childTnLst>
                                </p:cTn>
                              </p:par>
                              <p:par>
                                <p:cTn id="43" presetID="42" presetClass="path" presetSubtype="0" decel="100000" fill="hold" nodeType="withEffect">
                                  <p:stCondLst>
                                    <p:cond delay="550"/>
                                  </p:stCondLst>
                                  <p:childTnLst>
                                    <p:animMotion origin="layout" path="M 1.25E-6 0.03889 L 1.25E-6 1.85185E-6 " pathEditMode="relative" rAng="0" ptsTypes="AA">
                                      <p:cBhvr>
                                        <p:cTn id="44" dur="500" fill="hold"/>
                                        <p:tgtEl>
                                          <p:spTgt spid="19"/>
                                        </p:tgtEl>
                                        <p:attrNameLst>
                                          <p:attrName>ppt_x</p:attrName>
                                          <p:attrName>ppt_y</p:attrName>
                                        </p:attrNameLst>
                                      </p:cBhvr>
                                      <p:rCtr x="0" y="-1944"/>
                                    </p:animMotion>
                                  </p:childTnLst>
                                </p:cTn>
                              </p:par>
                              <p:par>
                                <p:cTn id="45" presetID="10" presetClass="entr" presetSubtype="0" fill="hold" nodeType="withEffect">
                                  <p:stCondLst>
                                    <p:cond delay="55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250"/>
                                        <p:tgtEl>
                                          <p:spTgt spid="22"/>
                                        </p:tgtEl>
                                      </p:cBhvr>
                                    </p:animEffect>
                                  </p:childTnLst>
                                </p:cTn>
                              </p:par>
                              <p:par>
                                <p:cTn id="48" presetID="42" presetClass="path" presetSubtype="0" decel="100000" fill="hold" nodeType="withEffect">
                                  <p:stCondLst>
                                    <p:cond delay="550"/>
                                  </p:stCondLst>
                                  <p:childTnLst>
                                    <p:animMotion origin="layout" path="M 1.25E-6 0.03889 L 1.25E-6 1.85185E-6 " pathEditMode="relative" rAng="0" ptsTypes="AA">
                                      <p:cBhvr>
                                        <p:cTn id="49" dur="500" fill="hold"/>
                                        <p:tgtEl>
                                          <p:spTgt spid="22"/>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1DE33-BE75-F323-B715-E16A3C063EDC}"/>
            </a:ext>
          </a:extLst>
        </p:cNvPr>
        <p:cNvGrpSpPr/>
        <p:nvPr/>
      </p:nvGrpSpPr>
      <p:grpSpPr>
        <a:xfrm>
          <a:off x="0" y="0"/>
          <a:ext cx="0" cy="0"/>
          <a:chOff x="0" y="0"/>
          <a:chExt cx="0" cy="0"/>
        </a:xfrm>
      </p:grpSpPr>
      <p:pic>
        <p:nvPicPr>
          <p:cNvPr id="3" name="Picture 2" descr="A blue and purple background&#10;&#10;AI-generated content may be incorrect.">
            <a:extLst>
              <a:ext uri="{FF2B5EF4-FFF2-40B4-BE49-F238E27FC236}">
                <a16:creationId xmlns:a16="http://schemas.microsoft.com/office/drawing/2014/main" id="{F69CBEE4-3C45-738D-76BF-5681F484520E}"/>
              </a:ext>
            </a:extLst>
          </p:cNvPr>
          <p:cNvPicPr/>
          <p:nvPr/>
        </p:nvPicPr>
        <p:blipFill>
          <a:blip r:embed="rId3" cstate="screen">
            <a:extLst>
              <a:ext uri="{28A0092B-C50C-407E-A947-70E740481C1C}">
                <a14:useLocalDpi xmlns:a14="http://schemas.microsoft.com/office/drawing/2010/main"/>
              </a:ext>
            </a:extLst>
          </a:blip>
          <a:stretch>
            <a:fillRect/>
          </a:stretch>
        </p:blipFill>
        <p:spPr>
          <a:xfrm>
            <a:off x="0" y="893"/>
            <a:ext cx="12190415" cy="6857107"/>
          </a:xfrm>
          <a:prstGeom prst="rect">
            <a:avLst/>
          </a:prstGeom>
        </p:spPr>
      </p:pic>
      <p:sp>
        <p:nvSpPr>
          <p:cNvPr id="6" name="backlight" hidden="1">
            <a:extLst>
              <a:ext uri="{FF2B5EF4-FFF2-40B4-BE49-F238E27FC236}">
                <a16:creationId xmlns:a16="http://schemas.microsoft.com/office/drawing/2014/main" id="{F8944C4B-7D5B-CE0D-5E90-7325CC8F4262}"/>
              </a:ext>
            </a:extLst>
          </p:cNvPr>
          <p:cNvSpPr/>
          <p:nvPr/>
        </p:nvSpPr>
        <p:spPr>
          <a:xfrm>
            <a:off x="2733918" y="2367260"/>
            <a:ext cx="6740403" cy="6144093"/>
          </a:xfrm>
          <a:prstGeom prst="ellipse">
            <a:avLst/>
          </a:prstGeom>
          <a:gradFill flip="none" rotWithShape="1">
            <a:gsLst>
              <a:gs pos="0">
                <a:srgbClr val="6400EC">
                  <a:alpha val="80859"/>
                </a:srgbClr>
              </a:gs>
              <a:gs pos="50000">
                <a:srgbClr val="6400EC">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29" name="!!orb3" hidden="1">
            <a:extLst>
              <a:ext uri="{FF2B5EF4-FFF2-40B4-BE49-F238E27FC236}">
                <a16:creationId xmlns:a16="http://schemas.microsoft.com/office/drawing/2014/main" id="{185F3244-C13B-2092-50D3-31E96F876BE8}"/>
              </a:ext>
            </a:extLst>
          </p:cNvPr>
          <p:cNvPicPr>
            <a:picLocks noChangeAspect="1"/>
          </p:cNvPicPr>
          <p:nvPr/>
        </p:nvPicPr>
        <p:blipFill>
          <a:blip r:embed="rId4" cstate="screen">
            <a:alphaModFix amt="65000"/>
            <a:extLst>
              <a:ext uri="{28A0092B-C50C-407E-A947-70E740481C1C}">
                <a14:useLocalDpi xmlns:a14="http://schemas.microsoft.com/office/drawing/2010/main"/>
              </a:ext>
            </a:extLst>
          </a:blip>
          <a:srcRect/>
          <a:stretch/>
        </p:blipFill>
        <p:spPr>
          <a:xfrm>
            <a:off x="3634769" y="2671128"/>
            <a:ext cx="4908477" cy="4908472"/>
          </a:xfrm>
          <a:prstGeom prst="rect">
            <a:avLst/>
          </a:prstGeom>
          <a:effectLst/>
        </p:spPr>
      </p:pic>
      <p:pic>
        <p:nvPicPr>
          <p:cNvPr id="30" name="!!orb1" hidden="1">
            <a:extLst>
              <a:ext uri="{FF2B5EF4-FFF2-40B4-BE49-F238E27FC236}">
                <a16:creationId xmlns:a16="http://schemas.microsoft.com/office/drawing/2014/main" id="{DE506BCD-B863-6AE1-A723-94768FC7CE2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34769" y="2671128"/>
            <a:ext cx="4908477" cy="4908472"/>
          </a:xfrm>
          <a:prstGeom prst="rect">
            <a:avLst/>
          </a:prstGeom>
          <a:effectLst/>
        </p:spPr>
      </p:pic>
      <p:pic>
        <p:nvPicPr>
          <p:cNvPr id="31" name="!!orb4top" hidden="1">
            <a:extLst>
              <a:ext uri="{FF2B5EF4-FFF2-40B4-BE49-F238E27FC236}">
                <a16:creationId xmlns:a16="http://schemas.microsoft.com/office/drawing/2014/main" id="{C4208C46-F273-6BDD-F303-0D297FCDD647}"/>
              </a:ext>
            </a:extLst>
          </p:cNvPr>
          <p:cNvPicPr>
            <a:picLocks noChangeAspect="1"/>
          </p:cNvPicPr>
          <p:nvPr/>
        </p:nvPicPr>
        <p:blipFill>
          <a:blip r:embed="rId6" cstate="screen">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a:ext>
            </a:extLst>
          </a:blip>
          <a:srcRect/>
          <a:stretch/>
        </p:blipFill>
        <p:spPr>
          <a:xfrm flipV="1">
            <a:off x="3634768" y="2671121"/>
            <a:ext cx="4908479" cy="4908475"/>
          </a:xfrm>
          <a:prstGeom prst="rect">
            <a:avLst/>
          </a:prstGeom>
          <a:effectLst/>
        </p:spPr>
      </p:pic>
      <p:pic>
        <p:nvPicPr>
          <p:cNvPr id="14" name="Picture 15">
            <a:extLst>
              <a:ext uri="{FF2B5EF4-FFF2-40B4-BE49-F238E27FC236}">
                <a16:creationId xmlns:a16="http://schemas.microsoft.com/office/drawing/2014/main" id="{BD331665-23B3-9FE2-150A-A6899669997B}"/>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498477" y="6476968"/>
            <a:ext cx="980334" cy="280022"/>
          </a:xfrm>
          <a:prstGeom prst="rect">
            <a:avLst/>
          </a:prstGeom>
        </p:spPr>
      </p:pic>
      <p:sp>
        <p:nvSpPr>
          <p:cNvPr id="20" name="Footer Placeholder 4">
            <a:extLst>
              <a:ext uri="{FF2B5EF4-FFF2-40B4-BE49-F238E27FC236}">
                <a16:creationId xmlns:a16="http://schemas.microsoft.com/office/drawing/2014/main" id="{E5CA6C54-01C5-3280-3310-B37BFC5330A2}"/>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34" name="Picture 33">
            <a:extLst>
              <a:ext uri="{FF2B5EF4-FFF2-40B4-BE49-F238E27FC236}">
                <a16:creationId xmlns:a16="http://schemas.microsoft.com/office/drawing/2014/main" id="{FD739777-F0A1-D7AE-D7AE-F56EADA5BC67}"/>
              </a:ext>
            </a:extLst>
          </p:cNvPr>
          <p:cNvPicPr>
            <a:picLocks noChangeAspect="1"/>
          </p:cNvPicPr>
          <p:nvPr/>
        </p:nvPicPr>
        <p:blipFill>
          <a:blip r:embed="rId9"/>
          <a:stretch>
            <a:fillRect/>
          </a:stretch>
        </p:blipFill>
        <p:spPr>
          <a:xfrm>
            <a:off x="2061082" y="1172047"/>
            <a:ext cx="7772400" cy="4513906"/>
          </a:xfrm>
          <a:prstGeom prst="rect">
            <a:avLst/>
          </a:prstGeom>
        </p:spPr>
      </p:pic>
      <p:sp>
        <p:nvSpPr>
          <p:cNvPr id="54" name="Title 1">
            <a:extLst>
              <a:ext uri="{FF2B5EF4-FFF2-40B4-BE49-F238E27FC236}">
                <a16:creationId xmlns:a16="http://schemas.microsoft.com/office/drawing/2014/main" id="{4BB476D1-3C1C-0797-18A1-DE5C6E5517CA}"/>
              </a:ext>
            </a:extLst>
          </p:cNvPr>
          <p:cNvSpPr>
            <a:spLocks noGrp="1"/>
          </p:cNvSpPr>
          <p:nvPr>
            <p:ph type="title"/>
          </p:nvPr>
        </p:nvSpPr>
        <p:spPr>
          <a:xfrm>
            <a:off x="860901" y="530352"/>
            <a:ext cx="10467023" cy="737654"/>
          </a:xfrm>
        </p:spPr>
        <p:txBody>
          <a:bodyPr/>
          <a:lstStyle/>
          <a:p>
            <a:pPr algn="ctr"/>
            <a:r>
              <a:rPr lang="en-US" sz="3600" dirty="0">
                <a:solidFill>
                  <a:schemeClr val="accent1"/>
                </a:solidFill>
                <a:latin typeface="Source Sans 3" panose="020B0504040101010104" pitchFamily="34" charset="77"/>
              </a:rPr>
              <a:t>Autonomous IT: </a:t>
            </a:r>
            <a:r>
              <a:rPr lang="en-US" sz="3600" dirty="0">
                <a:latin typeface="Source Sans 3" panose="020B0504040101010104" pitchFamily="34" charset="77"/>
              </a:rPr>
              <a:t>Building exponential value</a:t>
            </a:r>
          </a:p>
        </p:txBody>
      </p:sp>
    </p:spTree>
    <p:extLst>
      <p:ext uri="{BB962C8B-B14F-4D97-AF65-F5344CB8AC3E}">
        <p14:creationId xmlns:p14="http://schemas.microsoft.com/office/powerpoint/2010/main" val="3326159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80800-EBE5-BD36-E380-9D5FC0514316}"/>
            </a:ext>
          </a:extLst>
        </p:cNvPr>
        <p:cNvGrpSpPr/>
        <p:nvPr/>
      </p:nvGrpSpPr>
      <p:grpSpPr>
        <a:xfrm>
          <a:off x="0" y="0"/>
          <a:ext cx="0" cy="0"/>
          <a:chOff x="0" y="0"/>
          <a:chExt cx="0" cy="0"/>
        </a:xfrm>
      </p:grpSpPr>
      <p:pic>
        <p:nvPicPr>
          <p:cNvPr id="3" name="Picture 2" descr="A blue and purple background&#10;&#10;AI-generated content may be incorrect.">
            <a:extLst>
              <a:ext uri="{FF2B5EF4-FFF2-40B4-BE49-F238E27FC236}">
                <a16:creationId xmlns:a16="http://schemas.microsoft.com/office/drawing/2014/main" id="{83BB65DB-7456-0548-D9E0-C32667D0C3FD}"/>
              </a:ext>
            </a:extLst>
          </p:cNvPr>
          <p:cNvPicPr/>
          <p:nvPr/>
        </p:nvPicPr>
        <p:blipFill>
          <a:blip r:embed="rId3" cstate="screen">
            <a:extLst>
              <a:ext uri="{28A0092B-C50C-407E-A947-70E740481C1C}">
                <a14:useLocalDpi xmlns:a14="http://schemas.microsoft.com/office/drawing/2010/main"/>
              </a:ext>
            </a:extLst>
          </a:blip>
          <a:stretch>
            <a:fillRect/>
          </a:stretch>
        </p:blipFill>
        <p:spPr>
          <a:xfrm>
            <a:off x="0" y="893"/>
            <a:ext cx="12190415" cy="6857107"/>
          </a:xfrm>
          <a:prstGeom prst="rect">
            <a:avLst/>
          </a:prstGeom>
        </p:spPr>
      </p:pic>
      <p:sp>
        <p:nvSpPr>
          <p:cNvPr id="6" name="backlight" hidden="1">
            <a:extLst>
              <a:ext uri="{FF2B5EF4-FFF2-40B4-BE49-F238E27FC236}">
                <a16:creationId xmlns:a16="http://schemas.microsoft.com/office/drawing/2014/main" id="{117D5EAD-0A62-958A-95AA-264D89F80E4D}"/>
              </a:ext>
            </a:extLst>
          </p:cNvPr>
          <p:cNvSpPr/>
          <p:nvPr/>
        </p:nvSpPr>
        <p:spPr>
          <a:xfrm>
            <a:off x="2733918" y="2367260"/>
            <a:ext cx="6740403" cy="6144093"/>
          </a:xfrm>
          <a:prstGeom prst="ellipse">
            <a:avLst/>
          </a:prstGeom>
          <a:gradFill flip="none" rotWithShape="1">
            <a:gsLst>
              <a:gs pos="0">
                <a:srgbClr val="6400EC">
                  <a:alpha val="80859"/>
                </a:srgbClr>
              </a:gs>
              <a:gs pos="50000">
                <a:srgbClr val="6400EC">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29" name="!!orb3" hidden="1">
            <a:extLst>
              <a:ext uri="{FF2B5EF4-FFF2-40B4-BE49-F238E27FC236}">
                <a16:creationId xmlns:a16="http://schemas.microsoft.com/office/drawing/2014/main" id="{C36F1754-CA60-49CF-633E-821A0A363FC8}"/>
              </a:ext>
            </a:extLst>
          </p:cNvPr>
          <p:cNvPicPr>
            <a:picLocks noChangeAspect="1"/>
          </p:cNvPicPr>
          <p:nvPr/>
        </p:nvPicPr>
        <p:blipFill>
          <a:blip r:embed="rId4" cstate="screen">
            <a:alphaModFix amt="65000"/>
            <a:extLst>
              <a:ext uri="{28A0092B-C50C-407E-A947-70E740481C1C}">
                <a14:useLocalDpi xmlns:a14="http://schemas.microsoft.com/office/drawing/2010/main"/>
              </a:ext>
            </a:extLst>
          </a:blip>
          <a:srcRect/>
          <a:stretch/>
        </p:blipFill>
        <p:spPr>
          <a:xfrm>
            <a:off x="3634769" y="2671128"/>
            <a:ext cx="4908477" cy="4908472"/>
          </a:xfrm>
          <a:prstGeom prst="rect">
            <a:avLst/>
          </a:prstGeom>
          <a:effectLst/>
        </p:spPr>
      </p:pic>
      <p:pic>
        <p:nvPicPr>
          <p:cNvPr id="30" name="!!orb1" hidden="1">
            <a:extLst>
              <a:ext uri="{FF2B5EF4-FFF2-40B4-BE49-F238E27FC236}">
                <a16:creationId xmlns:a16="http://schemas.microsoft.com/office/drawing/2014/main" id="{CF9193BF-6C57-4E90-81B3-B9ECEEEB5CD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34769" y="2671128"/>
            <a:ext cx="4908477" cy="4908472"/>
          </a:xfrm>
          <a:prstGeom prst="rect">
            <a:avLst/>
          </a:prstGeom>
          <a:effectLst/>
        </p:spPr>
      </p:pic>
      <p:pic>
        <p:nvPicPr>
          <p:cNvPr id="31" name="!!orb4top" hidden="1">
            <a:extLst>
              <a:ext uri="{FF2B5EF4-FFF2-40B4-BE49-F238E27FC236}">
                <a16:creationId xmlns:a16="http://schemas.microsoft.com/office/drawing/2014/main" id="{59DD56D8-4E28-C3A8-9237-BDD90C863E1A}"/>
              </a:ext>
            </a:extLst>
          </p:cNvPr>
          <p:cNvPicPr>
            <a:picLocks noChangeAspect="1"/>
          </p:cNvPicPr>
          <p:nvPr/>
        </p:nvPicPr>
        <p:blipFill>
          <a:blip r:embed="rId6" cstate="screen">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a:ext>
            </a:extLst>
          </a:blip>
          <a:srcRect/>
          <a:stretch/>
        </p:blipFill>
        <p:spPr>
          <a:xfrm flipV="1">
            <a:off x="3634768" y="2671121"/>
            <a:ext cx="4908479" cy="4908475"/>
          </a:xfrm>
          <a:prstGeom prst="rect">
            <a:avLst/>
          </a:prstGeom>
          <a:effectLst/>
        </p:spPr>
      </p:pic>
      <p:pic>
        <p:nvPicPr>
          <p:cNvPr id="14" name="Picture 15">
            <a:extLst>
              <a:ext uri="{FF2B5EF4-FFF2-40B4-BE49-F238E27FC236}">
                <a16:creationId xmlns:a16="http://schemas.microsoft.com/office/drawing/2014/main" id="{87741727-9D01-C265-A7B5-F7C1B4707B57}"/>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498477" y="6476968"/>
            <a:ext cx="980334" cy="280022"/>
          </a:xfrm>
          <a:prstGeom prst="rect">
            <a:avLst/>
          </a:prstGeom>
        </p:spPr>
      </p:pic>
      <p:sp>
        <p:nvSpPr>
          <p:cNvPr id="20" name="Footer Placeholder 4">
            <a:extLst>
              <a:ext uri="{FF2B5EF4-FFF2-40B4-BE49-F238E27FC236}">
                <a16:creationId xmlns:a16="http://schemas.microsoft.com/office/drawing/2014/main" id="{E0B74D46-2F9C-D165-04FC-3FC875224F35}"/>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39" name="Picture 38">
            <a:extLst>
              <a:ext uri="{FF2B5EF4-FFF2-40B4-BE49-F238E27FC236}">
                <a16:creationId xmlns:a16="http://schemas.microsoft.com/office/drawing/2014/main" id="{C9638E06-6887-C57A-43C5-11F43DD86A14}"/>
              </a:ext>
            </a:extLst>
          </p:cNvPr>
          <p:cNvPicPr>
            <a:picLocks noChangeAspect="1"/>
          </p:cNvPicPr>
          <p:nvPr/>
        </p:nvPicPr>
        <p:blipFill>
          <a:blip r:embed="rId9"/>
          <a:stretch>
            <a:fillRect/>
          </a:stretch>
        </p:blipFill>
        <p:spPr>
          <a:xfrm>
            <a:off x="2061082" y="1172047"/>
            <a:ext cx="7772400" cy="4513906"/>
          </a:xfrm>
          <a:prstGeom prst="rect">
            <a:avLst/>
          </a:prstGeom>
        </p:spPr>
      </p:pic>
      <p:sp>
        <p:nvSpPr>
          <p:cNvPr id="7" name="Title 1">
            <a:extLst>
              <a:ext uri="{FF2B5EF4-FFF2-40B4-BE49-F238E27FC236}">
                <a16:creationId xmlns:a16="http://schemas.microsoft.com/office/drawing/2014/main" id="{D87B2108-3490-C098-F9B2-7155079F2C3B}"/>
              </a:ext>
            </a:extLst>
          </p:cNvPr>
          <p:cNvSpPr>
            <a:spLocks noGrp="1"/>
          </p:cNvSpPr>
          <p:nvPr>
            <p:ph type="title"/>
          </p:nvPr>
        </p:nvSpPr>
        <p:spPr>
          <a:xfrm>
            <a:off x="860901" y="530352"/>
            <a:ext cx="10467023" cy="737654"/>
          </a:xfrm>
        </p:spPr>
        <p:txBody>
          <a:bodyPr/>
          <a:lstStyle/>
          <a:p>
            <a:pPr algn="ctr"/>
            <a:r>
              <a:rPr lang="en-US" sz="3600" dirty="0">
                <a:solidFill>
                  <a:schemeClr val="accent1"/>
                </a:solidFill>
                <a:latin typeface="Source Sans 3" panose="020B0504040101010104" pitchFamily="34" charset="77"/>
              </a:rPr>
              <a:t>Autonomous IT: </a:t>
            </a:r>
            <a:r>
              <a:rPr lang="en-US" sz="3600" dirty="0">
                <a:latin typeface="Source Sans 3" panose="020B0504040101010104" pitchFamily="34" charset="77"/>
              </a:rPr>
              <a:t>Building exponential value</a:t>
            </a:r>
          </a:p>
        </p:txBody>
      </p:sp>
    </p:spTree>
    <p:extLst>
      <p:ext uri="{BB962C8B-B14F-4D97-AF65-F5344CB8AC3E}">
        <p14:creationId xmlns:p14="http://schemas.microsoft.com/office/powerpoint/2010/main" val="149936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44D7-DF05-A146-F8F5-837C2AEA4F25}"/>
            </a:ext>
          </a:extLst>
        </p:cNvPr>
        <p:cNvGrpSpPr/>
        <p:nvPr/>
      </p:nvGrpSpPr>
      <p:grpSpPr>
        <a:xfrm>
          <a:off x="0" y="0"/>
          <a:ext cx="0" cy="0"/>
          <a:chOff x="0" y="0"/>
          <a:chExt cx="0" cy="0"/>
        </a:xfrm>
      </p:grpSpPr>
      <p:pic>
        <p:nvPicPr>
          <p:cNvPr id="3" name="Picture 2" descr="A blue and purple background&#10;&#10;AI-generated content may be incorrect.">
            <a:extLst>
              <a:ext uri="{FF2B5EF4-FFF2-40B4-BE49-F238E27FC236}">
                <a16:creationId xmlns:a16="http://schemas.microsoft.com/office/drawing/2014/main" id="{E41B459D-EBE7-EAA5-9D1A-F38C8E88CA79}"/>
              </a:ext>
            </a:extLst>
          </p:cNvPr>
          <p:cNvPicPr/>
          <p:nvPr/>
        </p:nvPicPr>
        <p:blipFill>
          <a:blip r:embed="rId3" cstate="screen">
            <a:extLst>
              <a:ext uri="{28A0092B-C50C-407E-A947-70E740481C1C}">
                <a14:useLocalDpi xmlns:a14="http://schemas.microsoft.com/office/drawing/2010/main"/>
              </a:ext>
            </a:extLst>
          </a:blip>
          <a:stretch>
            <a:fillRect/>
          </a:stretch>
        </p:blipFill>
        <p:spPr>
          <a:xfrm>
            <a:off x="0" y="893"/>
            <a:ext cx="12190415" cy="6857107"/>
          </a:xfrm>
          <a:prstGeom prst="rect">
            <a:avLst/>
          </a:prstGeom>
        </p:spPr>
      </p:pic>
      <p:sp>
        <p:nvSpPr>
          <p:cNvPr id="6" name="backlight" hidden="1">
            <a:extLst>
              <a:ext uri="{FF2B5EF4-FFF2-40B4-BE49-F238E27FC236}">
                <a16:creationId xmlns:a16="http://schemas.microsoft.com/office/drawing/2014/main" id="{7AD1BFAE-F526-EE4B-1862-BF86E67151EE}"/>
              </a:ext>
            </a:extLst>
          </p:cNvPr>
          <p:cNvSpPr/>
          <p:nvPr/>
        </p:nvSpPr>
        <p:spPr>
          <a:xfrm>
            <a:off x="2733918" y="2367260"/>
            <a:ext cx="6740403" cy="6144093"/>
          </a:xfrm>
          <a:prstGeom prst="ellipse">
            <a:avLst/>
          </a:prstGeom>
          <a:gradFill flip="none" rotWithShape="1">
            <a:gsLst>
              <a:gs pos="0">
                <a:srgbClr val="6400EC">
                  <a:alpha val="80859"/>
                </a:srgbClr>
              </a:gs>
              <a:gs pos="50000">
                <a:srgbClr val="6400EC">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29" name="!!orb3" hidden="1">
            <a:extLst>
              <a:ext uri="{FF2B5EF4-FFF2-40B4-BE49-F238E27FC236}">
                <a16:creationId xmlns:a16="http://schemas.microsoft.com/office/drawing/2014/main" id="{6F2C4F57-5931-A111-3699-56C1B14E7FEE}"/>
              </a:ext>
            </a:extLst>
          </p:cNvPr>
          <p:cNvPicPr>
            <a:picLocks noChangeAspect="1"/>
          </p:cNvPicPr>
          <p:nvPr/>
        </p:nvPicPr>
        <p:blipFill>
          <a:blip r:embed="rId4" cstate="screen">
            <a:alphaModFix amt="65000"/>
            <a:extLst>
              <a:ext uri="{28A0092B-C50C-407E-A947-70E740481C1C}">
                <a14:useLocalDpi xmlns:a14="http://schemas.microsoft.com/office/drawing/2010/main"/>
              </a:ext>
            </a:extLst>
          </a:blip>
          <a:srcRect/>
          <a:stretch/>
        </p:blipFill>
        <p:spPr>
          <a:xfrm>
            <a:off x="3634769" y="2671128"/>
            <a:ext cx="4908477" cy="4908472"/>
          </a:xfrm>
          <a:prstGeom prst="rect">
            <a:avLst/>
          </a:prstGeom>
          <a:effectLst/>
        </p:spPr>
      </p:pic>
      <p:pic>
        <p:nvPicPr>
          <p:cNvPr id="30" name="!!orb1" hidden="1">
            <a:extLst>
              <a:ext uri="{FF2B5EF4-FFF2-40B4-BE49-F238E27FC236}">
                <a16:creationId xmlns:a16="http://schemas.microsoft.com/office/drawing/2014/main" id="{BDBDE238-5895-19B1-AD03-93922EB80EA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34769" y="2671128"/>
            <a:ext cx="4908477" cy="4908472"/>
          </a:xfrm>
          <a:prstGeom prst="rect">
            <a:avLst/>
          </a:prstGeom>
          <a:effectLst/>
        </p:spPr>
      </p:pic>
      <p:pic>
        <p:nvPicPr>
          <p:cNvPr id="31" name="!!orb4top" hidden="1">
            <a:extLst>
              <a:ext uri="{FF2B5EF4-FFF2-40B4-BE49-F238E27FC236}">
                <a16:creationId xmlns:a16="http://schemas.microsoft.com/office/drawing/2014/main" id="{FE7140E4-7512-FD5A-B872-24FF1D06CA95}"/>
              </a:ext>
            </a:extLst>
          </p:cNvPr>
          <p:cNvPicPr>
            <a:picLocks noChangeAspect="1"/>
          </p:cNvPicPr>
          <p:nvPr/>
        </p:nvPicPr>
        <p:blipFill>
          <a:blip r:embed="rId6" cstate="screen">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a:ext>
            </a:extLst>
          </a:blip>
          <a:srcRect/>
          <a:stretch/>
        </p:blipFill>
        <p:spPr>
          <a:xfrm flipV="1">
            <a:off x="3634768" y="2671121"/>
            <a:ext cx="4908479" cy="4908475"/>
          </a:xfrm>
          <a:prstGeom prst="rect">
            <a:avLst/>
          </a:prstGeom>
          <a:effectLst/>
        </p:spPr>
      </p:pic>
      <p:pic>
        <p:nvPicPr>
          <p:cNvPr id="14" name="Picture 15">
            <a:extLst>
              <a:ext uri="{FF2B5EF4-FFF2-40B4-BE49-F238E27FC236}">
                <a16:creationId xmlns:a16="http://schemas.microsoft.com/office/drawing/2014/main" id="{AE556FD9-9842-A957-3158-64C8F464E057}"/>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498477" y="6476968"/>
            <a:ext cx="980334" cy="280022"/>
          </a:xfrm>
          <a:prstGeom prst="rect">
            <a:avLst/>
          </a:prstGeom>
        </p:spPr>
      </p:pic>
      <p:sp>
        <p:nvSpPr>
          <p:cNvPr id="20" name="Footer Placeholder 4">
            <a:extLst>
              <a:ext uri="{FF2B5EF4-FFF2-40B4-BE49-F238E27FC236}">
                <a16:creationId xmlns:a16="http://schemas.microsoft.com/office/drawing/2014/main" id="{32A7CEB2-5085-B720-FCA2-16713969911C}"/>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41" name="Picture 40">
            <a:extLst>
              <a:ext uri="{FF2B5EF4-FFF2-40B4-BE49-F238E27FC236}">
                <a16:creationId xmlns:a16="http://schemas.microsoft.com/office/drawing/2014/main" id="{FD63AAA3-C502-9F68-3535-AF66427B492E}"/>
              </a:ext>
            </a:extLst>
          </p:cNvPr>
          <p:cNvPicPr>
            <a:picLocks noChangeAspect="1"/>
          </p:cNvPicPr>
          <p:nvPr/>
        </p:nvPicPr>
        <p:blipFill>
          <a:blip r:embed="rId9"/>
          <a:stretch>
            <a:fillRect/>
          </a:stretch>
        </p:blipFill>
        <p:spPr>
          <a:xfrm>
            <a:off x="2061082" y="1172047"/>
            <a:ext cx="7772400" cy="4513906"/>
          </a:xfrm>
          <a:prstGeom prst="rect">
            <a:avLst/>
          </a:prstGeom>
        </p:spPr>
      </p:pic>
      <p:sp>
        <p:nvSpPr>
          <p:cNvPr id="5" name="Title 1">
            <a:extLst>
              <a:ext uri="{FF2B5EF4-FFF2-40B4-BE49-F238E27FC236}">
                <a16:creationId xmlns:a16="http://schemas.microsoft.com/office/drawing/2014/main" id="{B4B68AF9-A66A-ABB6-3D8C-0BC663074F73}"/>
              </a:ext>
            </a:extLst>
          </p:cNvPr>
          <p:cNvSpPr>
            <a:spLocks noGrp="1"/>
          </p:cNvSpPr>
          <p:nvPr>
            <p:ph type="title"/>
          </p:nvPr>
        </p:nvSpPr>
        <p:spPr>
          <a:xfrm>
            <a:off x="860901" y="530352"/>
            <a:ext cx="10467023" cy="737654"/>
          </a:xfrm>
        </p:spPr>
        <p:txBody>
          <a:bodyPr/>
          <a:lstStyle/>
          <a:p>
            <a:pPr algn="ctr"/>
            <a:r>
              <a:rPr lang="en-US" sz="3600" dirty="0">
                <a:solidFill>
                  <a:schemeClr val="accent1"/>
                </a:solidFill>
                <a:latin typeface="Source Sans 3" panose="020B0504040101010104" pitchFamily="34" charset="77"/>
              </a:rPr>
              <a:t>Autonomous IT: </a:t>
            </a:r>
            <a:r>
              <a:rPr lang="en-US" sz="3600" dirty="0">
                <a:latin typeface="Source Sans 3" panose="020B0504040101010104" pitchFamily="34" charset="77"/>
              </a:rPr>
              <a:t>Building exponential value</a:t>
            </a:r>
          </a:p>
        </p:txBody>
      </p:sp>
    </p:spTree>
    <p:extLst>
      <p:ext uri="{BB962C8B-B14F-4D97-AF65-F5344CB8AC3E}">
        <p14:creationId xmlns:p14="http://schemas.microsoft.com/office/powerpoint/2010/main" val="113641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A8FA4-F362-34F6-99C4-6AB18972AD68}"/>
            </a:ext>
          </a:extLst>
        </p:cNvPr>
        <p:cNvGrpSpPr/>
        <p:nvPr/>
      </p:nvGrpSpPr>
      <p:grpSpPr>
        <a:xfrm>
          <a:off x="0" y="0"/>
          <a:ext cx="0" cy="0"/>
          <a:chOff x="0" y="0"/>
          <a:chExt cx="0" cy="0"/>
        </a:xfrm>
      </p:grpSpPr>
      <p:pic>
        <p:nvPicPr>
          <p:cNvPr id="3" name="Picture 2" descr="A blue and purple background&#10;&#10;AI-generated content may be incorrect.">
            <a:extLst>
              <a:ext uri="{FF2B5EF4-FFF2-40B4-BE49-F238E27FC236}">
                <a16:creationId xmlns:a16="http://schemas.microsoft.com/office/drawing/2014/main" id="{BC8AA2FD-0A15-5675-1FB6-31AE6EB06B91}"/>
              </a:ext>
            </a:extLst>
          </p:cNvPr>
          <p:cNvPicPr/>
          <p:nvPr/>
        </p:nvPicPr>
        <p:blipFill>
          <a:blip r:embed="rId3" cstate="screen">
            <a:extLst>
              <a:ext uri="{28A0092B-C50C-407E-A947-70E740481C1C}">
                <a14:useLocalDpi xmlns:a14="http://schemas.microsoft.com/office/drawing/2010/main"/>
              </a:ext>
            </a:extLst>
          </a:blip>
          <a:stretch>
            <a:fillRect/>
          </a:stretch>
        </p:blipFill>
        <p:spPr>
          <a:xfrm>
            <a:off x="0" y="893"/>
            <a:ext cx="12190415" cy="6857107"/>
          </a:xfrm>
          <a:prstGeom prst="rect">
            <a:avLst/>
          </a:prstGeom>
        </p:spPr>
      </p:pic>
      <p:sp>
        <p:nvSpPr>
          <p:cNvPr id="6" name="backlight" hidden="1">
            <a:extLst>
              <a:ext uri="{FF2B5EF4-FFF2-40B4-BE49-F238E27FC236}">
                <a16:creationId xmlns:a16="http://schemas.microsoft.com/office/drawing/2014/main" id="{FF0236E3-CDAA-BA87-706E-EDBA3B19E0FA}"/>
              </a:ext>
            </a:extLst>
          </p:cNvPr>
          <p:cNvSpPr/>
          <p:nvPr/>
        </p:nvSpPr>
        <p:spPr>
          <a:xfrm>
            <a:off x="2733918" y="2367260"/>
            <a:ext cx="6740403" cy="6144093"/>
          </a:xfrm>
          <a:prstGeom prst="ellipse">
            <a:avLst/>
          </a:prstGeom>
          <a:gradFill flip="none" rotWithShape="1">
            <a:gsLst>
              <a:gs pos="0">
                <a:srgbClr val="6400EC">
                  <a:alpha val="80859"/>
                </a:srgbClr>
              </a:gs>
              <a:gs pos="50000">
                <a:srgbClr val="6400EC">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29" name="!!orb3" hidden="1">
            <a:extLst>
              <a:ext uri="{FF2B5EF4-FFF2-40B4-BE49-F238E27FC236}">
                <a16:creationId xmlns:a16="http://schemas.microsoft.com/office/drawing/2014/main" id="{C21BB214-DB42-8D37-27E9-8C50A4A5DF79}"/>
              </a:ext>
            </a:extLst>
          </p:cNvPr>
          <p:cNvPicPr>
            <a:picLocks noChangeAspect="1"/>
          </p:cNvPicPr>
          <p:nvPr/>
        </p:nvPicPr>
        <p:blipFill>
          <a:blip r:embed="rId4" cstate="screen">
            <a:alphaModFix amt="65000"/>
            <a:extLst>
              <a:ext uri="{28A0092B-C50C-407E-A947-70E740481C1C}">
                <a14:useLocalDpi xmlns:a14="http://schemas.microsoft.com/office/drawing/2010/main"/>
              </a:ext>
            </a:extLst>
          </a:blip>
          <a:srcRect/>
          <a:stretch/>
        </p:blipFill>
        <p:spPr>
          <a:xfrm>
            <a:off x="3634769" y="2671128"/>
            <a:ext cx="4908477" cy="4908472"/>
          </a:xfrm>
          <a:prstGeom prst="rect">
            <a:avLst/>
          </a:prstGeom>
          <a:effectLst/>
        </p:spPr>
      </p:pic>
      <p:pic>
        <p:nvPicPr>
          <p:cNvPr id="30" name="!!orb1" hidden="1">
            <a:extLst>
              <a:ext uri="{FF2B5EF4-FFF2-40B4-BE49-F238E27FC236}">
                <a16:creationId xmlns:a16="http://schemas.microsoft.com/office/drawing/2014/main" id="{08E7B95F-C359-8522-7E82-9E92DFDA4C8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34769" y="2671128"/>
            <a:ext cx="4908477" cy="4908472"/>
          </a:xfrm>
          <a:prstGeom prst="rect">
            <a:avLst/>
          </a:prstGeom>
          <a:effectLst/>
        </p:spPr>
      </p:pic>
      <p:pic>
        <p:nvPicPr>
          <p:cNvPr id="31" name="!!orb4top" hidden="1">
            <a:extLst>
              <a:ext uri="{FF2B5EF4-FFF2-40B4-BE49-F238E27FC236}">
                <a16:creationId xmlns:a16="http://schemas.microsoft.com/office/drawing/2014/main" id="{C1A1E67D-0F61-51E9-8FF5-8B5D11C4FE12}"/>
              </a:ext>
            </a:extLst>
          </p:cNvPr>
          <p:cNvPicPr>
            <a:picLocks noChangeAspect="1"/>
          </p:cNvPicPr>
          <p:nvPr/>
        </p:nvPicPr>
        <p:blipFill>
          <a:blip r:embed="rId6" cstate="screen">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a:ext>
            </a:extLst>
          </a:blip>
          <a:srcRect/>
          <a:stretch/>
        </p:blipFill>
        <p:spPr>
          <a:xfrm flipV="1">
            <a:off x="3634768" y="2671121"/>
            <a:ext cx="4908479" cy="4908475"/>
          </a:xfrm>
          <a:prstGeom prst="rect">
            <a:avLst/>
          </a:prstGeom>
          <a:effectLst/>
        </p:spPr>
      </p:pic>
      <p:pic>
        <p:nvPicPr>
          <p:cNvPr id="14" name="Picture 15">
            <a:extLst>
              <a:ext uri="{FF2B5EF4-FFF2-40B4-BE49-F238E27FC236}">
                <a16:creationId xmlns:a16="http://schemas.microsoft.com/office/drawing/2014/main" id="{CBE04980-0350-4D3F-879F-FEB31F2BDD8C}"/>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498477" y="6476968"/>
            <a:ext cx="980334" cy="280022"/>
          </a:xfrm>
          <a:prstGeom prst="rect">
            <a:avLst/>
          </a:prstGeom>
        </p:spPr>
      </p:pic>
      <p:sp>
        <p:nvSpPr>
          <p:cNvPr id="20" name="Footer Placeholder 4">
            <a:extLst>
              <a:ext uri="{FF2B5EF4-FFF2-40B4-BE49-F238E27FC236}">
                <a16:creationId xmlns:a16="http://schemas.microsoft.com/office/drawing/2014/main" id="{CF02B6C0-3456-D293-8483-AB2E6427F901}"/>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37" name="Picture 36">
            <a:extLst>
              <a:ext uri="{FF2B5EF4-FFF2-40B4-BE49-F238E27FC236}">
                <a16:creationId xmlns:a16="http://schemas.microsoft.com/office/drawing/2014/main" id="{1E48597F-2A16-760B-F307-EFC50FF8AB68}"/>
              </a:ext>
            </a:extLst>
          </p:cNvPr>
          <p:cNvPicPr>
            <a:picLocks noChangeAspect="1"/>
          </p:cNvPicPr>
          <p:nvPr/>
        </p:nvPicPr>
        <p:blipFill>
          <a:blip r:embed="rId9"/>
          <a:stretch>
            <a:fillRect/>
          </a:stretch>
        </p:blipFill>
        <p:spPr>
          <a:xfrm>
            <a:off x="2061082" y="1172047"/>
            <a:ext cx="7772400" cy="4513906"/>
          </a:xfrm>
          <a:prstGeom prst="rect">
            <a:avLst/>
          </a:prstGeom>
        </p:spPr>
      </p:pic>
      <p:sp>
        <p:nvSpPr>
          <p:cNvPr id="5" name="Title 1">
            <a:extLst>
              <a:ext uri="{FF2B5EF4-FFF2-40B4-BE49-F238E27FC236}">
                <a16:creationId xmlns:a16="http://schemas.microsoft.com/office/drawing/2014/main" id="{A3D1DD46-9C6A-B757-E0E5-61479EA93D22}"/>
              </a:ext>
            </a:extLst>
          </p:cNvPr>
          <p:cNvSpPr>
            <a:spLocks noGrp="1"/>
          </p:cNvSpPr>
          <p:nvPr>
            <p:ph type="title"/>
          </p:nvPr>
        </p:nvSpPr>
        <p:spPr>
          <a:xfrm>
            <a:off x="860901" y="530352"/>
            <a:ext cx="10467023" cy="737654"/>
          </a:xfrm>
        </p:spPr>
        <p:txBody>
          <a:bodyPr/>
          <a:lstStyle/>
          <a:p>
            <a:pPr algn="ctr"/>
            <a:r>
              <a:rPr lang="en-US" sz="3600" dirty="0">
                <a:solidFill>
                  <a:schemeClr val="accent1"/>
                </a:solidFill>
                <a:latin typeface="Source Sans 3" panose="020B0504040101010104" pitchFamily="34" charset="77"/>
              </a:rPr>
              <a:t>Autonomous IT: </a:t>
            </a:r>
            <a:r>
              <a:rPr lang="en-US" sz="3600" dirty="0">
                <a:latin typeface="Source Sans 3" panose="020B0504040101010104" pitchFamily="34" charset="77"/>
              </a:rPr>
              <a:t>Building exponential value</a:t>
            </a:r>
          </a:p>
        </p:txBody>
      </p:sp>
    </p:spTree>
    <p:extLst>
      <p:ext uri="{BB962C8B-B14F-4D97-AF65-F5344CB8AC3E}">
        <p14:creationId xmlns:p14="http://schemas.microsoft.com/office/powerpoint/2010/main" val="110654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36C0A-E842-DC57-15A9-92A8B8F4A4EC}"/>
            </a:ext>
          </a:extLst>
        </p:cNvPr>
        <p:cNvGrpSpPr/>
        <p:nvPr/>
      </p:nvGrpSpPr>
      <p:grpSpPr>
        <a:xfrm>
          <a:off x="0" y="0"/>
          <a:ext cx="0" cy="0"/>
          <a:chOff x="0" y="0"/>
          <a:chExt cx="0" cy="0"/>
        </a:xfrm>
      </p:grpSpPr>
      <p:pic>
        <p:nvPicPr>
          <p:cNvPr id="3" name="Picture 2" descr="A blue and purple background&#10;&#10;AI-generated content may be incorrect.">
            <a:extLst>
              <a:ext uri="{FF2B5EF4-FFF2-40B4-BE49-F238E27FC236}">
                <a16:creationId xmlns:a16="http://schemas.microsoft.com/office/drawing/2014/main" id="{A74F3326-4D17-C4C7-1C33-257AA675DB8E}"/>
              </a:ext>
            </a:extLst>
          </p:cNvPr>
          <p:cNvPicPr/>
          <p:nvPr/>
        </p:nvPicPr>
        <p:blipFill>
          <a:blip r:embed="rId3" cstate="screen">
            <a:extLst>
              <a:ext uri="{28A0092B-C50C-407E-A947-70E740481C1C}">
                <a14:useLocalDpi xmlns:a14="http://schemas.microsoft.com/office/drawing/2010/main"/>
              </a:ext>
            </a:extLst>
          </a:blip>
          <a:stretch>
            <a:fillRect/>
          </a:stretch>
        </p:blipFill>
        <p:spPr>
          <a:xfrm>
            <a:off x="0" y="893"/>
            <a:ext cx="12190415" cy="6857107"/>
          </a:xfrm>
          <a:prstGeom prst="rect">
            <a:avLst/>
          </a:prstGeom>
        </p:spPr>
      </p:pic>
      <p:sp>
        <p:nvSpPr>
          <p:cNvPr id="6" name="backlight" hidden="1">
            <a:extLst>
              <a:ext uri="{FF2B5EF4-FFF2-40B4-BE49-F238E27FC236}">
                <a16:creationId xmlns:a16="http://schemas.microsoft.com/office/drawing/2014/main" id="{494FA974-14A3-75C2-D9EB-EBE46B4BF1AC}"/>
              </a:ext>
            </a:extLst>
          </p:cNvPr>
          <p:cNvSpPr/>
          <p:nvPr/>
        </p:nvSpPr>
        <p:spPr>
          <a:xfrm>
            <a:off x="2733918" y="2367260"/>
            <a:ext cx="6740403" cy="6144093"/>
          </a:xfrm>
          <a:prstGeom prst="ellipse">
            <a:avLst/>
          </a:prstGeom>
          <a:gradFill flip="none" rotWithShape="1">
            <a:gsLst>
              <a:gs pos="0">
                <a:srgbClr val="6400EC">
                  <a:alpha val="80859"/>
                </a:srgbClr>
              </a:gs>
              <a:gs pos="50000">
                <a:srgbClr val="6400EC">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29" name="!!orb3" hidden="1">
            <a:extLst>
              <a:ext uri="{FF2B5EF4-FFF2-40B4-BE49-F238E27FC236}">
                <a16:creationId xmlns:a16="http://schemas.microsoft.com/office/drawing/2014/main" id="{AF486297-0876-DCD6-F59C-E742B5AFE051}"/>
              </a:ext>
            </a:extLst>
          </p:cNvPr>
          <p:cNvPicPr>
            <a:picLocks noChangeAspect="1"/>
          </p:cNvPicPr>
          <p:nvPr/>
        </p:nvPicPr>
        <p:blipFill>
          <a:blip r:embed="rId4" cstate="screen">
            <a:alphaModFix amt="65000"/>
            <a:extLst>
              <a:ext uri="{28A0092B-C50C-407E-A947-70E740481C1C}">
                <a14:useLocalDpi xmlns:a14="http://schemas.microsoft.com/office/drawing/2010/main"/>
              </a:ext>
            </a:extLst>
          </a:blip>
          <a:srcRect/>
          <a:stretch/>
        </p:blipFill>
        <p:spPr>
          <a:xfrm>
            <a:off x="3634769" y="2671128"/>
            <a:ext cx="4908477" cy="4908472"/>
          </a:xfrm>
          <a:prstGeom prst="rect">
            <a:avLst/>
          </a:prstGeom>
          <a:effectLst/>
        </p:spPr>
      </p:pic>
      <p:pic>
        <p:nvPicPr>
          <p:cNvPr id="30" name="!!orb1" hidden="1">
            <a:extLst>
              <a:ext uri="{FF2B5EF4-FFF2-40B4-BE49-F238E27FC236}">
                <a16:creationId xmlns:a16="http://schemas.microsoft.com/office/drawing/2014/main" id="{F51665A1-FFCF-16FA-8E38-9EED5699F6C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34769" y="2671128"/>
            <a:ext cx="4908477" cy="4908472"/>
          </a:xfrm>
          <a:prstGeom prst="rect">
            <a:avLst/>
          </a:prstGeom>
          <a:effectLst/>
        </p:spPr>
      </p:pic>
      <p:pic>
        <p:nvPicPr>
          <p:cNvPr id="31" name="!!orb4top" hidden="1">
            <a:extLst>
              <a:ext uri="{FF2B5EF4-FFF2-40B4-BE49-F238E27FC236}">
                <a16:creationId xmlns:a16="http://schemas.microsoft.com/office/drawing/2014/main" id="{1D9508F9-1589-1A6A-7F3A-4F691173F20E}"/>
              </a:ext>
            </a:extLst>
          </p:cNvPr>
          <p:cNvPicPr>
            <a:picLocks noChangeAspect="1"/>
          </p:cNvPicPr>
          <p:nvPr/>
        </p:nvPicPr>
        <p:blipFill>
          <a:blip r:embed="rId6" cstate="screen">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a:ext>
            </a:extLst>
          </a:blip>
          <a:srcRect/>
          <a:stretch/>
        </p:blipFill>
        <p:spPr>
          <a:xfrm flipV="1">
            <a:off x="3634768" y="2671121"/>
            <a:ext cx="4908479" cy="4908475"/>
          </a:xfrm>
          <a:prstGeom prst="rect">
            <a:avLst/>
          </a:prstGeom>
          <a:effectLst/>
        </p:spPr>
      </p:pic>
      <p:pic>
        <p:nvPicPr>
          <p:cNvPr id="14" name="Picture 15">
            <a:extLst>
              <a:ext uri="{FF2B5EF4-FFF2-40B4-BE49-F238E27FC236}">
                <a16:creationId xmlns:a16="http://schemas.microsoft.com/office/drawing/2014/main" id="{68C57CC2-08EA-A87D-1E41-0658E8859266}"/>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498477" y="6476968"/>
            <a:ext cx="980334" cy="280022"/>
          </a:xfrm>
          <a:prstGeom prst="rect">
            <a:avLst/>
          </a:prstGeom>
        </p:spPr>
      </p:pic>
      <p:sp>
        <p:nvSpPr>
          <p:cNvPr id="20" name="Footer Placeholder 4">
            <a:extLst>
              <a:ext uri="{FF2B5EF4-FFF2-40B4-BE49-F238E27FC236}">
                <a16:creationId xmlns:a16="http://schemas.microsoft.com/office/drawing/2014/main" id="{C693B29C-CE32-85D3-CD4F-6D63C8B3CF6C}"/>
              </a:ext>
            </a:extLst>
          </p:cNvPr>
          <p:cNvSpPr txBox="1">
            <a:spLocks/>
          </p:cNvSpPr>
          <p:nvPr/>
        </p:nvSpPr>
        <p:spPr>
          <a:xfrm>
            <a:off x="7956071" y="6529258"/>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44" name="Picture 43">
            <a:extLst>
              <a:ext uri="{FF2B5EF4-FFF2-40B4-BE49-F238E27FC236}">
                <a16:creationId xmlns:a16="http://schemas.microsoft.com/office/drawing/2014/main" id="{6AC0C992-407A-EBB6-02C3-40229E2B834E}"/>
              </a:ext>
            </a:extLst>
          </p:cNvPr>
          <p:cNvPicPr>
            <a:picLocks noChangeAspect="1"/>
          </p:cNvPicPr>
          <p:nvPr/>
        </p:nvPicPr>
        <p:blipFill>
          <a:blip r:embed="rId9"/>
          <a:stretch>
            <a:fillRect/>
          </a:stretch>
        </p:blipFill>
        <p:spPr>
          <a:xfrm>
            <a:off x="2061082" y="1172047"/>
            <a:ext cx="7772400" cy="4513906"/>
          </a:xfrm>
          <a:prstGeom prst="rect">
            <a:avLst/>
          </a:prstGeom>
        </p:spPr>
      </p:pic>
      <p:sp>
        <p:nvSpPr>
          <p:cNvPr id="7" name="Title 1">
            <a:extLst>
              <a:ext uri="{FF2B5EF4-FFF2-40B4-BE49-F238E27FC236}">
                <a16:creationId xmlns:a16="http://schemas.microsoft.com/office/drawing/2014/main" id="{DE00CC3A-4BEB-81B8-E031-6EA4F01A61F8}"/>
              </a:ext>
            </a:extLst>
          </p:cNvPr>
          <p:cNvSpPr>
            <a:spLocks noGrp="1"/>
          </p:cNvSpPr>
          <p:nvPr>
            <p:ph type="title"/>
          </p:nvPr>
        </p:nvSpPr>
        <p:spPr>
          <a:xfrm>
            <a:off x="860901" y="530352"/>
            <a:ext cx="10467023" cy="737654"/>
          </a:xfrm>
        </p:spPr>
        <p:txBody>
          <a:bodyPr/>
          <a:lstStyle/>
          <a:p>
            <a:pPr algn="ctr"/>
            <a:r>
              <a:rPr lang="en-US" sz="3600" dirty="0">
                <a:solidFill>
                  <a:schemeClr val="accent1"/>
                </a:solidFill>
                <a:latin typeface="Source Sans 3" panose="020B0504040101010104" pitchFamily="34" charset="77"/>
              </a:rPr>
              <a:t>Autonomous IT: </a:t>
            </a:r>
            <a:r>
              <a:rPr lang="en-US" sz="3600" dirty="0">
                <a:latin typeface="Source Sans 3" panose="020B0504040101010104" pitchFamily="34" charset="77"/>
              </a:rPr>
              <a:t>Building exponential value</a:t>
            </a:r>
          </a:p>
        </p:txBody>
      </p:sp>
    </p:spTree>
    <p:extLst>
      <p:ext uri="{BB962C8B-B14F-4D97-AF65-F5344CB8AC3E}">
        <p14:creationId xmlns:p14="http://schemas.microsoft.com/office/powerpoint/2010/main" val="363067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8AA7-C779-D667-A0A6-34BCE7BF4712}"/>
            </a:ext>
          </a:extLst>
        </p:cNvPr>
        <p:cNvGrpSpPr/>
        <p:nvPr/>
      </p:nvGrpSpPr>
      <p:grpSpPr>
        <a:xfrm>
          <a:off x="0" y="0"/>
          <a:ext cx="0" cy="0"/>
          <a:chOff x="0" y="0"/>
          <a:chExt cx="0" cy="0"/>
        </a:xfrm>
      </p:grpSpPr>
      <p:pic>
        <p:nvPicPr>
          <p:cNvPr id="7" name="Picture 6" descr="A blue and purple background&#10;&#10;AI-generated content may be incorrect.">
            <a:extLst>
              <a:ext uri="{FF2B5EF4-FFF2-40B4-BE49-F238E27FC236}">
                <a16:creationId xmlns:a16="http://schemas.microsoft.com/office/drawing/2014/main" id="{682C8E8A-0B29-995F-AD2A-16CFF2B224B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0415" cy="6857107"/>
          </a:xfrm>
          <a:prstGeom prst="rect">
            <a:avLst/>
          </a:prstGeom>
        </p:spPr>
      </p:pic>
      <p:sp>
        <p:nvSpPr>
          <p:cNvPr id="3" name="Oval 2">
            <a:extLst>
              <a:ext uri="{FF2B5EF4-FFF2-40B4-BE49-F238E27FC236}">
                <a16:creationId xmlns:a16="http://schemas.microsoft.com/office/drawing/2014/main" id="{E9C25626-199B-4931-8F48-D3F334BF7C4B}"/>
              </a:ext>
            </a:extLst>
          </p:cNvPr>
          <p:cNvSpPr>
            <a:spLocks/>
          </p:cNvSpPr>
          <p:nvPr/>
        </p:nvSpPr>
        <p:spPr>
          <a:xfrm>
            <a:off x="3843507" y="2542606"/>
            <a:ext cx="4658920" cy="2330700"/>
          </a:xfrm>
          <a:prstGeom prst="ellipse">
            <a:avLst/>
          </a:prstGeom>
          <a:solidFill>
            <a:schemeClr val="accent1"/>
          </a:solidFill>
          <a:ln>
            <a:noFill/>
          </a:ln>
          <a:effectLst>
            <a:softEdge rad="886023"/>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solidFill>
                <a:schemeClr val="tx1"/>
              </a:solidFill>
            </a:endParaRPr>
          </a:p>
        </p:txBody>
      </p:sp>
      <p:sp>
        <p:nvSpPr>
          <p:cNvPr id="14" name="Title 15">
            <a:extLst>
              <a:ext uri="{FF2B5EF4-FFF2-40B4-BE49-F238E27FC236}">
                <a16:creationId xmlns:a16="http://schemas.microsoft.com/office/drawing/2014/main" id="{159F2CE6-C3C4-1715-F7BE-3A094DA0ECC5}"/>
              </a:ext>
            </a:extLst>
          </p:cNvPr>
          <p:cNvSpPr>
            <a:spLocks noGrp="1"/>
          </p:cNvSpPr>
          <p:nvPr>
            <p:ph type="title"/>
          </p:nvPr>
        </p:nvSpPr>
        <p:spPr/>
        <p:txBody>
          <a:bodyPr/>
          <a:lstStyle/>
          <a:p>
            <a:pPr algn="ctr"/>
            <a:r>
              <a:rPr lang="en-US" sz="3600">
                <a:solidFill>
                  <a:schemeClr val="accent1"/>
                </a:solidFill>
                <a:latin typeface="Source Sans 3" panose="020B0504040101010104" pitchFamily="34" charset="77"/>
              </a:rPr>
              <a:t>Now on Now sets the bar </a:t>
            </a:r>
            <a:r>
              <a:rPr lang="en-US" sz="3600">
                <a:latin typeface="Source Sans 3" panose="020B0504040101010104" pitchFamily="34" charset="77"/>
              </a:rPr>
              <a:t>for AI business value</a:t>
            </a:r>
          </a:p>
        </p:txBody>
      </p:sp>
      <p:sp>
        <p:nvSpPr>
          <p:cNvPr id="1026" name="Text Placeholder 1025">
            <a:extLst>
              <a:ext uri="{FF2B5EF4-FFF2-40B4-BE49-F238E27FC236}">
                <a16:creationId xmlns:a16="http://schemas.microsoft.com/office/drawing/2014/main" id="{AD1F60BE-39B9-6B5A-8C26-B53B63DC5E46}"/>
              </a:ext>
            </a:extLst>
          </p:cNvPr>
          <p:cNvSpPr>
            <a:spLocks noGrp="1"/>
          </p:cNvSpPr>
          <p:nvPr>
            <p:ph type="body" sz="quarter" idx="11"/>
          </p:nvPr>
        </p:nvSpPr>
        <p:spPr/>
        <p:txBody>
          <a:bodyPr/>
          <a:lstStyle/>
          <a:p>
            <a:r>
              <a:rPr lang="en-US"/>
              <a:t>Other company and product names may be trademarks of the respective companies with which they are associated.</a:t>
            </a:r>
          </a:p>
        </p:txBody>
      </p:sp>
      <p:pic>
        <p:nvPicPr>
          <p:cNvPr id="57" name="Picture 15">
            <a:extLst>
              <a:ext uri="{FF2B5EF4-FFF2-40B4-BE49-F238E27FC236}">
                <a16:creationId xmlns:a16="http://schemas.microsoft.com/office/drawing/2014/main" id="{FE4CE13F-837E-5CD6-72A8-F03045A7CBA0}"/>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9837" y="6353915"/>
            <a:ext cx="980334" cy="280022"/>
          </a:xfrm>
          <a:prstGeom prst="rect">
            <a:avLst/>
          </a:prstGeom>
        </p:spPr>
      </p:pic>
      <p:pic>
        <p:nvPicPr>
          <p:cNvPr id="12" name="Picture 11">
            <a:extLst>
              <a:ext uri="{FF2B5EF4-FFF2-40B4-BE49-F238E27FC236}">
                <a16:creationId xmlns:a16="http://schemas.microsoft.com/office/drawing/2014/main" id="{9364A71C-EF28-EAE6-9272-6ADAA34FC6F4}"/>
              </a:ext>
            </a:extLst>
          </p:cNvPr>
          <p:cNvPicPr>
            <a:picLocks noChangeAspect="1"/>
          </p:cNvPicPr>
          <p:nvPr/>
        </p:nvPicPr>
        <p:blipFill>
          <a:blip r:embed="rId5">
            <a:alphaModFix amt="46000"/>
            <a:extLst>
              <a:ext uri="{BEBA8EAE-BF5A-486C-A8C5-ECC9F3942E4B}">
                <a14:imgProps xmlns:a14="http://schemas.microsoft.com/office/drawing/2010/main">
                  <a14:imgLayer r:embed="rId6">
                    <a14:imgEffect>
                      <a14:artisticBlur radius="53"/>
                    </a14:imgEffect>
                  </a14:imgLayer>
                </a14:imgProps>
              </a:ext>
            </a:extLst>
          </a:blip>
          <a:srcRect t="13368" r="15493"/>
          <a:stretch>
            <a:fillRect/>
          </a:stretch>
        </p:blipFill>
        <p:spPr>
          <a:xfrm rot="4237642">
            <a:off x="-2751344" y="-995972"/>
            <a:ext cx="5482364" cy="4694841"/>
          </a:xfrm>
          <a:prstGeom prst="rect">
            <a:avLst/>
          </a:prstGeom>
        </p:spPr>
      </p:pic>
      <p:grpSp>
        <p:nvGrpSpPr>
          <p:cNvPr id="8" name="Group 7">
            <a:extLst>
              <a:ext uri="{FF2B5EF4-FFF2-40B4-BE49-F238E27FC236}">
                <a16:creationId xmlns:a16="http://schemas.microsoft.com/office/drawing/2014/main" id="{A3E5BD63-0769-A3B3-7683-663692701950}"/>
              </a:ext>
            </a:extLst>
          </p:cNvPr>
          <p:cNvGrpSpPr/>
          <p:nvPr/>
        </p:nvGrpSpPr>
        <p:grpSpPr>
          <a:xfrm>
            <a:off x="1315908" y="1344868"/>
            <a:ext cx="2945455" cy="1309091"/>
            <a:chOff x="1315908" y="1344868"/>
            <a:chExt cx="2945455" cy="1309091"/>
          </a:xfrm>
        </p:grpSpPr>
        <p:sp>
          <p:nvSpPr>
            <p:cNvPr id="16" name="Rounded Rectangle 115">
              <a:extLst>
                <a:ext uri="{FF2B5EF4-FFF2-40B4-BE49-F238E27FC236}">
                  <a16:creationId xmlns:a16="http://schemas.microsoft.com/office/drawing/2014/main" id="{DC0C3DF9-B04F-4220-6618-740EA8709CDE}"/>
                </a:ext>
              </a:extLst>
            </p:cNvPr>
            <p:cNvSpPr>
              <a:spLocks noChangeAspect="1"/>
            </p:cNvSpPr>
            <p:nvPr/>
          </p:nvSpPr>
          <p:spPr>
            <a:xfrm flipH="1">
              <a:off x="1315908" y="1344868"/>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a:ln>
                  <a:noFill/>
                </a:ln>
                <a:solidFill>
                  <a:srgbClr val="000000"/>
                </a:solidFill>
                <a:effectLst/>
                <a:uLnTx/>
                <a:uFillTx/>
                <a:latin typeface="Source Sans 3" panose="020F0502020204030204" pitchFamily="34" charset="0"/>
                <a:ea typeface="+mn-ea"/>
                <a:cs typeface="Source Sans 3" panose="020F0502020204030204" pitchFamily="34" charset="0"/>
              </a:endParaRPr>
            </a:p>
          </p:txBody>
        </p:sp>
        <p:sp>
          <p:nvSpPr>
            <p:cNvPr id="25" name="TextBox 24">
              <a:extLst>
                <a:ext uri="{FF2B5EF4-FFF2-40B4-BE49-F238E27FC236}">
                  <a16:creationId xmlns:a16="http://schemas.microsoft.com/office/drawing/2014/main" id="{8904AC8D-1750-126B-358B-C4EF566C7E7D}"/>
                </a:ext>
              </a:extLst>
            </p:cNvPr>
            <p:cNvSpPr txBox="1">
              <a:spLocks/>
            </p:cNvSpPr>
            <p:nvPr/>
          </p:nvSpPr>
          <p:spPr>
            <a:xfrm>
              <a:off x="1911251" y="1509428"/>
              <a:ext cx="1754768" cy="513987"/>
            </a:xfrm>
            <a:prstGeom prst="rect">
              <a:avLst/>
            </a:prstGeom>
            <a:noFill/>
          </p:spPr>
          <p:txBody>
            <a:bodyPr wrap="square" lIns="36000" tIns="0" rIns="0" bIns="0" anchor="b" anchorCtr="0">
              <a:noAutofit/>
            </a:bodyPr>
            <a:lstStyle/>
            <a:p>
              <a:pPr marL="0" marR="0" lvl="0" indent="0" algn="ctr" defTabSz="456766" rtl="0" eaLnBrk="1" fontAlgn="auto" latinLnBrk="0" hangingPunct="1">
                <a:lnSpc>
                  <a:spcPct val="95000"/>
                </a:lnSpc>
                <a:spcBef>
                  <a:spcPts val="0"/>
                </a:spcBef>
                <a:spcAft>
                  <a:spcPts val="200"/>
                </a:spcAft>
                <a:buClrTx/>
                <a:buSzTx/>
                <a:buFontTx/>
                <a:buNone/>
                <a:tabLst/>
                <a:defRPr/>
              </a:pPr>
              <a:r>
                <a:rPr kumimoji="0" lang="en-US" sz="3200" b="1" u="none" strike="noStrike" kern="1200" cap="none" spc="0" normalizeH="0" baseline="0" noProof="0" dirty="0">
                  <a:ln>
                    <a:noFill/>
                  </a:ln>
                  <a:solidFill>
                    <a:schemeClr val="accent1"/>
                  </a:solidFill>
                  <a:effectLst/>
                  <a:uLnTx/>
                  <a:uFillTx/>
                  <a:latin typeface="Source Sans 3" panose="020B0504040101010104" pitchFamily="34" charset="77"/>
                  <a:cs typeface="Source Sans 3" panose="020F0502020204030204" pitchFamily="34" charset="0"/>
                </a:rPr>
                <a:t>90%+</a:t>
              </a:r>
              <a:endParaRPr kumimoji="0" lang="en-US" sz="3200" b="1" u="none" strike="noStrike" kern="1200" cap="none" spc="0" normalizeH="0" baseline="30000" noProof="0" dirty="0">
                <a:ln>
                  <a:noFill/>
                </a:ln>
                <a:solidFill>
                  <a:schemeClr val="accent1"/>
                </a:solidFill>
                <a:effectLst/>
                <a:uLnTx/>
                <a:uFillTx/>
                <a:latin typeface="Source Sans 3" panose="020B0504040101010104" pitchFamily="34" charset="77"/>
                <a:cs typeface="Source Sans 3" panose="020F0502020204030204" pitchFamily="34" charset="0"/>
              </a:endParaRPr>
            </a:p>
          </p:txBody>
        </p:sp>
        <p:sp>
          <p:nvSpPr>
            <p:cNvPr id="26" name="TextBox 25">
              <a:extLst>
                <a:ext uri="{FF2B5EF4-FFF2-40B4-BE49-F238E27FC236}">
                  <a16:creationId xmlns:a16="http://schemas.microsoft.com/office/drawing/2014/main" id="{030BFC61-92E6-AA26-7318-02C422304168}"/>
                </a:ext>
              </a:extLst>
            </p:cNvPr>
            <p:cNvSpPr txBox="1">
              <a:spLocks/>
            </p:cNvSpPr>
            <p:nvPr/>
          </p:nvSpPr>
          <p:spPr>
            <a:xfrm>
              <a:off x="1623990" y="2034948"/>
              <a:ext cx="2441573"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dirty="0">
                  <a:latin typeface="Source Sans 3" panose="020B0404040101010104" pitchFamily="34" charset="77"/>
                </a:rPr>
                <a:t>IT interactions resolved via </a:t>
              </a:r>
              <a:br>
                <a:rPr lang="en-US" sz="1200" dirty="0">
                  <a:latin typeface="Source Sans 3" panose="020B0404040101010104" pitchFamily="34" charset="77"/>
                </a:rPr>
              </a:br>
              <a:r>
                <a:rPr lang="en-US" sz="1200" dirty="0">
                  <a:latin typeface="Source Sans 3" panose="020B0404040101010104" pitchFamily="34" charset="77"/>
                </a:rPr>
                <a:t>AI-powered self-service</a:t>
              </a:r>
            </a:p>
          </p:txBody>
        </p:sp>
      </p:grpSp>
      <p:grpSp>
        <p:nvGrpSpPr>
          <p:cNvPr id="15" name="Group 14">
            <a:extLst>
              <a:ext uri="{FF2B5EF4-FFF2-40B4-BE49-F238E27FC236}">
                <a16:creationId xmlns:a16="http://schemas.microsoft.com/office/drawing/2014/main" id="{9E476D8B-42F2-0719-41B0-5E582D0A09DC}"/>
              </a:ext>
            </a:extLst>
          </p:cNvPr>
          <p:cNvGrpSpPr/>
          <p:nvPr/>
        </p:nvGrpSpPr>
        <p:grpSpPr>
          <a:xfrm>
            <a:off x="7927989" y="3058822"/>
            <a:ext cx="2945455" cy="1309091"/>
            <a:chOff x="7927989" y="3058822"/>
            <a:chExt cx="2945455" cy="1309091"/>
          </a:xfrm>
        </p:grpSpPr>
        <p:sp>
          <p:nvSpPr>
            <p:cNvPr id="21" name="Rounded Rectangle 115">
              <a:extLst>
                <a:ext uri="{FF2B5EF4-FFF2-40B4-BE49-F238E27FC236}">
                  <a16:creationId xmlns:a16="http://schemas.microsoft.com/office/drawing/2014/main" id="{E8FE8A1D-9B1F-254A-2BCB-146715915811}"/>
                </a:ext>
              </a:extLst>
            </p:cNvPr>
            <p:cNvSpPr>
              <a:spLocks noChangeAspect="1"/>
            </p:cNvSpPr>
            <p:nvPr/>
          </p:nvSpPr>
          <p:spPr>
            <a:xfrm flipH="1">
              <a:off x="7927989" y="3058822"/>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27" name="TextBox 26">
              <a:extLst>
                <a:ext uri="{FF2B5EF4-FFF2-40B4-BE49-F238E27FC236}">
                  <a16:creationId xmlns:a16="http://schemas.microsoft.com/office/drawing/2014/main" id="{38FFB1EE-74B5-989D-0019-97639D758487}"/>
                </a:ext>
              </a:extLst>
            </p:cNvPr>
            <p:cNvSpPr txBox="1">
              <a:spLocks/>
            </p:cNvSpPr>
            <p:nvPr/>
          </p:nvSpPr>
          <p:spPr>
            <a:xfrm>
              <a:off x="8523332" y="3227353"/>
              <a:ext cx="1754768"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98%</a:t>
              </a:r>
            </a:p>
          </p:txBody>
        </p:sp>
        <p:sp>
          <p:nvSpPr>
            <p:cNvPr id="28" name="TextBox 27">
              <a:extLst>
                <a:ext uri="{FF2B5EF4-FFF2-40B4-BE49-F238E27FC236}">
                  <a16:creationId xmlns:a16="http://schemas.microsoft.com/office/drawing/2014/main" id="{9DE320DD-F9D3-C57A-CCE6-8B65DD495A39}"/>
                </a:ext>
              </a:extLst>
            </p:cNvPr>
            <p:cNvSpPr txBox="1">
              <a:spLocks/>
            </p:cNvSpPr>
            <p:nvPr/>
          </p:nvSpPr>
          <p:spPr>
            <a:xfrm>
              <a:off x="8079490" y="3741680"/>
              <a:ext cx="2642454" cy="369332"/>
            </a:xfrm>
            <a:prstGeom prst="rect">
              <a:avLst/>
            </a:prstGeom>
            <a:noFill/>
          </p:spPr>
          <p:txBody>
            <a:bodyPr wrap="square" lIns="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a:latin typeface="Source Sans 3" panose="020B0404040101010104" pitchFamily="34" charset="77"/>
                </a:rPr>
                <a:t>reduction from </a:t>
              </a:r>
              <a:br>
                <a:rPr lang="en-US" sz="1200">
                  <a:latin typeface="Source Sans 3" panose="020B0404040101010104" pitchFamily="34" charset="77"/>
                </a:rPr>
              </a:br>
              <a:r>
                <a:rPr lang="en-US" sz="1200">
                  <a:latin typeface="Source Sans 3" panose="020B0404040101010104" pitchFamily="34" charset="77"/>
                </a:rPr>
                <a:t>events to alerts</a:t>
              </a:r>
            </a:p>
          </p:txBody>
        </p:sp>
      </p:grpSp>
      <p:grpSp>
        <p:nvGrpSpPr>
          <p:cNvPr id="11" name="Group 10">
            <a:extLst>
              <a:ext uri="{FF2B5EF4-FFF2-40B4-BE49-F238E27FC236}">
                <a16:creationId xmlns:a16="http://schemas.microsoft.com/office/drawing/2014/main" id="{DC6133D9-4A5B-A892-3169-DA3EAA28E4B4}"/>
              </a:ext>
            </a:extLst>
          </p:cNvPr>
          <p:cNvGrpSpPr/>
          <p:nvPr/>
        </p:nvGrpSpPr>
        <p:grpSpPr>
          <a:xfrm>
            <a:off x="7927989" y="1344868"/>
            <a:ext cx="2945455" cy="1309091"/>
            <a:chOff x="7927989" y="1344868"/>
            <a:chExt cx="2945455" cy="1309091"/>
          </a:xfrm>
        </p:grpSpPr>
        <p:sp>
          <p:nvSpPr>
            <p:cNvPr id="18" name="Rounded Rectangle 115">
              <a:extLst>
                <a:ext uri="{FF2B5EF4-FFF2-40B4-BE49-F238E27FC236}">
                  <a16:creationId xmlns:a16="http://schemas.microsoft.com/office/drawing/2014/main" id="{194B8836-8D7B-579A-DDDD-FE41526A5E54}"/>
                </a:ext>
              </a:extLst>
            </p:cNvPr>
            <p:cNvSpPr>
              <a:spLocks noChangeAspect="1"/>
            </p:cNvSpPr>
            <p:nvPr/>
          </p:nvSpPr>
          <p:spPr>
            <a:xfrm flipH="1">
              <a:off x="7927989" y="1344868"/>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30" name="TextBox 29">
              <a:extLst>
                <a:ext uri="{FF2B5EF4-FFF2-40B4-BE49-F238E27FC236}">
                  <a16:creationId xmlns:a16="http://schemas.microsoft.com/office/drawing/2014/main" id="{6DBAE7CB-1DD9-38B9-59AB-DAA06D72CDC3}"/>
                </a:ext>
              </a:extLst>
            </p:cNvPr>
            <p:cNvSpPr txBox="1">
              <a:spLocks/>
            </p:cNvSpPr>
            <p:nvPr/>
          </p:nvSpPr>
          <p:spPr>
            <a:xfrm>
              <a:off x="8079491" y="2034948"/>
              <a:ext cx="2642452"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dirty="0">
                  <a:latin typeface="Source Sans 3" panose="020B0404040101010104" pitchFamily="34" charset="77"/>
                </a:rPr>
                <a:t>faster closing </a:t>
              </a:r>
              <a:br>
                <a:rPr lang="en-US" sz="1200" dirty="0">
                  <a:latin typeface="Source Sans 3" panose="020B0404040101010104" pitchFamily="34" charset="77"/>
                </a:rPr>
              </a:br>
              <a:r>
                <a:rPr lang="en-US" sz="1200" dirty="0">
                  <a:latin typeface="Source Sans 3" panose="020B0404040101010104" pitchFamily="34" charset="77"/>
                </a:rPr>
                <a:t>risk &amp; security incidents</a:t>
              </a:r>
            </a:p>
          </p:txBody>
        </p:sp>
        <p:sp>
          <p:nvSpPr>
            <p:cNvPr id="32" name="TextBox 31">
              <a:extLst>
                <a:ext uri="{FF2B5EF4-FFF2-40B4-BE49-F238E27FC236}">
                  <a16:creationId xmlns:a16="http://schemas.microsoft.com/office/drawing/2014/main" id="{55997E3C-25A9-F71E-888D-03B6C3919A31}"/>
                </a:ext>
              </a:extLst>
            </p:cNvPr>
            <p:cNvSpPr txBox="1">
              <a:spLocks/>
            </p:cNvSpPr>
            <p:nvPr/>
          </p:nvSpPr>
          <p:spPr>
            <a:xfrm>
              <a:off x="8657866" y="1509428"/>
              <a:ext cx="1485701"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7x</a:t>
              </a:r>
            </a:p>
          </p:txBody>
        </p:sp>
      </p:grpSp>
      <p:grpSp>
        <p:nvGrpSpPr>
          <p:cNvPr id="29" name="Group 28">
            <a:extLst>
              <a:ext uri="{FF2B5EF4-FFF2-40B4-BE49-F238E27FC236}">
                <a16:creationId xmlns:a16="http://schemas.microsoft.com/office/drawing/2014/main" id="{629764DF-297F-46FC-13E6-FFB211313E46}"/>
              </a:ext>
            </a:extLst>
          </p:cNvPr>
          <p:cNvGrpSpPr/>
          <p:nvPr/>
        </p:nvGrpSpPr>
        <p:grpSpPr>
          <a:xfrm>
            <a:off x="7927989" y="4772777"/>
            <a:ext cx="2945455" cy="1309091"/>
            <a:chOff x="7927989" y="4772777"/>
            <a:chExt cx="2945455" cy="1309091"/>
          </a:xfrm>
        </p:grpSpPr>
        <p:sp>
          <p:nvSpPr>
            <p:cNvPr id="22" name="Rounded Rectangle 115">
              <a:extLst>
                <a:ext uri="{FF2B5EF4-FFF2-40B4-BE49-F238E27FC236}">
                  <a16:creationId xmlns:a16="http://schemas.microsoft.com/office/drawing/2014/main" id="{96F89E16-483A-30C9-3D48-05913D4F3401}"/>
                </a:ext>
              </a:extLst>
            </p:cNvPr>
            <p:cNvSpPr>
              <a:spLocks noChangeAspect="1"/>
            </p:cNvSpPr>
            <p:nvPr/>
          </p:nvSpPr>
          <p:spPr>
            <a:xfrm flipH="1">
              <a:off x="7927989" y="4772777"/>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34" name="TextBox 33">
              <a:extLst>
                <a:ext uri="{FF2B5EF4-FFF2-40B4-BE49-F238E27FC236}">
                  <a16:creationId xmlns:a16="http://schemas.microsoft.com/office/drawing/2014/main" id="{C178BA77-37DD-698F-E5F8-FBDEBE03824E}"/>
                </a:ext>
              </a:extLst>
            </p:cNvPr>
            <p:cNvSpPr txBox="1">
              <a:spLocks/>
            </p:cNvSpPr>
            <p:nvPr/>
          </p:nvSpPr>
          <p:spPr>
            <a:xfrm>
              <a:off x="7997898" y="5391913"/>
              <a:ext cx="2766249"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dirty="0">
                  <a:latin typeface="Source Sans 3" panose="020B0404040101010104" pitchFamily="34" charset="77"/>
                </a:rPr>
                <a:t>70% efficiency gain for Product </a:t>
              </a:r>
            </a:p>
            <a:p>
              <a:r>
                <a:rPr lang="en-US" sz="1200" dirty="0">
                  <a:latin typeface="Source Sans 3" panose="020B0404040101010104" pitchFamily="34" charset="77"/>
                </a:rPr>
                <a:t>Managers in development story writing</a:t>
              </a:r>
            </a:p>
          </p:txBody>
        </p:sp>
        <p:sp>
          <p:nvSpPr>
            <p:cNvPr id="36" name="TextBox 35">
              <a:extLst>
                <a:ext uri="{FF2B5EF4-FFF2-40B4-BE49-F238E27FC236}">
                  <a16:creationId xmlns:a16="http://schemas.microsoft.com/office/drawing/2014/main" id="{4F872E3A-A966-FD60-263A-112CE7131AF8}"/>
                </a:ext>
              </a:extLst>
            </p:cNvPr>
            <p:cNvSpPr txBox="1">
              <a:spLocks/>
            </p:cNvSpPr>
            <p:nvPr/>
          </p:nvSpPr>
          <p:spPr>
            <a:xfrm>
              <a:off x="8657866" y="4891388"/>
              <a:ext cx="1485701"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 70%</a:t>
              </a:r>
            </a:p>
          </p:txBody>
        </p:sp>
      </p:grpSp>
      <p:grpSp>
        <p:nvGrpSpPr>
          <p:cNvPr id="31" name="Group 30">
            <a:extLst>
              <a:ext uri="{FF2B5EF4-FFF2-40B4-BE49-F238E27FC236}">
                <a16:creationId xmlns:a16="http://schemas.microsoft.com/office/drawing/2014/main" id="{A5BEF43E-B946-DCA1-B816-6B8A9BF9BF02}"/>
              </a:ext>
            </a:extLst>
          </p:cNvPr>
          <p:cNvGrpSpPr/>
          <p:nvPr/>
        </p:nvGrpSpPr>
        <p:grpSpPr>
          <a:xfrm>
            <a:off x="1315908" y="4772777"/>
            <a:ext cx="2945455" cy="1309091"/>
            <a:chOff x="1315908" y="4772777"/>
            <a:chExt cx="2945455" cy="1309091"/>
          </a:xfrm>
        </p:grpSpPr>
        <p:sp>
          <p:nvSpPr>
            <p:cNvPr id="23" name="Rounded Rectangle 115">
              <a:extLst>
                <a:ext uri="{FF2B5EF4-FFF2-40B4-BE49-F238E27FC236}">
                  <a16:creationId xmlns:a16="http://schemas.microsoft.com/office/drawing/2014/main" id="{218AB8DD-0296-186A-49AC-6E6D8BA90BE6}"/>
                </a:ext>
              </a:extLst>
            </p:cNvPr>
            <p:cNvSpPr>
              <a:spLocks noChangeAspect="1"/>
            </p:cNvSpPr>
            <p:nvPr/>
          </p:nvSpPr>
          <p:spPr>
            <a:xfrm flipH="1">
              <a:off x="1315908" y="4772777"/>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38" name="TextBox 37">
              <a:extLst>
                <a:ext uri="{FF2B5EF4-FFF2-40B4-BE49-F238E27FC236}">
                  <a16:creationId xmlns:a16="http://schemas.microsoft.com/office/drawing/2014/main" id="{44C360F6-53AE-F21D-5CFF-EF9948B6874E}"/>
                </a:ext>
              </a:extLst>
            </p:cNvPr>
            <p:cNvSpPr txBox="1">
              <a:spLocks/>
            </p:cNvSpPr>
            <p:nvPr/>
          </p:nvSpPr>
          <p:spPr>
            <a:xfrm>
              <a:off x="1460171" y="5391913"/>
              <a:ext cx="2605391"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dirty="0">
                  <a:latin typeface="Source Sans 3" panose="020B0404040101010104" pitchFamily="34" charset="77"/>
                </a:rPr>
                <a:t>hard savings &amp; cost avoidance via AI-powered IT cost management</a:t>
              </a:r>
            </a:p>
          </p:txBody>
        </p:sp>
        <p:sp>
          <p:nvSpPr>
            <p:cNvPr id="40" name="TextBox 39">
              <a:extLst>
                <a:ext uri="{FF2B5EF4-FFF2-40B4-BE49-F238E27FC236}">
                  <a16:creationId xmlns:a16="http://schemas.microsoft.com/office/drawing/2014/main" id="{EAB42C17-51B6-6E15-5EBC-3A8FE6BFE790}"/>
                </a:ext>
              </a:extLst>
            </p:cNvPr>
            <p:cNvSpPr txBox="1">
              <a:spLocks/>
            </p:cNvSpPr>
            <p:nvPr/>
          </p:nvSpPr>
          <p:spPr>
            <a:xfrm>
              <a:off x="1523093" y="4891388"/>
              <a:ext cx="2423914"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 $89M+</a:t>
              </a:r>
            </a:p>
          </p:txBody>
        </p:sp>
      </p:grpSp>
      <p:grpSp>
        <p:nvGrpSpPr>
          <p:cNvPr id="13" name="Group 12">
            <a:extLst>
              <a:ext uri="{FF2B5EF4-FFF2-40B4-BE49-F238E27FC236}">
                <a16:creationId xmlns:a16="http://schemas.microsoft.com/office/drawing/2014/main" id="{1C079C11-8297-10FF-13FB-AAF32673FF82}"/>
              </a:ext>
            </a:extLst>
          </p:cNvPr>
          <p:cNvGrpSpPr/>
          <p:nvPr/>
        </p:nvGrpSpPr>
        <p:grpSpPr>
          <a:xfrm>
            <a:off x="1315908" y="3058822"/>
            <a:ext cx="2945455" cy="1309091"/>
            <a:chOff x="1315908" y="3058822"/>
            <a:chExt cx="2945455" cy="1309091"/>
          </a:xfrm>
        </p:grpSpPr>
        <p:sp>
          <p:nvSpPr>
            <p:cNvPr id="20" name="Rounded Rectangle 115">
              <a:extLst>
                <a:ext uri="{FF2B5EF4-FFF2-40B4-BE49-F238E27FC236}">
                  <a16:creationId xmlns:a16="http://schemas.microsoft.com/office/drawing/2014/main" id="{E8337820-23B9-C717-0F4C-E1DE4F310C67}"/>
                </a:ext>
              </a:extLst>
            </p:cNvPr>
            <p:cNvSpPr>
              <a:spLocks noChangeAspect="1"/>
            </p:cNvSpPr>
            <p:nvPr/>
          </p:nvSpPr>
          <p:spPr>
            <a:xfrm flipH="1">
              <a:off x="1315908" y="3058822"/>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42" name="TextBox 41">
              <a:extLst>
                <a:ext uri="{FF2B5EF4-FFF2-40B4-BE49-F238E27FC236}">
                  <a16:creationId xmlns:a16="http://schemas.microsoft.com/office/drawing/2014/main" id="{B351B9FE-408D-8292-1DA0-28F19E25159F}"/>
                </a:ext>
              </a:extLst>
            </p:cNvPr>
            <p:cNvSpPr txBox="1">
              <a:spLocks/>
            </p:cNvSpPr>
            <p:nvPr/>
          </p:nvSpPr>
          <p:spPr>
            <a:xfrm>
              <a:off x="1911251" y="3741680"/>
              <a:ext cx="1754769"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a:latin typeface="Source Sans 3" panose="020B0404040101010104" pitchFamily="34" charset="77"/>
                </a:rPr>
                <a:t>employee to support personnel</a:t>
              </a:r>
            </a:p>
          </p:txBody>
        </p:sp>
        <p:sp>
          <p:nvSpPr>
            <p:cNvPr id="47" name="TextBox 46">
              <a:extLst>
                <a:ext uri="{FF2B5EF4-FFF2-40B4-BE49-F238E27FC236}">
                  <a16:creationId xmlns:a16="http://schemas.microsoft.com/office/drawing/2014/main" id="{5EFE3291-B82D-BD53-952C-B8D999C34F45}"/>
                </a:ext>
              </a:extLst>
            </p:cNvPr>
            <p:cNvSpPr txBox="1">
              <a:spLocks/>
            </p:cNvSpPr>
            <p:nvPr/>
          </p:nvSpPr>
          <p:spPr>
            <a:xfrm>
              <a:off x="1994255" y="3227353"/>
              <a:ext cx="1588761"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 5600:1</a:t>
              </a:r>
            </a:p>
          </p:txBody>
        </p:sp>
      </p:grpSp>
      <p:grpSp>
        <p:nvGrpSpPr>
          <p:cNvPr id="9" name="Group 8">
            <a:extLst>
              <a:ext uri="{FF2B5EF4-FFF2-40B4-BE49-F238E27FC236}">
                <a16:creationId xmlns:a16="http://schemas.microsoft.com/office/drawing/2014/main" id="{990DEF1F-E682-D4B5-443E-6C5B58B38850}"/>
              </a:ext>
            </a:extLst>
          </p:cNvPr>
          <p:cNvGrpSpPr/>
          <p:nvPr/>
        </p:nvGrpSpPr>
        <p:grpSpPr>
          <a:xfrm>
            <a:off x="4635801" y="1344868"/>
            <a:ext cx="2945455" cy="1309091"/>
            <a:chOff x="4635801" y="1344868"/>
            <a:chExt cx="2945455" cy="1309091"/>
          </a:xfrm>
        </p:grpSpPr>
        <p:sp>
          <p:nvSpPr>
            <p:cNvPr id="19" name="Rounded Rectangle 115">
              <a:extLst>
                <a:ext uri="{FF2B5EF4-FFF2-40B4-BE49-F238E27FC236}">
                  <a16:creationId xmlns:a16="http://schemas.microsoft.com/office/drawing/2014/main" id="{3BD10E9C-2AE6-2461-B6C0-7D33DFBAEFB7}"/>
                </a:ext>
              </a:extLst>
            </p:cNvPr>
            <p:cNvSpPr>
              <a:spLocks noChangeAspect="1"/>
            </p:cNvSpPr>
            <p:nvPr/>
          </p:nvSpPr>
          <p:spPr>
            <a:xfrm flipH="1">
              <a:off x="4635801" y="1344868"/>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50" name="TextBox 49">
              <a:extLst>
                <a:ext uri="{FF2B5EF4-FFF2-40B4-BE49-F238E27FC236}">
                  <a16:creationId xmlns:a16="http://schemas.microsoft.com/office/drawing/2014/main" id="{221C5F66-0184-B8D4-65FC-B7602C946176}"/>
                </a:ext>
              </a:extLst>
            </p:cNvPr>
            <p:cNvSpPr txBox="1">
              <a:spLocks/>
            </p:cNvSpPr>
            <p:nvPr/>
          </p:nvSpPr>
          <p:spPr>
            <a:xfrm>
              <a:off x="5324395" y="1509428"/>
              <a:ext cx="1568267"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85%</a:t>
              </a:r>
            </a:p>
          </p:txBody>
        </p:sp>
        <p:sp>
          <p:nvSpPr>
            <p:cNvPr id="51" name="TextBox 50">
              <a:extLst>
                <a:ext uri="{FF2B5EF4-FFF2-40B4-BE49-F238E27FC236}">
                  <a16:creationId xmlns:a16="http://schemas.microsoft.com/office/drawing/2014/main" id="{0438933B-5B15-1EFE-3DFE-D6BC16A2B4B2}"/>
                </a:ext>
              </a:extLst>
            </p:cNvPr>
            <p:cNvSpPr txBox="1">
              <a:spLocks/>
            </p:cNvSpPr>
            <p:nvPr/>
          </p:nvSpPr>
          <p:spPr>
            <a:xfrm>
              <a:off x="4685664" y="2034948"/>
              <a:ext cx="2845728"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a:latin typeface="Source Sans 3" panose="020B0404040101010104" pitchFamily="34" charset="77"/>
                </a:rPr>
                <a:t>IT support agents redeployed </a:t>
              </a:r>
              <a:br>
                <a:rPr lang="en-US" sz="1200">
                  <a:latin typeface="Source Sans 3" panose="020B0404040101010104" pitchFamily="34" charset="77"/>
                </a:rPr>
              </a:br>
              <a:r>
                <a:rPr lang="en-US" sz="1200">
                  <a:latin typeface="Source Sans 3" panose="020B0404040101010104" pitchFamily="34" charset="77"/>
                </a:rPr>
                <a:t>to strategic work </a:t>
              </a:r>
            </a:p>
          </p:txBody>
        </p:sp>
      </p:grpSp>
      <p:grpSp>
        <p:nvGrpSpPr>
          <p:cNvPr id="33" name="Group 32">
            <a:extLst>
              <a:ext uri="{FF2B5EF4-FFF2-40B4-BE49-F238E27FC236}">
                <a16:creationId xmlns:a16="http://schemas.microsoft.com/office/drawing/2014/main" id="{B76E7FD8-FE4C-8388-629C-4728C510FD28}"/>
              </a:ext>
            </a:extLst>
          </p:cNvPr>
          <p:cNvGrpSpPr/>
          <p:nvPr/>
        </p:nvGrpSpPr>
        <p:grpSpPr>
          <a:xfrm>
            <a:off x="4635801" y="4772777"/>
            <a:ext cx="2945455" cy="1309091"/>
            <a:chOff x="4635801" y="4772777"/>
            <a:chExt cx="2945455" cy="1309091"/>
          </a:xfrm>
        </p:grpSpPr>
        <p:sp>
          <p:nvSpPr>
            <p:cNvPr id="24" name="Rounded Rectangle 115">
              <a:extLst>
                <a:ext uri="{FF2B5EF4-FFF2-40B4-BE49-F238E27FC236}">
                  <a16:creationId xmlns:a16="http://schemas.microsoft.com/office/drawing/2014/main" id="{348D70D3-B140-A83E-B0A5-B93B243CF005}"/>
                </a:ext>
              </a:extLst>
            </p:cNvPr>
            <p:cNvSpPr>
              <a:spLocks noChangeAspect="1"/>
            </p:cNvSpPr>
            <p:nvPr/>
          </p:nvSpPr>
          <p:spPr>
            <a:xfrm flipH="1">
              <a:off x="4635801" y="4772777"/>
              <a:ext cx="2945455" cy="1309091"/>
            </a:xfrm>
            <a:prstGeom prst="roundRect">
              <a:avLst>
                <a:gd name="adj" fmla="val 10058"/>
              </a:avLst>
            </a:prstGeom>
            <a:blipFill>
              <a:blip r:embed="rId7" cstate="screen">
                <a:alphaModFix amt="10000"/>
                <a:extLst>
                  <a:ext uri="{28A0092B-C50C-407E-A947-70E740481C1C}">
                    <a14:useLocalDpi xmlns:a14="http://schemas.microsoft.com/office/drawing/2010/main"/>
                  </a:ext>
                </a:extLst>
              </a:blip>
              <a:stretch>
                <a:fillRect/>
              </a:stretch>
            </a:blipFill>
            <a:ln w="6350" cap="flat" cmpd="sng" algn="ctr">
              <a:solidFill>
                <a:srgbClr val="FFFFFF">
                  <a:lumMod val="50000"/>
                  <a:lumOff val="50000"/>
                </a:srgbClr>
              </a:solidFill>
              <a:prstDash val="solid"/>
              <a:miter lim="800000"/>
            </a:ln>
            <a:effectLst/>
            <a:scene3d>
              <a:camera prst="orthographicFront"/>
              <a:lightRig rig="brightRoom" dir="t">
                <a:rot lat="0" lon="0" rev="0"/>
              </a:lightRig>
            </a:scene3d>
            <a:sp3d extrusionH="38100" prstMaterial="translucentPowder">
              <a:bevelT w="139700" h="88900" prst="coolSlant"/>
              <a:contourClr>
                <a:srgbClr val="040E3D"/>
              </a:contourClr>
            </a:sp3d>
          </p:spPr>
          <p:txBody>
            <a:bodyPr rtlCol="0" anchor="ctr"/>
            <a:lstStyle/>
            <a:p>
              <a:pPr defTabSz="456903"/>
              <a:endParaRPr lang="en-US" sz="1600" b="1" kern="0">
                <a:solidFill>
                  <a:srgbClr val="000000"/>
                </a:solidFill>
                <a:latin typeface="Source Sans 3" panose="020F0502020204030204" pitchFamily="34" charset="0"/>
              </a:endParaRPr>
            </a:p>
          </p:txBody>
        </p:sp>
        <p:sp>
          <p:nvSpPr>
            <p:cNvPr id="52" name="TextBox 51">
              <a:extLst>
                <a:ext uri="{FF2B5EF4-FFF2-40B4-BE49-F238E27FC236}">
                  <a16:creationId xmlns:a16="http://schemas.microsoft.com/office/drawing/2014/main" id="{C7BA9888-2333-0332-9E82-CF2E9FCE6270}"/>
                </a:ext>
              </a:extLst>
            </p:cNvPr>
            <p:cNvSpPr txBox="1">
              <a:spLocks/>
            </p:cNvSpPr>
            <p:nvPr/>
          </p:nvSpPr>
          <p:spPr>
            <a:xfrm>
              <a:off x="5231144" y="4891388"/>
              <a:ext cx="1754768"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solidFill>
                    <a:schemeClr val="accent1"/>
                  </a:solidFill>
                  <a:latin typeface="Source Sans 3" panose="020B0504040101010104" pitchFamily="34" charset="77"/>
                </a:rPr>
                <a:t> 26%</a:t>
              </a:r>
            </a:p>
          </p:txBody>
        </p:sp>
        <p:sp>
          <p:nvSpPr>
            <p:cNvPr id="53" name="TextBox 52">
              <a:extLst>
                <a:ext uri="{FF2B5EF4-FFF2-40B4-BE49-F238E27FC236}">
                  <a16:creationId xmlns:a16="http://schemas.microsoft.com/office/drawing/2014/main" id="{3B9655C1-8139-A42D-2D62-FB04BE251BDD}"/>
                </a:ext>
              </a:extLst>
            </p:cNvPr>
            <p:cNvSpPr txBox="1">
              <a:spLocks/>
            </p:cNvSpPr>
            <p:nvPr/>
          </p:nvSpPr>
          <p:spPr>
            <a:xfrm>
              <a:off x="5262596" y="5391913"/>
              <a:ext cx="1691865" cy="369332"/>
            </a:xfrm>
            <a:prstGeom prst="rect">
              <a:avLst/>
            </a:prstGeom>
            <a:noFill/>
          </p:spPr>
          <p:txBody>
            <a:bodyPr wrap="square" lIns="36000" tIns="0" rIns="0" bIns="0" rtlCol="0" anchor="t">
              <a:sp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dirty="0">
                  <a:latin typeface="Source Sans 3" panose="020B0404040101010104" pitchFamily="34" charset="77"/>
                </a:rPr>
                <a:t>total reduced IT asset spend year over year</a:t>
              </a:r>
            </a:p>
          </p:txBody>
        </p:sp>
      </p:grpSp>
      <p:grpSp>
        <p:nvGrpSpPr>
          <p:cNvPr id="35" name="Group 34">
            <a:extLst>
              <a:ext uri="{FF2B5EF4-FFF2-40B4-BE49-F238E27FC236}">
                <a16:creationId xmlns:a16="http://schemas.microsoft.com/office/drawing/2014/main" id="{09ABE140-834C-9268-CF71-31EC5C260D2F}"/>
              </a:ext>
            </a:extLst>
          </p:cNvPr>
          <p:cNvGrpSpPr/>
          <p:nvPr/>
        </p:nvGrpSpPr>
        <p:grpSpPr>
          <a:xfrm>
            <a:off x="4666595" y="3058822"/>
            <a:ext cx="2947045" cy="1309091"/>
            <a:chOff x="4666595" y="3058822"/>
            <a:chExt cx="2947045" cy="1309091"/>
          </a:xfrm>
        </p:grpSpPr>
        <p:grpSp>
          <p:nvGrpSpPr>
            <p:cNvPr id="5" name="Group 4">
              <a:extLst>
                <a:ext uri="{FF2B5EF4-FFF2-40B4-BE49-F238E27FC236}">
                  <a16:creationId xmlns:a16="http://schemas.microsoft.com/office/drawing/2014/main" id="{7B106852-BAE3-76A1-0BB6-7C5186CDF97C}"/>
                </a:ext>
              </a:extLst>
            </p:cNvPr>
            <p:cNvGrpSpPr/>
            <p:nvPr/>
          </p:nvGrpSpPr>
          <p:grpSpPr>
            <a:xfrm>
              <a:off x="4666595" y="3058822"/>
              <a:ext cx="2947045" cy="1309091"/>
              <a:chOff x="4666595" y="3058822"/>
              <a:chExt cx="2947045" cy="1309091"/>
            </a:xfrm>
          </p:grpSpPr>
          <p:sp>
            <p:nvSpPr>
              <p:cNvPr id="17" name="Rounded Rectangle 115">
                <a:extLst>
                  <a:ext uri="{FF2B5EF4-FFF2-40B4-BE49-F238E27FC236}">
                    <a16:creationId xmlns:a16="http://schemas.microsoft.com/office/drawing/2014/main" id="{385AAB9C-3DDF-AEA2-A6FF-70B42260265A}"/>
                  </a:ext>
                </a:extLst>
              </p:cNvPr>
              <p:cNvSpPr>
                <a:spLocks noChangeAspect="1"/>
              </p:cNvSpPr>
              <p:nvPr/>
            </p:nvSpPr>
            <p:spPr>
              <a:xfrm flipH="1">
                <a:off x="4666595" y="3058822"/>
                <a:ext cx="2945454" cy="1309091"/>
              </a:xfrm>
              <a:prstGeom prst="roundRect">
                <a:avLst>
                  <a:gd name="adj" fmla="val 10058"/>
                </a:avLst>
              </a:prstGeom>
              <a:solidFill>
                <a:srgbClr val="040E3D"/>
              </a:solidFill>
              <a:ln>
                <a:noFill/>
              </a:ln>
              <a:effectLst>
                <a:glow rad="1459236">
                  <a:schemeClr val="accent1">
                    <a:alpha val="10000"/>
                  </a:schemeClr>
                </a:glow>
              </a:effectLst>
              <a:scene3d>
                <a:camera prst="orthographicFront"/>
                <a:lightRig rig="sof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i="1">
                  <a:solidFill>
                    <a:schemeClr val="bg1"/>
                  </a:solidFill>
                  <a:latin typeface="Source Sans 3" panose="020B0504040101010104" pitchFamily="34" charset="77"/>
                </a:endParaRPr>
              </a:p>
            </p:txBody>
          </p:sp>
          <p:sp>
            <p:nvSpPr>
              <p:cNvPr id="4" name="Rounded Rectangle 115">
                <a:extLst>
                  <a:ext uri="{FF2B5EF4-FFF2-40B4-BE49-F238E27FC236}">
                    <a16:creationId xmlns:a16="http://schemas.microsoft.com/office/drawing/2014/main" id="{9D06143E-6F94-E8F1-C4A2-951BB0FCC1EE}"/>
                  </a:ext>
                </a:extLst>
              </p:cNvPr>
              <p:cNvSpPr>
                <a:spLocks noChangeAspect="1"/>
              </p:cNvSpPr>
              <p:nvPr/>
            </p:nvSpPr>
            <p:spPr>
              <a:xfrm flipH="1">
                <a:off x="4668185" y="3058822"/>
                <a:ext cx="2945455" cy="1309091"/>
              </a:xfrm>
              <a:prstGeom prst="roundRect">
                <a:avLst>
                  <a:gd name="adj" fmla="val 10058"/>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800" b="1">
                  <a:solidFill>
                    <a:schemeClr val="bg1"/>
                  </a:solidFill>
                  <a:latin typeface="Source Sans 3" panose="020B0504040101010104" pitchFamily="34" charset="77"/>
                </a:endParaRPr>
              </a:p>
            </p:txBody>
          </p:sp>
        </p:grpSp>
        <p:sp>
          <p:nvSpPr>
            <p:cNvPr id="55" name="TextBox 54">
              <a:extLst>
                <a:ext uri="{FF2B5EF4-FFF2-40B4-BE49-F238E27FC236}">
                  <a16:creationId xmlns:a16="http://schemas.microsoft.com/office/drawing/2014/main" id="{8D503816-4124-2C3B-9D92-D6F058D54B2C}"/>
                </a:ext>
              </a:extLst>
            </p:cNvPr>
            <p:cNvSpPr txBox="1">
              <a:spLocks/>
            </p:cNvSpPr>
            <p:nvPr/>
          </p:nvSpPr>
          <p:spPr>
            <a:xfrm>
              <a:off x="5302145" y="3227353"/>
              <a:ext cx="1612767" cy="513987"/>
            </a:xfrm>
            <a:prstGeom prst="rect">
              <a:avLst/>
            </a:prstGeom>
            <a:noFill/>
          </p:spPr>
          <p:txBody>
            <a:bodyPr wrap="square" lIns="36000" tIns="0" rIns="0" bIns="0" anchor="b" anchorCtr="0">
              <a:noAutofit/>
            </a:bodyPr>
            <a:lstStyle>
              <a:defPPr>
                <a:defRPr lang="en-US"/>
              </a:defPPr>
              <a:lvl1pPr marR="0" lvl="0" indent="0" defTabSz="456766" fontAlgn="auto">
                <a:lnSpc>
                  <a:spcPct val="95000"/>
                </a:lnSpc>
                <a:spcBef>
                  <a:spcPts val="0"/>
                </a:spcBef>
                <a:spcAft>
                  <a:spcPts val="200"/>
                </a:spcAft>
                <a:buClrTx/>
                <a:buSzTx/>
                <a:buFontTx/>
                <a:buNone/>
                <a:tabLst/>
                <a:defRPr kumimoji="0" sz="3200" b="1" u="none" strike="noStrike" cap="none" spc="0" normalizeH="0" baseline="0">
                  <a:ln>
                    <a:noFill/>
                  </a:ln>
                  <a:solidFill>
                    <a:srgbClr val="8FFFDB"/>
                  </a:solidFill>
                  <a:effectLst/>
                  <a:uLnTx/>
                  <a:uFillTx/>
                  <a:latin typeface="Source Sans 3" panose="020B0504040101010104" pitchFamily="34" charset="77"/>
                  <a:cs typeface="Source Sans 3" panose="020F0502020204030204" pitchFamily="34" charset="0"/>
                </a:defRPr>
              </a:lvl1pPr>
            </a:lstStyle>
            <a:p>
              <a:pPr algn="ctr"/>
              <a:r>
                <a:rPr lang="en-US" b="1" dirty="0">
                  <a:latin typeface="Source Sans 3" panose="020B0504040101010104" pitchFamily="34" charset="77"/>
                </a:rPr>
                <a:t>$500M</a:t>
              </a:r>
            </a:p>
          </p:txBody>
        </p:sp>
        <p:sp>
          <p:nvSpPr>
            <p:cNvPr id="56" name="TextBox 55">
              <a:extLst>
                <a:ext uri="{FF2B5EF4-FFF2-40B4-BE49-F238E27FC236}">
                  <a16:creationId xmlns:a16="http://schemas.microsoft.com/office/drawing/2014/main" id="{E4F36295-F6FB-699E-0178-24C780E7BC41}"/>
                </a:ext>
              </a:extLst>
            </p:cNvPr>
            <p:cNvSpPr txBox="1">
              <a:spLocks/>
            </p:cNvSpPr>
            <p:nvPr/>
          </p:nvSpPr>
          <p:spPr>
            <a:xfrm>
              <a:off x="4804113" y="3741680"/>
              <a:ext cx="2608832" cy="482633"/>
            </a:xfrm>
            <a:prstGeom prst="rect">
              <a:avLst/>
            </a:prstGeom>
            <a:noFill/>
          </p:spPr>
          <p:txBody>
            <a:bodyPr wrap="square" lIns="36000" tIns="0" rIns="0" bIns="0" rtlCol="0" anchor="t">
              <a:noAutofit/>
            </a:bodyPr>
            <a:lstStyle>
              <a:defPPr>
                <a:defRPr lang="en-US"/>
              </a:defPPr>
              <a:lvl1pPr marR="0" lvl="0" indent="0" algn="ctr" defTabSz="456766" fontAlgn="auto">
                <a:lnSpc>
                  <a:spcPct val="100000"/>
                </a:lnSpc>
                <a:spcBef>
                  <a:spcPts val="0"/>
                </a:spcBef>
                <a:spcAft>
                  <a:spcPts val="0"/>
                </a:spcAft>
                <a:buClrTx/>
                <a:buSzTx/>
                <a:buFontTx/>
                <a:buNone/>
                <a:tabLst/>
                <a:defRPr kumimoji="0" sz="1400" b="0" u="none" strike="noStrike" cap="none" spc="0" normalizeH="0" baseline="0">
                  <a:ln>
                    <a:noFill/>
                  </a:ln>
                  <a:solidFill>
                    <a:srgbClr val="FFFFFF"/>
                  </a:solidFill>
                  <a:effectLst/>
                  <a:uLnTx/>
                  <a:uFillTx/>
                  <a:latin typeface="Source Sans 3" panose="020B0504040101010104" pitchFamily="34" charset="77"/>
                  <a:cs typeface="Source Sans 3" panose="020F0502020204030204" pitchFamily="34" charset="0"/>
                </a:defRPr>
              </a:lvl1pPr>
            </a:lstStyle>
            <a:p>
              <a:r>
                <a:rPr lang="en-US" sz="1200" dirty="0">
                  <a:latin typeface="Source Sans 3" panose="020B0404040101010104" pitchFamily="34" charset="77"/>
                </a:rPr>
                <a:t>annualized value </a:t>
              </a:r>
              <a:br>
                <a:rPr lang="en-US" sz="1200" dirty="0">
                  <a:latin typeface="Source Sans 3" panose="020B0404040101010104" pitchFamily="34" charset="77"/>
                </a:rPr>
              </a:br>
              <a:r>
                <a:rPr lang="en-US" sz="1200" dirty="0">
                  <a:latin typeface="Source Sans 3" panose="020B0404040101010104" pitchFamily="34" charset="77"/>
                </a:rPr>
                <a:t>from agentic automation</a:t>
              </a:r>
            </a:p>
          </p:txBody>
        </p:sp>
      </p:grpSp>
      <p:sp>
        <p:nvSpPr>
          <p:cNvPr id="6" name="Footer Placeholder 4">
            <a:extLst>
              <a:ext uri="{FF2B5EF4-FFF2-40B4-BE49-F238E27FC236}">
                <a16:creationId xmlns:a16="http://schemas.microsoft.com/office/drawing/2014/main" id="{8B284777-6ADD-0E07-41D3-A4D74FE5BFBC}"/>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135993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nodeType="withEffect">
                                      <p:stCondLst>
                                        <p:cond delay="150"/>
                                      </p:stCondLst>
                                      <p:childTnLst>
                                        <p:animMotion origin="layout" path="M -0.0172 -0.00024 L 4.60797E-6 4.81481E-6 " pathEditMode="relative" rAng="0" ptsTypes="AA">
                                          <p:cBhvr>
                                            <p:cTn id="9" dur="500" fill="hold"/>
                                            <p:tgtEl>
                                              <p:spTgt spid="8"/>
                                            </p:tgtEl>
                                            <p:attrNameLst>
                                              <p:attrName>ppt_x</p:attrName>
                                              <p:attrName>ppt_y</p:attrName>
                                            </p:attrNameLst>
                                          </p:cBhvr>
                                          <p:rCtr x="860" y="0"/>
                                        </p:animMotion>
                                      </p:childTnLst>
                                    </p:cTn>
                                  </p:par>
                                  <p:par>
                                    <p:cTn id="10" presetID="10" presetClass="entr" presetSubtype="0" fill="hold" nodeType="withEffect">
                                      <p:stCondLst>
                                        <p:cond delay="3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42" presetClass="path" presetSubtype="0" decel="100000" fill="hold" nodeType="withEffect">
                                      <p:stCondLst>
                                        <p:cond delay="300"/>
                                      </p:stCondLst>
                                      <p:childTnLst>
                                        <p:animMotion origin="layout" path="M -0.01719 -0.00023 L -1.25E-6 1.85185E-6 " pathEditMode="relative" rAng="0" ptsTypes="AA">
                                          <p:cBhvr>
                                            <p:cTn id="14" dur="500" fill="hold"/>
                                            <p:tgtEl>
                                              <p:spTgt spid="9"/>
                                            </p:tgtEl>
                                            <p:attrNameLst>
                                              <p:attrName>ppt_x</p:attrName>
                                              <p:attrName>ppt_y</p:attrName>
                                            </p:attrNameLst>
                                          </p:cBhvr>
                                          <p:rCtr x="859" y="0"/>
                                        </p:animMotion>
                                      </p:childTnLst>
                                    </p:cTn>
                                  </p:par>
                                  <p:par>
                                    <p:cTn id="15" presetID="10" presetClass="entr" presetSubtype="0" fill="hold" nodeType="withEffect">
                                      <p:stCondLst>
                                        <p:cond delay="4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42" presetClass="path" presetSubtype="0" decel="100000" fill="hold" nodeType="withEffect">
                                      <p:stCondLst>
                                        <p:cond delay="450"/>
                                      </p:stCondLst>
                                      <p:childTnLst>
                                        <p:animMotion origin="layout" path="M -0.01719 -0.00023 L -1.25E-6 1.85185E-6 " pathEditMode="relative" rAng="0" ptsTypes="AA">
                                          <p:cBhvr>
                                            <p:cTn id="19" dur="500" fill="hold"/>
                                            <p:tgtEl>
                                              <p:spTgt spid="11"/>
                                            </p:tgtEl>
                                            <p:attrNameLst>
                                              <p:attrName>ppt_x</p:attrName>
                                              <p:attrName>ppt_y</p:attrName>
                                            </p:attrNameLst>
                                          </p:cBhvr>
                                          <p:rCtr x="859" y="0"/>
                                        </p:animMotion>
                                      </p:childTnLst>
                                    </p:cTn>
                                  </p:par>
                                  <p:par>
                                    <p:cTn id="20" presetID="10" presetClass="entr" presetSubtype="0"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childTnLst>
                                    </p:cTn>
                                  </p:par>
                                  <p:par>
                                    <p:cTn id="23" presetID="42" presetClass="path" presetSubtype="0" decel="100000" fill="hold" nodeType="withEffect">
                                      <p:stCondLst>
                                        <p:cond delay="600"/>
                                      </p:stCondLst>
                                      <p:childTnLst>
                                        <p:animMotion origin="layout" path="M -0.01719 -0.00023 L -1.25E-6 1.85185E-6 " pathEditMode="relative" rAng="0" ptsTypes="AA">
                                          <p:cBhvr>
                                            <p:cTn id="24" dur="500" fill="hold"/>
                                            <p:tgtEl>
                                              <p:spTgt spid="13"/>
                                            </p:tgtEl>
                                            <p:attrNameLst>
                                              <p:attrName>ppt_x</p:attrName>
                                              <p:attrName>ppt_y</p:attrName>
                                            </p:attrNameLst>
                                          </p:cBhvr>
                                          <p:rCtr x="859" y="0"/>
                                        </p:animMotion>
                                      </p:childTnLst>
                                    </p:cTn>
                                  </p:par>
                                  <p:par>
                                    <p:cTn id="25" presetID="10" presetClass="entr" presetSubtype="0" fill="hold" nodeType="withEffect">
                                      <p:stCondLst>
                                        <p:cond delay="15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42" presetClass="path" presetSubtype="0" decel="100000" fill="hold" nodeType="withEffect">
                                      <p:stCondLst>
                                        <p:cond delay="150"/>
                                      </p:stCondLst>
                                      <p:childTnLst>
                                        <p:animMotion origin="layout" path="M 0.01666 -0.00046 L 3.75E-6 1.85185E-6 " pathEditMode="relative" rAng="0" ptsTypes="AA">
                                          <p:cBhvr>
                                            <p:cTn id="29" dur="500" fill="hold"/>
                                            <p:tgtEl>
                                              <p:spTgt spid="29"/>
                                            </p:tgtEl>
                                            <p:attrNameLst>
                                              <p:attrName>ppt_x</p:attrName>
                                              <p:attrName>ppt_y</p:attrName>
                                            </p:attrNameLst>
                                          </p:cBhvr>
                                          <p:rCtr x="-833" y="23"/>
                                        </p:animMotion>
                                      </p:childTnLst>
                                    </p:cTn>
                                  </p:par>
                                  <p:par>
                                    <p:cTn id="30" presetID="10" presetClass="entr" presetSubtype="0" fill="hold" nodeType="withEffect">
                                      <p:stCondLst>
                                        <p:cond delay="30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250"/>
                                            <p:tgtEl>
                                              <p:spTgt spid="33"/>
                                            </p:tgtEl>
                                          </p:cBhvr>
                                        </p:animEffect>
                                      </p:childTnLst>
                                    </p:cTn>
                                  </p:par>
                                  <p:par>
                                    <p:cTn id="33" presetID="42" presetClass="path" presetSubtype="0" decel="100000" fill="hold" nodeType="withEffect">
                                      <p:stCondLst>
                                        <p:cond delay="300"/>
                                      </p:stCondLst>
                                      <p:childTnLst>
                                        <p:animMotion origin="layout" path="M 0.01666 -0.00046 L 3.75E-6 1.85185E-6 " pathEditMode="relative" rAng="0" ptsTypes="AA">
                                          <p:cBhvr>
                                            <p:cTn id="34" dur="500" fill="hold"/>
                                            <p:tgtEl>
                                              <p:spTgt spid="33"/>
                                            </p:tgtEl>
                                            <p:attrNameLst>
                                              <p:attrName>ppt_x</p:attrName>
                                              <p:attrName>ppt_y</p:attrName>
                                            </p:attrNameLst>
                                          </p:cBhvr>
                                          <p:rCtr x="-833" y="23"/>
                                        </p:animMotion>
                                      </p:childTnLst>
                                    </p:cTn>
                                  </p:par>
                                  <p:par>
                                    <p:cTn id="35" presetID="10" presetClass="entr" presetSubtype="0" fill="hold" nodeType="withEffect">
                                      <p:stCondLst>
                                        <p:cond delay="45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250"/>
                                            <p:tgtEl>
                                              <p:spTgt spid="31"/>
                                            </p:tgtEl>
                                          </p:cBhvr>
                                        </p:animEffect>
                                      </p:childTnLst>
                                    </p:cTn>
                                  </p:par>
                                  <p:par>
                                    <p:cTn id="38" presetID="42" presetClass="path" presetSubtype="0" decel="100000" fill="hold" nodeType="withEffect">
                                      <p:stCondLst>
                                        <p:cond delay="450"/>
                                      </p:stCondLst>
                                      <p:childTnLst>
                                        <p:animMotion origin="layout" path="M 0.01667 -0.00046 L 4.60797E-6 -3.7037E-6 " pathEditMode="relative" rAng="0" ptsTypes="AA">
                                          <p:cBhvr>
                                            <p:cTn id="39" dur="500" fill="hold"/>
                                            <p:tgtEl>
                                              <p:spTgt spid="31"/>
                                            </p:tgtEl>
                                            <p:attrNameLst>
                                              <p:attrName>ppt_x</p:attrName>
                                              <p:attrName>ppt_y</p:attrName>
                                            </p:attrNameLst>
                                          </p:cBhvr>
                                          <p:rCtr x="-834" y="23"/>
                                        </p:animMotion>
                                      </p:childTnLst>
                                    </p:cTn>
                                  </p:par>
                                  <p:par>
                                    <p:cTn id="40" presetID="10" presetClass="entr" presetSubtype="0" fill="hold" nodeType="withEffect">
                                      <p:stCondLst>
                                        <p:cond delay="6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50"/>
                                            <p:tgtEl>
                                              <p:spTgt spid="15"/>
                                            </p:tgtEl>
                                          </p:cBhvr>
                                        </p:animEffect>
                                      </p:childTnLst>
                                    </p:cTn>
                                  </p:par>
                                  <p:par>
                                    <p:cTn id="43" presetID="42" presetClass="path" presetSubtype="0" decel="100000" fill="hold" nodeType="withEffect">
                                      <p:stCondLst>
                                        <p:cond delay="600"/>
                                      </p:stCondLst>
                                      <p:childTnLst>
                                        <p:animMotion origin="layout" path="M 0.01666 -0.00046 L 3.75E-6 1.85185E-6 " pathEditMode="relative" rAng="0" ptsTypes="AA">
                                          <p:cBhvr>
                                            <p:cTn id="44" dur="500" fill="hold"/>
                                            <p:tgtEl>
                                              <p:spTgt spid="15"/>
                                            </p:tgtEl>
                                            <p:attrNameLst>
                                              <p:attrName>ppt_x</p:attrName>
                                              <p:attrName>ppt_y</p:attrName>
                                            </p:attrNameLst>
                                          </p:cBhvr>
                                          <p:rCtr x="-833" y="23"/>
                                        </p:animMotion>
                                      </p:childTnLst>
                                    </p:cTn>
                                  </p:par>
                                  <p:par>
                                    <p:cTn id="45" presetID="10" presetClass="entr" presetSubtype="0" fill="hold" grpId="0" nodeType="withEffect">
                                      <p:stCondLst>
                                        <p:cond delay="80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250"/>
                                            <p:tgtEl>
                                              <p:spTgt spid="3"/>
                                            </p:tgtEl>
                                          </p:cBhvr>
                                        </p:animEffect>
                                      </p:childTnLst>
                                    </p:cTn>
                                  </p:par>
                                  <p:par>
                                    <p:cTn id="48" presetID="6" presetClass="emph" presetSubtype="0" fill="hold" grpId="1" nodeType="withEffect">
                                      <p:stCondLst>
                                        <p:cond delay="800"/>
                                      </p:stCondLst>
                                      <p:childTnLst>
                                        <p:animScale>
                                          <p:cBhvr>
                                            <p:cTn id="49" dur="10" fill="hold"/>
                                            <p:tgtEl>
                                              <p:spTgt spid="3"/>
                                            </p:tgtEl>
                                          </p:cBhvr>
                                          <p:by x="90000" y="90000"/>
                                        </p:animScale>
                                      </p:childTnLst>
                                    </p:cTn>
                                  </p:par>
                                  <p:par>
                                    <p:cTn id="50" presetID="6" presetClass="emph" presetSubtype="0" decel="100000" fill="hold" grpId="2" nodeType="withEffect">
                                      <p:stCondLst>
                                        <p:cond delay="800"/>
                                      </p:stCondLst>
                                      <p:childTnLst>
                                        <p:animScale>
                                          <p:cBhvr>
                                            <p:cTn id="51" dur="750" fill="hold"/>
                                            <p:tgtEl>
                                              <p:spTgt spid="3"/>
                                            </p:tgtEl>
                                          </p:cBhvr>
                                          <p:by x="111110" y="111110"/>
                                        </p:animScale>
                                      </p:childTnLst>
                                    </p:cTn>
                                  </p:par>
                                  <p:par>
                                    <p:cTn id="52" presetID="23" presetClass="entr" presetSubtype="16" fill="hold" nodeType="withEffect">
                                      <p:stCondLst>
                                        <p:cond delay="750"/>
                                      </p:stCondLst>
                                      <p:childTnLst>
                                        <p:set>
                                          <p:cBhvr>
                                            <p:cTn id="53" dur="1" fill="hold">
                                              <p:stCondLst>
                                                <p:cond delay="0"/>
                                              </p:stCondLst>
                                            </p:cTn>
                                            <p:tgtEl>
                                              <p:spTgt spid="35"/>
                                            </p:tgtEl>
                                            <p:attrNameLst>
                                              <p:attrName>style.visibility</p:attrName>
                                            </p:attrNameLst>
                                          </p:cBhvr>
                                          <p:to>
                                            <p:strVal val="visible"/>
                                          </p:to>
                                        </p:set>
                                        <p:anim calcmode="lin" valueType="num">
                                          <p:cBhvr>
                                            <p:cTn id="54" dur="200" fill="hold"/>
                                            <p:tgtEl>
                                              <p:spTgt spid="35"/>
                                            </p:tgtEl>
                                            <p:attrNameLst>
                                              <p:attrName>ppt_w</p:attrName>
                                            </p:attrNameLst>
                                          </p:cBhvr>
                                          <p:tavLst>
                                            <p:tav tm="0">
                                              <p:val>
                                                <p:fltVal val="0"/>
                                              </p:val>
                                            </p:tav>
                                            <p:tav tm="100000">
                                              <p:val>
                                                <p:strVal val="#ppt_w"/>
                                              </p:val>
                                            </p:tav>
                                          </p:tavLst>
                                        </p:anim>
                                        <p:anim calcmode="lin" valueType="num">
                                          <p:cBhvr>
                                            <p:cTn id="55" dur="200" fill="hold"/>
                                            <p:tgtEl>
                                              <p:spTgt spid="35"/>
                                            </p:tgtEl>
                                            <p:attrNameLst>
                                              <p:attrName>ppt_h</p:attrName>
                                            </p:attrNameLst>
                                          </p:cBhvr>
                                          <p:tavLst>
                                            <p:tav tm="0">
                                              <p:val>
                                                <p:fltVal val="0"/>
                                              </p:val>
                                            </p:tav>
                                            <p:tav tm="100000">
                                              <p:val>
                                                <p:strVal val="#ppt_h"/>
                                              </p:val>
                                            </p:tav>
                                          </p:tavLst>
                                        </p:anim>
                                      </p:childTnLst>
                                    </p:cTn>
                                  </p:par>
                                  <p:par>
                                    <p:cTn id="56" presetID="6" presetClass="emph" presetSubtype="0" fill="hold" nodeType="withEffect" p14:presetBounceEnd="99000">
                                      <p:stCondLst>
                                        <p:cond delay="750"/>
                                      </p:stCondLst>
                                      <p:childTnLst>
                                        <p:animScale p14:bounceEnd="99000">
                                          <p:cBhvr>
                                            <p:cTn id="57" dur="1000" fill="hold"/>
                                            <p:tgtEl>
                                              <p:spTgt spid="35"/>
                                            </p:tgtEl>
                                          </p:cBhvr>
                                          <p:by x="110000" y="110000"/>
                                        </p:animScale>
                                      </p:childTnLst>
                                    </p:cTn>
                                  </p:par>
                                  <p:par>
                                    <p:cTn id="58" presetID="6" presetClass="emph" presetSubtype="0" accel="50000" decel="50000" fill="hold" nodeType="withEffect">
                                      <p:stCondLst>
                                        <p:cond delay="750"/>
                                      </p:stCondLst>
                                      <p:childTnLst>
                                        <p:animScale>
                                          <p:cBhvr>
                                            <p:cTn id="59" dur="250" fill="hold"/>
                                            <p:tgtEl>
                                              <p:spTgt spid="3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par>
                                    <p:cTn id="8" presetID="42" presetClass="path" presetSubtype="0" decel="100000" fill="hold" nodeType="withEffect">
                                      <p:stCondLst>
                                        <p:cond delay="150"/>
                                      </p:stCondLst>
                                      <p:childTnLst>
                                        <p:animMotion origin="layout" path="M -0.01719 -0.00023 L -1.25E-6 1.85185E-6 " pathEditMode="relative" rAng="0" ptsTypes="AA">
                                          <p:cBhvr>
                                            <p:cTn id="9" dur="500" fill="hold"/>
                                            <p:tgtEl>
                                              <p:spTgt spid="8"/>
                                            </p:tgtEl>
                                            <p:attrNameLst>
                                              <p:attrName>ppt_x</p:attrName>
                                              <p:attrName>ppt_y</p:attrName>
                                            </p:attrNameLst>
                                          </p:cBhvr>
                                          <p:rCtr x="859" y="0"/>
                                        </p:animMotion>
                                      </p:childTnLst>
                                    </p:cTn>
                                  </p:par>
                                  <p:par>
                                    <p:cTn id="10" presetID="10" presetClass="entr" presetSubtype="0" fill="hold" nodeType="withEffect">
                                      <p:stCondLst>
                                        <p:cond delay="3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42" presetClass="path" presetSubtype="0" decel="100000" fill="hold" nodeType="withEffect">
                                      <p:stCondLst>
                                        <p:cond delay="300"/>
                                      </p:stCondLst>
                                      <p:childTnLst>
                                        <p:animMotion origin="layout" path="M -0.01719 -0.00023 L -1.25E-6 1.85185E-6 " pathEditMode="relative" rAng="0" ptsTypes="AA">
                                          <p:cBhvr>
                                            <p:cTn id="14" dur="500" fill="hold"/>
                                            <p:tgtEl>
                                              <p:spTgt spid="9"/>
                                            </p:tgtEl>
                                            <p:attrNameLst>
                                              <p:attrName>ppt_x</p:attrName>
                                              <p:attrName>ppt_y</p:attrName>
                                            </p:attrNameLst>
                                          </p:cBhvr>
                                          <p:rCtr x="859" y="0"/>
                                        </p:animMotion>
                                      </p:childTnLst>
                                    </p:cTn>
                                  </p:par>
                                  <p:par>
                                    <p:cTn id="15" presetID="10" presetClass="entr" presetSubtype="0" fill="hold" nodeType="withEffect">
                                      <p:stCondLst>
                                        <p:cond delay="4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par>
                                    <p:cTn id="18" presetID="42" presetClass="path" presetSubtype="0" decel="100000" fill="hold" nodeType="withEffect">
                                      <p:stCondLst>
                                        <p:cond delay="450"/>
                                      </p:stCondLst>
                                      <p:childTnLst>
                                        <p:animMotion origin="layout" path="M -0.01719 -0.00023 L -1.25E-6 1.85185E-6 " pathEditMode="relative" rAng="0" ptsTypes="AA">
                                          <p:cBhvr>
                                            <p:cTn id="19" dur="500" fill="hold"/>
                                            <p:tgtEl>
                                              <p:spTgt spid="11"/>
                                            </p:tgtEl>
                                            <p:attrNameLst>
                                              <p:attrName>ppt_x</p:attrName>
                                              <p:attrName>ppt_y</p:attrName>
                                            </p:attrNameLst>
                                          </p:cBhvr>
                                          <p:rCtr x="859" y="0"/>
                                        </p:animMotion>
                                      </p:childTnLst>
                                    </p:cTn>
                                  </p:par>
                                  <p:par>
                                    <p:cTn id="20" presetID="10" presetClass="entr" presetSubtype="0" fill="hold" nodeType="withEffect">
                                      <p:stCondLst>
                                        <p:cond delay="6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50"/>
                                            <p:tgtEl>
                                              <p:spTgt spid="13"/>
                                            </p:tgtEl>
                                          </p:cBhvr>
                                        </p:animEffect>
                                      </p:childTnLst>
                                    </p:cTn>
                                  </p:par>
                                  <p:par>
                                    <p:cTn id="23" presetID="42" presetClass="path" presetSubtype="0" decel="100000" fill="hold" nodeType="withEffect">
                                      <p:stCondLst>
                                        <p:cond delay="600"/>
                                      </p:stCondLst>
                                      <p:childTnLst>
                                        <p:animMotion origin="layout" path="M -0.01719 -0.00023 L -1.25E-6 1.85185E-6 " pathEditMode="relative" rAng="0" ptsTypes="AA">
                                          <p:cBhvr>
                                            <p:cTn id="24" dur="500" fill="hold"/>
                                            <p:tgtEl>
                                              <p:spTgt spid="13"/>
                                            </p:tgtEl>
                                            <p:attrNameLst>
                                              <p:attrName>ppt_x</p:attrName>
                                              <p:attrName>ppt_y</p:attrName>
                                            </p:attrNameLst>
                                          </p:cBhvr>
                                          <p:rCtr x="859" y="0"/>
                                        </p:animMotion>
                                      </p:childTnLst>
                                    </p:cTn>
                                  </p:par>
                                  <p:par>
                                    <p:cTn id="25" presetID="10" presetClass="entr" presetSubtype="0" fill="hold" nodeType="withEffect">
                                      <p:stCondLst>
                                        <p:cond delay="15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250"/>
                                            <p:tgtEl>
                                              <p:spTgt spid="29"/>
                                            </p:tgtEl>
                                          </p:cBhvr>
                                        </p:animEffect>
                                      </p:childTnLst>
                                    </p:cTn>
                                  </p:par>
                                  <p:par>
                                    <p:cTn id="28" presetID="42" presetClass="path" presetSubtype="0" decel="100000" fill="hold" nodeType="withEffect">
                                      <p:stCondLst>
                                        <p:cond delay="150"/>
                                      </p:stCondLst>
                                      <p:childTnLst>
                                        <p:animMotion origin="layout" path="M 0.01666 -0.00046 L 3.75E-6 1.85185E-6 " pathEditMode="relative" rAng="0" ptsTypes="AA">
                                          <p:cBhvr>
                                            <p:cTn id="29" dur="500" fill="hold"/>
                                            <p:tgtEl>
                                              <p:spTgt spid="29"/>
                                            </p:tgtEl>
                                            <p:attrNameLst>
                                              <p:attrName>ppt_x</p:attrName>
                                              <p:attrName>ppt_y</p:attrName>
                                            </p:attrNameLst>
                                          </p:cBhvr>
                                          <p:rCtr x="-833" y="23"/>
                                        </p:animMotion>
                                      </p:childTnLst>
                                    </p:cTn>
                                  </p:par>
                                  <p:par>
                                    <p:cTn id="30" presetID="10" presetClass="entr" presetSubtype="0" fill="hold" nodeType="withEffect">
                                      <p:stCondLst>
                                        <p:cond delay="30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250"/>
                                            <p:tgtEl>
                                              <p:spTgt spid="33"/>
                                            </p:tgtEl>
                                          </p:cBhvr>
                                        </p:animEffect>
                                      </p:childTnLst>
                                    </p:cTn>
                                  </p:par>
                                  <p:par>
                                    <p:cTn id="33" presetID="42" presetClass="path" presetSubtype="0" decel="100000" fill="hold" nodeType="withEffect">
                                      <p:stCondLst>
                                        <p:cond delay="300"/>
                                      </p:stCondLst>
                                      <p:childTnLst>
                                        <p:animMotion origin="layout" path="M 0.01666 -0.00046 L 3.75E-6 1.85185E-6 " pathEditMode="relative" rAng="0" ptsTypes="AA">
                                          <p:cBhvr>
                                            <p:cTn id="34" dur="500" fill="hold"/>
                                            <p:tgtEl>
                                              <p:spTgt spid="33"/>
                                            </p:tgtEl>
                                            <p:attrNameLst>
                                              <p:attrName>ppt_x</p:attrName>
                                              <p:attrName>ppt_y</p:attrName>
                                            </p:attrNameLst>
                                          </p:cBhvr>
                                          <p:rCtr x="-833" y="23"/>
                                        </p:animMotion>
                                      </p:childTnLst>
                                    </p:cTn>
                                  </p:par>
                                  <p:par>
                                    <p:cTn id="35" presetID="10" presetClass="entr" presetSubtype="0" fill="hold" nodeType="withEffect">
                                      <p:stCondLst>
                                        <p:cond delay="45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250"/>
                                            <p:tgtEl>
                                              <p:spTgt spid="31"/>
                                            </p:tgtEl>
                                          </p:cBhvr>
                                        </p:animEffect>
                                      </p:childTnLst>
                                    </p:cTn>
                                  </p:par>
                                  <p:par>
                                    <p:cTn id="38" presetID="42" presetClass="path" presetSubtype="0" decel="100000" fill="hold" nodeType="withEffect">
                                      <p:stCondLst>
                                        <p:cond delay="450"/>
                                      </p:stCondLst>
                                      <p:childTnLst>
                                        <p:animMotion origin="layout" path="M 0.01666 -0.00046 L 3.75E-6 1.85185E-6 " pathEditMode="relative" rAng="0" ptsTypes="AA">
                                          <p:cBhvr>
                                            <p:cTn id="39" dur="500" fill="hold"/>
                                            <p:tgtEl>
                                              <p:spTgt spid="31"/>
                                            </p:tgtEl>
                                            <p:attrNameLst>
                                              <p:attrName>ppt_x</p:attrName>
                                              <p:attrName>ppt_y</p:attrName>
                                            </p:attrNameLst>
                                          </p:cBhvr>
                                          <p:rCtr x="-833" y="23"/>
                                        </p:animMotion>
                                      </p:childTnLst>
                                    </p:cTn>
                                  </p:par>
                                  <p:par>
                                    <p:cTn id="40" presetID="10" presetClass="entr" presetSubtype="0" fill="hold" nodeType="withEffect">
                                      <p:stCondLst>
                                        <p:cond delay="60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50"/>
                                            <p:tgtEl>
                                              <p:spTgt spid="15"/>
                                            </p:tgtEl>
                                          </p:cBhvr>
                                        </p:animEffect>
                                      </p:childTnLst>
                                    </p:cTn>
                                  </p:par>
                                  <p:par>
                                    <p:cTn id="43" presetID="42" presetClass="path" presetSubtype="0" decel="100000" fill="hold" nodeType="withEffect">
                                      <p:stCondLst>
                                        <p:cond delay="600"/>
                                      </p:stCondLst>
                                      <p:childTnLst>
                                        <p:animMotion origin="layout" path="M 0.01666 -0.00046 L 3.75E-6 1.85185E-6 " pathEditMode="relative" rAng="0" ptsTypes="AA">
                                          <p:cBhvr>
                                            <p:cTn id="44" dur="500" fill="hold"/>
                                            <p:tgtEl>
                                              <p:spTgt spid="15"/>
                                            </p:tgtEl>
                                            <p:attrNameLst>
                                              <p:attrName>ppt_x</p:attrName>
                                              <p:attrName>ppt_y</p:attrName>
                                            </p:attrNameLst>
                                          </p:cBhvr>
                                          <p:rCtr x="-833" y="23"/>
                                        </p:animMotion>
                                      </p:childTnLst>
                                    </p:cTn>
                                  </p:par>
                                  <p:par>
                                    <p:cTn id="45" presetID="10" presetClass="entr" presetSubtype="0" fill="hold" grpId="0" nodeType="withEffect">
                                      <p:stCondLst>
                                        <p:cond delay="80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250"/>
                                            <p:tgtEl>
                                              <p:spTgt spid="3"/>
                                            </p:tgtEl>
                                          </p:cBhvr>
                                        </p:animEffect>
                                      </p:childTnLst>
                                    </p:cTn>
                                  </p:par>
                                  <p:par>
                                    <p:cTn id="48" presetID="6" presetClass="emph" presetSubtype="0" fill="hold" grpId="1" nodeType="withEffect">
                                      <p:stCondLst>
                                        <p:cond delay="800"/>
                                      </p:stCondLst>
                                      <p:childTnLst>
                                        <p:animScale>
                                          <p:cBhvr>
                                            <p:cTn id="49" dur="10" fill="hold"/>
                                            <p:tgtEl>
                                              <p:spTgt spid="3"/>
                                            </p:tgtEl>
                                          </p:cBhvr>
                                          <p:by x="90000" y="90000"/>
                                        </p:animScale>
                                      </p:childTnLst>
                                    </p:cTn>
                                  </p:par>
                                  <p:par>
                                    <p:cTn id="50" presetID="6" presetClass="emph" presetSubtype="0" decel="100000" fill="hold" grpId="2" nodeType="withEffect">
                                      <p:stCondLst>
                                        <p:cond delay="800"/>
                                      </p:stCondLst>
                                      <p:childTnLst>
                                        <p:animScale>
                                          <p:cBhvr>
                                            <p:cTn id="51" dur="750" fill="hold"/>
                                            <p:tgtEl>
                                              <p:spTgt spid="3"/>
                                            </p:tgtEl>
                                          </p:cBhvr>
                                          <p:by x="111110" y="111110"/>
                                        </p:animScale>
                                      </p:childTnLst>
                                    </p:cTn>
                                  </p:par>
                                  <p:par>
                                    <p:cTn id="52" presetID="23" presetClass="entr" presetSubtype="16" fill="hold" nodeType="withEffect">
                                      <p:stCondLst>
                                        <p:cond delay="750"/>
                                      </p:stCondLst>
                                      <p:childTnLst>
                                        <p:set>
                                          <p:cBhvr>
                                            <p:cTn id="53" dur="1" fill="hold">
                                              <p:stCondLst>
                                                <p:cond delay="0"/>
                                              </p:stCondLst>
                                            </p:cTn>
                                            <p:tgtEl>
                                              <p:spTgt spid="35"/>
                                            </p:tgtEl>
                                            <p:attrNameLst>
                                              <p:attrName>style.visibility</p:attrName>
                                            </p:attrNameLst>
                                          </p:cBhvr>
                                          <p:to>
                                            <p:strVal val="visible"/>
                                          </p:to>
                                        </p:set>
                                        <p:anim calcmode="lin" valueType="num">
                                          <p:cBhvr>
                                            <p:cTn id="54" dur="200" fill="hold"/>
                                            <p:tgtEl>
                                              <p:spTgt spid="35"/>
                                            </p:tgtEl>
                                            <p:attrNameLst>
                                              <p:attrName>ppt_w</p:attrName>
                                            </p:attrNameLst>
                                          </p:cBhvr>
                                          <p:tavLst>
                                            <p:tav tm="0">
                                              <p:val>
                                                <p:fltVal val="0"/>
                                              </p:val>
                                            </p:tav>
                                            <p:tav tm="100000">
                                              <p:val>
                                                <p:strVal val="#ppt_w"/>
                                              </p:val>
                                            </p:tav>
                                          </p:tavLst>
                                        </p:anim>
                                        <p:anim calcmode="lin" valueType="num">
                                          <p:cBhvr>
                                            <p:cTn id="55" dur="200" fill="hold"/>
                                            <p:tgtEl>
                                              <p:spTgt spid="35"/>
                                            </p:tgtEl>
                                            <p:attrNameLst>
                                              <p:attrName>ppt_h</p:attrName>
                                            </p:attrNameLst>
                                          </p:cBhvr>
                                          <p:tavLst>
                                            <p:tav tm="0">
                                              <p:val>
                                                <p:fltVal val="0"/>
                                              </p:val>
                                            </p:tav>
                                            <p:tav tm="100000">
                                              <p:val>
                                                <p:strVal val="#ppt_h"/>
                                              </p:val>
                                            </p:tav>
                                          </p:tavLst>
                                        </p:anim>
                                      </p:childTnLst>
                                    </p:cTn>
                                  </p:par>
                                  <p:par>
                                    <p:cTn id="56" presetID="6" presetClass="emph" presetSubtype="0" fill="hold" nodeType="withEffect">
                                      <p:stCondLst>
                                        <p:cond delay="750"/>
                                      </p:stCondLst>
                                      <p:childTnLst>
                                        <p:animScale>
                                          <p:cBhvr>
                                            <p:cTn id="57" dur="1000" fill="hold"/>
                                            <p:tgtEl>
                                              <p:spTgt spid="35"/>
                                            </p:tgtEl>
                                          </p:cBhvr>
                                          <p:by x="110000" y="110000"/>
                                        </p:animScale>
                                      </p:childTnLst>
                                    </p:cTn>
                                  </p:par>
                                  <p:par>
                                    <p:cTn id="58" presetID="6" presetClass="emph" presetSubtype="0" accel="50000" decel="50000" fill="hold" nodeType="withEffect">
                                      <p:stCondLst>
                                        <p:cond delay="750"/>
                                      </p:stCondLst>
                                      <p:childTnLst>
                                        <p:animScale>
                                          <p:cBhvr>
                                            <p:cTn id="59" dur="250" fill="hold"/>
                                            <p:tgtEl>
                                              <p:spTgt spid="35"/>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B590-F2F7-F708-935F-707160D566DD}"/>
            </a:ext>
          </a:extLst>
        </p:cNvPr>
        <p:cNvGrpSpPr/>
        <p:nvPr/>
      </p:nvGrpSpPr>
      <p:grpSpPr>
        <a:xfrm>
          <a:off x="0" y="0"/>
          <a:ext cx="0" cy="0"/>
          <a:chOff x="0" y="0"/>
          <a:chExt cx="0" cy="0"/>
        </a:xfrm>
      </p:grpSpPr>
      <p:pic>
        <p:nvPicPr>
          <p:cNvPr id="38" name="Infinity-4K_20250424.png">
            <a:extLst>
              <a:ext uri="{FF2B5EF4-FFF2-40B4-BE49-F238E27FC236}">
                <a16:creationId xmlns:a16="http://schemas.microsoft.com/office/drawing/2014/main" id="{C2A452D8-DACD-7E6A-614B-72E9EC9DE3C1}"/>
              </a:ext>
            </a:extLst>
          </p:cNvPr>
          <p:cNvPicPr>
            <a:picLocks noChangeAspect="1"/>
          </p:cNvPicPr>
          <p:nvPr/>
        </p:nvPicPr>
        <p:blipFill>
          <a:blip r:embed="rId3" cstate="print">
            <a:alphaModFix amt="15000"/>
            <a:extLst>
              <a:ext uri="{28A0092B-C50C-407E-A947-70E740481C1C}">
                <a14:useLocalDpi xmlns:a14="http://schemas.microsoft.com/office/drawing/2010/main"/>
              </a:ext>
            </a:extLst>
          </a:blip>
          <a:srcRect/>
          <a:stretch>
            <a:fillRect/>
          </a:stretch>
        </p:blipFill>
        <p:spPr>
          <a:xfrm>
            <a:off x="495461" y="870411"/>
            <a:ext cx="11197903" cy="5572346"/>
          </a:xfrm>
          <a:prstGeom prst="rect">
            <a:avLst/>
          </a:prstGeom>
          <a:ln w="12700">
            <a:miter lim="400000"/>
          </a:ln>
        </p:spPr>
      </p:pic>
      <p:grpSp>
        <p:nvGrpSpPr>
          <p:cNvPr id="214" name="Group 213">
            <a:extLst>
              <a:ext uri="{FF2B5EF4-FFF2-40B4-BE49-F238E27FC236}">
                <a16:creationId xmlns:a16="http://schemas.microsoft.com/office/drawing/2014/main" id="{2AC49F81-194A-2A92-26DD-8B8AC358B1B4}"/>
              </a:ext>
            </a:extLst>
          </p:cNvPr>
          <p:cNvGrpSpPr>
            <a:grpSpLocks/>
          </p:cNvGrpSpPr>
          <p:nvPr/>
        </p:nvGrpSpPr>
        <p:grpSpPr>
          <a:xfrm>
            <a:off x="1929276" y="2007341"/>
            <a:ext cx="8326863" cy="426473"/>
            <a:chOff x="1929779" y="2006971"/>
            <a:chExt cx="8329032" cy="426584"/>
          </a:xfrm>
        </p:grpSpPr>
        <p:pic>
          <p:nvPicPr>
            <p:cNvPr id="215" name="Picture 214">
              <a:extLst>
                <a:ext uri="{FF2B5EF4-FFF2-40B4-BE49-F238E27FC236}">
                  <a16:creationId xmlns:a16="http://schemas.microsoft.com/office/drawing/2014/main" id="{4ADBC5F8-1B37-5D38-5C02-BED977FF7469}"/>
                </a:ext>
              </a:extLst>
            </p:cNvPr>
            <p:cNvPicPr>
              <a:picLocks noChangeAspect="1"/>
            </p:cNvPicPr>
            <p:nvPr/>
          </p:nvPicPr>
          <p:blipFill>
            <a:blip r:embed="rId4" cstate="print">
              <a:alphaModFix amt="85000"/>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a:ext>
              </a:extLst>
            </a:blip>
            <a:srcRect/>
            <a:stretch>
              <a:fillRect/>
            </a:stretch>
          </p:blipFill>
          <p:spPr>
            <a:xfrm>
              <a:off x="1938740" y="2011659"/>
              <a:ext cx="8308267" cy="413447"/>
            </a:xfrm>
            <a:prstGeom prst="roundRect">
              <a:avLst>
                <a:gd name="adj" fmla="val 19282"/>
              </a:avLst>
            </a:prstGeom>
          </p:spPr>
        </p:pic>
        <p:sp>
          <p:nvSpPr>
            <p:cNvPr id="217" name="Rounded Rectangle 216">
              <a:extLst>
                <a:ext uri="{FF2B5EF4-FFF2-40B4-BE49-F238E27FC236}">
                  <a16:creationId xmlns:a16="http://schemas.microsoft.com/office/drawing/2014/main" id="{205B33F7-B454-C547-BA76-2861C00FBB70}"/>
                </a:ext>
              </a:extLst>
            </p:cNvPr>
            <p:cNvSpPr>
              <a:spLocks/>
            </p:cNvSpPr>
            <p:nvPr/>
          </p:nvSpPr>
          <p:spPr>
            <a:xfrm>
              <a:off x="1929779" y="2006971"/>
              <a:ext cx="8323480" cy="424433"/>
            </a:xfrm>
            <a:prstGeom prst="roundRect">
              <a:avLst>
                <a:gd name="adj" fmla="val 20086"/>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600">
                <a:solidFill>
                  <a:srgbClr val="000000"/>
                </a:solidFill>
                <a:latin typeface="Source Sans 3"/>
              </a:endParaRPr>
            </a:p>
          </p:txBody>
        </p:sp>
        <p:sp>
          <p:nvSpPr>
            <p:cNvPr id="218" name="AI Exp frame">
              <a:extLst>
                <a:ext uri="{FF2B5EF4-FFF2-40B4-BE49-F238E27FC236}">
                  <a16:creationId xmlns:a16="http://schemas.microsoft.com/office/drawing/2014/main" id="{905D66DB-3A7A-8034-C05F-98D1C863022F}"/>
                </a:ext>
                <a:ext uri="{C183D7F6-B498-43B3-948B-1728B52AA6E4}">
                  <adec:decorative xmlns:adec="http://schemas.microsoft.com/office/drawing/2017/decorative" val="1"/>
                </a:ext>
              </a:extLst>
            </p:cNvPr>
            <p:cNvSpPr>
              <a:spLocks/>
            </p:cNvSpPr>
            <p:nvPr/>
          </p:nvSpPr>
          <p:spPr>
            <a:xfrm>
              <a:off x="1929779" y="2006971"/>
              <a:ext cx="8329032" cy="426584"/>
            </a:xfrm>
            <a:prstGeom prst="roundRect">
              <a:avLst>
                <a:gd name="adj" fmla="val 20666"/>
              </a:avLst>
            </a:prstGeom>
            <a:solidFill>
              <a:schemeClr val="tx2">
                <a:alpha val="5289"/>
              </a:schemeClr>
            </a:solidFill>
            <a:ln w="6350">
              <a:solidFill>
                <a:schemeClr val="bg1">
                  <a:alpha val="4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600">
                <a:solidFill>
                  <a:srgbClr val="000000"/>
                </a:solidFill>
                <a:latin typeface="Source Sans 3"/>
              </a:endParaRPr>
            </a:p>
          </p:txBody>
        </p:sp>
        <p:sp>
          <p:nvSpPr>
            <p:cNvPr id="219" name="HR">
              <a:extLst>
                <a:ext uri="{FF2B5EF4-FFF2-40B4-BE49-F238E27FC236}">
                  <a16:creationId xmlns:a16="http://schemas.microsoft.com/office/drawing/2014/main" id="{2C71271B-E1BF-BC45-6617-D5E84DC02239}"/>
                </a:ext>
              </a:extLst>
            </p:cNvPr>
            <p:cNvSpPr txBox="1">
              <a:spLocks/>
            </p:cNvSpPr>
            <p:nvPr/>
          </p:nvSpPr>
          <p:spPr>
            <a:xfrm>
              <a:off x="7200554" y="2174527"/>
              <a:ext cx="1426346" cy="218967"/>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t">
              <a:noAutofit/>
            </a:bodyPr>
            <a:lstStyle>
              <a:lvl1pPr>
                <a:lnSpc>
                  <a:spcPct val="80000"/>
                </a:lnSpc>
                <a:defRPr sz="7500" spc="-150"/>
              </a:lvl1pPr>
            </a:lstStyle>
            <a:p>
              <a:pPr algn="ctr" defTabSz="1352947" hangingPunct="0">
                <a:defRPr/>
              </a:pPr>
              <a:r>
                <a:rPr lang="en-US" sz="950" kern="0" spc="0">
                  <a:solidFill>
                    <a:srgbClr val="FFFFFF"/>
                  </a:solidFill>
                  <a:latin typeface="Source Sans 3" panose="020B0404040101010104" pitchFamily="34" charset="77"/>
                  <a:sym typeface="Source Sans 3"/>
                </a:rPr>
                <a:t>Employee Experience</a:t>
              </a:r>
              <a:endParaRPr sz="950" kern="0" spc="0">
                <a:solidFill>
                  <a:srgbClr val="FFFFFF"/>
                </a:solidFill>
                <a:latin typeface="Source Sans 3" panose="020B0404040101010104" pitchFamily="34" charset="77"/>
                <a:sym typeface="Source Sans 3"/>
              </a:endParaRPr>
            </a:p>
          </p:txBody>
        </p:sp>
        <p:sp>
          <p:nvSpPr>
            <p:cNvPr id="220" name="Security">
              <a:extLst>
                <a:ext uri="{FF2B5EF4-FFF2-40B4-BE49-F238E27FC236}">
                  <a16:creationId xmlns:a16="http://schemas.microsoft.com/office/drawing/2014/main" id="{FCB11FE3-6F3D-C55C-0508-2A8FD32744DF}"/>
                </a:ext>
              </a:extLst>
            </p:cNvPr>
            <p:cNvSpPr txBox="1">
              <a:spLocks/>
            </p:cNvSpPr>
            <p:nvPr/>
          </p:nvSpPr>
          <p:spPr>
            <a:xfrm>
              <a:off x="8862251" y="2174527"/>
              <a:ext cx="1143752" cy="14953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t">
              <a:noAutofit/>
            </a:bodyPr>
            <a:lstStyle>
              <a:lvl1pPr>
                <a:lnSpc>
                  <a:spcPct val="80000"/>
                </a:lnSpc>
                <a:defRPr sz="7500" spc="-150"/>
              </a:lvl1pPr>
            </a:lstStyle>
            <a:p>
              <a:pPr algn="ctr" defTabSz="1352947" hangingPunct="0">
                <a:defRPr/>
              </a:pPr>
              <a:r>
                <a:rPr lang="en-US" sz="950" kern="0" spc="0">
                  <a:solidFill>
                    <a:srgbClr val="FFFFFF"/>
                  </a:solidFill>
                  <a:latin typeface="Source Sans 3" panose="020B0404040101010104" pitchFamily="34" charset="77"/>
                  <a:sym typeface="Source Sans 3"/>
                </a:rPr>
                <a:t>App Development</a:t>
              </a:r>
              <a:endParaRPr sz="950" kern="0" spc="0">
                <a:solidFill>
                  <a:srgbClr val="FFFFFF"/>
                </a:solidFill>
                <a:latin typeface="Source Sans 3" panose="020B0404040101010104" pitchFamily="34" charset="77"/>
                <a:sym typeface="Source Sans 3"/>
              </a:endParaRPr>
            </a:p>
          </p:txBody>
        </p:sp>
        <p:sp>
          <p:nvSpPr>
            <p:cNvPr id="221" name="IT">
              <a:extLst>
                <a:ext uri="{FF2B5EF4-FFF2-40B4-BE49-F238E27FC236}">
                  <a16:creationId xmlns:a16="http://schemas.microsoft.com/office/drawing/2014/main" id="{D9F94B58-51E4-1642-2348-25E9AD0EF46C}"/>
                </a:ext>
              </a:extLst>
            </p:cNvPr>
            <p:cNvSpPr txBox="1">
              <a:spLocks/>
            </p:cNvSpPr>
            <p:nvPr/>
          </p:nvSpPr>
          <p:spPr>
            <a:xfrm>
              <a:off x="2327090" y="2174527"/>
              <a:ext cx="273674" cy="14953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t">
              <a:noAutofit/>
            </a:bodyPr>
            <a:lstStyle>
              <a:lvl1pPr>
                <a:lnSpc>
                  <a:spcPct val="80000"/>
                </a:lnSpc>
                <a:defRPr sz="7500" spc="-150"/>
              </a:lvl1pPr>
            </a:lstStyle>
            <a:p>
              <a:pPr algn="ctr" defTabSz="1352947" hangingPunct="0">
                <a:defRPr/>
              </a:pPr>
              <a:r>
                <a:rPr lang="en-US" sz="950" kern="0" spc="0">
                  <a:solidFill>
                    <a:srgbClr val="FFFFFF"/>
                  </a:solidFill>
                  <a:latin typeface="Source Sans 3" panose="020B0404040101010104" pitchFamily="34" charset="77"/>
                  <a:sym typeface="Source Sans 3"/>
                </a:rPr>
                <a:t>IT</a:t>
              </a:r>
              <a:endParaRPr sz="950" kern="0" spc="0">
                <a:solidFill>
                  <a:srgbClr val="FFFFFF"/>
                </a:solidFill>
                <a:latin typeface="Source Sans 3" panose="020B0404040101010104" pitchFamily="34" charset="77"/>
                <a:sym typeface="Source Sans 3"/>
              </a:endParaRPr>
            </a:p>
          </p:txBody>
        </p:sp>
        <p:sp>
          <p:nvSpPr>
            <p:cNvPr id="224" name="CRM">
              <a:extLst>
                <a:ext uri="{FF2B5EF4-FFF2-40B4-BE49-F238E27FC236}">
                  <a16:creationId xmlns:a16="http://schemas.microsoft.com/office/drawing/2014/main" id="{F6874F4A-3094-8703-29B8-F6A3015A1EBE}"/>
                </a:ext>
              </a:extLst>
            </p:cNvPr>
            <p:cNvSpPr txBox="1">
              <a:spLocks/>
            </p:cNvSpPr>
            <p:nvPr/>
          </p:nvSpPr>
          <p:spPr>
            <a:xfrm>
              <a:off x="3984738" y="2174527"/>
              <a:ext cx="937652" cy="153812"/>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t">
              <a:noAutofit/>
            </a:bodyPr>
            <a:lstStyle>
              <a:lvl1pPr>
                <a:lnSpc>
                  <a:spcPct val="80000"/>
                </a:lnSpc>
                <a:defRPr sz="7500" spc="-150"/>
              </a:lvl1pPr>
            </a:lstStyle>
            <a:p>
              <a:pPr algn="ctr" defTabSz="1352947" hangingPunct="0">
                <a:defRPr/>
              </a:pPr>
              <a:r>
                <a:rPr lang="en-US" sz="950" kern="0" spc="0">
                  <a:solidFill>
                    <a:srgbClr val="FFFFFF"/>
                  </a:solidFill>
                  <a:latin typeface="Source Sans 3" panose="020B0404040101010104" pitchFamily="34" charset="77"/>
                  <a:sym typeface="Source Sans 3"/>
                </a:rPr>
                <a:t>Security &amp; Risk</a:t>
              </a:r>
            </a:p>
          </p:txBody>
        </p:sp>
        <p:sp>
          <p:nvSpPr>
            <p:cNvPr id="225" name="Rounded Rectangle 20">
              <a:extLst>
                <a:ext uri="{FF2B5EF4-FFF2-40B4-BE49-F238E27FC236}">
                  <a16:creationId xmlns:a16="http://schemas.microsoft.com/office/drawing/2014/main" id="{417EA914-D4EF-72BD-6839-242CAEE7C7D8}"/>
                </a:ext>
                <a:ext uri="{C183D7F6-B498-43B3-948B-1728B52AA6E4}">
                  <adec:decorative xmlns:adec="http://schemas.microsoft.com/office/drawing/2017/decorative" val="1"/>
                </a:ext>
              </a:extLst>
            </p:cNvPr>
            <p:cNvSpPr>
              <a:spLocks/>
            </p:cNvSpPr>
            <p:nvPr/>
          </p:nvSpPr>
          <p:spPr>
            <a:xfrm>
              <a:off x="5193059" y="2083103"/>
              <a:ext cx="1805882"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456766">
                <a:defRPr/>
              </a:pPr>
              <a:r>
                <a:rPr lang="en-US" sz="1050" b="1">
                  <a:solidFill>
                    <a:srgbClr val="FFFFFF"/>
                  </a:solidFill>
                  <a:latin typeface="Source Sans 3" panose="020B0504040101010104" pitchFamily="34" charset="77"/>
                </a:rPr>
                <a:t>Autonomous Workflows</a:t>
              </a:r>
            </a:p>
          </p:txBody>
        </p:sp>
        <p:sp>
          <p:nvSpPr>
            <p:cNvPr id="2" name="IT">
              <a:extLst>
                <a:ext uri="{FF2B5EF4-FFF2-40B4-BE49-F238E27FC236}">
                  <a16:creationId xmlns:a16="http://schemas.microsoft.com/office/drawing/2014/main" id="{009719F8-0F96-A72B-0BD9-72A258EA2407}"/>
                </a:ext>
              </a:extLst>
            </p:cNvPr>
            <p:cNvSpPr txBox="1">
              <a:spLocks/>
            </p:cNvSpPr>
            <p:nvPr/>
          </p:nvSpPr>
          <p:spPr>
            <a:xfrm>
              <a:off x="3092172" y="2174527"/>
              <a:ext cx="401158" cy="149535"/>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numCol="1" anchor="t">
              <a:noAutofit/>
            </a:bodyPr>
            <a:lstStyle>
              <a:lvl1pPr>
                <a:lnSpc>
                  <a:spcPct val="80000"/>
                </a:lnSpc>
                <a:defRPr sz="7500" spc="-150"/>
              </a:lvl1pPr>
            </a:lstStyle>
            <a:p>
              <a:pPr algn="ctr" defTabSz="1352947" hangingPunct="0">
                <a:defRPr/>
              </a:pPr>
              <a:r>
                <a:rPr lang="en-US" sz="950" kern="0" spc="0">
                  <a:solidFill>
                    <a:srgbClr val="FFFFFF"/>
                  </a:solidFill>
                  <a:latin typeface="Source Sans 3" panose="020B0404040101010104" pitchFamily="34" charset="77"/>
                  <a:sym typeface="Source Sans 3"/>
                </a:rPr>
                <a:t>CRM</a:t>
              </a:r>
              <a:endParaRPr sz="950" kern="0" spc="0">
                <a:solidFill>
                  <a:srgbClr val="FFFFFF"/>
                </a:solidFill>
                <a:latin typeface="Source Sans 3" panose="020B0404040101010104" pitchFamily="34" charset="77"/>
                <a:sym typeface="Source Sans 3"/>
              </a:endParaRPr>
            </a:p>
          </p:txBody>
        </p:sp>
      </p:grpSp>
      <p:grpSp>
        <p:nvGrpSpPr>
          <p:cNvPr id="191" name="Group 190">
            <a:extLst>
              <a:ext uri="{FF2B5EF4-FFF2-40B4-BE49-F238E27FC236}">
                <a16:creationId xmlns:a16="http://schemas.microsoft.com/office/drawing/2014/main" id="{60DAE82B-58E3-27E3-BA0F-B98EDC56BAA8}"/>
              </a:ext>
            </a:extLst>
          </p:cNvPr>
          <p:cNvGrpSpPr>
            <a:grpSpLocks/>
          </p:cNvGrpSpPr>
          <p:nvPr/>
        </p:nvGrpSpPr>
        <p:grpSpPr>
          <a:xfrm>
            <a:off x="7638333" y="2552863"/>
            <a:ext cx="2619511" cy="3197982"/>
            <a:chOff x="7640323" y="2552634"/>
            <a:chExt cx="2620193" cy="3198815"/>
          </a:xfrm>
        </p:grpSpPr>
        <p:pic>
          <p:nvPicPr>
            <p:cNvPr id="172" name="Picture 171">
              <a:extLst>
                <a:ext uri="{FF2B5EF4-FFF2-40B4-BE49-F238E27FC236}">
                  <a16:creationId xmlns:a16="http://schemas.microsoft.com/office/drawing/2014/main" id="{E6B0A8D4-76C1-FDA6-36BB-8162F0567838}"/>
                </a:ext>
              </a:extLst>
            </p:cNvPr>
            <p:cNvPicPr>
              <a:picLocks noChangeAspect="1"/>
            </p:cNvPicPr>
            <p:nvPr/>
          </p:nvPicPr>
          <p:blipFill>
            <a:blip r:embed="rId6" cstate="print">
              <a:alphaModFix amt="85000"/>
              <a:extLst>
                <a:ext uri="{BEBA8EAE-BF5A-486C-A8C5-ECC9F3942E4B}">
                  <a14:imgProps xmlns:a14="http://schemas.microsoft.com/office/drawing/2010/main">
                    <a14:imgLayer r:embed="rId7">
                      <a14:imgEffect>
                        <a14:sharpenSoften amount="-100000"/>
                      </a14:imgEffect>
                    </a14:imgLayer>
                  </a14:imgProps>
                </a:ext>
                <a:ext uri="{28A0092B-C50C-407E-A947-70E740481C1C}">
                  <a14:useLocalDpi xmlns:a14="http://schemas.microsoft.com/office/drawing/2010/main"/>
                </a:ext>
              </a:extLst>
            </a:blip>
            <a:srcRect/>
            <a:stretch>
              <a:fillRect/>
            </a:stretch>
          </p:blipFill>
          <p:spPr>
            <a:xfrm>
              <a:off x="7640323" y="2554785"/>
              <a:ext cx="2620193" cy="2010422"/>
            </a:xfrm>
            <a:prstGeom prst="roundRect">
              <a:avLst>
                <a:gd name="adj" fmla="val 6122"/>
              </a:avLst>
            </a:prstGeom>
          </p:spPr>
        </p:pic>
        <p:sp>
          <p:nvSpPr>
            <p:cNvPr id="173" name="Rounded Rectangle 172">
              <a:extLst>
                <a:ext uri="{FF2B5EF4-FFF2-40B4-BE49-F238E27FC236}">
                  <a16:creationId xmlns:a16="http://schemas.microsoft.com/office/drawing/2014/main" id="{42D9CB00-0CE8-8CC2-D2CC-BA016006648B}"/>
                </a:ext>
              </a:extLst>
            </p:cNvPr>
            <p:cNvSpPr>
              <a:spLocks/>
            </p:cNvSpPr>
            <p:nvPr/>
          </p:nvSpPr>
          <p:spPr>
            <a:xfrm>
              <a:off x="7642099" y="2552634"/>
              <a:ext cx="2618416" cy="3198815"/>
            </a:xfrm>
            <a:prstGeom prst="roundRect">
              <a:avLst>
                <a:gd name="adj" fmla="val 6704"/>
              </a:avLst>
            </a:prstGeom>
            <a:gradFill flip="none" rotWithShape="1">
              <a:gsLst>
                <a:gs pos="89000">
                  <a:schemeClr val="accent5">
                    <a:alpha val="0"/>
                  </a:schemeClr>
                </a:gs>
                <a:gs pos="0">
                  <a:schemeClr val="tx2">
                    <a:lumMod val="50000"/>
                    <a:lumOff val="50000"/>
                  </a:schemeClr>
                </a:gs>
              </a:gsLst>
              <a:lin ang="540000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defRPr/>
              </a:pPr>
              <a:endParaRPr lang="en-US" sz="800" spc="-70">
                <a:solidFill>
                  <a:srgbClr val="000000"/>
                </a:solidFill>
                <a:latin typeface="Source Sans 3"/>
              </a:endParaRPr>
            </a:p>
          </p:txBody>
        </p:sp>
      </p:grpSp>
      <p:grpSp>
        <p:nvGrpSpPr>
          <p:cNvPr id="142" name="Group 141">
            <a:extLst>
              <a:ext uri="{FF2B5EF4-FFF2-40B4-BE49-F238E27FC236}">
                <a16:creationId xmlns:a16="http://schemas.microsoft.com/office/drawing/2014/main" id="{C6A010DA-A477-88EA-DE43-C938F552A0E7}"/>
              </a:ext>
            </a:extLst>
          </p:cNvPr>
          <p:cNvGrpSpPr>
            <a:grpSpLocks/>
          </p:cNvGrpSpPr>
          <p:nvPr/>
        </p:nvGrpSpPr>
        <p:grpSpPr>
          <a:xfrm>
            <a:off x="4785040" y="2543770"/>
            <a:ext cx="2618240" cy="3207082"/>
            <a:chOff x="4786287" y="2543539"/>
            <a:chExt cx="2618922" cy="3207917"/>
          </a:xfrm>
        </p:grpSpPr>
        <p:pic>
          <p:nvPicPr>
            <p:cNvPr id="128" name="Picture 127">
              <a:extLst>
                <a:ext uri="{FF2B5EF4-FFF2-40B4-BE49-F238E27FC236}">
                  <a16:creationId xmlns:a16="http://schemas.microsoft.com/office/drawing/2014/main" id="{AE1EA982-AC4F-9A0E-245D-3AFE9B33BEE8}"/>
                </a:ext>
              </a:extLst>
            </p:cNvPr>
            <p:cNvPicPr>
              <a:picLocks noChangeAspect="1"/>
            </p:cNvPicPr>
            <p:nvPr/>
          </p:nvPicPr>
          <p:blipFill>
            <a:blip r:embed="rId8" cstate="print">
              <a:alphaModFix amt="85000"/>
              <a:extLst>
                <a:ext uri="{BEBA8EAE-BF5A-486C-A8C5-ECC9F3942E4B}">
                  <a14:imgProps xmlns:a14="http://schemas.microsoft.com/office/drawing/2010/main">
                    <a14:imgLayer r:embed="rId9">
                      <a14:imgEffect>
                        <a14:sharpenSoften amount="-100000"/>
                      </a14:imgEffect>
                    </a14:imgLayer>
                  </a14:imgProps>
                </a:ext>
                <a:ext uri="{28A0092B-C50C-407E-A947-70E740481C1C}">
                  <a14:useLocalDpi xmlns:a14="http://schemas.microsoft.com/office/drawing/2010/main"/>
                </a:ext>
              </a:extLst>
            </a:blip>
            <a:srcRect/>
            <a:stretch>
              <a:fillRect/>
            </a:stretch>
          </p:blipFill>
          <p:spPr>
            <a:xfrm>
              <a:off x="4786287" y="2543539"/>
              <a:ext cx="2616442" cy="2021670"/>
            </a:xfrm>
            <a:prstGeom prst="roundRect">
              <a:avLst>
                <a:gd name="adj" fmla="val 6122"/>
              </a:avLst>
            </a:prstGeom>
          </p:spPr>
        </p:pic>
        <p:sp>
          <p:nvSpPr>
            <p:cNvPr id="129" name="Rounded Rectangle 128">
              <a:extLst>
                <a:ext uri="{FF2B5EF4-FFF2-40B4-BE49-F238E27FC236}">
                  <a16:creationId xmlns:a16="http://schemas.microsoft.com/office/drawing/2014/main" id="{F4CF6A61-41EC-500D-F0F8-62E7F6D4C366}"/>
                </a:ext>
              </a:extLst>
            </p:cNvPr>
            <p:cNvSpPr>
              <a:spLocks/>
            </p:cNvSpPr>
            <p:nvPr/>
          </p:nvSpPr>
          <p:spPr>
            <a:xfrm>
              <a:off x="4786793" y="2552634"/>
              <a:ext cx="2618416" cy="3198822"/>
            </a:xfrm>
            <a:prstGeom prst="roundRect">
              <a:avLst>
                <a:gd name="adj" fmla="val 6704"/>
              </a:avLst>
            </a:prstGeom>
            <a:gradFill flip="none" rotWithShape="1">
              <a:gsLst>
                <a:gs pos="100000">
                  <a:schemeClr val="accent5">
                    <a:alpha val="0"/>
                  </a:schemeClr>
                </a:gs>
                <a:gs pos="0">
                  <a:srgbClr val="C0A6FF">
                    <a:alpha val="89596"/>
                  </a:srgbClr>
                </a:gs>
              </a:gsLst>
              <a:lin ang="540000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defRPr/>
              </a:pPr>
              <a:endParaRPr lang="en-US" sz="800" spc="-70">
                <a:solidFill>
                  <a:srgbClr val="000000"/>
                </a:solidFill>
                <a:latin typeface="Source Sans 3"/>
              </a:endParaRPr>
            </a:p>
          </p:txBody>
        </p:sp>
      </p:grpSp>
      <p:grpSp>
        <p:nvGrpSpPr>
          <p:cNvPr id="104" name="Group 103">
            <a:extLst>
              <a:ext uri="{FF2B5EF4-FFF2-40B4-BE49-F238E27FC236}">
                <a16:creationId xmlns:a16="http://schemas.microsoft.com/office/drawing/2014/main" id="{6F365F09-42C0-0A86-9834-8C211FA17991}"/>
              </a:ext>
            </a:extLst>
          </p:cNvPr>
          <p:cNvGrpSpPr>
            <a:grpSpLocks/>
          </p:cNvGrpSpPr>
          <p:nvPr/>
        </p:nvGrpSpPr>
        <p:grpSpPr>
          <a:xfrm>
            <a:off x="1929277" y="2543769"/>
            <a:ext cx="2619438" cy="3207093"/>
            <a:chOff x="1929780" y="2543539"/>
            <a:chExt cx="2620120" cy="3207928"/>
          </a:xfrm>
        </p:grpSpPr>
        <p:pic>
          <p:nvPicPr>
            <p:cNvPr id="42" name="Picture 41">
              <a:extLst>
                <a:ext uri="{FF2B5EF4-FFF2-40B4-BE49-F238E27FC236}">
                  <a16:creationId xmlns:a16="http://schemas.microsoft.com/office/drawing/2014/main" id="{31834932-0A3E-2D64-10DC-DFA0029D8908}"/>
                </a:ext>
              </a:extLst>
            </p:cNvPr>
            <p:cNvPicPr>
              <a:picLocks noChangeAspect="1"/>
            </p:cNvPicPr>
            <p:nvPr/>
          </p:nvPicPr>
          <p:blipFill>
            <a:blip r:embed="rId10" cstate="print">
              <a:alphaModFix amt="85000"/>
              <a:extLst>
                <a:ext uri="{BEBA8EAE-BF5A-486C-A8C5-ECC9F3942E4B}">
                  <a14:imgProps xmlns:a14="http://schemas.microsoft.com/office/drawing/2010/main">
                    <a14:imgLayer r:embed="rId11">
                      <a14:imgEffect>
                        <a14:sharpenSoften amount="-100000"/>
                      </a14:imgEffect>
                    </a14:imgLayer>
                  </a14:imgProps>
                </a:ext>
                <a:ext uri="{28A0092B-C50C-407E-A947-70E740481C1C}">
                  <a14:useLocalDpi xmlns:a14="http://schemas.microsoft.com/office/drawing/2010/main"/>
                </a:ext>
              </a:extLst>
            </a:blip>
            <a:srcRect/>
            <a:stretch>
              <a:fillRect/>
            </a:stretch>
          </p:blipFill>
          <p:spPr>
            <a:xfrm>
              <a:off x="1929780" y="2543539"/>
              <a:ext cx="2620120" cy="2021670"/>
            </a:xfrm>
            <a:prstGeom prst="roundRect">
              <a:avLst>
                <a:gd name="adj" fmla="val 6122"/>
              </a:avLst>
            </a:prstGeom>
          </p:spPr>
        </p:pic>
        <p:sp>
          <p:nvSpPr>
            <p:cNvPr id="46" name="Rounded Rectangle 45">
              <a:extLst>
                <a:ext uri="{FF2B5EF4-FFF2-40B4-BE49-F238E27FC236}">
                  <a16:creationId xmlns:a16="http://schemas.microsoft.com/office/drawing/2014/main" id="{60E17BCD-F7CA-B94C-D565-56187025CE53}"/>
                </a:ext>
              </a:extLst>
            </p:cNvPr>
            <p:cNvSpPr>
              <a:spLocks/>
            </p:cNvSpPr>
            <p:nvPr/>
          </p:nvSpPr>
          <p:spPr>
            <a:xfrm flipH="1">
              <a:off x="1931484" y="2549838"/>
              <a:ext cx="2618416" cy="3201629"/>
            </a:xfrm>
            <a:prstGeom prst="roundRect">
              <a:avLst>
                <a:gd name="adj" fmla="val 6704"/>
              </a:avLst>
            </a:prstGeom>
            <a:gradFill flip="none" rotWithShape="1">
              <a:gsLst>
                <a:gs pos="100000">
                  <a:schemeClr val="accent5">
                    <a:alpha val="0"/>
                  </a:schemeClr>
                </a:gs>
                <a:gs pos="0">
                  <a:schemeClr val="accent5"/>
                </a:gs>
              </a:gsLst>
              <a:lin ang="540000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defRPr/>
              </a:pPr>
              <a:endParaRPr lang="en-US" sz="800" spc="-70">
                <a:solidFill>
                  <a:srgbClr val="000000"/>
                </a:solidFill>
                <a:latin typeface="Source Sans 3"/>
              </a:endParaRPr>
            </a:p>
          </p:txBody>
        </p:sp>
      </p:grpSp>
      <p:sp>
        <p:nvSpPr>
          <p:cNvPr id="179" name="Platform shadow">
            <a:extLst>
              <a:ext uri="{FF2B5EF4-FFF2-40B4-BE49-F238E27FC236}">
                <a16:creationId xmlns:a16="http://schemas.microsoft.com/office/drawing/2014/main" id="{674ACF6B-EA86-9F54-C85D-1835D843E39D}"/>
              </a:ext>
            </a:extLst>
          </p:cNvPr>
          <p:cNvSpPr>
            <a:spLocks/>
          </p:cNvSpPr>
          <p:nvPr/>
        </p:nvSpPr>
        <p:spPr>
          <a:xfrm>
            <a:off x="1585" y="2803253"/>
            <a:ext cx="12184066" cy="4052963"/>
          </a:xfrm>
          <a:prstGeom prst="roundRect">
            <a:avLst>
              <a:gd name="adj" fmla="val 0"/>
            </a:avLst>
          </a:prstGeom>
          <a:gradFill>
            <a:gsLst>
              <a:gs pos="0">
                <a:srgbClr val="040E3D">
                  <a:alpha val="71526"/>
                </a:srgbClr>
              </a:gs>
              <a:gs pos="47000">
                <a:schemeClr val="tx2">
                  <a:alpha val="90654"/>
                </a:schemeClr>
              </a:gs>
              <a:gs pos="86000">
                <a:schemeClr val="tx2">
                  <a:alpha val="0"/>
                </a:schemeClr>
              </a:gs>
            </a:gsLst>
            <a:lin ang="16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600">
              <a:solidFill>
                <a:srgbClr val="000000"/>
              </a:solidFill>
              <a:latin typeface="Source Sans 3"/>
            </a:endParaRPr>
          </a:p>
        </p:txBody>
      </p:sp>
      <p:grpSp>
        <p:nvGrpSpPr>
          <p:cNvPr id="5" name="Group 4">
            <a:extLst>
              <a:ext uri="{FF2B5EF4-FFF2-40B4-BE49-F238E27FC236}">
                <a16:creationId xmlns:a16="http://schemas.microsoft.com/office/drawing/2014/main" id="{C7C13FC9-B78E-080A-DBA1-3E0D790EA7FD}"/>
              </a:ext>
            </a:extLst>
          </p:cNvPr>
          <p:cNvGrpSpPr>
            <a:grpSpLocks/>
          </p:cNvGrpSpPr>
          <p:nvPr/>
        </p:nvGrpSpPr>
        <p:grpSpPr>
          <a:xfrm>
            <a:off x="547433" y="5577160"/>
            <a:ext cx="11093961" cy="852978"/>
            <a:chOff x="619968" y="5578280"/>
            <a:chExt cx="11099742" cy="853422"/>
          </a:xfrm>
        </p:grpSpPr>
        <p:grpSp>
          <p:nvGrpSpPr>
            <p:cNvPr id="6" name="Platform">
              <a:extLst>
                <a:ext uri="{FF2B5EF4-FFF2-40B4-BE49-F238E27FC236}">
                  <a16:creationId xmlns:a16="http://schemas.microsoft.com/office/drawing/2014/main" id="{CF24B289-676C-B400-F7A9-7C2F152CE5A5}"/>
                </a:ext>
              </a:extLst>
            </p:cNvPr>
            <p:cNvGrpSpPr>
              <a:grpSpLocks/>
            </p:cNvGrpSpPr>
            <p:nvPr/>
          </p:nvGrpSpPr>
          <p:grpSpPr>
            <a:xfrm>
              <a:off x="619968" y="5578280"/>
              <a:ext cx="11099742" cy="853422"/>
              <a:chOff x="552926" y="4919823"/>
              <a:chExt cx="11099742" cy="853422"/>
            </a:xfrm>
          </p:grpSpPr>
          <p:pic>
            <p:nvPicPr>
              <p:cNvPr id="15" name="Picture 14" descr="A green and black background&#10;&#10;AI-generated content may be incorrect.">
                <a:extLst>
                  <a:ext uri="{FF2B5EF4-FFF2-40B4-BE49-F238E27FC236}">
                    <a16:creationId xmlns:a16="http://schemas.microsoft.com/office/drawing/2014/main" id="{4F207C5B-D738-F252-C771-E817A5D68572}"/>
                  </a:ext>
                </a:extLst>
              </p:cNvPr>
              <p:cNvPicPr>
                <a:picLocks/>
              </p:cNvPicPr>
              <p:nvPr/>
            </p:nvPicPr>
            <p:blipFill>
              <a:blip r:embed="rId12" cstate="print">
                <a:extLst>
                  <a:ext uri="{28A0092B-C50C-407E-A947-70E740481C1C}">
                    <a14:useLocalDpi xmlns:a14="http://schemas.microsoft.com/office/drawing/2010/main"/>
                  </a:ext>
                </a:extLst>
              </a:blip>
              <a:srcRect/>
              <a:stretch>
                <a:fillRect/>
              </a:stretch>
            </p:blipFill>
            <p:spPr>
              <a:xfrm>
                <a:off x="552926" y="4919823"/>
                <a:ext cx="4980836" cy="853422"/>
              </a:xfrm>
              <a:prstGeom prst="rect">
                <a:avLst/>
              </a:prstGeom>
            </p:spPr>
          </p:pic>
          <p:pic>
            <p:nvPicPr>
              <p:cNvPr id="16" name="Picture 15" descr="A green and black background&#10;&#10;AI-generated content may be incorrect.">
                <a:extLst>
                  <a:ext uri="{FF2B5EF4-FFF2-40B4-BE49-F238E27FC236}">
                    <a16:creationId xmlns:a16="http://schemas.microsoft.com/office/drawing/2014/main" id="{E85F35A3-A183-022A-9953-017A48D54D12}"/>
                  </a:ext>
                </a:extLst>
              </p:cNvPr>
              <p:cNvPicPr>
                <a:picLocks/>
              </p:cNvPicPr>
              <p:nvPr/>
            </p:nvPicPr>
            <p:blipFill>
              <a:blip r:embed="rId13" cstate="print">
                <a:extLst>
                  <a:ext uri="{28A0092B-C50C-407E-A947-70E740481C1C}">
                    <a14:useLocalDpi xmlns:a14="http://schemas.microsoft.com/office/drawing/2010/main"/>
                  </a:ext>
                </a:extLst>
              </a:blip>
              <a:srcRect/>
              <a:stretch>
                <a:fillRect/>
              </a:stretch>
            </p:blipFill>
            <p:spPr>
              <a:xfrm>
                <a:off x="6692212" y="4919823"/>
                <a:ext cx="4960456" cy="853422"/>
              </a:xfrm>
              <a:prstGeom prst="rect">
                <a:avLst/>
              </a:prstGeom>
            </p:spPr>
          </p:pic>
          <p:pic>
            <p:nvPicPr>
              <p:cNvPr id="17" name="Picture 16" descr="A green and black background&#10;&#10;AI-generated content may be incorrect.">
                <a:extLst>
                  <a:ext uri="{FF2B5EF4-FFF2-40B4-BE49-F238E27FC236}">
                    <a16:creationId xmlns:a16="http://schemas.microsoft.com/office/drawing/2014/main" id="{E341656E-658E-8FC8-76B9-1D8B27A63FA3}"/>
                  </a:ext>
                </a:extLst>
              </p:cNvPr>
              <p:cNvPicPr>
                <a:picLocks/>
              </p:cNvPicPr>
              <p:nvPr/>
            </p:nvPicPr>
            <p:blipFill>
              <a:blip r:embed="rId14" cstate="print">
                <a:extLst>
                  <a:ext uri="{28A0092B-C50C-407E-A947-70E740481C1C}">
                    <a14:useLocalDpi xmlns:a14="http://schemas.microsoft.com/office/drawing/2010/main"/>
                  </a:ext>
                </a:extLst>
              </a:blip>
              <a:srcRect/>
              <a:stretch>
                <a:fillRect/>
              </a:stretch>
            </p:blipFill>
            <p:spPr>
              <a:xfrm>
                <a:off x="5533762" y="4919823"/>
                <a:ext cx="1158450" cy="853422"/>
              </a:xfrm>
              <a:prstGeom prst="rect">
                <a:avLst/>
              </a:prstGeom>
            </p:spPr>
          </p:pic>
        </p:grpSp>
        <p:grpSp>
          <p:nvGrpSpPr>
            <p:cNvPr id="7" name="NOW Platform lockup">
              <a:extLst>
                <a:ext uri="{FF2B5EF4-FFF2-40B4-BE49-F238E27FC236}">
                  <a16:creationId xmlns:a16="http://schemas.microsoft.com/office/drawing/2014/main" id="{0E916C53-1768-1DFA-D052-9DB0FB2A2A65}"/>
                </a:ext>
              </a:extLst>
            </p:cNvPr>
            <p:cNvGrpSpPr>
              <a:grpSpLocks/>
            </p:cNvGrpSpPr>
            <p:nvPr/>
          </p:nvGrpSpPr>
          <p:grpSpPr>
            <a:xfrm>
              <a:off x="4485522" y="5850624"/>
              <a:ext cx="2995054" cy="478616"/>
              <a:chOff x="4003550" y="1675435"/>
              <a:chExt cx="4022702" cy="642832"/>
            </a:xfrm>
            <a:effectLst>
              <a:outerShdw blurRad="177184" dist="38100" dir="5400000" algn="t" rotWithShape="0">
                <a:schemeClr val="accent4">
                  <a:lumMod val="10000"/>
                </a:schemeClr>
              </a:outerShdw>
            </a:effectLst>
          </p:grpSpPr>
          <p:pic>
            <p:nvPicPr>
              <p:cNvPr id="8" name="Group 43" descr="Group 43">
                <a:extLst>
                  <a:ext uri="{FF2B5EF4-FFF2-40B4-BE49-F238E27FC236}">
                    <a16:creationId xmlns:a16="http://schemas.microsoft.com/office/drawing/2014/main" id="{85E1686E-F477-22FB-8B4C-146C058A4329}"/>
                  </a:ext>
                </a:extLst>
              </p:cNvPr>
              <p:cNvPicPr>
                <a:picLocks/>
              </p:cNvPicPr>
              <p:nvPr/>
            </p:nvPicPr>
            <p:blipFill>
              <a:blip r:embed="rId15" cstate="print">
                <a:extLst>
                  <a:ext uri="{28A0092B-C50C-407E-A947-70E740481C1C}">
                    <a14:useLocalDpi xmlns:a14="http://schemas.microsoft.com/office/drawing/2010/main"/>
                  </a:ext>
                </a:extLst>
              </a:blip>
              <a:stretch>
                <a:fillRect/>
              </a:stretch>
            </p:blipFill>
            <p:spPr>
              <a:xfrm>
                <a:off x="4003550" y="1675435"/>
                <a:ext cx="2249911" cy="642832"/>
              </a:xfrm>
              <a:prstGeom prst="rect">
                <a:avLst/>
              </a:prstGeom>
              <a:ln w="12700" cap="flat">
                <a:noFill/>
                <a:miter lim="400000"/>
              </a:ln>
              <a:effectLst/>
            </p:spPr>
          </p:pic>
          <p:sp>
            <p:nvSpPr>
              <p:cNvPr id="11" name="Freeform 10">
                <a:extLst>
                  <a:ext uri="{FF2B5EF4-FFF2-40B4-BE49-F238E27FC236}">
                    <a16:creationId xmlns:a16="http://schemas.microsoft.com/office/drawing/2014/main" id="{70CB63F0-1684-A282-7134-0893FF677128}"/>
                  </a:ext>
                </a:extLst>
              </p:cNvPr>
              <p:cNvSpPr>
                <a:spLocks/>
              </p:cNvSpPr>
              <p:nvPr/>
            </p:nvSpPr>
            <p:spPr>
              <a:xfrm>
                <a:off x="6183859" y="1877804"/>
                <a:ext cx="352274" cy="252262"/>
              </a:xfrm>
              <a:custGeom>
                <a:avLst/>
                <a:gdLst/>
                <a:ahLst/>
                <a:cxnLst/>
                <a:rect l="l" t="t" r="r" b="b"/>
                <a:pathLst>
                  <a:path w="352274" h="252262">
                    <a:moveTo>
                      <a:pt x="135405" y="57872"/>
                    </a:moveTo>
                    <a:lnTo>
                      <a:pt x="102017" y="155067"/>
                    </a:lnTo>
                    <a:lnTo>
                      <a:pt x="166938" y="155067"/>
                    </a:lnTo>
                    <a:close/>
                    <a:moveTo>
                      <a:pt x="287354" y="0"/>
                    </a:moveTo>
                    <a:lnTo>
                      <a:pt x="352274" y="0"/>
                    </a:lnTo>
                    <a:lnTo>
                      <a:pt x="352274" y="252262"/>
                    </a:lnTo>
                    <a:lnTo>
                      <a:pt x="287354" y="252262"/>
                    </a:lnTo>
                    <a:close/>
                    <a:moveTo>
                      <a:pt x="99050" y="0"/>
                    </a:moveTo>
                    <a:lnTo>
                      <a:pt x="171019" y="0"/>
                    </a:lnTo>
                    <a:lnTo>
                      <a:pt x="267843" y="252262"/>
                    </a:lnTo>
                    <a:lnTo>
                      <a:pt x="198471" y="252262"/>
                    </a:lnTo>
                    <a:lnTo>
                      <a:pt x="183632" y="207003"/>
                    </a:lnTo>
                    <a:lnTo>
                      <a:pt x="84582" y="207003"/>
                    </a:lnTo>
                    <a:lnTo>
                      <a:pt x="69001" y="252262"/>
                    </a:lnTo>
                    <a:lnTo>
                      <a:pt x="0" y="2522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defTabSz="913578">
                  <a:defRPr/>
                </a:pPr>
                <a:endParaRPr lang="en-US" sz="1600">
                  <a:solidFill>
                    <a:srgbClr val="FFFFFF"/>
                  </a:solidFill>
                  <a:latin typeface="Source Sans 3"/>
                </a:endParaRPr>
              </a:p>
            </p:txBody>
          </p:sp>
          <p:sp>
            <p:nvSpPr>
              <p:cNvPr id="12" name="Freeform 11">
                <a:extLst>
                  <a:ext uri="{FF2B5EF4-FFF2-40B4-BE49-F238E27FC236}">
                    <a16:creationId xmlns:a16="http://schemas.microsoft.com/office/drawing/2014/main" id="{80B1CB66-A136-6568-5A9A-0E69BF665299}"/>
                  </a:ext>
                </a:extLst>
              </p:cNvPr>
              <p:cNvSpPr>
                <a:spLocks/>
              </p:cNvSpPr>
              <p:nvPr/>
            </p:nvSpPr>
            <p:spPr>
              <a:xfrm>
                <a:off x="6647453" y="1872474"/>
                <a:ext cx="1378799" cy="264134"/>
              </a:xfrm>
              <a:custGeom>
                <a:avLst/>
                <a:gdLst/>
                <a:ahLst/>
                <a:cxnLst/>
                <a:rect l="l" t="t" r="r" b="b"/>
                <a:pathLst>
                  <a:path w="1378799" h="264134">
                    <a:moveTo>
                      <a:pt x="425617" y="170648"/>
                    </a:moveTo>
                    <a:cubicBezTo>
                      <a:pt x="422649" y="174853"/>
                      <a:pt x="413498" y="179304"/>
                      <a:pt x="398165" y="184003"/>
                    </a:cubicBezTo>
                    <a:lnTo>
                      <a:pt x="387777" y="187342"/>
                    </a:lnTo>
                    <a:cubicBezTo>
                      <a:pt x="374917" y="191546"/>
                      <a:pt x="368487" y="198100"/>
                      <a:pt x="368487" y="207004"/>
                    </a:cubicBezTo>
                    <a:cubicBezTo>
                      <a:pt x="368487" y="211703"/>
                      <a:pt x="370156" y="215536"/>
                      <a:pt x="373495" y="218504"/>
                    </a:cubicBezTo>
                    <a:cubicBezTo>
                      <a:pt x="376834" y="221472"/>
                      <a:pt x="381471" y="222956"/>
                      <a:pt x="387406" y="222956"/>
                    </a:cubicBezTo>
                    <a:cubicBezTo>
                      <a:pt x="394331" y="222956"/>
                      <a:pt x="400700" y="221224"/>
                      <a:pt x="406512" y="217762"/>
                    </a:cubicBezTo>
                    <a:cubicBezTo>
                      <a:pt x="412324" y="214300"/>
                      <a:pt x="416961" y="210219"/>
                      <a:pt x="420423" y="205520"/>
                    </a:cubicBezTo>
                    <a:cubicBezTo>
                      <a:pt x="423886" y="200821"/>
                      <a:pt x="425617" y="196740"/>
                      <a:pt x="425617" y="193278"/>
                    </a:cubicBezTo>
                    <a:close/>
                    <a:moveTo>
                      <a:pt x="834580" y="115373"/>
                    </a:moveTo>
                    <a:cubicBezTo>
                      <a:pt x="822956" y="115373"/>
                      <a:pt x="814115" y="120381"/>
                      <a:pt x="808055" y="130398"/>
                    </a:cubicBezTo>
                    <a:cubicBezTo>
                      <a:pt x="801996" y="140414"/>
                      <a:pt x="798967" y="151852"/>
                      <a:pt x="798967" y="164713"/>
                    </a:cubicBezTo>
                    <a:cubicBezTo>
                      <a:pt x="798967" y="178068"/>
                      <a:pt x="801996" y="190063"/>
                      <a:pt x="808055" y="200697"/>
                    </a:cubicBezTo>
                    <a:cubicBezTo>
                      <a:pt x="814115" y="211332"/>
                      <a:pt x="822956" y="216649"/>
                      <a:pt x="834580" y="216649"/>
                    </a:cubicBezTo>
                    <a:cubicBezTo>
                      <a:pt x="846204" y="216649"/>
                      <a:pt x="855169" y="211332"/>
                      <a:pt x="861476" y="200697"/>
                    </a:cubicBezTo>
                    <a:cubicBezTo>
                      <a:pt x="867782" y="190063"/>
                      <a:pt x="870936" y="178068"/>
                      <a:pt x="870936" y="164713"/>
                    </a:cubicBezTo>
                    <a:cubicBezTo>
                      <a:pt x="870936" y="151852"/>
                      <a:pt x="867782" y="140414"/>
                      <a:pt x="861476" y="130398"/>
                    </a:cubicBezTo>
                    <a:cubicBezTo>
                      <a:pt x="855169" y="120381"/>
                      <a:pt x="846204" y="115373"/>
                      <a:pt x="834580" y="115373"/>
                    </a:cubicBezTo>
                    <a:close/>
                    <a:moveTo>
                      <a:pt x="1071953" y="69372"/>
                    </a:moveTo>
                    <a:lnTo>
                      <a:pt x="1071953" y="131325"/>
                    </a:lnTo>
                    <a:cubicBezTo>
                      <a:pt x="1069480" y="130830"/>
                      <a:pt x="1065770" y="130583"/>
                      <a:pt x="1060824" y="130583"/>
                    </a:cubicBezTo>
                    <a:cubicBezTo>
                      <a:pt x="1046727" y="130583"/>
                      <a:pt x="1035289" y="134540"/>
                      <a:pt x="1026509" y="142454"/>
                    </a:cubicBezTo>
                    <a:cubicBezTo>
                      <a:pt x="1017729" y="150368"/>
                      <a:pt x="1013339" y="161869"/>
                      <a:pt x="1013339" y="176955"/>
                    </a:cubicBezTo>
                    <a:lnTo>
                      <a:pt x="1013339" y="258198"/>
                    </a:lnTo>
                    <a:lnTo>
                      <a:pt x="950645" y="258198"/>
                    </a:lnTo>
                    <a:lnTo>
                      <a:pt x="950645" y="73824"/>
                    </a:lnTo>
                    <a:lnTo>
                      <a:pt x="1013339" y="73824"/>
                    </a:lnTo>
                    <a:lnTo>
                      <a:pt x="1013339" y="106099"/>
                    </a:lnTo>
                    <a:cubicBezTo>
                      <a:pt x="1018038" y="96206"/>
                      <a:pt x="1025643" y="87612"/>
                      <a:pt x="1036154" y="80316"/>
                    </a:cubicBezTo>
                    <a:cubicBezTo>
                      <a:pt x="1046665" y="73020"/>
                      <a:pt x="1058598" y="69372"/>
                      <a:pt x="1071953" y="69372"/>
                    </a:cubicBezTo>
                    <a:close/>
                    <a:moveTo>
                      <a:pt x="1212603" y="67889"/>
                    </a:moveTo>
                    <a:cubicBezTo>
                      <a:pt x="1225957" y="67889"/>
                      <a:pt x="1236716" y="71289"/>
                      <a:pt x="1244877" y="78090"/>
                    </a:cubicBezTo>
                    <a:cubicBezTo>
                      <a:pt x="1253039" y="84892"/>
                      <a:pt x="1258479" y="94475"/>
                      <a:pt x="1261200" y="106841"/>
                    </a:cubicBezTo>
                    <a:cubicBezTo>
                      <a:pt x="1266641" y="95712"/>
                      <a:pt x="1274864" y="86437"/>
                      <a:pt x="1285870" y="79018"/>
                    </a:cubicBezTo>
                    <a:cubicBezTo>
                      <a:pt x="1296875" y="71598"/>
                      <a:pt x="1309056" y="67889"/>
                      <a:pt x="1322411" y="67889"/>
                    </a:cubicBezTo>
                    <a:cubicBezTo>
                      <a:pt x="1340959" y="67889"/>
                      <a:pt x="1354995" y="73762"/>
                      <a:pt x="1364516" y="85510"/>
                    </a:cubicBezTo>
                    <a:cubicBezTo>
                      <a:pt x="1374038" y="97257"/>
                      <a:pt x="1378799" y="113642"/>
                      <a:pt x="1378799" y="134664"/>
                    </a:cubicBezTo>
                    <a:lnTo>
                      <a:pt x="1378799" y="258198"/>
                    </a:lnTo>
                    <a:lnTo>
                      <a:pt x="1319443" y="258198"/>
                    </a:lnTo>
                    <a:lnTo>
                      <a:pt x="1319443" y="165084"/>
                    </a:lnTo>
                    <a:cubicBezTo>
                      <a:pt x="1319443" y="149997"/>
                      <a:pt x="1318083" y="139301"/>
                      <a:pt x="1315362" y="132994"/>
                    </a:cubicBezTo>
                    <a:cubicBezTo>
                      <a:pt x="1312642" y="126688"/>
                      <a:pt x="1307201" y="123411"/>
                      <a:pt x="1299039" y="123164"/>
                    </a:cubicBezTo>
                    <a:cubicBezTo>
                      <a:pt x="1289641" y="123164"/>
                      <a:pt x="1282345" y="126997"/>
                      <a:pt x="1277152" y="134664"/>
                    </a:cubicBezTo>
                    <a:cubicBezTo>
                      <a:pt x="1271958" y="142331"/>
                      <a:pt x="1269361" y="151729"/>
                      <a:pt x="1269361" y="162858"/>
                    </a:cubicBezTo>
                    <a:lnTo>
                      <a:pt x="1269361" y="258198"/>
                    </a:lnTo>
                    <a:lnTo>
                      <a:pt x="1208893" y="258198"/>
                    </a:lnTo>
                    <a:lnTo>
                      <a:pt x="1208893" y="165084"/>
                    </a:lnTo>
                    <a:cubicBezTo>
                      <a:pt x="1208893" y="149750"/>
                      <a:pt x="1207532" y="138930"/>
                      <a:pt x="1204812" y="132623"/>
                    </a:cubicBezTo>
                    <a:cubicBezTo>
                      <a:pt x="1202091" y="126317"/>
                      <a:pt x="1196527" y="123164"/>
                      <a:pt x="1188118" y="123164"/>
                    </a:cubicBezTo>
                    <a:cubicBezTo>
                      <a:pt x="1178967" y="123164"/>
                      <a:pt x="1171548" y="126997"/>
                      <a:pt x="1165860" y="134664"/>
                    </a:cubicBezTo>
                    <a:cubicBezTo>
                      <a:pt x="1160171" y="142331"/>
                      <a:pt x="1157327" y="151976"/>
                      <a:pt x="1157327" y="163600"/>
                    </a:cubicBezTo>
                    <a:lnTo>
                      <a:pt x="1157327" y="258198"/>
                    </a:lnTo>
                    <a:lnTo>
                      <a:pt x="1093520" y="258198"/>
                    </a:lnTo>
                    <a:lnTo>
                      <a:pt x="1093520" y="73824"/>
                    </a:lnTo>
                    <a:lnTo>
                      <a:pt x="1157327" y="73824"/>
                    </a:lnTo>
                    <a:lnTo>
                      <a:pt x="1157327" y="102018"/>
                    </a:lnTo>
                    <a:cubicBezTo>
                      <a:pt x="1159553" y="97566"/>
                      <a:pt x="1163263" y="92682"/>
                      <a:pt x="1168457" y="87365"/>
                    </a:cubicBezTo>
                    <a:cubicBezTo>
                      <a:pt x="1173650" y="82047"/>
                      <a:pt x="1180081" y="77472"/>
                      <a:pt x="1187747" y="73639"/>
                    </a:cubicBezTo>
                    <a:cubicBezTo>
                      <a:pt x="1195414" y="69805"/>
                      <a:pt x="1203699" y="67889"/>
                      <a:pt x="1212603" y="67889"/>
                    </a:cubicBezTo>
                    <a:close/>
                    <a:moveTo>
                      <a:pt x="834580" y="67889"/>
                    </a:moveTo>
                    <a:cubicBezTo>
                      <a:pt x="853129" y="67889"/>
                      <a:pt x="870008" y="72093"/>
                      <a:pt x="885218" y="80502"/>
                    </a:cubicBezTo>
                    <a:cubicBezTo>
                      <a:pt x="900428" y="88910"/>
                      <a:pt x="912423" y="100472"/>
                      <a:pt x="921203" y="115188"/>
                    </a:cubicBezTo>
                    <a:cubicBezTo>
                      <a:pt x="929982" y="129903"/>
                      <a:pt x="934372" y="146535"/>
                      <a:pt x="934372" y="165084"/>
                    </a:cubicBezTo>
                    <a:cubicBezTo>
                      <a:pt x="934372" y="183632"/>
                      <a:pt x="929982" y="200450"/>
                      <a:pt x="921203" y="215536"/>
                    </a:cubicBezTo>
                    <a:cubicBezTo>
                      <a:pt x="912423" y="230622"/>
                      <a:pt x="900428" y="242494"/>
                      <a:pt x="885218" y="251150"/>
                    </a:cubicBezTo>
                    <a:cubicBezTo>
                      <a:pt x="870008" y="259806"/>
                      <a:pt x="853129" y="264134"/>
                      <a:pt x="834580" y="264134"/>
                    </a:cubicBezTo>
                    <a:cubicBezTo>
                      <a:pt x="816031" y="264134"/>
                      <a:pt x="799214" y="259806"/>
                      <a:pt x="784128" y="251150"/>
                    </a:cubicBezTo>
                    <a:cubicBezTo>
                      <a:pt x="769042" y="242494"/>
                      <a:pt x="757170" y="230622"/>
                      <a:pt x="748514" y="215536"/>
                    </a:cubicBezTo>
                    <a:cubicBezTo>
                      <a:pt x="739858" y="200450"/>
                      <a:pt x="735530" y="183632"/>
                      <a:pt x="735530" y="165084"/>
                    </a:cubicBezTo>
                    <a:cubicBezTo>
                      <a:pt x="735530" y="146535"/>
                      <a:pt x="739796" y="129903"/>
                      <a:pt x="748329" y="115188"/>
                    </a:cubicBezTo>
                    <a:cubicBezTo>
                      <a:pt x="756861" y="100472"/>
                      <a:pt x="768671" y="88910"/>
                      <a:pt x="783757" y="80502"/>
                    </a:cubicBezTo>
                    <a:cubicBezTo>
                      <a:pt x="798843" y="72093"/>
                      <a:pt x="815784" y="67889"/>
                      <a:pt x="834580" y="67889"/>
                    </a:cubicBezTo>
                    <a:close/>
                    <a:moveTo>
                      <a:pt x="393713" y="67889"/>
                    </a:moveTo>
                    <a:cubicBezTo>
                      <a:pt x="420671" y="67889"/>
                      <a:pt x="443176" y="73824"/>
                      <a:pt x="461230" y="85695"/>
                    </a:cubicBezTo>
                    <a:cubicBezTo>
                      <a:pt x="479284" y="97566"/>
                      <a:pt x="488311" y="118465"/>
                      <a:pt x="488311" y="148390"/>
                    </a:cubicBezTo>
                    <a:lnTo>
                      <a:pt x="488311" y="220359"/>
                    </a:lnTo>
                    <a:cubicBezTo>
                      <a:pt x="488311" y="236434"/>
                      <a:pt x="489548" y="249047"/>
                      <a:pt x="492021" y="258198"/>
                    </a:cubicBezTo>
                    <a:lnTo>
                      <a:pt x="434149" y="258198"/>
                    </a:lnTo>
                    <a:lnTo>
                      <a:pt x="427472" y="233343"/>
                    </a:lnTo>
                    <a:cubicBezTo>
                      <a:pt x="427719" y="233590"/>
                      <a:pt x="425184" y="236496"/>
                      <a:pt x="419867" y="242061"/>
                    </a:cubicBezTo>
                    <a:cubicBezTo>
                      <a:pt x="414549" y="247625"/>
                      <a:pt x="407439" y="252695"/>
                      <a:pt x="398536" y="257271"/>
                    </a:cubicBezTo>
                    <a:cubicBezTo>
                      <a:pt x="389632" y="261846"/>
                      <a:pt x="378874" y="264134"/>
                      <a:pt x="366261" y="264134"/>
                    </a:cubicBezTo>
                    <a:cubicBezTo>
                      <a:pt x="353648" y="264134"/>
                      <a:pt x="342704" y="261660"/>
                      <a:pt x="333430" y="256714"/>
                    </a:cubicBezTo>
                    <a:cubicBezTo>
                      <a:pt x="324155" y="251768"/>
                      <a:pt x="317107" y="245090"/>
                      <a:pt x="312284" y="236682"/>
                    </a:cubicBezTo>
                    <a:cubicBezTo>
                      <a:pt x="307462" y="228273"/>
                      <a:pt x="305050" y="218999"/>
                      <a:pt x="305050" y="208859"/>
                    </a:cubicBezTo>
                    <a:cubicBezTo>
                      <a:pt x="305050" y="191794"/>
                      <a:pt x="311048" y="179552"/>
                      <a:pt x="323043" y="172132"/>
                    </a:cubicBezTo>
                    <a:cubicBezTo>
                      <a:pt x="335037" y="164713"/>
                      <a:pt x="349443" y="159272"/>
                      <a:pt x="366261" y="155809"/>
                    </a:cubicBezTo>
                    <a:lnTo>
                      <a:pt x="392229" y="150616"/>
                    </a:lnTo>
                    <a:cubicBezTo>
                      <a:pt x="414488" y="146164"/>
                      <a:pt x="425617" y="140847"/>
                      <a:pt x="425617" y="134664"/>
                    </a:cubicBezTo>
                    <a:cubicBezTo>
                      <a:pt x="425617" y="126997"/>
                      <a:pt x="422525" y="121865"/>
                      <a:pt x="416343" y="119268"/>
                    </a:cubicBezTo>
                    <a:cubicBezTo>
                      <a:pt x="410160" y="116672"/>
                      <a:pt x="403235" y="115373"/>
                      <a:pt x="395568" y="115373"/>
                    </a:cubicBezTo>
                    <a:cubicBezTo>
                      <a:pt x="386170" y="115373"/>
                      <a:pt x="377205" y="118650"/>
                      <a:pt x="368672" y="125204"/>
                    </a:cubicBezTo>
                    <a:cubicBezTo>
                      <a:pt x="360140" y="131758"/>
                      <a:pt x="354637" y="138868"/>
                      <a:pt x="352164" y="146535"/>
                    </a:cubicBezTo>
                    <a:lnTo>
                      <a:pt x="305050" y="116486"/>
                    </a:lnTo>
                    <a:cubicBezTo>
                      <a:pt x="308513" y="108325"/>
                      <a:pt x="314696" y="100534"/>
                      <a:pt x="323599" y="93115"/>
                    </a:cubicBezTo>
                    <a:cubicBezTo>
                      <a:pt x="332502" y="85695"/>
                      <a:pt x="343075" y="79636"/>
                      <a:pt x="355317" y="74937"/>
                    </a:cubicBezTo>
                    <a:cubicBezTo>
                      <a:pt x="367559" y="70238"/>
                      <a:pt x="380358" y="67889"/>
                      <a:pt x="393713" y="67889"/>
                    </a:cubicBezTo>
                    <a:close/>
                    <a:moveTo>
                      <a:pt x="64920" y="59356"/>
                    </a:moveTo>
                    <a:lnTo>
                      <a:pt x="64920" y="139115"/>
                    </a:lnTo>
                    <a:lnTo>
                      <a:pt x="105727" y="139115"/>
                    </a:lnTo>
                    <a:cubicBezTo>
                      <a:pt x="114878" y="139115"/>
                      <a:pt x="122977" y="135406"/>
                      <a:pt x="130026" y="127986"/>
                    </a:cubicBezTo>
                    <a:cubicBezTo>
                      <a:pt x="137074" y="120567"/>
                      <a:pt x="140599" y="111169"/>
                      <a:pt x="140599" y="99792"/>
                    </a:cubicBezTo>
                    <a:cubicBezTo>
                      <a:pt x="140599" y="88663"/>
                      <a:pt x="137260" y="79141"/>
                      <a:pt x="130582" y="71227"/>
                    </a:cubicBezTo>
                    <a:cubicBezTo>
                      <a:pt x="123905" y="63313"/>
                      <a:pt x="115867" y="59356"/>
                      <a:pt x="106469" y="59356"/>
                    </a:cubicBezTo>
                    <a:close/>
                    <a:moveTo>
                      <a:pt x="226745" y="5936"/>
                    </a:moveTo>
                    <a:lnTo>
                      <a:pt x="290552" y="5936"/>
                    </a:lnTo>
                    <a:lnTo>
                      <a:pt x="290552" y="258198"/>
                    </a:lnTo>
                    <a:lnTo>
                      <a:pt x="226745" y="258198"/>
                    </a:lnTo>
                    <a:close/>
                    <a:moveTo>
                      <a:pt x="0" y="5936"/>
                    </a:moveTo>
                    <a:lnTo>
                      <a:pt x="121308" y="5936"/>
                    </a:lnTo>
                    <a:cubicBezTo>
                      <a:pt x="136147" y="5936"/>
                      <a:pt x="150182" y="9769"/>
                      <a:pt x="163414" y="17436"/>
                    </a:cubicBezTo>
                    <a:cubicBezTo>
                      <a:pt x="176645" y="25103"/>
                      <a:pt x="187280" y="35985"/>
                      <a:pt x="195317" y="50082"/>
                    </a:cubicBezTo>
                    <a:cubicBezTo>
                      <a:pt x="203355" y="64179"/>
                      <a:pt x="207374" y="80378"/>
                      <a:pt x="207374" y="98679"/>
                    </a:cubicBezTo>
                    <a:cubicBezTo>
                      <a:pt x="207374" y="114013"/>
                      <a:pt x="204097" y="128666"/>
                      <a:pt x="197543" y="142640"/>
                    </a:cubicBezTo>
                    <a:cubicBezTo>
                      <a:pt x="190989" y="156613"/>
                      <a:pt x="181406" y="168051"/>
                      <a:pt x="168793" y="176955"/>
                    </a:cubicBezTo>
                    <a:cubicBezTo>
                      <a:pt x="156180" y="185858"/>
                      <a:pt x="141093" y="190310"/>
                      <a:pt x="123534" y="190310"/>
                    </a:cubicBezTo>
                    <a:lnTo>
                      <a:pt x="64920" y="190310"/>
                    </a:lnTo>
                    <a:lnTo>
                      <a:pt x="64920" y="258198"/>
                    </a:lnTo>
                    <a:lnTo>
                      <a:pt x="0" y="258198"/>
                    </a:lnTo>
                    <a:close/>
                    <a:moveTo>
                      <a:pt x="572222" y="4452"/>
                    </a:moveTo>
                    <a:lnTo>
                      <a:pt x="572222" y="74195"/>
                    </a:lnTo>
                    <a:lnTo>
                      <a:pt x="610432" y="74195"/>
                    </a:lnTo>
                    <a:lnTo>
                      <a:pt x="610432" y="121309"/>
                    </a:lnTo>
                    <a:lnTo>
                      <a:pt x="572222" y="121309"/>
                    </a:lnTo>
                    <a:lnTo>
                      <a:pt x="572222" y="184003"/>
                    </a:lnTo>
                    <a:cubicBezTo>
                      <a:pt x="572222" y="200573"/>
                      <a:pt x="579270" y="208859"/>
                      <a:pt x="593367" y="208859"/>
                    </a:cubicBezTo>
                    <a:cubicBezTo>
                      <a:pt x="601281" y="208859"/>
                      <a:pt x="607464" y="207251"/>
                      <a:pt x="611916" y="204036"/>
                    </a:cubicBezTo>
                    <a:lnTo>
                      <a:pt x="611916" y="256714"/>
                    </a:lnTo>
                    <a:cubicBezTo>
                      <a:pt x="602518" y="260919"/>
                      <a:pt x="590399" y="263021"/>
                      <a:pt x="575560" y="263021"/>
                    </a:cubicBezTo>
                    <a:cubicBezTo>
                      <a:pt x="553302" y="263021"/>
                      <a:pt x="536917" y="256591"/>
                      <a:pt x="526406" y="243730"/>
                    </a:cubicBezTo>
                    <a:cubicBezTo>
                      <a:pt x="515895" y="230870"/>
                      <a:pt x="510640" y="214423"/>
                      <a:pt x="510640" y="194391"/>
                    </a:cubicBezTo>
                    <a:lnTo>
                      <a:pt x="510640" y="34501"/>
                    </a:lnTo>
                    <a:close/>
                    <a:moveTo>
                      <a:pt x="699385" y="0"/>
                    </a:moveTo>
                    <a:cubicBezTo>
                      <a:pt x="707052" y="0"/>
                      <a:pt x="714657" y="495"/>
                      <a:pt x="722200" y="1484"/>
                    </a:cubicBezTo>
                    <a:cubicBezTo>
                      <a:pt x="729743" y="2474"/>
                      <a:pt x="735370" y="3710"/>
                      <a:pt x="739079" y="5194"/>
                    </a:cubicBezTo>
                    <a:lnTo>
                      <a:pt x="739079" y="51195"/>
                    </a:lnTo>
                    <a:cubicBezTo>
                      <a:pt x="737348" y="49711"/>
                      <a:pt x="734690" y="48412"/>
                      <a:pt x="731104" y="47300"/>
                    </a:cubicBezTo>
                    <a:cubicBezTo>
                      <a:pt x="727517" y="46187"/>
                      <a:pt x="723746" y="45630"/>
                      <a:pt x="719789" y="45630"/>
                    </a:cubicBezTo>
                    <a:cubicBezTo>
                      <a:pt x="705445" y="45630"/>
                      <a:pt x="698272" y="54410"/>
                      <a:pt x="698272" y="71969"/>
                    </a:cubicBezTo>
                    <a:lnTo>
                      <a:pt x="698272" y="73824"/>
                    </a:lnTo>
                    <a:lnTo>
                      <a:pt x="737596" y="73824"/>
                    </a:lnTo>
                    <a:lnTo>
                      <a:pt x="737596" y="120938"/>
                    </a:lnTo>
                    <a:lnTo>
                      <a:pt x="698272" y="120938"/>
                    </a:lnTo>
                    <a:lnTo>
                      <a:pt x="698272" y="258198"/>
                    </a:lnTo>
                    <a:lnTo>
                      <a:pt x="634465" y="258198"/>
                    </a:lnTo>
                    <a:lnTo>
                      <a:pt x="634465" y="64179"/>
                    </a:lnTo>
                    <a:cubicBezTo>
                      <a:pt x="634465" y="50329"/>
                      <a:pt x="637618" y="38520"/>
                      <a:pt x="643925" y="28751"/>
                    </a:cubicBezTo>
                    <a:cubicBezTo>
                      <a:pt x="650231" y="18982"/>
                      <a:pt x="658331" y="11748"/>
                      <a:pt x="668223" y="7049"/>
                    </a:cubicBezTo>
                    <a:cubicBezTo>
                      <a:pt x="678116" y="2350"/>
                      <a:pt x="688503" y="0"/>
                      <a:pt x="69938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defTabSz="913578">
                  <a:defRPr/>
                </a:pPr>
                <a:endParaRPr lang="en-US" sz="1600">
                  <a:solidFill>
                    <a:srgbClr val="000000"/>
                  </a:solidFill>
                  <a:latin typeface="Source Sans 3"/>
                </a:endParaRPr>
              </a:p>
            </p:txBody>
          </p:sp>
        </p:grpSp>
      </p:grpSp>
      <p:grpSp>
        <p:nvGrpSpPr>
          <p:cNvPr id="143" name="Group 142">
            <a:extLst>
              <a:ext uri="{FF2B5EF4-FFF2-40B4-BE49-F238E27FC236}">
                <a16:creationId xmlns:a16="http://schemas.microsoft.com/office/drawing/2014/main" id="{1B901875-55F5-F875-BD6E-2492450D1314}"/>
              </a:ext>
            </a:extLst>
          </p:cNvPr>
          <p:cNvGrpSpPr>
            <a:grpSpLocks/>
          </p:cNvGrpSpPr>
          <p:nvPr/>
        </p:nvGrpSpPr>
        <p:grpSpPr>
          <a:xfrm>
            <a:off x="4782455" y="2696832"/>
            <a:ext cx="2623915" cy="1616602"/>
            <a:chOff x="4783702" y="2696641"/>
            <a:chExt cx="2624598" cy="1617023"/>
          </a:xfrm>
        </p:grpSpPr>
        <p:sp>
          <p:nvSpPr>
            <p:cNvPr id="144" name="!!Data">
              <a:extLst>
                <a:ext uri="{FF2B5EF4-FFF2-40B4-BE49-F238E27FC236}">
                  <a16:creationId xmlns:a16="http://schemas.microsoft.com/office/drawing/2014/main" id="{12F8E88D-087D-C812-3EE4-A62C7449504E}"/>
                </a:ext>
              </a:extLst>
            </p:cNvPr>
            <p:cNvSpPr txBox="1">
              <a:spLocks/>
            </p:cNvSpPr>
            <p:nvPr/>
          </p:nvSpPr>
          <p:spPr>
            <a:xfrm>
              <a:off x="5224101" y="2696641"/>
              <a:ext cx="1743800" cy="291992"/>
            </a:xfrm>
            <a:prstGeom prst="rect">
              <a:avLst/>
            </a:prstGeom>
          </p:spPr>
          <p:txBody>
            <a:bodyPr wrap="square">
              <a:noAutofit/>
            </a:bodyPr>
            <a:lstStyle/>
            <a:p>
              <a:pPr algn="ctr" defTabSz="456766">
                <a:lnSpc>
                  <a:spcPct val="60000"/>
                </a:lnSpc>
                <a:defRPr/>
              </a:pPr>
              <a:r>
                <a:rPr lang="en-US" sz="2799" b="1">
                  <a:solidFill>
                    <a:srgbClr val="FFFFFF"/>
                  </a:solidFill>
                  <a:latin typeface="Source Sans 3"/>
                  <a:cs typeface="Source Sans 3" panose="020B0604040101010104" pitchFamily="34" charset="0"/>
                  <a:sym typeface="Source Sans 3"/>
                </a:rPr>
                <a:t>Decide</a:t>
              </a:r>
            </a:p>
          </p:txBody>
        </p:sp>
        <p:sp>
          <p:nvSpPr>
            <p:cNvPr id="145" name="Rounded Rectangle 20">
              <a:extLst>
                <a:ext uri="{FF2B5EF4-FFF2-40B4-BE49-F238E27FC236}">
                  <a16:creationId xmlns:a16="http://schemas.microsoft.com/office/drawing/2014/main" id="{ABA0DC28-03B9-959A-6796-5AE1B7BAB6A6}"/>
                </a:ext>
                <a:ext uri="{C183D7F6-B498-43B3-948B-1728B52AA6E4}">
                  <adec:decorative xmlns:adec="http://schemas.microsoft.com/office/drawing/2017/decorative" val="1"/>
                </a:ext>
              </a:extLst>
            </p:cNvPr>
            <p:cNvSpPr>
              <a:spLocks/>
            </p:cNvSpPr>
            <p:nvPr/>
          </p:nvSpPr>
          <p:spPr>
            <a:xfrm>
              <a:off x="5508702" y="3059969"/>
              <a:ext cx="1174596"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73133" rtlCol="0" anchor="ctr"/>
            <a:lstStyle/>
            <a:p>
              <a:pPr algn="r" defTabSz="456766">
                <a:defRPr/>
              </a:pPr>
              <a:r>
                <a:rPr lang="en-US" sz="1050" b="1">
                  <a:solidFill>
                    <a:srgbClr val="FFFFFF"/>
                  </a:solidFill>
                  <a:latin typeface="Source Sans 3" panose="020B0504040101010104" pitchFamily="34" charset="77"/>
                </a:rPr>
                <a:t>AI Model</a:t>
              </a:r>
            </a:p>
          </p:txBody>
        </p:sp>
        <p:sp>
          <p:nvSpPr>
            <p:cNvPr id="146" name="TextBox 145">
              <a:extLst>
                <a:ext uri="{FF2B5EF4-FFF2-40B4-BE49-F238E27FC236}">
                  <a16:creationId xmlns:a16="http://schemas.microsoft.com/office/drawing/2014/main" id="{024F2FE0-B0BC-BBCC-C60A-1AD900608EC7}"/>
                </a:ext>
              </a:extLst>
            </p:cNvPr>
            <p:cNvSpPr txBox="1">
              <a:spLocks/>
            </p:cNvSpPr>
            <p:nvPr/>
          </p:nvSpPr>
          <p:spPr>
            <a:xfrm>
              <a:off x="4783702" y="3511024"/>
              <a:ext cx="2624598" cy="731330"/>
            </a:xfrm>
            <a:prstGeom prst="rect">
              <a:avLst/>
            </a:prstGeom>
            <a:noFill/>
          </p:spPr>
          <p:txBody>
            <a:bodyPr wrap="square" lIns="182784" tIns="54836" rIns="182784" numCol="2" spcCol="36576" rtlCol="0">
              <a:noAutofit/>
            </a:bodyPr>
            <a:lstStyle>
              <a:defPPr>
                <a:defRPr lang="en-US"/>
              </a:defPPr>
              <a:lvl1pPr defTabSz="456903">
                <a:lnSpc>
                  <a:spcPct val="90000"/>
                </a:lnSpc>
                <a:spcAft>
                  <a:spcPts val="300"/>
                </a:spcAft>
                <a:defRPr sz="800">
                  <a:solidFill>
                    <a:schemeClr val="bg2"/>
                  </a:solidFill>
                  <a:latin typeface="Source Sans 3" panose="020B0404040101010104" pitchFamily="34" charset="77"/>
                </a:defRPr>
              </a:lvl1pPr>
            </a:lstStyle>
            <a:p>
              <a:pPr algn="ctr" defTabSz="456629">
                <a:defRPr/>
              </a:pPr>
              <a:r>
                <a:rPr lang="en-US">
                  <a:solidFill>
                    <a:srgbClr val="FFFFFF"/>
                  </a:solidFill>
                </a:rPr>
                <a:t>AI Skills</a:t>
              </a:r>
            </a:p>
            <a:p>
              <a:pPr algn="ctr" defTabSz="456629">
                <a:defRPr/>
              </a:pPr>
              <a:r>
                <a:rPr lang="en-US">
                  <a:solidFill>
                    <a:srgbClr val="FFFFFF"/>
                  </a:solidFill>
                </a:rPr>
                <a:t>Knowledge Base</a:t>
              </a:r>
            </a:p>
            <a:p>
              <a:pPr algn="ctr" defTabSz="456629">
                <a:defRPr/>
              </a:pPr>
              <a:r>
                <a:rPr lang="en-US">
                  <a:solidFill>
                    <a:srgbClr val="FFFFFF"/>
                  </a:solidFill>
                </a:rPr>
                <a:t>Knowledge Center</a:t>
              </a:r>
            </a:p>
            <a:p>
              <a:pPr algn="ctr" defTabSz="456629">
                <a:defRPr/>
              </a:pPr>
              <a:r>
                <a:rPr lang="en-US">
                  <a:solidFill>
                    <a:srgbClr val="FFFFFF"/>
                  </a:solidFill>
                </a:rPr>
                <a:t>Analytics &amp; BI</a:t>
              </a:r>
            </a:p>
            <a:p>
              <a:pPr algn="ctr" defTabSz="456629">
                <a:defRPr/>
              </a:pPr>
              <a:r>
                <a:rPr lang="en-US">
                  <a:solidFill>
                    <a:srgbClr val="FFFFFF"/>
                  </a:solidFill>
                </a:rPr>
                <a:t>Context Engine</a:t>
              </a:r>
            </a:p>
            <a:p>
              <a:pPr algn="ctr" defTabSz="456629">
                <a:defRPr/>
              </a:pPr>
              <a:r>
                <a:rPr lang="en-US">
                  <a:solidFill>
                    <a:srgbClr val="FFFFFF"/>
                  </a:solidFill>
                </a:rPr>
                <a:t>Knowledge Studio</a:t>
              </a:r>
            </a:p>
            <a:p>
              <a:pPr algn="ctr" defTabSz="456629">
                <a:defRPr/>
              </a:pPr>
              <a:r>
                <a:rPr lang="en-US">
                  <a:solidFill>
                    <a:srgbClr val="FFFFFF"/>
                  </a:solidFill>
                </a:rPr>
                <a:t>Modular Agentic </a:t>
              </a:r>
              <a:br>
                <a:rPr lang="en-US">
                  <a:solidFill>
                    <a:srgbClr val="FFFFFF"/>
                  </a:solidFill>
                </a:rPr>
              </a:br>
              <a:r>
                <a:rPr lang="en-US">
                  <a:solidFill>
                    <a:srgbClr val="FFFFFF"/>
                  </a:solidFill>
                </a:rPr>
                <a:t>Architecture</a:t>
              </a:r>
            </a:p>
          </p:txBody>
        </p:sp>
        <p:grpSp>
          <p:nvGrpSpPr>
            <p:cNvPr id="147" name="Group 146">
              <a:extLst>
                <a:ext uri="{FF2B5EF4-FFF2-40B4-BE49-F238E27FC236}">
                  <a16:creationId xmlns:a16="http://schemas.microsoft.com/office/drawing/2014/main" id="{37C8175F-8B52-B077-8A82-5E7EA7A169AB}"/>
                </a:ext>
              </a:extLst>
            </p:cNvPr>
            <p:cNvGrpSpPr>
              <a:grpSpLocks/>
            </p:cNvGrpSpPr>
            <p:nvPr/>
          </p:nvGrpSpPr>
          <p:grpSpPr>
            <a:xfrm>
              <a:off x="5637075" y="4147925"/>
              <a:ext cx="923456" cy="165739"/>
              <a:chOff x="5637075" y="3496175"/>
              <a:chExt cx="923456" cy="165739"/>
            </a:xfrm>
          </p:grpSpPr>
          <p:pic>
            <p:nvPicPr>
              <p:cNvPr id="152" name="Picture 151">
                <a:extLst>
                  <a:ext uri="{FF2B5EF4-FFF2-40B4-BE49-F238E27FC236}">
                    <a16:creationId xmlns:a16="http://schemas.microsoft.com/office/drawing/2014/main" id="{AEAEA7E4-B2C5-97A1-525A-A076CDDAB1B6}"/>
                  </a:ext>
                </a:extLst>
              </p:cNvPr>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a:ext>
                </a:extLst>
              </a:blip>
              <a:stretch>
                <a:fillRect/>
              </a:stretch>
            </p:blipFill>
            <p:spPr>
              <a:xfrm>
                <a:off x="5637075" y="3496175"/>
                <a:ext cx="165739" cy="165739"/>
              </a:xfrm>
              <a:prstGeom prst="rect">
                <a:avLst/>
              </a:prstGeom>
            </p:spPr>
          </p:pic>
          <p:pic>
            <p:nvPicPr>
              <p:cNvPr id="153" name="Picture 152">
                <a:extLst>
                  <a:ext uri="{FF2B5EF4-FFF2-40B4-BE49-F238E27FC236}">
                    <a16:creationId xmlns:a16="http://schemas.microsoft.com/office/drawing/2014/main" id="{93462567-732D-950F-9AE4-0AE3F054EC04}"/>
                  </a:ext>
                </a:extLst>
              </p:cNvPr>
              <p:cNvPicPr>
                <a:picLocks noChangeAspect="1"/>
              </p:cNvPicPr>
              <p:nvPr/>
            </p:nvPicPr>
            <p:blipFill>
              <a:blip r:embed="rId18" cstate="print">
                <a:extLst>
                  <a:ext uri="{BEBA8EAE-BF5A-486C-A8C5-ECC9F3942E4B}">
                    <a14:imgProps xmlns:a14="http://schemas.microsoft.com/office/drawing/2010/main">
                      <a14:imgLayer r:embed="rId19">
                        <a14:imgEffect>
                          <a14:brightnessContrast bright="100000"/>
                        </a14:imgEffect>
                      </a14:imgLayer>
                    </a14:imgProps>
                  </a:ext>
                  <a:ext uri="{28A0092B-C50C-407E-A947-70E740481C1C}">
                    <a14:useLocalDpi xmlns:a14="http://schemas.microsoft.com/office/drawing/2010/main"/>
                  </a:ext>
                </a:extLst>
              </a:blip>
              <a:stretch>
                <a:fillRect/>
              </a:stretch>
            </p:blipFill>
            <p:spPr>
              <a:xfrm>
                <a:off x="6033503" y="3518397"/>
                <a:ext cx="124995" cy="124995"/>
              </a:xfrm>
              <a:prstGeom prst="rect">
                <a:avLst/>
              </a:prstGeom>
            </p:spPr>
          </p:pic>
          <p:pic>
            <p:nvPicPr>
              <p:cNvPr id="154" name="Picture 153">
                <a:extLst>
                  <a:ext uri="{FF2B5EF4-FFF2-40B4-BE49-F238E27FC236}">
                    <a16:creationId xmlns:a16="http://schemas.microsoft.com/office/drawing/2014/main" id="{5EBA4BEF-B050-0C62-1FEF-94BCCF2B05BB}"/>
                  </a:ext>
                </a:extLst>
              </p:cNvPr>
              <p:cNvPicPr>
                <a:picLocks noChangeAspect="1"/>
              </p:cNvPicPr>
              <p:nvPr/>
            </p:nvPicPr>
            <p:blipFill>
              <a:blip r:embed="rId20" cstate="print">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a:ext>
                </a:extLst>
              </a:blip>
              <a:stretch>
                <a:fillRect/>
              </a:stretch>
            </p:blipFill>
            <p:spPr>
              <a:xfrm>
                <a:off x="6387552" y="3517543"/>
                <a:ext cx="172979" cy="121084"/>
              </a:xfrm>
              <a:prstGeom prst="rect">
                <a:avLst/>
              </a:prstGeom>
            </p:spPr>
          </p:pic>
        </p:grpSp>
        <p:cxnSp>
          <p:nvCxnSpPr>
            <p:cNvPr id="148" name="Straight Connector 147">
              <a:extLst>
                <a:ext uri="{FF2B5EF4-FFF2-40B4-BE49-F238E27FC236}">
                  <a16:creationId xmlns:a16="http://schemas.microsoft.com/office/drawing/2014/main" id="{0E4FD79F-FFC8-66D4-7A32-3FE41222B62F}"/>
                </a:ext>
              </a:extLst>
            </p:cNvPr>
            <p:cNvCxnSpPr>
              <a:cxnSpLocks/>
            </p:cNvCxnSpPr>
            <p:nvPr/>
          </p:nvCxnSpPr>
          <p:spPr>
            <a:xfrm>
              <a:off x="4786792" y="3456707"/>
              <a:ext cx="2618416" cy="0"/>
            </a:xfrm>
            <a:prstGeom prst="line">
              <a:avLst/>
            </a:prstGeom>
            <a:ln>
              <a:solidFill>
                <a:srgbClr val="C0A6FF">
                  <a:alpha val="25000"/>
                </a:srgbClr>
              </a:solidFill>
            </a:ln>
          </p:spPr>
          <p:style>
            <a:lnRef idx="1">
              <a:schemeClr val="accent1"/>
            </a:lnRef>
            <a:fillRef idx="0">
              <a:schemeClr val="accent1"/>
            </a:fillRef>
            <a:effectRef idx="0">
              <a:schemeClr val="accent1"/>
            </a:effectRef>
            <a:fontRef idx="minor">
              <a:schemeClr val="tx1"/>
            </a:fontRef>
          </p:style>
        </p:cxnSp>
        <p:grpSp>
          <p:nvGrpSpPr>
            <p:cNvPr id="149" name="Group 148">
              <a:extLst>
                <a:ext uri="{FF2B5EF4-FFF2-40B4-BE49-F238E27FC236}">
                  <a16:creationId xmlns:a16="http://schemas.microsoft.com/office/drawing/2014/main" id="{B63D5E17-4134-DFD1-7A2B-C7C02C63EFBD}"/>
                </a:ext>
              </a:extLst>
            </p:cNvPr>
            <p:cNvGrpSpPr>
              <a:grpSpLocks/>
            </p:cNvGrpSpPr>
            <p:nvPr/>
          </p:nvGrpSpPr>
          <p:grpSpPr>
            <a:xfrm>
              <a:off x="5593305" y="3135977"/>
              <a:ext cx="366052" cy="122304"/>
              <a:chOff x="9374775" y="5319260"/>
              <a:chExt cx="366052" cy="122304"/>
            </a:xfrm>
          </p:grpSpPr>
          <p:sp>
            <p:nvSpPr>
              <p:cNvPr id="150" name="Rounded Rectangle 54">
                <a:extLst>
                  <a:ext uri="{FF2B5EF4-FFF2-40B4-BE49-F238E27FC236}">
                    <a16:creationId xmlns:a16="http://schemas.microsoft.com/office/drawing/2014/main" id="{7C2C241B-C3B8-706E-F16C-57B637BBAF3B}"/>
                  </a:ext>
                </a:extLst>
              </p:cNvPr>
              <p:cNvSpPr>
                <a:spLocks/>
              </p:cNvSpPr>
              <p:nvPr/>
            </p:nvSpPr>
            <p:spPr>
              <a:xfrm>
                <a:off x="93747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a:solidFill>
                    <a:srgbClr val="000000"/>
                  </a:solidFill>
                  <a:latin typeface="Source Sans 3"/>
                </a:endParaRPr>
              </a:p>
            </p:txBody>
          </p:sp>
          <p:sp>
            <p:nvSpPr>
              <p:cNvPr id="151" name="Industry">
                <a:extLst>
                  <a:ext uri="{FF2B5EF4-FFF2-40B4-BE49-F238E27FC236}">
                    <a16:creationId xmlns:a16="http://schemas.microsoft.com/office/drawing/2014/main" id="{FBD08BE3-5D92-3846-A467-571D818BF03C}"/>
                  </a:ext>
                </a:extLst>
              </p:cNvPr>
              <p:cNvSpPr txBox="1">
                <a:spLocks/>
              </p:cNvSpPr>
              <p:nvPr/>
            </p:nvSpPr>
            <p:spPr>
              <a:xfrm>
                <a:off x="94483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grpSp>
      <p:pic>
        <p:nvPicPr>
          <p:cNvPr id="155" name="Picture 15">
            <a:extLst>
              <a:ext uri="{FF2B5EF4-FFF2-40B4-BE49-F238E27FC236}">
                <a16:creationId xmlns:a16="http://schemas.microsoft.com/office/drawing/2014/main" id="{8BB93B72-F76D-B759-2B2F-972A1615E99C}"/>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2"/>
              </a:ext>
            </a:extLst>
          </a:blip>
          <a:srcRect/>
          <a:stretch/>
        </p:blipFill>
        <p:spPr>
          <a:xfrm>
            <a:off x="479837" y="6353915"/>
            <a:ext cx="980334" cy="280022"/>
          </a:xfrm>
          <a:prstGeom prst="rect">
            <a:avLst/>
          </a:prstGeom>
        </p:spPr>
      </p:pic>
      <p:grpSp>
        <p:nvGrpSpPr>
          <p:cNvPr id="192" name="Group 191">
            <a:extLst>
              <a:ext uri="{FF2B5EF4-FFF2-40B4-BE49-F238E27FC236}">
                <a16:creationId xmlns:a16="http://schemas.microsoft.com/office/drawing/2014/main" id="{E58BCC8F-3FAD-3268-13AA-8C0A02E54A91}"/>
              </a:ext>
            </a:extLst>
          </p:cNvPr>
          <p:cNvGrpSpPr>
            <a:grpSpLocks/>
          </p:cNvGrpSpPr>
          <p:nvPr/>
        </p:nvGrpSpPr>
        <p:grpSpPr>
          <a:xfrm>
            <a:off x="7637335" y="2696832"/>
            <a:ext cx="2620507" cy="1627830"/>
            <a:chOff x="7639325" y="2696641"/>
            <a:chExt cx="2621190" cy="1628254"/>
          </a:xfrm>
        </p:grpSpPr>
        <p:sp>
          <p:nvSpPr>
            <p:cNvPr id="193" name="!!Data">
              <a:extLst>
                <a:ext uri="{FF2B5EF4-FFF2-40B4-BE49-F238E27FC236}">
                  <a16:creationId xmlns:a16="http://schemas.microsoft.com/office/drawing/2014/main" id="{3224BA99-BF77-6AD5-26A2-962AF96479F5}"/>
                </a:ext>
              </a:extLst>
            </p:cNvPr>
            <p:cNvSpPr txBox="1">
              <a:spLocks/>
            </p:cNvSpPr>
            <p:nvPr/>
          </p:nvSpPr>
          <p:spPr>
            <a:xfrm>
              <a:off x="7721907" y="2696641"/>
              <a:ext cx="2458800" cy="291992"/>
            </a:xfrm>
            <a:prstGeom prst="rect">
              <a:avLst/>
            </a:prstGeom>
          </p:spPr>
          <p:txBody>
            <a:bodyPr wrap="square">
              <a:noAutofit/>
            </a:bodyPr>
            <a:lstStyle/>
            <a:p>
              <a:pPr algn="ctr" defTabSz="456766">
                <a:lnSpc>
                  <a:spcPct val="60000"/>
                </a:lnSpc>
                <a:defRPr/>
              </a:pPr>
              <a:r>
                <a:rPr lang="en-US" sz="2799" b="1">
                  <a:solidFill>
                    <a:srgbClr val="FFFFFF"/>
                  </a:solidFill>
                  <a:latin typeface="Source Sans 3"/>
                  <a:cs typeface="Source Sans 3" panose="020B0604040101010104" pitchFamily="34" charset="0"/>
                  <a:sym typeface="Source Sans 3"/>
                </a:rPr>
                <a:t>Act</a:t>
              </a:r>
            </a:p>
          </p:txBody>
        </p:sp>
        <p:sp>
          <p:nvSpPr>
            <p:cNvPr id="194" name="Rounded Rectangle 20">
              <a:extLst>
                <a:ext uri="{FF2B5EF4-FFF2-40B4-BE49-F238E27FC236}">
                  <a16:creationId xmlns:a16="http://schemas.microsoft.com/office/drawing/2014/main" id="{8C69B53D-3E81-2774-2E3E-B5F84D2D2A90}"/>
                </a:ext>
                <a:ext uri="{C183D7F6-B498-43B3-948B-1728B52AA6E4}">
                  <adec:decorative xmlns:adec="http://schemas.microsoft.com/office/drawing/2017/decorative" val="1"/>
                </a:ext>
              </a:extLst>
            </p:cNvPr>
            <p:cNvSpPr>
              <a:spLocks/>
            </p:cNvSpPr>
            <p:nvPr/>
          </p:nvSpPr>
          <p:spPr>
            <a:xfrm>
              <a:off x="8328804" y="3059969"/>
              <a:ext cx="1233442"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73133" rtlCol="0" anchor="ctr"/>
            <a:lstStyle/>
            <a:p>
              <a:pPr algn="r" defTabSz="456766">
                <a:defRPr/>
              </a:pPr>
              <a:r>
                <a:rPr lang="en-US" sz="1050" b="1">
                  <a:solidFill>
                    <a:srgbClr val="FFFFFF"/>
                  </a:solidFill>
                  <a:latin typeface="Source Sans 3" panose="020B0504040101010104" pitchFamily="34" charset="77"/>
                </a:rPr>
                <a:t>Workflow</a:t>
              </a:r>
            </a:p>
          </p:txBody>
        </p:sp>
        <p:sp>
          <p:nvSpPr>
            <p:cNvPr id="195" name="TextBox 194">
              <a:extLst>
                <a:ext uri="{FF2B5EF4-FFF2-40B4-BE49-F238E27FC236}">
                  <a16:creationId xmlns:a16="http://schemas.microsoft.com/office/drawing/2014/main" id="{836B44D5-B99A-E562-7BC1-948F133C9623}"/>
                </a:ext>
              </a:extLst>
            </p:cNvPr>
            <p:cNvSpPr txBox="1">
              <a:spLocks/>
            </p:cNvSpPr>
            <p:nvPr/>
          </p:nvSpPr>
          <p:spPr>
            <a:xfrm>
              <a:off x="7642095" y="3511025"/>
              <a:ext cx="2618420" cy="779078"/>
            </a:xfrm>
            <a:prstGeom prst="rect">
              <a:avLst/>
            </a:prstGeom>
            <a:noFill/>
          </p:spPr>
          <p:txBody>
            <a:bodyPr wrap="square" lIns="91416" tIns="54836" numCol="2" spcCol="36576" rtlCol="0">
              <a:noAutofit/>
            </a:bodyPr>
            <a:lstStyle>
              <a:defPPr>
                <a:defRPr lang="en-US"/>
              </a:defPPr>
              <a:lvl1pPr defTabSz="456903">
                <a:lnSpc>
                  <a:spcPct val="90000"/>
                </a:lnSpc>
                <a:spcAft>
                  <a:spcPts val="300"/>
                </a:spcAft>
                <a:defRPr sz="900">
                  <a:solidFill>
                    <a:schemeClr val="bg2"/>
                  </a:solidFill>
                  <a:latin typeface="Source Sans 3" panose="020B0404040101010104" pitchFamily="34" charset="77"/>
                </a:defRPr>
              </a:lvl1pPr>
            </a:lstStyle>
            <a:p>
              <a:pPr algn="ctr" defTabSz="456766">
                <a:defRPr/>
              </a:pPr>
              <a:r>
                <a:rPr lang="en-US" sz="800">
                  <a:solidFill>
                    <a:srgbClr val="FFFFFF"/>
                  </a:solidFill>
                </a:rPr>
                <a:t>AI Specialists</a:t>
              </a:r>
            </a:p>
            <a:p>
              <a:pPr algn="ctr" defTabSz="456766">
                <a:defRPr/>
              </a:pPr>
              <a:r>
                <a:rPr lang="en-US" sz="800">
                  <a:solidFill>
                    <a:srgbClr val="FFFFFF"/>
                  </a:solidFill>
                </a:rPr>
                <a:t>Action Fabric</a:t>
              </a:r>
            </a:p>
            <a:p>
              <a:pPr algn="ctr" defTabSz="456766">
                <a:defRPr/>
              </a:pPr>
              <a:r>
                <a:rPr lang="en-US" sz="800">
                  <a:solidFill>
                    <a:srgbClr val="FFFFFF"/>
                  </a:solidFill>
                </a:rPr>
                <a:t>App Engine</a:t>
              </a:r>
            </a:p>
            <a:p>
              <a:pPr algn="ctr" defTabSz="456766">
                <a:defRPr/>
              </a:pPr>
              <a:r>
                <a:rPr lang="en-US" sz="800">
                  <a:solidFill>
                    <a:srgbClr val="FFFFFF"/>
                  </a:solidFill>
                </a:rPr>
                <a:t>Build Agent</a:t>
              </a:r>
            </a:p>
            <a:p>
              <a:pPr algn="ctr" defTabSz="456629">
                <a:defRPr/>
              </a:pPr>
              <a:r>
                <a:rPr lang="en-US" sz="800">
                  <a:solidFill>
                    <a:srgbClr val="FFFFFF"/>
                  </a:solidFill>
                </a:rPr>
                <a:t>Agent Orchestrator</a:t>
              </a:r>
            </a:p>
            <a:p>
              <a:pPr algn="ctr" defTabSz="456629">
                <a:defRPr/>
              </a:pPr>
              <a:r>
                <a:rPr lang="en-US" sz="800">
                  <a:solidFill>
                    <a:srgbClr val="FFFFFF"/>
                  </a:solidFill>
                </a:rPr>
                <a:t>Agentic Playbooks</a:t>
              </a:r>
            </a:p>
            <a:p>
              <a:pPr algn="ctr" defTabSz="456629">
                <a:defRPr/>
              </a:pPr>
              <a:r>
                <a:rPr lang="en-US" sz="800">
                  <a:solidFill>
                    <a:srgbClr val="FFFFFF"/>
                  </a:solidFill>
                </a:rPr>
                <a:t>AI Agent Studio</a:t>
              </a:r>
            </a:p>
          </p:txBody>
        </p:sp>
        <p:grpSp>
          <p:nvGrpSpPr>
            <p:cNvPr id="196" name="Group 195">
              <a:extLst>
                <a:ext uri="{FF2B5EF4-FFF2-40B4-BE49-F238E27FC236}">
                  <a16:creationId xmlns:a16="http://schemas.microsoft.com/office/drawing/2014/main" id="{DC8DFA3B-91D3-C3B2-1549-35A1AA31DC65}"/>
                </a:ext>
              </a:extLst>
            </p:cNvPr>
            <p:cNvGrpSpPr>
              <a:grpSpLocks/>
            </p:cNvGrpSpPr>
            <p:nvPr/>
          </p:nvGrpSpPr>
          <p:grpSpPr>
            <a:xfrm>
              <a:off x="7911612" y="4156078"/>
              <a:ext cx="2104394" cy="168817"/>
              <a:chOff x="7911612" y="3504328"/>
              <a:chExt cx="2104394" cy="168817"/>
            </a:xfrm>
          </p:grpSpPr>
          <p:pic>
            <p:nvPicPr>
              <p:cNvPr id="208" name="Picture 207">
                <a:extLst>
                  <a:ext uri="{FF2B5EF4-FFF2-40B4-BE49-F238E27FC236}">
                    <a16:creationId xmlns:a16="http://schemas.microsoft.com/office/drawing/2014/main" id="{185156EB-C287-3514-01D5-1039BE419D30}"/>
                  </a:ext>
                </a:extLst>
              </p:cNvPr>
              <p:cNvPicPr>
                <a:picLocks noChangeAspect="1"/>
              </p:cNvPicPr>
              <p:nvPr/>
            </p:nvPicPr>
            <p:blipFill>
              <a:blip r:embed="rId23" cstate="print">
                <a:extLst>
                  <a:ext uri="{BEBA8EAE-BF5A-486C-A8C5-ECC9F3942E4B}">
                    <a14:imgProps xmlns:a14="http://schemas.microsoft.com/office/drawing/2010/main">
                      <a14:imgLayer r:embed="rId24">
                        <a14:imgEffect>
                          <a14:brightnessContrast bright="100000"/>
                        </a14:imgEffect>
                      </a14:imgLayer>
                    </a14:imgProps>
                  </a:ext>
                  <a:ext uri="{28A0092B-C50C-407E-A947-70E740481C1C}">
                    <a14:useLocalDpi xmlns:a14="http://schemas.microsoft.com/office/drawing/2010/main"/>
                  </a:ext>
                </a:extLst>
              </a:blip>
              <a:stretch>
                <a:fillRect/>
              </a:stretch>
            </p:blipFill>
            <p:spPr>
              <a:xfrm>
                <a:off x="8254914" y="3509334"/>
                <a:ext cx="163813" cy="163811"/>
              </a:xfrm>
              <a:prstGeom prst="rect">
                <a:avLst/>
              </a:prstGeom>
            </p:spPr>
          </p:pic>
          <p:pic>
            <p:nvPicPr>
              <p:cNvPr id="209" name="Picture 208">
                <a:extLst>
                  <a:ext uri="{FF2B5EF4-FFF2-40B4-BE49-F238E27FC236}">
                    <a16:creationId xmlns:a16="http://schemas.microsoft.com/office/drawing/2014/main" id="{E31C4E74-6270-2FFF-0F11-B454D0CBD0EC}"/>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8651456" y="3516233"/>
                <a:ext cx="137758" cy="137758"/>
              </a:xfrm>
              <a:prstGeom prst="rect">
                <a:avLst/>
              </a:prstGeom>
            </p:spPr>
          </p:pic>
          <p:pic>
            <p:nvPicPr>
              <p:cNvPr id="210" name="Picture 209">
                <a:extLst>
                  <a:ext uri="{FF2B5EF4-FFF2-40B4-BE49-F238E27FC236}">
                    <a16:creationId xmlns:a16="http://schemas.microsoft.com/office/drawing/2014/main" id="{063F7519-0B60-72BA-AB60-C549346B2832}"/>
                  </a:ext>
                </a:extLst>
              </p:cNvPr>
              <p:cNvPicPr>
                <a:picLocks noChangeAspect="1"/>
              </p:cNvPicPr>
              <p:nvPr/>
            </p:nvPicPr>
            <p:blipFill>
              <a:blip r:embed="rId26" cstate="print">
                <a:extLst>
                  <a:ext uri="{BEBA8EAE-BF5A-486C-A8C5-ECC9F3942E4B}">
                    <a14:imgProps xmlns:a14="http://schemas.microsoft.com/office/drawing/2010/main">
                      <a14:imgLayer r:embed="rId27">
                        <a14:imgEffect>
                          <a14:brightnessContrast bright="100000"/>
                        </a14:imgEffect>
                      </a14:imgLayer>
                    </a14:imgProps>
                  </a:ext>
                  <a:ext uri="{28A0092B-C50C-407E-A947-70E740481C1C}">
                    <a14:useLocalDpi xmlns:a14="http://schemas.microsoft.com/office/drawing/2010/main"/>
                  </a:ext>
                </a:extLst>
              </a:blip>
              <a:stretch>
                <a:fillRect/>
              </a:stretch>
            </p:blipFill>
            <p:spPr>
              <a:xfrm>
                <a:off x="9015576" y="3516005"/>
                <a:ext cx="135149" cy="135149"/>
              </a:xfrm>
              <a:prstGeom prst="rect">
                <a:avLst/>
              </a:prstGeom>
            </p:spPr>
          </p:pic>
          <p:pic>
            <p:nvPicPr>
              <p:cNvPr id="211" name="Picture 210">
                <a:extLst>
                  <a:ext uri="{FF2B5EF4-FFF2-40B4-BE49-F238E27FC236}">
                    <a16:creationId xmlns:a16="http://schemas.microsoft.com/office/drawing/2014/main" id="{3AEB036C-BB27-FE0E-5BED-97D58B9AA313}"/>
                  </a:ext>
                </a:extLst>
              </p:cNvPr>
              <p:cNvPicPr>
                <a:picLocks noChangeAspect="1"/>
              </p:cNvPicPr>
              <p:nvPr/>
            </p:nvPicPr>
            <p:blipFill>
              <a:blip r:embed="rId28" cstate="print">
                <a:extLst>
                  <a:ext uri="{BEBA8EAE-BF5A-486C-A8C5-ECC9F3942E4B}">
                    <a14:imgProps xmlns:a14="http://schemas.microsoft.com/office/drawing/2010/main">
                      <a14:imgLayer r:embed="rId29">
                        <a14:imgEffect>
                          <a14:brightnessContrast bright="100000"/>
                        </a14:imgEffect>
                      </a14:imgLayer>
                    </a14:imgProps>
                  </a:ext>
                  <a:ext uri="{28A0092B-C50C-407E-A947-70E740481C1C}">
                    <a14:useLocalDpi xmlns:a14="http://schemas.microsoft.com/office/drawing/2010/main"/>
                  </a:ext>
                </a:extLst>
              </a:blip>
              <a:stretch>
                <a:fillRect/>
              </a:stretch>
            </p:blipFill>
            <p:spPr>
              <a:xfrm>
                <a:off x="7911612" y="3530818"/>
                <a:ext cx="115516" cy="115514"/>
              </a:xfrm>
              <a:prstGeom prst="rect">
                <a:avLst/>
              </a:prstGeom>
            </p:spPr>
          </p:pic>
          <p:pic>
            <p:nvPicPr>
              <p:cNvPr id="212" name="Picture 211">
                <a:extLst>
                  <a:ext uri="{FF2B5EF4-FFF2-40B4-BE49-F238E27FC236}">
                    <a16:creationId xmlns:a16="http://schemas.microsoft.com/office/drawing/2014/main" id="{8EE5BD50-6629-EBC8-0C1F-8503C9690D4C}"/>
                  </a:ext>
                </a:extLst>
              </p:cNvPr>
              <p:cNvPicPr>
                <a:picLocks noChangeAspect="1"/>
              </p:cNvPicPr>
              <p:nvPr/>
            </p:nvPicPr>
            <p:blipFill>
              <a:blip r:embed="rId30" cstate="print">
                <a:extLst>
                  <a:ext uri="{BEBA8EAE-BF5A-486C-A8C5-ECC9F3942E4B}">
                    <a14:imgProps xmlns:a14="http://schemas.microsoft.com/office/drawing/2010/main">
                      <a14:imgLayer r:embed="rId31">
                        <a14:imgEffect>
                          <a14:brightnessContrast bright="100000"/>
                        </a14:imgEffect>
                      </a14:imgLayer>
                    </a14:imgProps>
                  </a:ext>
                  <a:ext uri="{28A0092B-C50C-407E-A947-70E740481C1C}">
                    <a14:useLocalDpi xmlns:a14="http://schemas.microsoft.com/office/drawing/2010/main"/>
                  </a:ext>
                </a:extLst>
              </a:blip>
              <a:srcRect/>
              <a:stretch>
                <a:fillRect/>
              </a:stretch>
            </p:blipFill>
            <p:spPr>
              <a:xfrm>
                <a:off x="9871504" y="3504328"/>
                <a:ext cx="144502" cy="146840"/>
              </a:xfrm>
              <a:prstGeom prst="rect">
                <a:avLst/>
              </a:prstGeom>
            </p:spPr>
          </p:pic>
          <p:pic>
            <p:nvPicPr>
              <p:cNvPr id="213" name="Picture 212">
                <a:extLst>
                  <a:ext uri="{FF2B5EF4-FFF2-40B4-BE49-F238E27FC236}">
                    <a16:creationId xmlns:a16="http://schemas.microsoft.com/office/drawing/2014/main" id="{829A4CDD-1AAC-7E68-F696-CC63BA82705B}"/>
                  </a:ext>
                </a:extLst>
              </p:cNvPr>
              <p:cNvPicPr>
                <a:picLocks noChangeAspect="1"/>
              </p:cNvPicPr>
              <p:nvPr/>
            </p:nvPicPr>
            <p:blipFill>
              <a:blip r:embed="rId32" cstate="print">
                <a:extLst>
                  <a:ext uri="{BEBA8EAE-BF5A-486C-A8C5-ECC9F3942E4B}">
                    <a14:imgProps xmlns:a14="http://schemas.microsoft.com/office/drawing/2010/main">
                      <a14:imgLayer r:embed="rId33">
                        <a14:imgEffect>
                          <a14:brightnessContrast bright="100000"/>
                        </a14:imgEffect>
                      </a14:imgLayer>
                    </a14:imgProps>
                  </a:ext>
                  <a:ext uri="{28A0092B-C50C-407E-A947-70E740481C1C}">
                    <a14:useLocalDpi xmlns:a14="http://schemas.microsoft.com/office/drawing/2010/main"/>
                  </a:ext>
                </a:extLst>
              </a:blip>
              <a:stretch>
                <a:fillRect/>
              </a:stretch>
            </p:blipFill>
            <p:spPr>
              <a:xfrm>
                <a:off x="9467456" y="3525141"/>
                <a:ext cx="118293" cy="118293"/>
              </a:xfrm>
              <a:prstGeom prst="rect">
                <a:avLst/>
              </a:prstGeom>
            </p:spPr>
          </p:pic>
        </p:grpSp>
        <p:cxnSp>
          <p:nvCxnSpPr>
            <p:cNvPr id="197" name="Straight Connector 196">
              <a:extLst>
                <a:ext uri="{FF2B5EF4-FFF2-40B4-BE49-F238E27FC236}">
                  <a16:creationId xmlns:a16="http://schemas.microsoft.com/office/drawing/2014/main" id="{E283FBDF-F50A-990F-BD75-88B1B41C779B}"/>
                </a:ext>
              </a:extLst>
            </p:cNvPr>
            <p:cNvCxnSpPr>
              <a:cxnSpLocks/>
            </p:cNvCxnSpPr>
            <p:nvPr/>
          </p:nvCxnSpPr>
          <p:spPr>
            <a:xfrm>
              <a:off x="7639325" y="3456707"/>
              <a:ext cx="2618416" cy="0"/>
            </a:xfrm>
            <a:prstGeom prst="line">
              <a:avLst/>
            </a:prstGeom>
            <a:ln>
              <a:solidFill>
                <a:srgbClr val="C0A6FF">
                  <a:alpha val="25000"/>
                </a:srgbClr>
              </a:solidFill>
            </a:ln>
          </p:spPr>
          <p:style>
            <a:lnRef idx="1">
              <a:schemeClr val="accent1"/>
            </a:lnRef>
            <a:fillRef idx="0">
              <a:schemeClr val="accent1"/>
            </a:fillRef>
            <a:effectRef idx="0">
              <a:schemeClr val="accent1"/>
            </a:effectRef>
            <a:fontRef idx="minor">
              <a:schemeClr val="tx1"/>
            </a:fontRef>
          </p:style>
        </p:cxnSp>
        <p:grpSp>
          <p:nvGrpSpPr>
            <p:cNvPr id="198" name="Group 197">
              <a:extLst>
                <a:ext uri="{FF2B5EF4-FFF2-40B4-BE49-F238E27FC236}">
                  <a16:creationId xmlns:a16="http://schemas.microsoft.com/office/drawing/2014/main" id="{CF0A04BD-8FE3-95B2-2C9B-D70B4E927233}"/>
                </a:ext>
              </a:extLst>
            </p:cNvPr>
            <p:cNvGrpSpPr>
              <a:grpSpLocks/>
            </p:cNvGrpSpPr>
            <p:nvPr/>
          </p:nvGrpSpPr>
          <p:grpSpPr>
            <a:xfrm>
              <a:off x="8413403" y="3135977"/>
              <a:ext cx="366052" cy="122304"/>
              <a:chOff x="9407575" y="5319260"/>
              <a:chExt cx="366052" cy="122304"/>
            </a:xfrm>
          </p:grpSpPr>
          <p:sp>
            <p:nvSpPr>
              <p:cNvPr id="203" name="Rounded Rectangle 54">
                <a:extLst>
                  <a:ext uri="{FF2B5EF4-FFF2-40B4-BE49-F238E27FC236}">
                    <a16:creationId xmlns:a16="http://schemas.microsoft.com/office/drawing/2014/main" id="{1ECF8730-EFFF-61F4-4171-ED0F27C91F40}"/>
                  </a:ext>
                </a:extLst>
              </p:cNvPr>
              <p:cNvSpPr>
                <a:spLocks/>
              </p:cNvSpPr>
              <p:nvPr/>
            </p:nvSpPr>
            <p:spPr>
              <a:xfrm>
                <a:off x="94075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207" name="Industry">
                <a:extLst>
                  <a:ext uri="{FF2B5EF4-FFF2-40B4-BE49-F238E27FC236}">
                    <a16:creationId xmlns:a16="http://schemas.microsoft.com/office/drawing/2014/main" id="{EE95F0D1-8544-5DAC-4E80-CE33CB4A4BA6}"/>
                  </a:ext>
                </a:extLst>
              </p:cNvPr>
              <p:cNvSpPr txBox="1">
                <a:spLocks/>
              </p:cNvSpPr>
              <p:nvPr/>
            </p:nvSpPr>
            <p:spPr>
              <a:xfrm>
                <a:off x="94811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grpSp>
      <p:sp>
        <p:nvSpPr>
          <p:cNvPr id="295" name="TextBox 294">
            <a:extLst>
              <a:ext uri="{FF2B5EF4-FFF2-40B4-BE49-F238E27FC236}">
                <a16:creationId xmlns:a16="http://schemas.microsoft.com/office/drawing/2014/main" id="{E2020BA0-4162-00FC-F90C-230EEF1A19C6}"/>
              </a:ext>
            </a:extLst>
          </p:cNvPr>
          <p:cNvSpPr txBox="1">
            <a:spLocks/>
          </p:cNvSpPr>
          <p:nvPr/>
        </p:nvSpPr>
        <p:spPr>
          <a:xfrm>
            <a:off x="1587" y="306407"/>
            <a:ext cx="12184062" cy="313850"/>
          </a:xfrm>
          <a:prstGeom prst="rect">
            <a:avLst/>
          </a:prstGeom>
          <a:noFill/>
        </p:spPr>
        <p:txBody>
          <a:bodyPr wrap="square" lIns="0" tIns="0" rIns="0" bIns="0" rtlCol="0" anchor="t">
            <a:spAutoFit/>
          </a:bodyPr>
          <a:lstStyle/>
          <a:p>
            <a:pPr algn="ctr" defTabSz="913578">
              <a:lnSpc>
                <a:spcPct val="85000"/>
              </a:lnSpc>
              <a:spcBef>
                <a:spcPct val="0"/>
              </a:spcBef>
              <a:tabLst>
                <a:tab pos="398104" algn="l"/>
              </a:tabLst>
              <a:defRPr/>
            </a:pPr>
            <a:r>
              <a:rPr lang="en-US" sz="2300" b="1" dirty="0">
                <a:solidFill>
                  <a:schemeClr val="bg1"/>
                </a:solidFill>
                <a:latin typeface="Source Sans 3" panose="020B0504040101010104" pitchFamily="34" charset="77"/>
              </a:rPr>
              <a:t>The ServiceNow </a:t>
            </a:r>
            <a:r>
              <a:rPr lang="en-US" sz="2300" b="1" dirty="0">
                <a:solidFill>
                  <a:srgbClr val="8FFFDB"/>
                </a:solidFill>
                <a:latin typeface="Source Sans 3" panose="020B0504040101010104" pitchFamily="34" charset="77"/>
              </a:rPr>
              <a:t>AI control tower </a:t>
            </a:r>
            <a:r>
              <a:rPr lang="en-US" sz="2300" b="1" dirty="0">
                <a:solidFill>
                  <a:schemeClr val="bg1"/>
                </a:solidFill>
                <a:latin typeface="Source Sans 3" panose="020B0504040101010104" pitchFamily="34" charset="77"/>
              </a:rPr>
              <a:t>for business reinvention</a:t>
            </a:r>
            <a:endParaRPr lang="en-US" sz="2399" b="1" dirty="0">
              <a:solidFill>
                <a:schemeClr val="bg1"/>
              </a:solidFill>
              <a:latin typeface="Source Sans 3" panose="020B0504040101010104" pitchFamily="34" charset="77"/>
            </a:endParaRPr>
          </a:p>
        </p:txBody>
      </p:sp>
      <p:grpSp>
        <p:nvGrpSpPr>
          <p:cNvPr id="299" name="Group 298">
            <a:extLst>
              <a:ext uri="{FF2B5EF4-FFF2-40B4-BE49-F238E27FC236}">
                <a16:creationId xmlns:a16="http://schemas.microsoft.com/office/drawing/2014/main" id="{81867847-6869-5282-AA33-FC803D7B40F4}"/>
              </a:ext>
            </a:extLst>
          </p:cNvPr>
          <p:cNvGrpSpPr>
            <a:grpSpLocks/>
          </p:cNvGrpSpPr>
          <p:nvPr/>
        </p:nvGrpSpPr>
        <p:grpSpPr>
          <a:xfrm>
            <a:off x="1850238" y="2696833"/>
            <a:ext cx="2822822" cy="1609397"/>
            <a:chOff x="1850720" y="2696642"/>
            <a:chExt cx="2823557" cy="1609816"/>
          </a:xfrm>
        </p:grpSpPr>
        <p:sp>
          <p:nvSpPr>
            <p:cNvPr id="300" name="!!Data">
              <a:extLst>
                <a:ext uri="{FF2B5EF4-FFF2-40B4-BE49-F238E27FC236}">
                  <a16:creationId xmlns:a16="http://schemas.microsoft.com/office/drawing/2014/main" id="{0312FE62-131B-A7C4-107B-3304AF8C5720}"/>
                </a:ext>
              </a:extLst>
            </p:cNvPr>
            <p:cNvSpPr txBox="1">
              <a:spLocks/>
            </p:cNvSpPr>
            <p:nvPr/>
          </p:nvSpPr>
          <p:spPr>
            <a:xfrm>
              <a:off x="2296011" y="2696642"/>
              <a:ext cx="1889370" cy="291992"/>
            </a:xfrm>
            <a:prstGeom prst="rect">
              <a:avLst/>
            </a:prstGeom>
          </p:spPr>
          <p:txBody>
            <a:bodyPr wrap="square">
              <a:noAutofit/>
            </a:bodyPr>
            <a:lstStyle/>
            <a:p>
              <a:pPr algn="ctr" defTabSz="456766">
                <a:lnSpc>
                  <a:spcPct val="60000"/>
                </a:lnSpc>
                <a:defRPr/>
              </a:pPr>
              <a:r>
                <a:rPr lang="en-US" sz="2799" b="1">
                  <a:solidFill>
                    <a:srgbClr val="FFFFFF"/>
                  </a:solidFill>
                  <a:latin typeface="Source Sans 3"/>
                  <a:cs typeface="Source Sans 3" panose="020B0604040101010104" pitchFamily="34" charset="0"/>
                  <a:sym typeface="Source Sans 3"/>
                </a:rPr>
                <a:t>Sense</a:t>
              </a:r>
            </a:p>
          </p:txBody>
        </p:sp>
        <p:sp>
          <p:nvSpPr>
            <p:cNvPr id="304" name="Rounded Rectangle 20">
              <a:extLst>
                <a:ext uri="{FF2B5EF4-FFF2-40B4-BE49-F238E27FC236}">
                  <a16:creationId xmlns:a16="http://schemas.microsoft.com/office/drawing/2014/main" id="{9DC3F6F9-2812-151E-AB25-DA9C9EAEE973}"/>
                </a:ext>
                <a:ext uri="{C183D7F6-B498-43B3-948B-1728B52AA6E4}">
                  <adec:decorative xmlns:adec="http://schemas.microsoft.com/office/drawing/2017/decorative" val="1"/>
                </a:ext>
              </a:extLst>
            </p:cNvPr>
            <p:cNvSpPr>
              <a:spLocks/>
            </p:cNvSpPr>
            <p:nvPr/>
          </p:nvSpPr>
          <p:spPr>
            <a:xfrm>
              <a:off x="2818405" y="3059969"/>
              <a:ext cx="898668"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73133" rtlCol="0" anchor="ctr"/>
            <a:lstStyle/>
            <a:p>
              <a:pPr algn="r" defTabSz="456766">
                <a:defRPr/>
              </a:pPr>
              <a:r>
                <a:rPr lang="en-US" sz="1050" b="1">
                  <a:solidFill>
                    <a:srgbClr val="FFFFFF"/>
                  </a:solidFill>
                  <a:latin typeface="Source Sans 3" panose="020B0504040101010104" pitchFamily="34" charset="77"/>
                </a:rPr>
                <a:t>Data</a:t>
              </a:r>
            </a:p>
          </p:txBody>
        </p:sp>
        <p:grpSp>
          <p:nvGrpSpPr>
            <p:cNvPr id="305" name="Group 304">
              <a:extLst>
                <a:ext uri="{FF2B5EF4-FFF2-40B4-BE49-F238E27FC236}">
                  <a16:creationId xmlns:a16="http://schemas.microsoft.com/office/drawing/2014/main" id="{EFD639D5-AC56-35F1-DDC0-EA5500574302}"/>
                </a:ext>
              </a:extLst>
            </p:cNvPr>
            <p:cNvGrpSpPr>
              <a:grpSpLocks/>
            </p:cNvGrpSpPr>
            <p:nvPr/>
          </p:nvGrpSpPr>
          <p:grpSpPr>
            <a:xfrm>
              <a:off x="2376781" y="4165619"/>
              <a:ext cx="1720006" cy="140839"/>
              <a:chOff x="2376781" y="3513869"/>
              <a:chExt cx="1720006" cy="140839"/>
            </a:xfrm>
          </p:grpSpPr>
          <p:pic>
            <p:nvPicPr>
              <p:cNvPr id="312" name="Picture 311">
                <a:extLst>
                  <a:ext uri="{FF2B5EF4-FFF2-40B4-BE49-F238E27FC236}">
                    <a16:creationId xmlns:a16="http://schemas.microsoft.com/office/drawing/2014/main" id="{C20B3924-C120-4A0C-B7A9-891CA0D85410}"/>
                  </a:ext>
                </a:extLst>
              </p:cNvPr>
              <p:cNvPicPr>
                <a:picLocks noChangeAspect="1"/>
              </p:cNvPicPr>
              <p:nvPr/>
            </p:nvPicPr>
            <p:blipFill>
              <a:blip r:embed="rId34" cstate="print">
                <a:extLst>
                  <a:ext uri="{BEBA8EAE-BF5A-486C-A8C5-ECC9F3942E4B}">
                    <a14:imgProps xmlns:a14="http://schemas.microsoft.com/office/drawing/2010/main">
                      <a14:imgLayer r:embed="rId35">
                        <a14:imgEffect>
                          <a14:brightnessContrast bright="100000"/>
                        </a14:imgEffect>
                      </a14:imgLayer>
                    </a14:imgProps>
                  </a:ext>
                  <a:ext uri="{28A0092B-C50C-407E-A947-70E740481C1C}">
                    <a14:useLocalDpi xmlns:a14="http://schemas.microsoft.com/office/drawing/2010/main"/>
                  </a:ext>
                </a:extLst>
              </a:blip>
              <a:stretch>
                <a:fillRect/>
              </a:stretch>
            </p:blipFill>
            <p:spPr>
              <a:xfrm>
                <a:off x="2376781" y="3521900"/>
                <a:ext cx="97663" cy="124778"/>
              </a:xfrm>
              <a:prstGeom prst="rect">
                <a:avLst/>
              </a:prstGeom>
            </p:spPr>
          </p:pic>
          <p:pic>
            <p:nvPicPr>
              <p:cNvPr id="313" name="Picture 312">
                <a:extLst>
                  <a:ext uri="{FF2B5EF4-FFF2-40B4-BE49-F238E27FC236}">
                    <a16:creationId xmlns:a16="http://schemas.microsoft.com/office/drawing/2014/main" id="{11588701-2504-01AA-F3F2-BC0DEE846377}"/>
                  </a:ext>
                </a:extLst>
              </p:cNvPr>
              <p:cNvPicPr>
                <a:picLocks noChangeAspect="1"/>
              </p:cNvPicPr>
              <p:nvPr/>
            </p:nvPicPr>
            <p:blipFill>
              <a:blip r:embed="rId36" cstate="print">
                <a:extLst>
                  <a:ext uri="{BEBA8EAE-BF5A-486C-A8C5-ECC9F3942E4B}">
                    <a14:imgProps xmlns:a14="http://schemas.microsoft.com/office/drawing/2010/main">
                      <a14:imgLayer r:embed="rId37">
                        <a14:imgEffect>
                          <a14:brightnessContrast bright="100000"/>
                        </a14:imgEffect>
                      </a14:imgLayer>
                    </a14:imgProps>
                  </a:ext>
                  <a:ext uri="{28A0092B-C50C-407E-A947-70E740481C1C}">
                    <a14:useLocalDpi xmlns:a14="http://schemas.microsoft.com/office/drawing/2010/main"/>
                  </a:ext>
                </a:extLst>
              </a:blip>
              <a:stretch>
                <a:fillRect/>
              </a:stretch>
            </p:blipFill>
            <p:spPr>
              <a:xfrm>
                <a:off x="2881339" y="3521900"/>
                <a:ext cx="124780" cy="124778"/>
              </a:xfrm>
              <a:prstGeom prst="rect">
                <a:avLst/>
              </a:prstGeom>
            </p:spPr>
          </p:pic>
          <p:pic>
            <p:nvPicPr>
              <p:cNvPr id="314" name="Picture 313">
                <a:extLst>
                  <a:ext uri="{FF2B5EF4-FFF2-40B4-BE49-F238E27FC236}">
                    <a16:creationId xmlns:a16="http://schemas.microsoft.com/office/drawing/2014/main" id="{878604BB-6493-5894-BAA9-331E82505944}"/>
                  </a:ext>
                </a:extLst>
              </p:cNvPr>
              <p:cNvPicPr>
                <a:picLocks noChangeAspect="1"/>
              </p:cNvPicPr>
              <p:nvPr/>
            </p:nvPicPr>
            <p:blipFill>
              <a:blip r:embed="rId38" cstate="print">
                <a:extLst>
                  <a:ext uri="{BEBA8EAE-BF5A-486C-A8C5-ECC9F3942E4B}">
                    <a14:imgProps xmlns:a14="http://schemas.microsoft.com/office/drawing/2010/main">
                      <a14:imgLayer r:embed="rId39">
                        <a14:imgEffect>
                          <a14:brightnessContrast bright="100000"/>
                        </a14:imgEffect>
                      </a14:imgLayer>
                    </a14:imgProps>
                  </a:ext>
                  <a:ext uri="{28A0092B-C50C-407E-A947-70E740481C1C}">
                    <a14:useLocalDpi xmlns:a14="http://schemas.microsoft.com/office/drawing/2010/main"/>
                  </a:ext>
                </a:extLst>
              </a:blip>
              <a:stretch>
                <a:fillRect/>
              </a:stretch>
            </p:blipFill>
            <p:spPr>
              <a:xfrm>
                <a:off x="3422606" y="3513869"/>
                <a:ext cx="140839" cy="140839"/>
              </a:xfrm>
              <a:prstGeom prst="rect">
                <a:avLst/>
              </a:prstGeom>
            </p:spPr>
          </p:pic>
          <p:pic>
            <p:nvPicPr>
              <p:cNvPr id="315" name="Picture 314">
                <a:extLst>
                  <a:ext uri="{FF2B5EF4-FFF2-40B4-BE49-F238E27FC236}">
                    <a16:creationId xmlns:a16="http://schemas.microsoft.com/office/drawing/2014/main" id="{1C211E24-E9D6-548D-533A-1159721C1342}"/>
                  </a:ext>
                </a:extLst>
              </p:cNvPr>
              <p:cNvPicPr>
                <a:picLocks noChangeAspect="1"/>
              </p:cNvPicPr>
              <p:nvPr/>
            </p:nvPicPr>
            <p:blipFill>
              <a:blip r:embed="rId32" cstate="print">
                <a:extLst>
                  <a:ext uri="{BEBA8EAE-BF5A-486C-A8C5-ECC9F3942E4B}">
                    <a14:imgProps xmlns:a14="http://schemas.microsoft.com/office/drawing/2010/main">
                      <a14:imgLayer r:embed="rId40">
                        <a14:imgEffect>
                          <a14:brightnessContrast bright="100000"/>
                        </a14:imgEffect>
                      </a14:imgLayer>
                    </a14:imgProps>
                  </a:ext>
                  <a:ext uri="{28A0092B-C50C-407E-A947-70E740481C1C}">
                    <a14:useLocalDpi xmlns:a14="http://schemas.microsoft.com/office/drawing/2010/main"/>
                  </a:ext>
                </a:extLst>
              </a:blip>
              <a:stretch>
                <a:fillRect/>
              </a:stretch>
            </p:blipFill>
            <p:spPr>
              <a:xfrm>
                <a:off x="3978494" y="3525142"/>
                <a:ext cx="118293" cy="118293"/>
              </a:xfrm>
              <a:prstGeom prst="rect">
                <a:avLst/>
              </a:prstGeom>
            </p:spPr>
          </p:pic>
        </p:grpSp>
        <p:cxnSp>
          <p:nvCxnSpPr>
            <p:cNvPr id="306" name="Straight Connector 305">
              <a:extLst>
                <a:ext uri="{FF2B5EF4-FFF2-40B4-BE49-F238E27FC236}">
                  <a16:creationId xmlns:a16="http://schemas.microsoft.com/office/drawing/2014/main" id="{AD860B4B-DF17-E6ED-9AE3-31D6B99601DE}"/>
                </a:ext>
              </a:extLst>
            </p:cNvPr>
            <p:cNvCxnSpPr>
              <a:cxnSpLocks/>
            </p:cNvCxnSpPr>
            <p:nvPr/>
          </p:nvCxnSpPr>
          <p:spPr>
            <a:xfrm>
              <a:off x="1931484" y="3456707"/>
              <a:ext cx="2618416" cy="0"/>
            </a:xfrm>
            <a:prstGeom prst="line">
              <a:avLst/>
            </a:prstGeom>
            <a:ln>
              <a:solidFill>
                <a:srgbClr val="C0A6FF">
                  <a:alpha val="25000"/>
                </a:srgbClr>
              </a:solidFill>
            </a:ln>
          </p:spPr>
          <p:style>
            <a:lnRef idx="1">
              <a:schemeClr val="accent1"/>
            </a:lnRef>
            <a:fillRef idx="0">
              <a:schemeClr val="accent1"/>
            </a:fillRef>
            <a:effectRef idx="0">
              <a:schemeClr val="accent1"/>
            </a:effectRef>
            <a:fontRef idx="minor">
              <a:schemeClr val="tx1"/>
            </a:fontRef>
          </p:style>
        </p:cxnSp>
        <p:sp>
          <p:nvSpPr>
            <p:cNvPr id="307" name="TextBox 306">
              <a:extLst>
                <a:ext uri="{FF2B5EF4-FFF2-40B4-BE49-F238E27FC236}">
                  <a16:creationId xmlns:a16="http://schemas.microsoft.com/office/drawing/2014/main" id="{83CA6F49-461E-5364-DFFC-E382EB98BE9F}"/>
                </a:ext>
              </a:extLst>
            </p:cNvPr>
            <p:cNvSpPr txBox="1">
              <a:spLocks/>
            </p:cNvSpPr>
            <p:nvPr/>
          </p:nvSpPr>
          <p:spPr>
            <a:xfrm>
              <a:off x="1850720" y="3511025"/>
              <a:ext cx="2823557" cy="731330"/>
            </a:xfrm>
            <a:prstGeom prst="rect">
              <a:avLst/>
            </a:prstGeom>
            <a:noFill/>
          </p:spPr>
          <p:txBody>
            <a:bodyPr wrap="square" lIns="182784" tIns="54836" rIns="182784" numCol="2" spcCol="128016" rtlCol="0">
              <a:noAutofit/>
            </a:bodyPr>
            <a:lstStyle/>
            <a:p>
              <a:pPr algn="ctr" defTabSz="456629">
                <a:lnSpc>
                  <a:spcPct val="90000"/>
                </a:lnSpc>
                <a:spcAft>
                  <a:spcPts val="300"/>
                </a:spcAft>
                <a:defRPr/>
              </a:pPr>
              <a:r>
                <a:rPr lang="en-US" sz="800">
                  <a:solidFill>
                    <a:srgbClr val="FFFFFF"/>
                  </a:solidFill>
                  <a:latin typeface="Source Sans 3" panose="020B0404040101010104" pitchFamily="34" charset="77"/>
                </a:rPr>
                <a:t>Workflow Data Fabric</a:t>
              </a:r>
            </a:p>
            <a:p>
              <a:pPr algn="ctr" defTabSz="456629">
                <a:lnSpc>
                  <a:spcPct val="90000"/>
                </a:lnSpc>
                <a:spcAft>
                  <a:spcPts val="300"/>
                </a:spcAft>
                <a:defRPr/>
              </a:pPr>
              <a:r>
                <a:rPr lang="en-US" sz="800">
                  <a:solidFill>
                    <a:srgbClr val="FFFFFF"/>
                  </a:solidFill>
                  <a:latin typeface="Source Sans 3" panose="020B0404040101010104" pitchFamily="34" charset="77"/>
                </a:rPr>
                <a:t>Workflow Data Network</a:t>
              </a:r>
            </a:p>
            <a:p>
              <a:pPr algn="ctr" defTabSz="456629">
                <a:lnSpc>
                  <a:spcPct val="90000"/>
                </a:lnSpc>
                <a:spcAft>
                  <a:spcPts val="300"/>
                </a:spcAft>
                <a:defRPr/>
              </a:pPr>
              <a:r>
                <a:rPr lang="en-US" sz="800">
                  <a:solidFill>
                    <a:srgbClr val="FFFFFF"/>
                  </a:solidFill>
                  <a:latin typeface="Source Sans 3" panose="020B0404040101010104" pitchFamily="34" charset="77"/>
                </a:rPr>
                <a:t>RaptorDB</a:t>
              </a:r>
            </a:p>
            <a:p>
              <a:pPr algn="ctr" defTabSz="456629">
                <a:lnSpc>
                  <a:spcPct val="90000"/>
                </a:lnSpc>
                <a:spcAft>
                  <a:spcPts val="300"/>
                </a:spcAft>
                <a:defRPr/>
              </a:pPr>
              <a:endParaRPr lang="en-US" sz="800">
                <a:solidFill>
                  <a:srgbClr val="FFFFFF"/>
                </a:solidFill>
                <a:latin typeface="Source Sans 3" panose="020B0404040101010104" pitchFamily="34" charset="77"/>
              </a:endParaRPr>
            </a:p>
            <a:p>
              <a:pPr algn="ctr" defTabSz="456629">
                <a:lnSpc>
                  <a:spcPct val="90000"/>
                </a:lnSpc>
                <a:spcAft>
                  <a:spcPts val="300"/>
                </a:spcAft>
                <a:defRPr/>
              </a:pPr>
              <a:r>
                <a:rPr lang="en-US" sz="800">
                  <a:solidFill>
                    <a:srgbClr val="FFFFFF"/>
                  </a:solidFill>
                  <a:latin typeface="Source Sans 3" panose="020B0404040101010104" pitchFamily="34" charset="77"/>
                </a:rPr>
                <a:t>MCP &amp; A2A</a:t>
              </a:r>
            </a:p>
            <a:p>
              <a:pPr algn="ctr" defTabSz="456629">
                <a:lnSpc>
                  <a:spcPct val="90000"/>
                </a:lnSpc>
                <a:spcAft>
                  <a:spcPts val="300"/>
                </a:spcAft>
                <a:defRPr/>
              </a:pPr>
              <a:r>
                <a:rPr lang="en-US" sz="800">
                  <a:solidFill>
                    <a:srgbClr val="FFFFFF"/>
                  </a:solidFill>
                  <a:latin typeface="Source Sans 3" panose="020B0404040101010104" pitchFamily="34" charset="77"/>
                </a:rPr>
                <a:t>Process Mining</a:t>
              </a:r>
            </a:p>
            <a:p>
              <a:pPr algn="ctr" defTabSz="456629">
                <a:lnSpc>
                  <a:spcPct val="90000"/>
                </a:lnSpc>
                <a:spcAft>
                  <a:spcPts val="300"/>
                </a:spcAft>
                <a:defRPr/>
              </a:pPr>
              <a:r>
                <a:rPr lang="en-US" sz="800">
                  <a:solidFill>
                    <a:srgbClr val="FFFFFF"/>
                  </a:solidFill>
                  <a:latin typeface="Source Sans 3" panose="020B0404040101010104" pitchFamily="34" charset="77"/>
                </a:rPr>
                <a:t>CMDB</a:t>
              </a:r>
            </a:p>
          </p:txBody>
        </p:sp>
        <p:grpSp>
          <p:nvGrpSpPr>
            <p:cNvPr id="308" name="Group 307">
              <a:extLst>
                <a:ext uri="{FF2B5EF4-FFF2-40B4-BE49-F238E27FC236}">
                  <a16:creationId xmlns:a16="http://schemas.microsoft.com/office/drawing/2014/main" id="{D6F43F80-AF64-9562-B5D8-45FCC7ECA29A}"/>
                </a:ext>
              </a:extLst>
            </p:cNvPr>
            <p:cNvGrpSpPr>
              <a:grpSpLocks/>
            </p:cNvGrpSpPr>
            <p:nvPr/>
          </p:nvGrpSpPr>
          <p:grpSpPr>
            <a:xfrm>
              <a:off x="2899351" y="3135977"/>
              <a:ext cx="366052" cy="122304"/>
              <a:chOff x="9374775" y="5319260"/>
              <a:chExt cx="366052" cy="122304"/>
            </a:xfrm>
          </p:grpSpPr>
          <p:sp>
            <p:nvSpPr>
              <p:cNvPr id="309" name="Rounded Rectangle 54">
                <a:extLst>
                  <a:ext uri="{FF2B5EF4-FFF2-40B4-BE49-F238E27FC236}">
                    <a16:creationId xmlns:a16="http://schemas.microsoft.com/office/drawing/2014/main" id="{7A014408-D3A6-22ED-B207-8A61A6DE5260}"/>
                  </a:ext>
                </a:extLst>
              </p:cNvPr>
              <p:cNvSpPr>
                <a:spLocks/>
              </p:cNvSpPr>
              <p:nvPr/>
            </p:nvSpPr>
            <p:spPr>
              <a:xfrm>
                <a:off x="93747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310" name="Industry">
                <a:extLst>
                  <a:ext uri="{FF2B5EF4-FFF2-40B4-BE49-F238E27FC236}">
                    <a16:creationId xmlns:a16="http://schemas.microsoft.com/office/drawing/2014/main" id="{2CE229FF-5076-E7D0-1AEF-ECFA701C6BAD}"/>
                  </a:ext>
                </a:extLst>
              </p:cNvPr>
              <p:cNvSpPr txBox="1">
                <a:spLocks/>
              </p:cNvSpPr>
              <p:nvPr/>
            </p:nvSpPr>
            <p:spPr>
              <a:xfrm>
                <a:off x="94483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grpSp>
      <p:grpSp>
        <p:nvGrpSpPr>
          <p:cNvPr id="4" name="Group 3">
            <a:extLst>
              <a:ext uri="{FF2B5EF4-FFF2-40B4-BE49-F238E27FC236}">
                <a16:creationId xmlns:a16="http://schemas.microsoft.com/office/drawing/2014/main" id="{CD0318A2-3F48-F9EB-2266-5ADC36CE77B4}"/>
              </a:ext>
            </a:extLst>
          </p:cNvPr>
          <p:cNvGrpSpPr>
            <a:grpSpLocks/>
          </p:cNvGrpSpPr>
          <p:nvPr/>
        </p:nvGrpSpPr>
        <p:grpSpPr>
          <a:xfrm>
            <a:off x="1733453" y="4455874"/>
            <a:ext cx="8721921" cy="1768650"/>
            <a:chOff x="1733905" y="4456141"/>
            <a:chExt cx="8724193" cy="1769111"/>
          </a:xfrm>
        </p:grpSpPr>
        <p:sp>
          <p:nvSpPr>
            <p:cNvPr id="180" name="Rounded Rectangle 179">
              <a:extLst>
                <a:ext uri="{FF2B5EF4-FFF2-40B4-BE49-F238E27FC236}">
                  <a16:creationId xmlns:a16="http://schemas.microsoft.com/office/drawing/2014/main" id="{F7C84DA0-D2FA-FC14-AEBF-9F92436600EC}"/>
                </a:ext>
              </a:extLst>
            </p:cNvPr>
            <p:cNvSpPr>
              <a:spLocks/>
            </p:cNvSpPr>
            <p:nvPr/>
          </p:nvSpPr>
          <p:spPr>
            <a:xfrm>
              <a:off x="1733905" y="4456141"/>
              <a:ext cx="8724193" cy="1769111"/>
            </a:xfrm>
            <a:prstGeom prst="roundRect">
              <a:avLst>
                <a:gd name="adj" fmla="val 10220"/>
              </a:avLst>
            </a:prstGeom>
            <a:gradFill flip="none" rotWithShape="1">
              <a:gsLst>
                <a:gs pos="64000">
                  <a:schemeClr val="tx2">
                    <a:alpha val="0"/>
                  </a:schemeClr>
                </a:gs>
                <a:gs pos="0">
                  <a:schemeClr val="accent1">
                    <a:alpha val="65751"/>
                  </a:schemeClr>
                </a:gs>
              </a:gsLst>
              <a:lin ang="5400000" scaled="0"/>
              <a:tileRect/>
            </a:gradFill>
            <a:ln w="12700">
              <a:noFill/>
            </a:ln>
            <a:scene3d>
              <a:camera prst="orthographicFront"/>
              <a:lightRig rig="brightRoom" dir="t">
                <a:rot lat="0" lon="0" rev="0"/>
              </a:lightRig>
            </a:scene3d>
            <a:sp3d extrusionH="38100" prstMaterial="matte">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tIns="54836" rtlCol="0" anchor="ctr"/>
            <a:lstStyle/>
            <a:p>
              <a:pPr defTabSz="456355">
                <a:lnSpc>
                  <a:spcPct val="82000"/>
                </a:lnSpc>
                <a:defRPr/>
              </a:pPr>
              <a:endParaRPr lang="en-US" sz="800" spc="-70">
                <a:solidFill>
                  <a:srgbClr val="000000"/>
                </a:solidFill>
                <a:latin typeface="Source Sans 3"/>
              </a:endParaRPr>
            </a:p>
          </p:txBody>
        </p:sp>
        <p:sp>
          <p:nvSpPr>
            <p:cNvPr id="199" name="Industry">
              <a:extLst>
                <a:ext uri="{FF2B5EF4-FFF2-40B4-BE49-F238E27FC236}">
                  <a16:creationId xmlns:a16="http://schemas.microsoft.com/office/drawing/2014/main" id="{29ADE548-8C05-763B-E3FC-6EB5B420A441}"/>
                </a:ext>
              </a:extLst>
            </p:cNvPr>
            <p:cNvSpPr txBox="1">
              <a:spLocks/>
            </p:cNvSpPr>
            <p:nvPr/>
          </p:nvSpPr>
          <p:spPr>
            <a:xfrm>
              <a:off x="5223681" y="4650354"/>
              <a:ext cx="1744641" cy="256496"/>
            </a:xfrm>
            <a:prstGeom prst="rect">
              <a:avLst/>
            </a:prstGeom>
            <a:ln w="12700">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nchor="ctr">
              <a:no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2798" b="1" spc="0">
                  <a:solidFill>
                    <a:srgbClr val="FFFFFF"/>
                  </a:solidFill>
                  <a:latin typeface="Source Sans 3"/>
                  <a:ea typeface="+mj-ea"/>
                </a:rPr>
                <a:t>Secure</a:t>
              </a:r>
            </a:p>
          </p:txBody>
        </p:sp>
        <p:sp>
          <p:nvSpPr>
            <p:cNvPr id="81" name="Trapezoid 80">
              <a:extLst>
                <a:ext uri="{FF2B5EF4-FFF2-40B4-BE49-F238E27FC236}">
                  <a16:creationId xmlns:a16="http://schemas.microsoft.com/office/drawing/2014/main" id="{77571350-C320-EB04-90DA-6167971DEFF3}"/>
                </a:ext>
              </a:extLst>
            </p:cNvPr>
            <p:cNvSpPr>
              <a:spLocks/>
            </p:cNvSpPr>
            <p:nvPr/>
          </p:nvSpPr>
          <p:spPr>
            <a:xfrm rot="10800000">
              <a:off x="2055892" y="4756442"/>
              <a:ext cx="2369602" cy="335698"/>
            </a:xfrm>
            <a:prstGeom prst="trapezoid">
              <a:avLst>
                <a:gd name="adj" fmla="val 195189"/>
              </a:avLst>
            </a:prstGeom>
            <a:gradFill>
              <a:gsLst>
                <a:gs pos="0">
                  <a:schemeClr val="accent1">
                    <a:alpha val="26000"/>
                  </a:schemeClr>
                </a:gs>
                <a:gs pos="77000">
                  <a:schemeClr val="accent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a:defRPr/>
              </a:pPr>
              <a:endParaRPr lang="en-US" sz="1600">
                <a:solidFill>
                  <a:srgbClr val="000000"/>
                </a:solidFill>
                <a:latin typeface="Source Sans 3"/>
              </a:endParaRPr>
            </a:p>
          </p:txBody>
        </p:sp>
        <p:sp>
          <p:nvSpPr>
            <p:cNvPr id="73" name="Rounded Rectangle 20">
              <a:extLst>
                <a:ext uri="{FF2B5EF4-FFF2-40B4-BE49-F238E27FC236}">
                  <a16:creationId xmlns:a16="http://schemas.microsoft.com/office/drawing/2014/main" id="{35D45234-3A59-C03E-7D93-FF3A9F64F592}"/>
                </a:ext>
                <a:ext uri="{C183D7F6-B498-43B3-948B-1728B52AA6E4}">
                  <adec:decorative xmlns:adec="http://schemas.microsoft.com/office/drawing/2017/decorative" val="1"/>
                </a:ext>
              </a:extLst>
            </p:cNvPr>
            <p:cNvSpPr>
              <a:spLocks/>
            </p:cNvSpPr>
            <p:nvPr/>
          </p:nvSpPr>
          <p:spPr>
            <a:xfrm>
              <a:off x="2710423" y="5002441"/>
              <a:ext cx="1060538" cy="187254"/>
            </a:xfrm>
            <a:prstGeom prst="roundRect">
              <a:avLst>
                <a:gd name="adj" fmla="val 50000"/>
              </a:avLst>
            </a:prstGeom>
            <a:gradFill>
              <a:gsLst>
                <a:gs pos="0">
                  <a:schemeClr val="accent2">
                    <a:lumMod val="90000"/>
                  </a:schemeClr>
                </a:gs>
                <a:gs pos="100000">
                  <a:schemeClr val="accent2"/>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noAutofit/>
            </a:bodyPr>
            <a:lstStyle/>
            <a:p>
              <a:pPr algn="ctr" defTabSz="914126">
                <a:defRPr/>
              </a:pPr>
              <a:r>
                <a:rPr lang="en-US" sz="800" b="1">
                  <a:solidFill>
                    <a:srgbClr val="000000"/>
                  </a:solidFill>
                  <a:latin typeface="Source Sans 3" panose="020B0504040101010104" pitchFamily="34" charset="77"/>
                </a:rPr>
                <a:t>AI Control Tower</a:t>
              </a:r>
            </a:p>
          </p:txBody>
        </p:sp>
        <p:grpSp>
          <p:nvGrpSpPr>
            <p:cNvPr id="59" name="Group 58">
              <a:extLst>
                <a:ext uri="{FF2B5EF4-FFF2-40B4-BE49-F238E27FC236}">
                  <a16:creationId xmlns:a16="http://schemas.microsoft.com/office/drawing/2014/main" id="{FB9DF541-4375-7B1C-4E0B-80F074C5CBBD}"/>
                </a:ext>
              </a:extLst>
            </p:cNvPr>
            <p:cNvGrpSpPr>
              <a:grpSpLocks/>
            </p:cNvGrpSpPr>
            <p:nvPr/>
          </p:nvGrpSpPr>
          <p:grpSpPr>
            <a:xfrm>
              <a:off x="2279795" y="4693385"/>
              <a:ext cx="1925146" cy="256496"/>
              <a:chOff x="2268573" y="4965613"/>
              <a:chExt cx="1925146" cy="256496"/>
            </a:xfrm>
          </p:grpSpPr>
          <p:sp>
            <p:nvSpPr>
              <p:cNvPr id="301" name="Industry">
                <a:extLst>
                  <a:ext uri="{FF2B5EF4-FFF2-40B4-BE49-F238E27FC236}">
                    <a16:creationId xmlns:a16="http://schemas.microsoft.com/office/drawing/2014/main" id="{757153B2-2143-87BB-B13E-F73BAF3E7C2A}"/>
                  </a:ext>
                </a:extLst>
              </p:cNvPr>
              <p:cNvSpPr txBox="1">
                <a:spLocks/>
              </p:cNvSpPr>
              <p:nvPr/>
            </p:nvSpPr>
            <p:spPr>
              <a:xfrm>
                <a:off x="3464695" y="4965613"/>
                <a:ext cx="205558" cy="256496"/>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no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spc="0">
                    <a:solidFill>
                      <a:srgbClr val="FFFFFF"/>
                    </a:solidFill>
                    <a:latin typeface="Source Sans 3" panose="020B0404040101010104" pitchFamily="34" charset="77"/>
                    <a:ea typeface="+mn-ea"/>
                    <a:cs typeface="+mn-cs"/>
                  </a:rPr>
                  <a:t>Risk</a:t>
                </a:r>
              </a:p>
            </p:txBody>
          </p:sp>
          <p:sp>
            <p:nvSpPr>
              <p:cNvPr id="303" name="Industry">
                <a:extLst>
                  <a:ext uri="{FF2B5EF4-FFF2-40B4-BE49-F238E27FC236}">
                    <a16:creationId xmlns:a16="http://schemas.microsoft.com/office/drawing/2014/main" id="{84F8075F-BE29-614C-1402-0CBFC929D529}"/>
                  </a:ext>
                </a:extLst>
              </p:cNvPr>
              <p:cNvSpPr txBox="1">
                <a:spLocks/>
              </p:cNvSpPr>
              <p:nvPr/>
            </p:nvSpPr>
            <p:spPr>
              <a:xfrm>
                <a:off x="3918875" y="4965613"/>
                <a:ext cx="274844" cy="256496"/>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no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spc="0">
                    <a:solidFill>
                      <a:srgbClr val="FFFFFF"/>
                    </a:solidFill>
                    <a:latin typeface="Source Sans 3" panose="020B0404040101010104" pitchFamily="34" charset="77"/>
                    <a:ea typeface="+mn-ea"/>
                    <a:cs typeface="+mn-cs"/>
                  </a:rPr>
                  <a:t>Value</a:t>
                </a:r>
              </a:p>
            </p:txBody>
          </p:sp>
          <p:sp>
            <p:nvSpPr>
              <p:cNvPr id="311" name="Industry">
                <a:extLst>
                  <a:ext uri="{FF2B5EF4-FFF2-40B4-BE49-F238E27FC236}">
                    <a16:creationId xmlns:a16="http://schemas.microsoft.com/office/drawing/2014/main" id="{AF9F1A8A-34C6-7A44-6CFA-7D977033C1AE}"/>
                  </a:ext>
                </a:extLst>
              </p:cNvPr>
              <p:cNvSpPr txBox="1">
                <a:spLocks/>
              </p:cNvSpPr>
              <p:nvPr/>
            </p:nvSpPr>
            <p:spPr>
              <a:xfrm>
                <a:off x="2268573" y="4965613"/>
                <a:ext cx="947500" cy="256496"/>
              </a:xfrm>
              <a:prstGeom prst="rect">
                <a:avLst/>
              </a:prstGeom>
              <a:ln w="12700">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no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spc="0">
                    <a:solidFill>
                      <a:srgbClr val="FFFFFF"/>
                    </a:solidFill>
                    <a:latin typeface="Source Sans 3" panose="020B0404040101010104" pitchFamily="34" charset="77"/>
                    <a:ea typeface="+mn-ea"/>
                    <a:cs typeface="+mn-cs"/>
                  </a:rPr>
                  <a:t>Identity &amp; Discovery</a:t>
                </a:r>
              </a:p>
            </p:txBody>
          </p:sp>
        </p:grpSp>
        <p:cxnSp>
          <p:nvCxnSpPr>
            <p:cNvPr id="19" name="Straight Connector 18">
              <a:extLst>
                <a:ext uri="{FF2B5EF4-FFF2-40B4-BE49-F238E27FC236}">
                  <a16:creationId xmlns:a16="http://schemas.microsoft.com/office/drawing/2014/main" id="{EF6B4FF1-EFC0-A7A6-8DD8-9BDF0C045196}"/>
                </a:ext>
              </a:extLst>
            </p:cNvPr>
            <p:cNvCxnSpPr>
              <a:cxnSpLocks/>
            </p:cNvCxnSpPr>
            <p:nvPr/>
          </p:nvCxnSpPr>
          <p:spPr>
            <a:xfrm>
              <a:off x="3770961" y="5094823"/>
              <a:ext cx="1222943" cy="0"/>
            </a:xfrm>
            <a:prstGeom prst="line">
              <a:avLst/>
            </a:prstGeom>
            <a:ln>
              <a:solidFill>
                <a:srgbClr val="C0A6FF">
                  <a:alpha val="25000"/>
                </a:srgbClr>
              </a:solidFill>
            </a:ln>
          </p:spPr>
          <p:style>
            <a:lnRef idx="1">
              <a:schemeClr val="accent1"/>
            </a:lnRef>
            <a:fillRef idx="0">
              <a:schemeClr val="accent1"/>
            </a:fillRef>
            <a:effectRef idx="0">
              <a:schemeClr val="accent1"/>
            </a:effectRef>
            <a:fontRef idx="minor">
              <a:schemeClr val="tx1"/>
            </a:fontRef>
          </p:style>
        </p:cxnSp>
        <p:sp>
          <p:nvSpPr>
            <p:cNvPr id="52" name="Rounded Rectangle 20">
              <a:extLst>
                <a:ext uri="{FF2B5EF4-FFF2-40B4-BE49-F238E27FC236}">
                  <a16:creationId xmlns:a16="http://schemas.microsoft.com/office/drawing/2014/main" id="{AE1979F8-A06F-46A8-BE35-622A2B1EECDF}"/>
                </a:ext>
                <a:ext uri="{C183D7F6-B498-43B3-948B-1728B52AA6E4}">
                  <adec:decorative xmlns:adec="http://schemas.microsoft.com/office/drawing/2017/decorative" val="1"/>
                </a:ext>
              </a:extLst>
            </p:cNvPr>
            <p:cNvSpPr>
              <a:spLocks/>
            </p:cNvSpPr>
            <p:nvPr/>
          </p:nvSpPr>
          <p:spPr>
            <a:xfrm>
              <a:off x="4997003" y="4960133"/>
              <a:ext cx="2197994"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137124" rtlCol="0" anchor="ctr"/>
            <a:lstStyle/>
            <a:p>
              <a:pPr algn="r" defTabSz="456766">
                <a:defRPr/>
              </a:pPr>
              <a:r>
                <a:rPr lang="en-US" sz="1050" b="1">
                  <a:solidFill>
                    <a:srgbClr val="FFFFFF"/>
                  </a:solidFill>
                  <a:latin typeface="Source Sans 3" panose="020B0504040101010104" pitchFamily="34" charset="77"/>
                </a:rPr>
                <a:t>System, Identity, Asset</a:t>
              </a:r>
            </a:p>
          </p:txBody>
        </p:sp>
        <p:grpSp>
          <p:nvGrpSpPr>
            <p:cNvPr id="18" name="Group 17">
              <a:extLst>
                <a:ext uri="{FF2B5EF4-FFF2-40B4-BE49-F238E27FC236}">
                  <a16:creationId xmlns:a16="http://schemas.microsoft.com/office/drawing/2014/main" id="{EF732BC0-482C-27BD-A262-F28E567785BB}"/>
                </a:ext>
              </a:extLst>
            </p:cNvPr>
            <p:cNvGrpSpPr>
              <a:grpSpLocks/>
            </p:cNvGrpSpPr>
            <p:nvPr/>
          </p:nvGrpSpPr>
          <p:grpSpPr>
            <a:xfrm>
              <a:off x="5091300" y="5034916"/>
              <a:ext cx="366052" cy="122304"/>
              <a:chOff x="9374775" y="5319260"/>
              <a:chExt cx="366052" cy="122304"/>
            </a:xfrm>
          </p:grpSpPr>
          <p:sp>
            <p:nvSpPr>
              <p:cNvPr id="13" name="Rounded Rectangle 54">
                <a:extLst>
                  <a:ext uri="{FF2B5EF4-FFF2-40B4-BE49-F238E27FC236}">
                    <a16:creationId xmlns:a16="http://schemas.microsoft.com/office/drawing/2014/main" id="{73D2B9E6-E829-DEFC-0783-C4E73700082D}"/>
                  </a:ext>
                </a:extLst>
              </p:cNvPr>
              <p:cNvSpPr>
                <a:spLocks/>
              </p:cNvSpPr>
              <p:nvPr/>
            </p:nvSpPr>
            <p:spPr>
              <a:xfrm>
                <a:off x="93747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14" name="Industry">
                <a:extLst>
                  <a:ext uri="{FF2B5EF4-FFF2-40B4-BE49-F238E27FC236}">
                    <a16:creationId xmlns:a16="http://schemas.microsoft.com/office/drawing/2014/main" id="{B163F4B1-3C0A-585D-A646-6610C0B4BA2B}"/>
                  </a:ext>
                </a:extLst>
              </p:cNvPr>
              <p:cNvSpPr txBox="1">
                <a:spLocks/>
              </p:cNvSpPr>
              <p:nvPr/>
            </p:nvSpPr>
            <p:spPr>
              <a:xfrm>
                <a:off x="94483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cxnSp>
          <p:nvCxnSpPr>
            <p:cNvPr id="33" name="Straight Connector 32">
              <a:extLst>
                <a:ext uri="{FF2B5EF4-FFF2-40B4-BE49-F238E27FC236}">
                  <a16:creationId xmlns:a16="http://schemas.microsoft.com/office/drawing/2014/main" id="{D0597028-731F-1A6C-92EF-E82E2EE304E3}"/>
                </a:ext>
              </a:extLst>
            </p:cNvPr>
            <p:cNvCxnSpPr>
              <a:cxnSpLocks/>
            </p:cNvCxnSpPr>
            <p:nvPr/>
          </p:nvCxnSpPr>
          <p:spPr>
            <a:xfrm>
              <a:off x="7194997" y="5094823"/>
              <a:ext cx="1220244" cy="0"/>
            </a:xfrm>
            <a:prstGeom prst="line">
              <a:avLst/>
            </a:prstGeom>
            <a:ln>
              <a:solidFill>
                <a:srgbClr val="C0A6FF">
                  <a:alpha val="25000"/>
                </a:srgbClr>
              </a:solidFill>
            </a:ln>
          </p:spPr>
          <p:style>
            <a:lnRef idx="1">
              <a:schemeClr val="accent1"/>
            </a:lnRef>
            <a:fillRef idx="0">
              <a:schemeClr val="accent1"/>
            </a:fillRef>
            <a:effectRef idx="0">
              <a:schemeClr val="accent1"/>
            </a:effectRef>
            <a:fontRef idx="minor">
              <a:schemeClr val="tx1"/>
            </a:fontRef>
          </p:style>
        </p:cxnSp>
        <p:sp>
          <p:nvSpPr>
            <p:cNvPr id="91" name="Trapezoid 90">
              <a:extLst>
                <a:ext uri="{FF2B5EF4-FFF2-40B4-BE49-F238E27FC236}">
                  <a16:creationId xmlns:a16="http://schemas.microsoft.com/office/drawing/2014/main" id="{32CE457A-D647-B20C-B553-E9FC35758590}"/>
                </a:ext>
              </a:extLst>
            </p:cNvPr>
            <p:cNvSpPr>
              <a:spLocks/>
            </p:cNvSpPr>
            <p:nvPr/>
          </p:nvSpPr>
          <p:spPr>
            <a:xfrm rot="10800000">
              <a:off x="7755234" y="4756442"/>
              <a:ext cx="2369602" cy="335698"/>
            </a:xfrm>
            <a:prstGeom prst="trapezoid">
              <a:avLst>
                <a:gd name="adj" fmla="val 195189"/>
              </a:avLst>
            </a:prstGeom>
            <a:gradFill>
              <a:gsLst>
                <a:gs pos="0">
                  <a:schemeClr val="accent1">
                    <a:alpha val="26000"/>
                  </a:schemeClr>
                </a:gs>
                <a:gs pos="77000">
                  <a:schemeClr val="accent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a:defRPr/>
              </a:pPr>
              <a:endParaRPr lang="en-US" sz="1600">
                <a:solidFill>
                  <a:srgbClr val="000000"/>
                </a:solidFill>
                <a:latin typeface="Source Sans 3"/>
              </a:endParaRPr>
            </a:p>
          </p:txBody>
        </p:sp>
        <p:grpSp>
          <p:nvGrpSpPr>
            <p:cNvPr id="60" name="Group 59">
              <a:extLst>
                <a:ext uri="{FF2B5EF4-FFF2-40B4-BE49-F238E27FC236}">
                  <a16:creationId xmlns:a16="http://schemas.microsoft.com/office/drawing/2014/main" id="{18530DBD-0C7D-186D-4118-42DB4FDBF60E}"/>
                </a:ext>
              </a:extLst>
            </p:cNvPr>
            <p:cNvGrpSpPr>
              <a:grpSpLocks/>
            </p:cNvGrpSpPr>
            <p:nvPr/>
          </p:nvGrpSpPr>
          <p:grpSpPr>
            <a:xfrm>
              <a:off x="8293567" y="4693385"/>
              <a:ext cx="1355622" cy="256496"/>
              <a:chOff x="8571324" y="4965613"/>
              <a:chExt cx="1355622" cy="256496"/>
            </a:xfrm>
          </p:grpSpPr>
          <p:sp>
            <p:nvSpPr>
              <p:cNvPr id="9" name="Industry">
                <a:extLst>
                  <a:ext uri="{FF2B5EF4-FFF2-40B4-BE49-F238E27FC236}">
                    <a16:creationId xmlns:a16="http://schemas.microsoft.com/office/drawing/2014/main" id="{D3A08292-C8C1-A610-B342-97C1819ECABC}"/>
                  </a:ext>
                </a:extLst>
              </p:cNvPr>
              <p:cNvSpPr txBox="1">
                <a:spLocks/>
              </p:cNvSpPr>
              <p:nvPr/>
            </p:nvSpPr>
            <p:spPr>
              <a:xfrm>
                <a:off x="8571324" y="4965613"/>
                <a:ext cx="245880" cy="256496"/>
              </a:xfrm>
              <a:prstGeom prst="rect">
                <a:avLst/>
              </a:prstGeom>
              <a:ln w="12700">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nchor="ctr">
                <a:no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spc="0">
                    <a:solidFill>
                      <a:srgbClr val="FFFFFF"/>
                    </a:solidFill>
                    <a:latin typeface="Source Sans 3" panose="020B0404040101010104" pitchFamily="34" charset="77"/>
                    <a:ea typeface="+mn-ea"/>
                    <a:cs typeface="+mn-cs"/>
                  </a:rPr>
                  <a:t>Vault</a:t>
                </a:r>
              </a:p>
            </p:txBody>
          </p:sp>
          <p:sp>
            <p:nvSpPr>
              <p:cNvPr id="10" name="Industry">
                <a:extLst>
                  <a:ext uri="{FF2B5EF4-FFF2-40B4-BE49-F238E27FC236}">
                    <a16:creationId xmlns:a16="http://schemas.microsoft.com/office/drawing/2014/main" id="{D975D03B-79BB-F019-0690-7C0BE07F0647}"/>
                  </a:ext>
                </a:extLst>
              </p:cNvPr>
              <p:cNvSpPr txBox="1">
                <a:spLocks/>
              </p:cNvSpPr>
              <p:nvPr/>
            </p:nvSpPr>
            <p:spPr>
              <a:xfrm>
                <a:off x="9497254" y="4965613"/>
                <a:ext cx="429692" cy="256496"/>
              </a:xfrm>
              <a:prstGeom prst="rect">
                <a:avLst/>
              </a:prstGeom>
              <a:ln w="12700">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nchor="ctr">
                <a:no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spc="0">
                    <a:solidFill>
                      <a:srgbClr val="FFFFFF"/>
                    </a:solidFill>
                    <a:latin typeface="Source Sans 3" panose="020B0404040101010104" pitchFamily="34" charset="77"/>
                    <a:ea typeface="+mn-ea"/>
                    <a:cs typeface="+mn-cs"/>
                  </a:rPr>
                  <a:t>Guardian</a:t>
                </a:r>
              </a:p>
            </p:txBody>
          </p:sp>
        </p:grpSp>
        <p:sp>
          <p:nvSpPr>
            <p:cNvPr id="62" name="Rounded Rectangle 20">
              <a:extLst>
                <a:ext uri="{FF2B5EF4-FFF2-40B4-BE49-F238E27FC236}">
                  <a16:creationId xmlns:a16="http://schemas.microsoft.com/office/drawing/2014/main" id="{886399D6-6FE2-35AB-E3EB-A7D9F5FBBB71}"/>
                </a:ext>
                <a:ext uri="{C183D7F6-B498-43B3-948B-1728B52AA6E4}">
                  <adec:decorative xmlns:adec="http://schemas.microsoft.com/office/drawing/2017/decorative" val="1"/>
                </a:ext>
              </a:extLst>
            </p:cNvPr>
            <p:cNvSpPr>
              <a:spLocks/>
            </p:cNvSpPr>
            <p:nvPr/>
          </p:nvSpPr>
          <p:spPr>
            <a:xfrm>
              <a:off x="8421038" y="5002441"/>
              <a:ext cx="1060538" cy="187254"/>
            </a:xfrm>
            <a:prstGeom prst="roundRect">
              <a:avLst>
                <a:gd name="adj" fmla="val 50000"/>
              </a:avLst>
            </a:prstGeom>
            <a:gradFill>
              <a:gsLst>
                <a:gs pos="100000">
                  <a:schemeClr val="accent2">
                    <a:lumMod val="90000"/>
                  </a:schemeClr>
                </a:gs>
                <a:gs pos="0">
                  <a:schemeClr val="accent2"/>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noAutofit/>
            </a:bodyPr>
            <a:lstStyle/>
            <a:p>
              <a:pPr algn="ctr" defTabSz="914126">
                <a:defRPr/>
              </a:pPr>
              <a:r>
                <a:rPr lang="en-US" sz="800" b="1">
                  <a:solidFill>
                    <a:srgbClr val="000000"/>
                  </a:solidFill>
                  <a:latin typeface="Source Sans 3" panose="020B0504040101010104" pitchFamily="34" charset="77"/>
                </a:rPr>
                <a:t>Platform Security</a:t>
              </a:r>
            </a:p>
          </p:txBody>
        </p:sp>
      </p:grpSp>
      <p:grpSp>
        <p:nvGrpSpPr>
          <p:cNvPr id="20" name="Group 19">
            <a:extLst>
              <a:ext uri="{FF2B5EF4-FFF2-40B4-BE49-F238E27FC236}">
                <a16:creationId xmlns:a16="http://schemas.microsoft.com/office/drawing/2014/main" id="{C774584B-717F-843C-7DF1-83DDA3D1F915}"/>
              </a:ext>
            </a:extLst>
          </p:cNvPr>
          <p:cNvGrpSpPr>
            <a:grpSpLocks/>
          </p:cNvGrpSpPr>
          <p:nvPr/>
        </p:nvGrpSpPr>
        <p:grpSpPr>
          <a:xfrm>
            <a:off x="1568683" y="5375256"/>
            <a:ext cx="9051460" cy="406771"/>
            <a:chOff x="1569092" y="5375762"/>
            <a:chExt cx="9053818" cy="406877"/>
          </a:xfrm>
        </p:grpSpPr>
        <p:sp>
          <p:nvSpPr>
            <p:cNvPr id="21" name="Rounded Rectangle 20">
              <a:extLst>
                <a:ext uri="{FF2B5EF4-FFF2-40B4-BE49-F238E27FC236}">
                  <a16:creationId xmlns:a16="http://schemas.microsoft.com/office/drawing/2014/main" id="{BD76AB57-F2C9-DDCA-AB35-D0686865A88D}"/>
                </a:ext>
              </a:extLst>
            </p:cNvPr>
            <p:cNvSpPr>
              <a:spLocks/>
            </p:cNvSpPr>
            <p:nvPr/>
          </p:nvSpPr>
          <p:spPr>
            <a:xfrm>
              <a:off x="1569092" y="5375762"/>
              <a:ext cx="9053818" cy="406877"/>
            </a:xfrm>
            <a:prstGeom prst="roundRect">
              <a:avLst>
                <a:gd name="adj" fmla="val 5000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w="1016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pic>
          <p:nvPicPr>
            <p:cNvPr id="22" name="Graphic 21">
              <a:extLst>
                <a:ext uri="{FF2B5EF4-FFF2-40B4-BE49-F238E27FC236}">
                  <a16:creationId xmlns:a16="http://schemas.microsoft.com/office/drawing/2014/main" id="{4E58E140-F141-9D8A-CEA8-9B8C269C62A7}"/>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2991189" y="5524707"/>
              <a:ext cx="254809" cy="151990"/>
            </a:xfrm>
            <a:prstGeom prst="rect">
              <a:avLst/>
            </a:prstGeom>
          </p:spPr>
        </p:pic>
        <p:pic>
          <p:nvPicPr>
            <p:cNvPr id="63" name="Graphic 62">
              <a:extLst>
                <a:ext uri="{FF2B5EF4-FFF2-40B4-BE49-F238E27FC236}">
                  <a16:creationId xmlns:a16="http://schemas.microsoft.com/office/drawing/2014/main" id="{508A660A-2C29-3C5E-0986-0795DD1AE616}"/>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7582771" y="5513956"/>
              <a:ext cx="232164" cy="162742"/>
            </a:xfrm>
            <a:prstGeom prst="rect">
              <a:avLst/>
            </a:prstGeom>
          </p:spPr>
        </p:pic>
        <p:pic>
          <p:nvPicPr>
            <p:cNvPr id="80" name="Picture 79">
              <a:extLst>
                <a:ext uri="{FF2B5EF4-FFF2-40B4-BE49-F238E27FC236}">
                  <a16:creationId xmlns:a16="http://schemas.microsoft.com/office/drawing/2014/main" id="{B705E938-EB75-C21F-8E49-72B54E282175}"/>
                </a:ext>
              </a:extLst>
            </p:cNvPr>
            <p:cNvPicPr>
              <a:picLocks noChangeAspect="1"/>
            </p:cNvPicPr>
            <p:nvPr/>
          </p:nvPicPr>
          <p:blipFill>
            <a:blip r:embed="rId43" cstate="print">
              <a:extLst>
                <a:ext uri="{28A0092B-C50C-407E-A947-70E740481C1C}">
                  <a14:useLocalDpi xmlns:a14="http://schemas.microsoft.com/office/drawing/2010/main"/>
                </a:ext>
              </a:extLst>
            </a:blip>
            <a:stretch>
              <a:fillRect/>
            </a:stretch>
          </p:blipFill>
          <p:spPr>
            <a:xfrm>
              <a:off x="8104853" y="5505750"/>
              <a:ext cx="419705" cy="167934"/>
            </a:xfrm>
            <a:prstGeom prst="rect">
              <a:avLst/>
            </a:prstGeom>
          </p:spPr>
        </p:pic>
        <p:pic>
          <p:nvPicPr>
            <p:cNvPr id="84" name="Picture 83">
              <a:extLst>
                <a:ext uri="{FF2B5EF4-FFF2-40B4-BE49-F238E27FC236}">
                  <a16:creationId xmlns:a16="http://schemas.microsoft.com/office/drawing/2014/main" id="{EB48B0A9-9C83-599E-DAE5-C4D2AF0D8E89}"/>
                </a:ext>
              </a:extLst>
            </p:cNvPr>
            <p:cNvPicPr>
              <a:picLocks noChangeAspect="1"/>
            </p:cNvPicPr>
            <p:nvPr/>
          </p:nvPicPr>
          <p:blipFill>
            <a:blip r:embed="rId44" cstate="print">
              <a:extLst>
                <a:ext uri="{28A0092B-C50C-407E-A947-70E740481C1C}">
                  <a14:useLocalDpi xmlns:a14="http://schemas.microsoft.com/office/drawing/2010/main"/>
                </a:ext>
              </a:extLst>
            </a:blip>
            <a:stretch>
              <a:fillRect/>
            </a:stretch>
          </p:blipFill>
          <p:spPr>
            <a:xfrm>
              <a:off x="3628525" y="5474214"/>
              <a:ext cx="224591" cy="224589"/>
            </a:xfrm>
            <a:prstGeom prst="rect">
              <a:avLst/>
            </a:prstGeom>
          </p:spPr>
        </p:pic>
        <p:pic>
          <p:nvPicPr>
            <p:cNvPr id="85" name="Graphic 84">
              <a:extLst>
                <a:ext uri="{FF2B5EF4-FFF2-40B4-BE49-F238E27FC236}">
                  <a16:creationId xmlns:a16="http://schemas.microsoft.com/office/drawing/2014/main" id="{5242747F-50EA-EF9A-2BE1-2135E11093C3}"/>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235642" y="5486663"/>
              <a:ext cx="228082" cy="228082"/>
            </a:xfrm>
            <a:prstGeom prst="rect">
              <a:avLst/>
            </a:prstGeom>
          </p:spPr>
        </p:pic>
        <p:pic>
          <p:nvPicPr>
            <p:cNvPr id="86" name="Graphic 85">
              <a:extLst>
                <a:ext uri="{FF2B5EF4-FFF2-40B4-BE49-F238E27FC236}">
                  <a16:creationId xmlns:a16="http://schemas.microsoft.com/office/drawing/2014/main" id="{2F672C23-AB89-D1E0-A36F-C48D5BC3774F}"/>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6399284" y="5524706"/>
              <a:ext cx="285051" cy="141246"/>
            </a:xfrm>
            <a:prstGeom prst="rect">
              <a:avLst/>
            </a:prstGeom>
          </p:spPr>
        </p:pic>
        <p:pic>
          <p:nvPicPr>
            <p:cNvPr id="87" name="Picture 86">
              <a:extLst>
                <a:ext uri="{FF2B5EF4-FFF2-40B4-BE49-F238E27FC236}">
                  <a16:creationId xmlns:a16="http://schemas.microsoft.com/office/drawing/2014/main" id="{6E8396D9-DA6F-6A1F-E53F-45AB4A84BAE4}"/>
                </a:ext>
              </a:extLst>
            </p:cNvPr>
            <p:cNvPicPr>
              <a:picLocks noChangeAspect="1"/>
            </p:cNvPicPr>
            <p:nvPr/>
          </p:nvPicPr>
          <p:blipFill>
            <a:blip r:embed="rId47" cstate="print">
              <a:extLst>
                <a:ext uri="{28A0092B-C50C-407E-A947-70E740481C1C}">
                  <a14:useLocalDpi xmlns:a14="http://schemas.microsoft.com/office/drawing/2010/main"/>
                </a:ext>
              </a:extLst>
            </a:blip>
            <a:stretch>
              <a:fillRect/>
            </a:stretch>
          </p:blipFill>
          <p:spPr>
            <a:xfrm>
              <a:off x="6974254" y="5505722"/>
              <a:ext cx="318598" cy="179211"/>
            </a:xfrm>
            <a:prstGeom prst="rect">
              <a:avLst/>
            </a:prstGeom>
          </p:spPr>
        </p:pic>
        <p:pic>
          <p:nvPicPr>
            <p:cNvPr id="88" name="Group 43" descr="Group 43">
              <a:extLst>
                <a:ext uri="{FF2B5EF4-FFF2-40B4-BE49-F238E27FC236}">
                  <a16:creationId xmlns:a16="http://schemas.microsoft.com/office/drawing/2014/main" id="{B2501655-82E3-9BCC-39CB-DEB81988AE90}"/>
                </a:ext>
              </a:extLst>
            </p:cNvPr>
            <p:cNvPicPr>
              <a:picLocks/>
            </p:cNvPicPr>
            <p:nvPr/>
          </p:nvPicPr>
          <p:blipFill>
            <a:blip r:embed="rId48" cstate="print">
              <a:extLst>
                <a:ext uri="{28A0092B-C50C-407E-A947-70E740481C1C}">
                  <a14:useLocalDpi xmlns:a14="http://schemas.microsoft.com/office/drawing/2010/main"/>
                </a:ext>
              </a:extLst>
            </a:blip>
            <a:srcRect/>
            <a:stretch>
              <a:fillRect/>
            </a:stretch>
          </p:blipFill>
          <p:spPr>
            <a:xfrm>
              <a:off x="4840219" y="5420722"/>
              <a:ext cx="974428" cy="315682"/>
            </a:xfrm>
            <a:prstGeom prst="rect">
              <a:avLst/>
            </a:prstGeom>
            <a:ln w="12700" cap="flat">
              <a:noFill/>
              <a:miter lim="400000"/>
            </a:ln>
            <a:effectLst/>
          </p:spPr>
        </p:pic>
        <p:cxnSp>
          <p:nvCxnSpPr>
            <p:cNvPr id="89" name="Straight Connector 88">
              <a:extLst>
                <a:ext uri="{FF2B5EF4-FFF2-40B4-BE49-F238E27FC236}">
                  <a16:creationId xmlns:a16="http://schemas.microsoft.com/office/drawing/2014/main" id="{2863E5F5-3975-5740-03B1-B4E423E8AD3D}"/>
                </a:ext>
              </a:extLst>
            </p:cNvPr>
            <p:cNvCxnSpPr>
              <a:cxnSpLocks/>
            </p:cNvCxnSpPr>
            <p:nvPr/>
          </p:nvCxnSpPr>
          <p:spPr>
            <a:xfrm>
              <a:off x="6096001" y="5375762"/>
              <a:ext cx="0" cy="406877"/>
            </a:xfrm>
            <a:prstGeom prst="line">
              <a:avLst/>
            </a:prstGeom>
            <a:ln>
              <a:solidFill>
                <a:schemeClr val="bg1">
                  <a:alpha val="15000"/>
                </a:schemeClr>
              </a:solidFill>
            </a:ln>
          </p:spPr>
          <p:style>
            <a:lnRef idx="1">
              <a:schemeClr val="accent1"/>
            </a:lnRef>
            <a:fillRef idx="0">
              <a:schemeClr val="accent1"/>
            </a:fillRef>
            <a:effectRef idx="0">
              <a:schemeClr val="accent1"/>
            </a:effectRef>
            <a:fontRef idx="minor">
              <a:schemeClr val="tx1"/>
            </a:fontRef>
          </p:style>
        </p:cxnSp>
        <p:sp>
          <p:nvSpPr>
            <p:cNvPr id="92" name="Rounded Rectangle 20">
              <a:extLst>
                <a:ext uri="{FF2B5EF4-FFF2-40B4-BE49-F238E27FC236}">
                  <a16:creationId xmlns:a16="http://schemas.microsoft.com/office/drawing/2014/main" id="{37829AD8-44A2-B0B4-3476-53D5F7EDD529}"/>
                </a:ext>
                <a:ext uri="{C183D7F6-B498-43B3-948B-1728B52AA6E4}">
                  <adec:decorative xmlns:adec="http://schemas.microsoft.com/office/drawing/2017/decorative" val="1"/>
                </a:ext>
              </a:extLst>
            </p:cNvPr>
            <p:cNvSpPr>
              <a:spLocks/>
            </p:cNvSpPr>
            <p:nvPr/>
          </p:nvSpPr>
          <p:spPr>
            <a:xfrm>
              <a:off x="1652926" y="5445125"/>
              <a:ext cx="1036615" cy="278548"/>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91416" rtlCol="0" anchor="ctr"/>
            <a:lstStyle/>
            <a:p>
              <a:pPr algn="r" defTabSz="456766">
                <a:defRPr/>
              </a:pPr>
              <a:r>
                <a:rPr lang="en-US" sz="1050" b="1">
                  <a:solidFill>
                    <a:srgbClr val="FFFFFF"/>
                  </a:solidFill>
                  <a:latin typeface="Source Sans 3" panose="020B0504040101010104" pitchFamily="34" charset="77"/>
                </a:rPr>
                <a:t>Cloud</a:t>
              </a:r>
            </a:p>
          </p:txBody>
        </p:sp>
        <p:sp>
          <p:nvSpPr>
            <p:cNvPr id="93" name="Rounded Rectangle 20">
              <a:extLst>
                <a:ext uri="{FF2B5EF4-FFF2-40B4-BE49-F238E27FC236}">
                  <a16:creationId xmlns:a16="http://schemas.microsoft.com/office/drawing/2014/main" id="{DA68E764-49A2-4336-3973-AFF6EF7BA22E}"/>
                </a:ext>
                <a:ext uri="{C183D7F6-B498-43B3-948B-1728B52AA6E4}">
                  <adec:decorative xmlns:adec="http://schemas.microsoft.com/office/drawing/2017/decorative" val="1"/>
                </a:ext>
              </a:extLst>
            </p:cNvPr>
            <p:cNvSpPr>
              <a:spLocks/>
            </p:cNvSpPr>
            <p:nvPr/>
          </p:nvSpPr>
          <p:spPr>
            <a:xfrm>
              <a:off x="8753341" y="5445125"/>
              <a:ext cx="1779034" cy="278548"/>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91416" rtlCol="0" anchor="ctr"/>
            <a:lstStyle/>
            <a:p>
              <a:pPr algn="r" defTabSz="456766">
                <a:defRPr/>
              </a:pPr>
              <a:r>
                <a:rPr lang="en-US" sz="1050" b="1">
                  <a:solidFill>
                    <a:srgbClr val="FFFFFF"/>
                  </a:solidFill>
                  <a:latin typeface="Source Sans 3" panose="020B0504040101010104" pitchFamily="34" charset="77"/>
                </a:rPr>
                <a:t>System of Record</a:t>
              </a:r>
            </a:p>
          </p:txBody>
        </p:sp>
        <p:grpSp>
          <p:nvGrpSpPr>
            <p:cNvPr id="94" name="Group 93">
              <a:extLst>
                <a:ext uri="{FF2B5EF4-FFF2-40B4-BE49-F238E27FC236}">
                  <a16:creationId xmlns:a16="http://schemas.microsoft.com/office/drawing/2014/main" id="{6B2FD4BE-F4E4-E9D5-3BEA-9BC3594E4727}"/>
                </a:ext>
              </a:extLst>
            </p:cNvPr>
            <p:cNvGrpSpPr>
              <a:grpSpLocks/>
            </p:cNvGrpSpPr>
            <p:nvPr/>
          </p:nvGrpSpPr>
          <p:grpSpPr>
            <a:xfrm>
              <a:off x="1740644" y="5521020"/>
              <a:ext cx="366052" cy="122304"/>
              <a:chOff x="9374775" y="5319260"/>
              <a:chExt cx="366052" cy="122304"/>
            </a:xfrm>
          </p:grpSpPr>
          <p:sp>
            <p:nvSpPr>
              <p:cNvPr id="98" name="Rounded Rectangle 54">
                <a:extLst>
                  <a:ext uri="{FF2B5EF4-FFF2-40B4-BE49-F238E27FC236}">
                    <a16:creationId xmlns:a16="http://schemas.microsoft.com/office/drawing/2014/main" id="{EB8388C2-9C80-2CA3-FDEC-661230DC35B3}"/>
                  </a:ext>
                </a:extLst>
              </p:cNvPr>
              <p:cNvSpPr>
                <a:spLocks/>
              </p:cNvSpPr>
              <p:nvPr/>
            </p:nvSpPr>
            <p:spPr>
              <a:xfrm>
                <a:off x="93747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99" name="Industry">
                <a:extLst>
                  <a:ext uri="{FF2B5EF4-FFF2-40B4-BE49-F238E27FC236}">
                    <a16:creationId xmlns:a16="http://schemas.microsoft.com/office/drawing/2014/main" id="{0BCF3711-2F7E-75D2-B929-13FF2A71ECE0}"/>
                  </a:ext>
                </a:extLst>
              </p:cNvPr>
              <p:cNvSpPr txBox="1">
                <a:spLocks/>
              </p:cNvSpPr>
              <p:nvPr/>
            </p:nvSpPr>
            <p:spPr>
              <a:xfrm>
                <a:off x="94483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grpSp>
          <p:nvGrpSpPr>
            <p:cNvPr id="95" name="Group 94">
              <a:extLst>
                <a:ext uri="{FF2B5EF4-FFF2-40B4-BE49-F238E27FC236}">
                  <a16:creationId xmlns:a16="http://schemas.microsoft.com/office/drawing/2014/main" id="{D60ED264-D6FE-10D5-A988-79903A67009A}"/>
                </a:ext>
              </a:extLst>
            </p:cNvPr>
            <p:cNvGrpSpPr>
              <a:grpSpLocks/>
            </p:cNvGrpSpPr>
            <p:nvPr/>
          </p:nvGrpSpPr>
          <p:grpSpPr>
            <a:xfrm>
              <a:off x="8851804" y="5521020"/>
              <a:ext cx="366052" cy="122304"/>
              <a:chOff x="9374775" y="5319260"/>
              <a:chExt cx="366052" cy="122304"/>
            </a:xfrm>
          </p:grpSpPr>
          <p:sp>
            <p:nvSpPr>
              <p:cNvPr id="96" name="Rounded Rectangle 54">
                <a:extLst>
                  <a:ext uri="{FF2B5EF4-FFF2-40B4-BE49-F238E27FC236}">
                    <a16:creationId xmlns:a16="http://schemas.microsoft.com/office/drawing/2014/main" id="{442AD393-7970-C832-F2C0-55E9A3BFC5B2}"/>
                  </a:ext>
                </a:extLst>
              </p:cNvPr>
              <p:cNvSpPr>
                <a:spLocks/>
              </p:cNvSpPr>
              <p:nvPr/>
            </p:nvSpPr>
            <p:spPr>
              <a:xfrm>
                <a:off x="93747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97" name="Industry">
                <a:extLst>
                  <a:ext uri="{FF2B5EF4-FFF2-40B4-BE49-F238E27FC236}">
                    <a16:creationId xmlns:a16="http://schemas.microsoft.com/office/drawing/2014/main" id="{25EC4B2D-485F-56FB-EF21-E4FCB424B690}"/>
                  </a:ext>
                </a:extLst>
              </p:cNvPr>
              <p:cNvSpPr txBox="1">
                <a:spLocks/>
              </p:cNvSpPr>
              <p:nvPr/>
            </p:nvSpPr>
            <p:spPr>
              <a:xfrm>
                <a:off x="94483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grpSp>
      <p:grpSp>
        <p:nvGrpSpPr>
          <p:cNvPr id="249" name="Group 248">
            <a:extLst>
              <a:ext uri="{FF2B5EF4-FFF2-40B4-BE49-F238E27FC236}">
                <a16:creationId xmlns:a16="http://schemas.microsoft.com/office/drawing/2014/main" id="{6B760939-2892-3C81-AFCD-1D9826CCEC1A}"/>
              </a:ext>
            </a:extLst>
          </p:cNvPr>
          <p:cNvGrpSpPr/>
          <p:nvPr/>
        </p:nvGrpSpPr>
        <p:grpSpPr>
          <a:xfrm>
            <a:off x="1929276" y="1390996"/>
            <a:ext cx="8328567" cy="508629"/>
            <a:chOff x="1929779" y="1390465"/>
            <a:chExt cx="8330736" cy="508761"/>
          </a:xfrm>
        </p:grpSpPr>
        <p:pic>
          <p:nvPicPr>
            <p:cNvPr id="253" name="Picture 252">
              <a:extLst>
                <a:ext uri="{FF2B5EF4-FFF2-40B4-BE49-F238E27FC236}">
                  <a16:creationId xmlns:a16="http://schemas.microsoft.com/office/drawing/2014/main" id="{CF9BDA2C-9882-B3C3-8AAF-E8C390A12DB2}"/>
                </a:ext>
              </a:extLst>
            </p:cNvPr>
            <p:cNvPicPr>
              <a:picLocks noChangeAspect="1"/>
            </p:cNvPicPr>
            <p:nvPr/>
          </p:nvPicPr>
          <p:blipFill>
            <a:blip r:embed="rId49" cstate="print">
              <a:alphaModFix amt="85000"/>
              <a:extLst>
                <a:ext uri="{BEBA8EAE-BF5A-486C-A8C5-ECC9F3942E4B}">
                  <a14:imgProps xmlns:a14="http://schemas.microsoft.com/office/drawing/2010/main">
                    <a14:imgLayer r:embed="rId50">
                      <a14:imgEffect>
                        <a14:sharpenSoften amount="-100000"/>
                      </a14:imgEffect>
                    </a14:imgLayer>
                  </a14:imgProps>
                </a:ext>
                <a:ext uri="{28A0092B-C50C-407E-A947-70E740481C1C}">
                  <a14:useLocalDpi xmlns:a14="http://schemas.microsoft.com/office/drawing/2010/main"/>
                </a:ext>
              </a:extLst>
            </a:blip>
            <a:srcRect/>
            <a:stretch>
              <a:fillRect/>
            </a:stretch>
          </p:blipFill>
          <p:spPr>
            <a:xfrm>
              <a:off x="1938740" y="1397354"/>
              <a:ext cx="8308267" cy="495872"/>
            </a:xfrm>
            <a:prstGeom prst="roundRect">
              <a:avLst>
                <a:gd name="adj" fmla="val 19282"/>
              </a:avLst>
            </a:prstGeom>
          </p:spPr>
        </p:pic>
        <p:sp>
          <p:nvSpPr>
            <p:cNvPr id="255" name="Rounded Rectangle 254">
              <a:extLst>
                <a:ext uri="{FF2B5EF4-FFF2-40B4-BE49-F238E27FC236}">
                  <a16:creationId xmlns:a16="http://schemas.microsoft.com/office/drawing/2014/main" id="{CBA1C5E2-4A41-97D5-6625-A7613E643AEE}"/>
                </a:ext>
              </a:extLst>
            </p:cNvPr>
            <p:cNvSpPr>
              <a:spLocks/>
            </p:cNvSpPr>
            <p:nvPr/>
          </p:nvSpPr>
          <p:spPr>
            <a:xfrm>
              <a:off x="1929779" y="1397352"/>
              <a:ext cx="8323481" cy="500714"/>
            </a:xfrm>
            <a:prstGeom prst="roundRect">
              <a:avLst>
                <a:gd name="adj" fmla="val 20086"/>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600">
                <a:solidFill>
                  <a:srgbClr val="000000"/>
                </a:solidFill>
                <a:latin typeface="Source Sans 3"/>
              </a:endParaRPr>
            </a:p>
          </p:txBody>
        </p:sp>
        <p:sp>
          <p:nvSpPr>
            <p:cNvPr id="256" name="AI Exp frame">
              <a:extLst>
                <a:ext uri="{FF2B5EF4-FFF2-40B4-BE49-F238E27FC236}">
                  <a16:creationId xmlns:a16="http://schemas.microsoft.com/office/drawing/2014/main" id="{4F231677-C4D5-96A1-4BEF-D46F01C30311}"/>
                </a:ext>
                <a:ext uri="{C183D7F6-B498-43B3-948B-1728B52AA6E4}">
                  <adec:decorative xmlns:adec="http://schemas.microsoft.com/office/drawing/2017/decorative" val="1"/>
                </a:ext>
              </a:extLst>
            </p:cNvPr>
            <p:cNvSpPr>
              <a:spLocks/>
            </p:cNvSpPr>
            <p:nvPr/>
          </p:nvSpPr>
          <p:spPr>
            <a:xfrm>
              <a:off x="1931482" y="1390465"/>
              <a:ext cx="8329033" cy="508761"/>
            </a:xfrm>
            <a:prstGeom prst="roundRect">
              <a:avLst>
                <a:gd name="adj" fmla="val 19405"/>
              </a:avLst>
            </a:prstGeom>
            <a:solidFill>
              <a:schemeClr val="tx2">
                <a:alpha val="5289"/>
              </a:schemeClr>
            </a:solidFill>
            <a:ln w="6350">
              <a:solidFill>
                <a:schemeClr val="bg1">
                  <a:alpha val="4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600">
                <a:solidFill>
                  <a:srgbClr val="000000"/>
                </a:solidFill>
                <a:latin typeface="Source Sans 3"/>
              </a:endParaRPr>
            </a:p>
          </p:txBody>
        </p:sp>
        <p:pic>
          <p:nvPicPr>
            <p:cNvPr id="262" name="Picture 261">
              <a:extLst>
                <a:ext uri="{FF2B5EF4-FFF2-40B4-BE49-F238E27FC236}">
                  <a16:creationId xmlns:a16="http://schemas.microsoft.com/office/drawing/2014/main" id="{DEEA7F7C-05C8-4D56-E9D5-49A00B9D045F}"/>
                </a:ext>
                <a:ext uri="{C183D7F6-B498-43B3-948B-1728B52AA6E4}">
                  <adec:decorative xmlns:adec="http://schemas.microsoft.com/office/drawing/2017/decorative" val="1"/>
                </a:ext>
              </a:extLst>
            </p:cNvPr>
            <p:cNvPicPr>
              <a:picLocks noChangeAspect="1"/>
            </p:cNvPicPr>
            <p:nvPr/>
          </p:nvPicPr>
          <p:blipFill>
            <a:blip r:embed="rId51" cstate="print">
              <a:extLst>
                <a:ext uri="{28A0092B-C50C-407E-A947-70E740481C1C}">
                  <a14:useLocalDpi xmlns:a14="http://schemas.microsoft.com/office/drawing/2010/main"/>
                </a:ext>
              </a:extLst>
            </a:blip>
            <a:srcRect t="-1399" b="-28262"/>
            <a:stretch>
              <a:fillRect/>
            </a:stretch>
          </p:blipFill>
          <p:spPr>
            <a:xfrm>
              <a:off x="4948541" y="1504471"/>
              <a:ext cx="300008" cy="388998"/>
            </a:xfrm>
            <a:prstGeom prst="rect">
              <a:avLst/>
            </a:prstGeom>
          </p:spPr>
        </p:pic>
        <p:pic>
          <p:nvPicPr>
            <p:cNvPr id="267" name="Picture 266">
              <a:extLst>
                <a:ext uri="{FF2B5EF4-FFF2-40B4-BE49-F238E27FC236}">
                  <a16:creationId xmlns:a16="http://schemas.microsoft.com/office/drawing/2014/main" id="{C95CCFF0-9FFA-DE13-BE54-730E22D55EF9}"/>
                </a:ext>
                <a:ext uri="{C183D7F6-B498-43B3-948B-1728B52AA6E4}">
                  <adec:decorative xmlns:adec="http://schemas.microsoft.com/office/drawing/2017/decorative" val="1"/>
                </a:ext>
              </a:extLst>
            </p:cNvPr>
            <p:cNvPicPr>
              <a:picLocks noChangeAspect="1"/>
            </p:cNvPicPr>
            <p:nvPr/>
          </p:nvPicPr>
          <p:blipFill>
            <a:blip r:embed="rId52" cstate="print">
              <a:extLst>
                <a:ext uri="{28A0092B-C50C-407E-A947-70E740481C1C}">
                  <a14:useLocalDpi xmlns:a14="http://schemas.microsoft.com/office/drawing/2010/main"/>
                </a:ext>
              </a:extLst>
            </a:blip>
            <a:srcRect l="-5091" t="-1" b="-541"/>
            <a:stretch>
              <a:fillRect/>
            </a:stretch>
          </p:blipFill>
          <p:spPr>
            <a:xfrm>
              <a:off x="6851026" y="1508553"/>
              <a:ext cx="361448" cy="345802"/>
            </a:xfrm>
            <a:prstGeom prst="rect">
              <a:avLst/>
            </a:prstGeom>
          </p:spPr>
        </p:pic>
        <p:pic>
          <p:nvPicPr>
            <p:cNvPr id="268" name="Picture 267">
              <a:extLst>
                <a:ext uri="{FF2B5EF4-FFF2-40B4-BE49-F238E27FC236}">
                  <a16:creationId xmlns:a16="http://schemas.microsoft.com/office/drawing/2014/main" id="{C6CF3C42-10CD-FF3E-89DF-325CDCFF649D}"/>
                </a:ext>
                <a:ext uri="{C183D7F6-B498-43B3-948B-1728B52AA6E4}">
                  <adec:decorative xmlns:adec="http://schemas.microsoft.com/office/drawing/2017/decorative" val="1"/>
                </a:ext>
              </a:extLst>
            </p:cNvPr>
            <p:cNvPicPr>
              <a:picLocks noChangeAspect="1"/>
            </p:cNvPicPr>
            <p:nvPr/>
          </p:nvPicPr>
          <p:blipFill>
            <a:blip r:embed="rId53" cstate="print">
              <a:extLst>
                <a:ext uri="{28A0092B-C50C-407E-A947-70E740481C1C}">
                  <a14:useLocalDpi xmlns:a14="http://schemas.microsoft.com/office/drawing/2010/main"/>
                </a:ext>
              </a:extLst>
            </a:blip>
            <a:stretch>
              <a:fillRect/>
            </a:stretch>
          </p:blipFill>
          <p:spPr>
            <a:xfrm>
              <a:off x="3830854" y="1480813"/>
              <a:ext cx="333376" cy="333372"/>
            </a:xfrm>
            <a:prstGeom prst="rect">
              <a:avLst/>
            </a:prstGeom>
          </p:spPr>
        </p:pic>
        <p:pic>
          <p:nvPicPr>
            <p:cNvPr id="269" name="Picture 268">
              <a:extLst>
                <a:ext uri="{FF2B5EF4-FFF2-40B4-BE49-F238E27FC236}">
                  <a16:creationId xmlns:a16="http://schemas.microsoft.com/office/drawing/2014/main" id="{3E93175B-2557-F098-7533-2B0A4480A71C}"/>
                </a:ext>
                <a:ext uri="{C183D7F6-B498-43B3-948B-1728B52AA6E4}">
                  <adec:decorative xmlns:adec="http://schemas.microsoft.com/office/drawing/2017/decorative" val="1"/>
                </a:ext>
              </a:extLst>
            </p:cNvPr>
            <p:cNvPicPr>
              <a:picLocks noChangeAspect="1"/>
            </p:cNvPicPr>
            <p:nvPr/>
          </p:nvPicPr>
          <p:blipFill>
            <a:blip r:embed="rId54" cstate="print">
              <a:extLst>
                <a:ext uri="{28A0092B-C50C-407E-A947-70E740481C1C}">
                  <a14:useLocalDpi xmlns:a14="http://schemas.microsoft.com/office/drawing/2010/main"/>
                </a:ext>
              </a:extLst>
            </a:blip>
            <a:stretch>
              <a:fillRect/>
            </a:stretch>
          </p:blipFill>
          <p:spPr>
            <a:xfrm>
              <a:off x="4393626" y="1484670"/>
              <a:ext cx="325518" cy="325516"/>
            </a:xfrm>
            <a:prstGeom prst="rect">
              <a:avLst/>
            </a:prstGeom>
          </p:spPr>
        </p:pic>
        <p:pic>
          <p:nvPicPr>
            <p:cNvPr id="271" name="Picture 270">
              <a:extLst>
                <a:ext uri="{FF2B5EF4-FFF2-40B4-BE49-F238E27FC236}">
                  <a16:creationId xmlns:a16="http://schemas.microsoft.com/office/drawing/2014/main" id="{195632DD-5EDB-4A94-273B-EC271068DBB7}"/>
                </a:ext>
                <a:ext uri="{C183D7F6-B498-43B3-948B-1728B52AA6E4}">
                  <adec:decorative xmlns:adec="http://schemas.microsoft.com/office/drawing/2017/decorative" val="1"/>
                </a:ext>
              </a:extLst>
            </p:cNvPr>
            <p:cNvPicPr>
              <a:picLocks noChangeAspect="1"/>
            </p:cNvPicPr>
            <p:nvPr/>
          </p:nvPicPr>
          <p:blipFill>
            <a:blip r:embed="rId55" cstate="print">
              <a:extLst>
                <a:ext uri="{28A0092B-C50C-407E-A947-70E740481C1C}">
                  <a14:useLocalDpi xmlns:a14="http://schemas.microsoft.com/office/drawing/2010/main"/>
                </a:ext>
              </a:extLst>
            </a:blip>
            <a:stretch>
              <a:fillRect/>
            </a:stretch>
          </p:blipFill>
          <p:spPr>
            <a:xfrm>
              <a:off x="8022146" y="1483869"/>
              <a:ext cx="325518" cy="325516"/>
            </a:xfrm>
            <a:prstGeom prst="rect">
              <a:avLst/>
            </a:prstGeom>
          </p:spPr>
        </p:pic>
        <p:pic>
          <p:nvPicPr>
            <p:cNvPr id="279" name="NonProfit_250404.png">
              <a:extLst>
                <a:ext uri="{FF2B5EF4-FFF2-40B4-BE49-F238E27FC236}">
                  <a16:creationId xmlns:a16="http://schemas.microsoft.com/office/drawing/2014/main" id="{13459F1E-AB47-9C87-83E4-49D1170B9EE1}"/>
                </a:ext>
              </a:extLst>
            </p:cNvPr>
            <p:cNvPicPr>
              <a:picLocks noChangeAspect="1"/>
            </p:cNvPicPr>
            <p:nvPr/>
          </p:nvPicPr>
          <p:blipFill>
            <a:blip r:embed="rId56" cstate="print">
              <a:extLst>
                <a:ext uri="{28A0092B-C50C-407E-A947-70E740481C1C}">
                  <a14:useLocalDpi xmlns:a14="http://schemas.microsoft.com/office/drawing/2010/main"/>
                </a:ext>
              </a:extLst>
            </a:blip>
            <a:stretch>
              <a:fillRect/>
            </a:stretch>
          </p:blipFill>
          <p:spPr>
            <a:xfrm>
              <a:off x="8509862" y="1422640"/>
              <a:ext cx="441248" cy="441244"/>
            </a:xfrm>
            <a:prstGeom prst="rect">
              <a:avLst/>
            </a:prstGeom>
            <a:ln w="12700">
              <a:miter lim="400000"/>
            </a:ln>
            <a:effectLst>
              <a:outerShdw blurRad="1270000" dist="224202" dir="5400000" rotWithShape="0">
                <a:schemeClr val="accent4">
                  <a:hueOff val="-193461"/>
                  <a:satOff val="-42878"/>
                  <a:lumOff val="-54237"/>
                  <a:alpha val="58186"/>
                </a:schemeClr>
              </a:outerShdw>
            </a:effectLst>
          </p:spPr>
        </p:pic>
        <p:pic>
          <p:nvPicPr>
            <p:cNvPr id="280" name="PublicSector_250404.png">
              <a:extLst>
                <a:ext uri="{FF2B5EF4-FFF2-40B4-BE49-F238E27FC236}">
                  <a16:creationId xmlns:a16="http://schemas.microsoft.com/office/drawing/2014/main" id="{E63972AB-8056-4D99-5945-4EBFA1D17506}"/>
                </a:ext>
              </a:extLst>
            </p:cNvPr>
            <p:cNvPicPr>
              <a:picLocks noChangeAspect="1"/>
            </p:cNvPicPr>
            <p:nvPr/>
          </p:nvPicPr>
          <p:blipFill>
            <a:blip r:embed="rId57" cstate="print">
              <a:extLst>
                <a:ext uri="{28A0092B-C50C-407E-A947-70E740481C1C}">
                  <a14:useLocalDpi xmlns:a14="http://schemas.microsoft.com/office/drawing/2010/main"/>
                </a:ext>
              </a:extLst>
            </a:blip>
            <a:stretch>
              <a:fillRect/>
            </a:stretch>
          </p:blipFill>
          <p:spPr>
            <a:xfrm>
              <a:off x="2117074" y="1434674"/>
              <a:ext cx="417122" cy="417118"/>
            </a:xfrm>
            <a:prstGeom prst="rect">
              <a:avLst/>
            </a:prstGeom>
            <a:ln w="12700">
              <a:miter lim="400000"/>
            </a:ln>
            <a:effectLst>
              <a:outerShdw blurRad="1270000" dist="224202" dir="5400000" rotWithShape="0">
                <a:schemeClr val="accent4">
                  <a:hueOff val="-193461"/>
                  <a:satOff val="-42878"/>
                  <a:lumOff val="-54237"/>
                  <a:alpha val="58186"/>
                </a:schemeClr>
              </a:outerShdw>
            </a:effectLst>
          </p:spPr>
        </p:pic>
        <p:pic>
          <p:nvPicPr>
            <p:cNvPr id="281" name="Automotive_250407.png">
              <a:extLst>
                <a:ext uri="{FF2B5EF4-FFF2-40B4-BE49-F238E27FC236}">
                  <a16:creationId xmlns:a16="http://schemas.microsoft.com/office/drawing/2014/main" id="{7D577B8A-8EF1-68EE-5A19-863215B18415}"/>
                </a:ext>
              </a:extLst>
            </p:cNvPr>
            <p:cNvPicPr>
              <a:picLocks noChangeAspect="1"/>
            </p:cNvPicPr>
            <p:nvPr/>
          </p:nvPicPr>
          <p:blipFill>
            <a:blip r:embed="rId58" cstate="print">
              <a:extLst>
                <a:ext uri="{28A0092B-C50C-407E-A947-70E740481C1C}">
                  <a14:useLocalDpi xmlns:a14="http://schemas.microsoft.com/office/drawing/2010/main"/>
                </a:ext>
              </a:extLst>
            </a:blip>
            <a:stretch>
              <a:fillRect/>
            </a:stretch>
          </p:blipFill>
          <p:spPr>
            <a:xfrm>
              <a:off x="9560178" y="1390943"/>
              <a:ext cx="497244" cy="497242"/>
            </a:xfrm>
            <a:prstGeom prst="rect">
              <a:avLst/>
            </a:prstGeom>
            <a:ln w="12700">
              <a:miter lim="400000"/>
            </a:ln>
            <a:effectLst>
              <a:outerShdw blurRad="1041400" dist="224202" dir="5400000" rotWithShape="0">
                <a:schemeClr val="accent4">
                  <a:hueOff val="-193461"/>
                  <a:satOff val="-42878"/>
                  <a:lumOff val="-54237"/>
                </a:schemeClr>
              </a:outerShdw>
            </a:effectLst>
          </p:spPr>
        </p:pic>
        <p:pic>
          <p:nvPicPr>
            <p:cNvPr id="282" name="Picture 281">
              <a:extLst>
                <a:ext uri="{FF2B5EF4-FFF2-40B4-BE49-F238E27FC236}">
                  <a16:creationId xmlns:a16="http://schemas.microsoft.com/office/drawing/2014/main" id="{6DBB1632-ECCF-CABC-0739-2F2C156D7124}"/>
                </a:ext>
              </a:extLst>
            </p:cNvPr>
            <p:cNvPicPr>
              <a:picLocks noChangeAspect="1"/>
            </p:cNvPicPr>
            <p:nvPr/>
          </p:nvPicPr>
          <p:blipFill>
            <a:blip r:embed="rId59" cstate="print">
              <a:extLst>
                <a:ext uri="{28A0092B-C50C-407E-A947-70E740481C1C}">
                  <a14:useLocalDpi xmlns:a14="http://schemas.microsoft.com/office/drawing/2010/main"/>
                </a:ext>
              </a:extLst>
            </a:blip>
            <a:srcRect/>
            <a:stretch>
              <a:fillRect/>
            </a:stretch>
          </p:blipFill>
          <p:spPr>
            <a:xfrm>
              <a:off x="2763592" y="1444964"/>
              <a:ext cx="312342" cy="410182"/>
            </a:xfrm>
            <a:prstGeom prst="rect">
              <a:avLst/>
            </a:prstGeom>
          </p:spPr>
        </p:pic>
        <p:sp>
          <p:nvSpPr>
            <p:cNvPr id="283" name="Rounded Rectangle 20">
              <a:extLst>
                <a:ext uri="{FF2B5EF4-FFF2-40B4-BE49-F238E27FC236}">
                  <a16:creationId xmlns:a16="http://schemas.microsoft.com/office/drawing/2014/main" id="{7FBA3793-1C22-0C5B-FE72-64FEBE79A223}"/>
                </a:ext>
                <a:ext uri="{C183D7F6-B498-43B3-948B-1728B52AA6E4}">
                  <adec:decorative xmlns:adec="http://schemas.microsoft.com/office/drawing/2017/decorative" val="1"/>
                </a:ext>
              </a:extLst>
            </p:cNvPr>
            <p:cNvSpPr>
              <a:spLocks/>
            </p:cNvSpPr>
            <p:nvPr/>
          </p:nvSpPr>
          <p:spPr>
            <a:xfrm>
              <a:off x="5512904" y="1507685"/>
              <a:ext cx="1166192"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0" rIns="73133" rtlCol="0" anchor="ctr"/>
            <a:lstStyle/>
            <a:p>
              <a:pPr algn="r" defTabSz="456766">
                <a:defRPr/>
              </a:pPr>
              <a:r>
                <a:rPr lang="en-US" sz="1050" b="1">
                  <a:solidFill>
                    <a:srgbClr val="FFFFFF"/>
                  </a:solidFill>
                  <a:latin typeface="Source Sans 3" panose="020B0504040101010104" pitchFamily="34" charset="77"/>
                </a:rPr>
                <a:t>              Industry</a:t>
              </a:r>
            </a:p>
          </p:txBody>
        </p:sp>
        <p:grpSp>
          <p:nvGrpSpPr>
            <p:cNvPr id="284" name="Group 283">
              <a:extLst>
                <a:ext uri="{FF2B5EF4-FFF2-40B4-BE49-F238E27FC236}">
                  <a16:creationId xmlns:a16="http://schemas.microsoft.com/office/drawing/2014/main" id="{370033C6-B7B0-AA31-3919-FC70D65E47FF}"/>
                </a:ext>
              </a:extLst>
            </p:cNvPr>
            <p:cNvGrpSpPr>
              <a:grpSpLocks/>
            </p:cNvGrpSpPr>
            <p:nvPr/>
          </p:nvGrpSpPr>
          <p:grpSpPr>
            <a:xfrm>
              <a:off x="5605136" y="1584281"/>
              <a:ext cx="366052" cy="122304"/>
              <a:chOff x="9374775" y="5319260"/>
              <a:chExt cx="366052" cy="122304"/>
            </a:xfrm>
          </p:grpSpPr>
          <p:sp>
            <p:nvSpPr>
              <p:cNvPr id="287" name="Rounded Rectangle 54">
                <a:extLst>
                  <a:ext uri="{FF2B5EF4-FFF2-40B4-BE49-F238E27FC236}">
                    <a16:creationId xmlns:a16="http://schemas.microsoft.com/office/drawing/2014/main" id="{B936E895-7782-5D20-499E-9D3F6F5D99D2}"/>
                  </a:ext>
                </a:extLst>
              </p:cNvPr>
              <p:cNvSpPr>
                <a:spLocks/>
              </p:cNvSpPr>
              <p:nvPr/>
            </p:nvSpPr>
            <p:spPr>
              <a:xfrm>
                <a:off x="9374775" y="5319260"/>
                <a:ext cx="366052" cy="122304"/>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289" name="Industry">
                <a:extLst>
                  <a:ext uri="{FF2B5EF4-FFF2-40B4-BE49-F238E27FC236}">
                    <a16:creationId xmlns:a16="http://schemas.microsoft.com/office/drawing/2014/main" id="{74AD22A6-2350-D18C-153C-303C3DC6B59A}"/>
                  </a:ext>
                </a:extLst>
              </p:cNvPr>
              <p:cNvSpPr txBox="1">
                <a:spLocks/>
              </p:cNvSpPr>
              <p:nvPr/>
            </p:nvSpPr>
            <p:spPr>
              <a:xfrm>
                <a:off x="9448359" y="5360765"/>
                <a:ext cx="230832" cy="79894"/>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grpSp>
        <p:pic>
          <p:nvPicPr>
            <p:cNvPr id="285" name="Picture 284">
              <a:extLst>
                <a:ext uri="{FF2B5EF4-FFF2-40B4-BE49-F238E27FC236}">
                  <a16:creationId xmlns:a16="http://schemas.microsoft.com/office/drawing/2014/main" id="{B794B85F-9DAD-AFF5-CE8F-8C940FC931ED}"/>
                </a:ext>
              </a:extLst>
            </p:cNvPr>
            <p:cNvPicPr>
              <a:picLocks noChangeAspect="1"/>
            </p:cNvPicPr>
            <p:nvPr/>
          </p:nvPicPr>
          <p:blipFill>
            <a:blip r:embed="rId60" cstate="print">
              <a:extLst>
                <a:ext uri="{28A0092B-C50C-407E-A947-70E740481C1C}">
                  <a14:useLocalDpi xmlns:a14="http://schemas.microsoft.com/office/drawing/2010/main"/>
                </a:ext>
              </a:extLst>
            </a:blip>
            <a:srcRect/>
            <a:stretch>
              <a:fillRect/>
            </a:stretch>
          </p:blipFill>
          <p:spPr>
            <a:xfrm>
              <a:off x="3305330" y="1417630"/>
              <a:ext cx="328944" cy="447153"/>
            </a:xfrm>
            <a:prstGeom prst="rect">
              <a:avLst/>
            </a:prstGeom>
          </p:spPr>
        </p:pic>
        <p:pic>
          <p:nvPicPr>
            <p:cNvPr id="286" name="Picture 285">
              <a:extLst>
                <a:ext uri="{FF2B5EF4-FFF2-40B4-BE49-F238E27FC236}">
                  <a16:creationId xmlns:a16="http://schemas.microsoft.com/office/drawing/2014/main" id="{A1F5613E-24E9-8727-113F-6861E8E549E1}"/>
                </a:ext>
                <a:ext uri="{C183D7F6-B498-43B3-948B-1728B52AA6E4}">
                  <adec:decorative xmlns:adec="http://schemas.microsoft.com/office/drawing/2017/decorative" val="1"/>
                </a:ext>
              </a:extLst>
            </p:cNvPr>
            <p:cNvPicPr>
              <a:picLocks/>
            </p:cNvPicPr>
            <p:nvPr/>
          </p:nvPicPr>
          <p:blipFill>
            <a:blip r:embed="rId61" cstate="print">
              <a:extLst>
                <a:ext uri="{28A0092B-C50C-407E-A947-70E740481C1C}">
                  <a14:useLocalDpi xmlns:a14="http://schemas.microsoft.com/office/drawing/2010/main"/>
                </a:ext>
              </a:extLst>
            </a:blip>
            <a:srcRect/>
            <a:stretch/>
          </p:blipFill>
          <p:spPr>
            <a:xfrm>
              <a:off x="7403472" y="1422070"/>
              <a:ext cx="456476" cy="456476"/>
            </a:xfrm>
            <a:prstGeom prst="rect">
              <a:avLst/>
            </a:prstGeom>
          </p:spPr>
        </p:pic>
        <p:pic>
          <p:nvPicPr>
            <p:cNvPr id="23" name="Picture 22">
              <a:extLst>
                <a:ext uri="{FF2B5EF4-FFF2-40B4-BE49-F238E27FC236}">
                  <a16:creationId xmlns:a16="http://schemas.microsoft.com/office/drawing/2014/main" id="{831C734A-67D8-8BA2-AF42-03C599A9AA13}"/>
                </a:ext>
              </a:extLst>
            </p:cNvPr>
            <p:cNvPicPr>
              <a:picLocks noChangeAspect="1"/>
            </p:cNvPicPr>
            <p:nvPr/>
          </p:nvPicPr>
          <p:blipFill>
            <a:blip r:embed="rId62">
              <a:extLst>
                <a:ext uri="{28A0092B-C50C-407E-A947-70E740481C1C}">
                  <a14:useLocalDpi xmlns:a14="http://schemas.microsoft.com/office/drawing/2010/main" val="0"/>
                </a:ext>
              </a:extLst>
            </a:blip>
            <a:stretch>
              <a:fillRect/>
            </a:stretch>
          </p:blipFill>
          <p:spPr>
            <a:xfrm>
              <a:off x="9077308" y="1454460"/>
              <a:ext cx="385474" cy="385474"/>
            </a:xfrm>
            <a:prstGeom prst="rect">
              <a:avLst/>
            </a:prstGeom>
          </p:spPr>
        </p:pic>
      </p:grpSp>
      <p:grpSp>
        <p:nvGrpSpPr>
          <p:cNvPr id="34" name="Group 33">
            <a:extLst>
              <a:ext uri="{FF2B5EF4-FFF2-40B4-BE49-F238E27FC236}">
                <a16:creationId xmlns:a16="http://schemas.microsoft.com/office/drawing/2014/main" id="{F72A16BD-1BB4-66B2-9C53-0BDD9A822E7C}"/>
              </a:ext>
            </a:extLst>
          </p:cNvPr>
          <p:cNvGrpSpPr/>
          <p:nvPr/>
        </p:nvGrpSpPr>
        <p:grpSpPr>
          <a:xfrm>
            <a:off x="11257133" y="-134548"/>
            <a:ext cx="929027" cy="1046228"/>
            <a:chOff x="6266985" y="-764003"/>
            <a:chExt cx="929269" cy="1046501"/>
          </a:xfrm>
        </p:grpSpPr>
        <p:sp>
          <p:nvSpPr>
            <p:cNvPr id="35" name="Right Triangle 34">
              <a:extLst>
                <a:ext uri="{FF2B5EF4-FFF2-40B4-BE49-F238E27FC236}">
                  <a16:creationId xmlns:a16="http://schemas.microsoft.com/office/drawing/2014/main" id="{C7B56674-3096-37C7-EBD7-B0DED376FF03}"/>
                </a:ext>
              </a:extLst>
            </p:cNvPr>
            <p:cNvSpPr/>
            <p:nvPr/>
          </p:nvSpPr>
          <p:spPr>
            <a:xfrm rot="10800000">
              <a:off x="6266985" y="-646771"/>
              <a:ext cx="929269" cy="929269"/>
            </a:xfrm>
            <a:prstGeom prst="rtTriangle">
              <a:avLst/>
            </a:prstGeom>
            <a:solidFill>
              <a:schemeClr val="accent6"/>
            </a:solidFill>
            <a:ln w="12700" cap="flat" cmpd="sng" algn="ctr">
              <a:noFill/>
              <a:prstDash val="solid"/>
              <a:miter lim="800000"/>
            </a:ln>
            <a:effectLst/>
          </p:spPr>
          <p:txBody>
            <a:bodyPr rtlCol="0" anchor="ctr"/>
            <a:lstStyle/>
            <a:p>
              <a:pPr defTabSz="914126">
                <a:defRPr/>
              </a:pPr>
              <a:endParaRPr lang="en-US" sz="1600" kern="0" err="1">
                <a:solidFill>
                  <a:srgbClr val="000000"/>
                </a:solidFill>
                <a:latin typeface="Source Sans 3" panose="020F0502020204030204"/>
              </a:endParaRPr>
            </a:p>
          </p:txBody>
        </p:sp>
      </p:grpSp>
      <p:grpSp>
        <p:nvGrpSpPr>
          <p:cNvPr id="250" name="Group 249">
            <a:extLst>
              <a:ext uri="{FF2B5EF4-FFF2-40B4-BE49-F238E27FC236}">
                <a16:creationId xmlns:a16="http://schemas.microsoft.com/office/drawing/2014/main" id="{EEF78A0D-05A9-1242-3EAC-F724665B8A73}"/>
              </a:ext>
            </a:extLst>
          </p:cNvPr>
          <p:cNvGrpSpPr/>
          <p:nvPr/>
        </p:nvGrpSpPr>
        <p:grpSpPr>
          <a:xfrm>
            <a:off x="1929276" y="844915"/>
            <a:ext cx="8328568" cy="426474"/>
            <a:chOff x="1929779" y="844241"/>
            <a:chExt cx="8330737" cy="426585"/>
          </a:xfrm>
        </p:grpSpPr>
        <p:sp>
          <p:nvSpPr>
            <p:cNvPr id="229" name="Rounded Rectangle 228">
              <a:extLst>
                <a:ext uri="{FF2B5EF4-FFF2-40B4-BE49-F238E27FC236}">
                  <a16:creationId xmlns:a16="http://schemas.microsoft.com/office/drawing/2014/main" id="{4F10A185-0AB5-2B67-E585-FB682C047036}"/>
                </a:ext>
              </a:extLst>
            </p:cNvPr>
            <p:cNvSpPr>
              <a:spLocks/>
            </p:cNvSpPr>
            <p:nvPr/>
          </p:nvSpPr>
          <p:spPr>
            <a:xfrm>
              <a:off x="1934260" y="847887"/>
              <a:ext cx="8323481" cy="412365"/>
            </a:xfrm>
            <a:prstGeom prst="roundRect">
              <a:avLst>
                <a:gd name="adj" fmla="val 20086"/>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600">
                <a:solidFill>
                  <a:srgbClr val="000000"/>
                </a:solidFill>
                <a:latin typeface="Source Sans 3"/>
              </a:endParaRPr>
            </a:p>
          </p:txBody>
        </p:sp>
        <p:sp>
          <p:nvSpPr>
            <p:cNvPr id="230" name="AI Exp frame">
              <a:extLst>
                <a:ext uri="{FF2B5EF4-FFF2-40B4-BE49-F238E27FC236}">
                  <a16:creationId xmlns:a16="http://schemas.microsoft.com/office/drawing/2014/main" id="{DDA3A8EF-A003-2277-8419-B08E2AFF5E32}"/>
                </a:ext>
                <a:ext uri="{C183D7F6-B498-43B3-948B-1728B52AA6E4}">
                  <adec:decorative xmlns:adec="http://schemas.microsoft.com/office/drawing/2017/decorative" val="1"/>
                </a:ext>
              </a:extLst>
            </p:cNvPr>
            <p:cNvSpPr>
              <a:spLocks/>
            </p:cNvSpPr>
            <p:nvPr/>
          </p:nvSpPr>
          <p:spPr>
            <a:xfrm>
              <a:off x="1929779" y="844241"/>
              <a:ext cx="8330737" cy="426585"/>
            </a:xfrm>
            <a:prstGeom prst="roundRect">
              <a:avLst>
                <a:gd name="adj" fmla="val 20666"/>
              </a:avLst>
            </a:prstGeom>
            <a:solidFill>
              <a:schemeClr val="tx2">
                <a:alpha val="5289"/>
              </a:schemeClr>
            </a:solidFill>
            <a:ln w="6350">
              <a:solidFill>
                <a:schemeClr val="bg1">
                  <a:alpha val="4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600">
                <a:solidFill>
                  <a:srgbClr val="000000"/>
                </a:solidFill>
                <a:latin typeface="Source Sans 3"/>
              </a:endParaRPr>
            </a:p>
          </p:txBody>
        </p:sp>
        <p:sp>
          <p:nvSpPr>
            <p:cNvPr id="232" name="Title 1">
              <a:extLst>
                <a:ext uri="{FF2B5EF4-FFF2-40B4-BE49-F238E27FC236}">
                  <a16:creationId xmlns:a16="http://schemas.microsoft.com/office/drawing/2014/main" id="{D00CBF3E-A0A7-FB59-6956-EFB96E179138}"/>
                </a:ext>
              </a:extLst>
            </p:cNvPr>
            <p:cNvSpPr txBox="1">
              <a:spLocks/>
            </p:cNvSpPr>
            <p:nvPr/>
          </p:nvSpPr>
          <p:spPr>
            <a:xfrm>
              <a:off x="8314706" y="962437"/>
              <a:ext cx="545684" cy="23540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1352947" hangingPunct="0">
                <a:lnSpc>
                  <a:spcPct val="80000"/>
                </a:lnSpc>
                <a:spcBef>
                  <a:spcPts val="0"/>
                </a:spcBef>
                <a:defRPr/>
              </a:pPr>
              <a:r>
                <a:rPr lang="en-US" sz="950" b="0" kern="0">
                  <a:solidFill>
                    <a:srgbClr val="FFFFFF"/>
                  </a:solidFill>
                  <a:latin typeface="Source Sans 3" panose="020B0404040101010104" pitchFamily="34" charset="77"/>
                </a:rPr>
                <a:t>Web</a:t>
              </a:r>
            </a:p>
          </p:txBody>
        </p:sp>
        <p:sp>
          <p:nvSpPr>
            <p:cNvPr id="233" name="Title 1">
              <a:extLst>
                <a:ext uri="{FF2B5EF4-FFF2-40B4-BE49-F238E27FC236}">
                  <a16:creationId xmlns:a16="http://schemas.microsoft.com/office/drawing/2014/main" id="{4BC657A7-4880-A3EE-1F1F-A8B59BE3094E}"/>
                </a:ext>
              </a:extLst>
            </p:cNvPr>
            <p:cNvSpPr txBox="1">
              <a:spLocks/>
            </p:cNvSpPr>
            <p:nvPr/>
          </p:nvSpPr>
          <p:spPr>
            <a:xfrm>
              <a:off x="2206964" y="962437"/>
              <a:ext cx="424126" cy="23540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1352947" hangingPunct="0">
                <a:lnSpc>
                  <a:spcPct val="80000"/>
                </a:lnSpc>
                <a:spcBef>
                  <a:spcPts val="0"/>
                </a:spcBef>
                <a:defRPr/>
              </a:pPr>
              <a:r>
                <a:rPr lang="en-US" sz="950" b="0" kern="0">
                  <a:solidFill>
                    <a:srgbClr val="FFFFFF"/>
                  </a:solidFill>
                  <a:latin typeface="Source Sans 3" panose="020B0404040101010104" pitchFamily="34" charset="77"/>
                </a:rPr>
                <a:t>Voice</a:t>
              </a:r>
            </a:p>
          </p:txBody>
        </p:sp>
        <p:sp>
          <p:nvSpPr>
            <p:cNvPr id="237" name="Title 1">
              <a:extLst>
                <a:ext uri="{FF2B5EF4-FFF2-40B4-BE49-F238E27FC236}">
                  <a16:creationId xmlns:a16="http://schemas.microsoft.com/office/drawing/2014/main" id="{DEB3473D-BA91-4EC0-217C-98E475F0D083}"/>
                </a:ext>
              </a:extLst>
            </p:cNvPr>
            <p:cNvSpPr txBox="1">
              <a:spLocks/>
            </p:cNvSpPr>
            <p:nvPr/>
          </p:nvSpPr>
          <p:spPr>
            <a:xfrm>
              <a:off x="7200554" y="962437"/>
              <a:ext cx="585617" cy="23540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1352947" hangingPunct="0">
                <a:lnSpc>
                  <a:spcPct val="80000"/>
                </a:lnSpc>
                <a:spcBef>
                  <a:spcPts val="0"/>
                </a:spcBef>
                <a:defRPr/>
              </a:pPr>
              <a:r>
                <a:rPr lang="en-US" sz="950" b="0" kern="0">
                  <a:solidFill>
                    <a:srgbClr val="FFFFFF"/>
                  </a:solidFill>
                  <a:latin typeface="Source Sans 3" panose="020B0404040101010104" pitchFamily="34" charset="77"/>
                </a:rPr>
                <a:t>Chat</a:t>
              </a:r>
            </a:p>
          </p:txBody>
        </p:sp>
        <p:sp>
          <p:nvSpPr>
            <p:cNvPr id="239" name="Title 1">
              <a:extLst>
                <a:ext uri="{FF2B5EF4-FFF2-40B4-BE49-F238E27FC236}">
                  <a16:creationId xmlns:a16="http://schemas.microsoft.com/office/drawing/2014/main" id="{B127017B-CE41-B6B3-DCDA-9060F5844360}"/>
                </a:ext>
              </a:extLst>
            </p:cNvPr>
            <p:cNvSpPr txBox="1">
              <a:spLocks/>
            </p:cNvSpPr>
            <p:nvPr/>
          </p:nvSpPr>
          <p:spPr>
            <a:xfrm>
              <a:off x="2983463" y="962437"/>
              <a:ext cx="1173041" cy="23540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1352947" hangingPunct="0">
                <a:lnSpc>
                  <a:spcPct val="80000"/>
                </a:lnSpc>
                <a:spcBef>
                  <a:spcPts val="0"/>
                </a:spcBef>
                <a:defRPr/>
              </a:pPr>
              <a:r>
                <a:rPr lang="en-US" sz="950" b="0" kern="0">
                  <a:solidFill>
                    <a:srgbClr val="FFFFFF"/>
                  </a:solidFill>
                  <a:latin typeface="Source Sans 3" panose="020B0404040101010104" pitchFamily="34" charset="77"/>
                </a:rPr>
                <a:t>Enterprise Search</a:t>
              </a:r>
            </a:p>
          </p:txBody>
        </p:sp>
        <p:sp>
          <p:nvSpPr>
            <p:cNvPr id="240" name="Title 1">
              <a:extLst>
                <a:ext uri="{FF2B5EF4-FFF2-40B4-BE49-F238E27FC236}">
                  <a16:creationId xmlns:a16="http://schemas.microsoft.com/office/drawing/2014/main" id="{587B1C34-1667-148A-FE65-FC62C32BAA16}"/>
                </a:ext>
              </a:extLst>
            </p:cNvPr>
            <p:cNvSpPr txBox="1">
              <a:spLocks/>
            </p:cNvSpPr>
            <p:nvPr/>
          </p:nvSpPr>
          <p:spPr>
            <a:xfrm>
              <a:off x="4464541" y="962437"/>
              <a:ext cx="554190" cy="23540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1352947" hangingPunct="0">
                <a:lnSpc>
                  <a:spcPct val="80000"/>
                </a:lnSpc>
                <a:spcBef>
                  <a:spcPts val="0"/>
                </a:spcBef>
                <a:defRPr/>
              </a:pPr>
              <a:r>
                <a:rPr lang="en-US" sz="950" b="0" kern="0">
                  <a:solidFill>
                    <a:srgbClr val="FFFFFF"/>
                  </a:solidFill>
                  <a:latin typeface="Source Sans 3" panose="020B0404040101010104" pitchFamily="34" charset="77"/>
                </a:rPr>
                <a:t>Video</a:t>
              </a:r>
            </a:p>
          </p:txBody>
        </p:sp>
        <p:sp>
          <p:nvSpPr>
            <p:cNvPr id="241" name="Title 1">
              <a:extLst>
                <a:ext uri="{FF2B5EF4-FFF2-40B4-BE49-F238E27FC236}">
                  <a16:creationId xmlns:a16="http://schemas.microsoft.com/office/drawing/2014/main" id="{E1E8D7D5-E19C-5853-58B0-3934BD39A3E7}"/>
                </a:ext>
              </a:extLst>
            </p:cNvPr>
            <p:cNvSpPr txBox="1">
              <a:spLocks/>
            </p:cNvSpPr>
            <p:nvPr/>
          </p:nvSpPr>
          <p:spPr>
            <a:xfrm>
              <a:off x="9388924" y="962437"/>
              <a:ext cx="557794" cy="23540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pPr algn="ctr" defTabSz="1352947" hangingPunct="0">
                <a:lnSpc>
                  <a:spcPct val="80000"/>
                </a:lnSpc>
                <a:spcBef>
                  <a:spcPts val="0"/>
                </a:spcBef>
                <a:defRPr/>
              </a:pPr>
              <a:r>
                <a:rPr lang="en-US" sz="950" b="0" kern="0">
                  <a:solidFill>
                    <a:srgbClr val="FFFFFF"/>
                  </a:solidFill>
                  <a:latin typeface="Source Sans 3" panose="020B0404040101010104" pitchFamily="34" charset="77"/>
                </a:rPr>
                <a:t>Apps</a:t>
              </a:r>
            </a:p>
          </p:txBody>
        </p:sp>
        <p:sp>
          <p:nvSpPr>
            <p:cNvPr id="242" name="Rounded Rectangle 20">
              <a:extLst>
                <a:ext uri="{FF2B5EF4-FFF2-40B4-BE49-F238E27FC236}">
                  <a16:creationId xmlns:a16="http://schemas.microsoft.com/office/drawing/2014/main" id="{F8C50D7E-4A8B-ED6A-B8DA-BA39BF798F48}"/>
                </a:ext>
                <a:ext uri="{C183D7F6-B498-43B3-948B-1728B52AA6E4}">
                  <adec:decorative xmlns:adec="http://schemas.microsoft.com/office/drawing/2017/decorative" val="1"/>
                </a:ext>
              </a:extLst>
            </p:cNvPr>
            <p:cNvSpPr>
              <a:spLocks/>
            </p:cNvSpPr>
            <p:nvPr/>
          </p:nvSpPr>
          <p:spPr>
            <a:xfrm>
              <a:off x="5309062" y="932145"/>
              <a:ext cx="1573876" cy="274320"/>
            </a:xfrm>
            <a:prstGeom prst="roundRect">
              <a:avLst>
                <a:gd name="adj" fmla="val 50000"/>
              </a:avLst>
            </a:prstGeom>
            <a:solidFill>
              <a:schemeClr val="tx2">
                <a:alpha val="5289"/>
              </a:schemeClr>
            </a:solidFill>
            <a:ln w="6350">
              <a:solidFill>
                <a:schemeClr val="bg1"/>
              </a:solidFill>
            </a:ln>
            <a:scene3d>
              <a:camera prst="orthographicFront"/>
              <a:lightRig rig="brightRoom" dir="t">
                <a:rot lat="0" lon="0" rev="0"/>
              </a:lightRig>
            </a:scene3d>
            <a:sp3d extrusionH="38100" prstMaterial="translucentPowder">
              <a:bevelT w="63500" h="381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lIns="274249" rIns="73133" rtlCol="0" anchor="ctr"/>
            <a:lstStyle/>
            <a:p>
              <a:pPr algn="ctr" defTabSz="456766">
                <a:defRPr/>
              </a:pPr>
              <a:r>
                <a:rPr lang="en-US" sz="1050" b="1">
                  <a:solidFill>
                    <a:srgbClr val="FFFFFF"/>
                  </a:solidFill>
                  <a:latin typeface="Source Sans 3" panose="020B0504040101010104" pitchFamily="34" charset="77"/>
                </a:rPr>
                <a:t>     AI Experience</a:t>
              </a:r>
            </a:p>
          </p:txBody>
        </p:sp>
      </p:grpSp>
      <p:sp>
        <p:nvSpPr>
          <p:cNvPr id="26" name="Rounded Rectangle 54">
            <a:extLst>
              <a:ext uri="{FF2B5EF4-FFF2-40B4-BE49-F238E27FC236}">
                <a16:creationId xmlns:a16="http://schemas.microsoft.com/office/drawing/2014/main" id="{444DD894-077A-784C-702F-62C7DA947CC8}"/>
              </a:ext>
            </a:extLst>
          </p:cNvPr>
          <p:cNvSpPr>
            <a:spLocks/>
          </p:cNvSpPr>
          <p:nvPr/>
        </p:nvSpPr>
        <p:spPr>
          <a:xfrm>
            <a:off x="5386018" y="1004342"/>
            <a:ext cx="365957" cy="122272"/>
          </a:xfrm>
          <a:prstGeom prst="roundRect">
            <a:avLst>
              <a:gd name="adj" fmla="val 50000"/>
            </a:avLst>
          </a:prstGeom>
          <a:gradFill flip="none" rotWithShape="1">
            <a:gsLst>
              <a:gs pos="0">
                <a:schemeClr val="accent1">
                  <a:lumMod val="75000"/>
                </a:schemeClr>
              </a:gs>
              <a:gs pos="99000">
                <a:schemeClr val="accent1"/>
              </a:gs>
            </a:gsLst>
            <a:lin ang="9000000" scaled="0"/>
            <a:tileRect/>
          </a:gradFill>
          <a:ln>
            <a:noFill/>
          </a:ln>
          <a:effectLst/>
          <a:scene3d>
            <a:camera prst="orthographicFront"/>
            <a:lightRig rig="soft" dir="t"/>
          </a:scene3d>
          <a:sp3d prstMaterial="powder">
            <a:bevelT w="1905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defRPr/>
            </a:pPr>
            <a:endParaRPr lang="en-US" sz="1100" err="1">
              <a:solidFill>
                <a:srgbClr val="000000"/>
              </a:solidFill>
              <a:latin typeface="Source Sans 3"/>
            </a:endParaRPr>
          </a:p>
        </p:txBody>
      </p:sp>
      <p:sp>
        <p:nvSpPr>
          <p:cNvPr id="27" name="Industry">
            <a:extLst>
              <a:ext uri="{FF2B5EF4-FFF2-40B4-BE49-F238E27FC236}">
                <a16:creationId xmlns:a16="http://schemas.microsoft.com/office/drawing/2014/main" id="{38DFC87A-07CE-79A0-9683-0DE79DF56172}"/>
              </a:ext>
            </a:extLst>
          </p:cNvPr>
          <p:cNvSpPr txBox="1">
            <a:spLocks/>
          </p:cNvSpPr>
          <p:nvPr/>
        </p:nvSpPr>
        <p:spPr>
          <a:xfrm>
            <a:off x="5459583" y="1045836"/>
            <a:ext cx="230772" cy="79873"/>
          </a:xfrm>
          <a:prstGeom prst="rect">
            <a:avLst/>
          </a:prstGeom>
          <a:ln w="12700">
            <a:miter lim="400000"/>
          </a:ln>
          <a:effectLst>
            <a:outerShdw blurRad="1270000" dist="442414" dir="4339915" rotWithShape="0">
              <a:schemeClr val="accent4">
                <a:hueOff val="-193461"/>
                <a:satOff val="-42878"/>
                <a:lumOff val="-54237"/>
              </a:schemeClr>
            </a:outerShdw>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0" tIns="0" rIns="0" bIns="0">
            <a:spAutoFit/>
          </a:bodyPr>
          <a:lstStyle>
            <a:lvl1pPr>
              <a:lnSpc>
                <a:spcPct val="60000"/>
              </a:lnSpc>
              <a:defRPr sz="11300" b="1" spc="-113">
                <a:latin typeface="Source Sans 3"/>
                <a:ea typeface="Source Sans 3"/>
                <a:cs typeface="Source Sans 3"/>
                <a:sym typeface="Source Sans 3"/>
              </a:defRPr>
            </a:lvl1pPr>
          </a:lstStyle>
          <a:p>
            <a:pPr algn="ctr" defTabSz="456766">
              <a:defRPr/>
            </a:pPr>
            <a:r>
              <a:rPr lang="en-US" sz="800" b="1" spc="0">
                <a:solidFill>
                  <a:srgbClr val="040E3D"/>
                </a:solidFill>
                <a:latin typeface="Source Sans 3"/>
                <a:ea typeface="+mj-ea"/>
                <a:cs typeface="Source Sans 3" panose="020B0604040101010104" pitchFamily="34" charset="0"/>
              </a:rPr>
              <a:t>ANY</a:t>
            </a:r>
            <a:endParaRPr sz="800" b="1" spc="0">
              <a:solidFill>
                <a:srgbClr val="040E3D"/>
              </a:solidFill>
              <a:latin typeface="Source Sans 3"/>
              <a:ea typeface="+mj-ea"/>
              <a:cs typeface="Source Sans 3" panose="020B0604040101010104" pitchFamily="34" charset="0"/>
            </a:endParaRPr>
          </a:p>
        </p:txBody>
      </p:sp>
      <p:sp>
        <p:nvSpPr>
          <p:cNvPr id="3" name="Footer Placeholder 4">
            <a:extLst>
              <a:ext uri="{FF2B5EF4-FFF2-40B4-BE49-F238E27FC236}">
                <a16:creationId xmlns:a16="http://schemas.microsoft.com/office/drawing/2014/main" id="{BAB60792-AA9F-D2A8-1BB2-CFECEB0F42F1}"/>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240218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250"/>
                                  </p:stCondLst>
                                  <p:childTnLst>
                                    <p:set>
                                      <p:cBhvr>
                                        <p:cTn id="9" dur="1" fill="hold">
                                          <p:stCondLst>
                                            <p:cond delay="0"/>
                                          </p:stCondLst>
                                        </p:cTn>
                                        <p:tgtEl>
                                          <p:spTgt spid="104"/>
                                        </p:tgtEl>
                                        <p:attrNameLst>
                                          <p:attrName>style.visibility</p:attrName>
                                        </p:attrNameLst>
                                      </p:cBhvr>
                                      <p:to>
                                        <p:strVal val="visible"/>
                                      </p:to>
                                    </p:set>
                                    <p:animEffect transition="in" filter="fade">
                                      <p:cBhvr>
                                        <p:cTn id="10" dur="1000"/>
                                        <p:tgtEl>
                                          <p:spTgt spid="104"/>
                                        </p:tgtEl>
                                      </p:cBhvr>
                                    </p:animEffect>
                                  </p:childTnLst>
                                </p:cTn>
                              </p:par>
                              <p:par>
                                <p:cTn id="11" presetID="42" presetClass="path" presetSubtype="0" decel="50000" fill="hold" nodeType="withEffect">
                                  <p:stCondLst>
                                    <p:cond delay="250"/>
                                  </p:stCondLst>
                                  <p:childTnLst>
                                    <p:animMotion origin="layout" path="M -3.95833E-6 0.03727 L -3.95833E-6 0 " pathEditMode="relative" rAng="0" ptsTypes="AA">
                                      <p:cBhvr>
                                        <p:cTn id="12" dur="1000" fill="hold"/>
                                        <p:tgtEl>
                                          <p:spTgt spid="104"/>
                                        </p:tgtEl>
                                        <p:attrNameLst>
                                          <p:attrName>ppt_x</p:attrName>
                                          <p:attrName>ppt_y</p:attrName>
                                        </p:attrNameLst>
                                      </p:cBhvr>
                                      <p:rCtr x="0" y="-1875"/>
                                    </p:animMotion>
                                  </p:childTnLst>
                                </p:cTn>
                              </p:par>
                              <p:par>
                                <p:cTn id="13" presetID="10" presetClass="entr" presetSubtype="0" fill="hold" nodeType="withEffect">
                                  <p:stCondLst>
                                    <p:cond delay="250"/>
                                  </p:stCondLst>
                                  <p:childTnLst>
                                    <p:set>
                                      <p:cBhvr>
                                        <p:cTn id="14" dur="1" fill="hold">
                                          <p:stCondLst>
                                            <p:cond delay="0"/>
                                          </p:stCondLst>
                                        </p:cTn>
                                        <p:tgtEl>
                                          <p:spTgt spid="299"/>
                                        </p:tgtEl>
                                        <p:attrNameLst>
                                          <p:attrName>style.visibility</p:attrName>
                                        </p:attrNameLst>
                                      </p:cBhvr>
                                      <p:to>
                                        <p:strVal val="visible"/>
                                      </p:to>
                                    </p:set>
                                    <p:animEffect transition="in" filter="fade">
                                      <p:cBhvr>
                                        <p:cTn id="15" dur="1000"/>
                                        <p:tgtEl>
                                          <p:spTgt spid="299"/>
                                        </p:tgtEl>
                                      </p:cBhvr>
                                    </p:animEffect>
                                  </p:childTnLst>
                                </p:cTn>
                              </p:par>
                              <p:par>
                                <p:cTn id="16" presetID="42" presetClass="path" presetSubtype="0" decel="50000" fill="hold" nodeType="withEffect">
                                  <p:stCondLst>
                                    <p:cond delay="250"/>
                                  </p:stCondLst>
                                  <p:childTnLst>
                                    <p:animMotion origin="layout" path="M -3.95833E-6 0.03727 L -3.95833E-6 0 " pathEditMode="relative" rAng="0" ptsTypes="AA">
                                      <p:cBhvr>
                                        <p:cTn id="17" dur="1000" fill="hold"/>
                                        <p:tgtEl>
                                          <p:spTgt spid="299"/>
                                        </p:tgtEl>
                                        <p:attrNameLst>
                                          <p:attrName>ppt_x</p:attrName>
                                          <p:attrName>ppt_y</p:attrName>
                                        </p:attrNameLst>
                                      </p:cBhvr>
                                      <p:rCtr x="0" y="-1875"/>
                                    </p:animMotion>
                                  </p:childTnLst>
                                </p:cTn>
                              </p:par>
                              <p:par>
                                <p:cTn id="18" presetID="10" presetClass="entr" presetSubtype="0" fill="hold" nodeType="withEffect">
                                  <p:stCondLst>
                                    <p:cond delay="500"/>
                                  </p:stCondLst>
                                  <p:childTnLst>
                                    <p:set>
                                      <p:cBhvr>
                                        <p:cTn id="19" dur="1" fill="hold">
                                          <p:stCondLst>
                                            <p:cond delay="0"/>
                                          </p:stCondLst>
                                        </p:cTn>
                                        <p:tgtEl>
                                          <p:spTgt spid="142"/>
                                        </p:tgtEl>
                                        <p:attrNameLst>
                                          <p:attrName>style.visibility</p:attrName>
                                        </p:attrNameLst>
                                      </p:cBhvr>
                                      <p:to>
                                        <p:strVal val="visible"/>
                                      </p:to>
                                    </p:set>
                                    <p:animEffect transition="in" filter="fade">
                                      <p:cBhvr>
                                        <p:cTn id="20" dur="1000"/>
                                        <p:tgtEl>
                                          <p:spTgt spid="142"/>
                                        </p:tgtEl>
                                      </p:cBhvr>
                                    </p:animEffect>
                                  </p:childTnLst>
                                </p:cTn>
                              </p:par>
                              <p:par>
                                <p:cTn id="21" presetID="42" presetClass="path" presetSubtype="0" decel="50000" fill="hold" nodeType="withEffect">
                                  <p:stCondLst>
                                    <p:cond delay="500"/>
                                  </p:stCondLst>
                                  <p:childTnLst>
                                    <p:animMotion origin="layout" path="M -3.95833E-6 0.03727 L -3.95833E-6 0 " pathEditMode="relative" rAng="0" ptsTypes="AA">
                                      <p:cBhvr>
                                        <p:cTn id="22" dur="1000" fill="hold"/>
                                        <p:tgtEl>
                                          <p:spTgt spid="142"/>
                                        </p:tgtEl>
                                        <p:attrNameLst>
                                          <p:attrName>ppt_x</p:attrName>
                                          <p:attrName>ppt_y</p:attrName>
                                        </p:attrNameLst>
                                      </p:cBhvr>
                                      <p:rCtr x="0" y="-1875"/>
                                    </p:animMotion>
                                  </p:childTnLst>
                                </p:cTn>
                              </p:par>
                              <p:par>
                                <p:cTn id="23" presetID="10" presetClass="entr" presetSubtype="0" fill="hold" nodeType="withEffect">
                                  <p:stCondLst>
                                    <p:cond delay="500"/>
                                  </p:stCondLst>
                                  <p:childTnLst>
                                    <p:set>
                                      <p:cBhvr>
                                        <p:cTn id="24" dur="1" fill="hold">
                                          <p:stCondLst>
                                            <p:cond delay="0"/>
                                          </p:stCondLst>
                                        </p:cTn>
                                        <p:tgtEl>
                                          <p:spTgt spid="143"/>
                                        </p:tgtEl>
                                        <p:attrNameLst>
                                          <p:attrName>style.visibility</p:attrName>
                                        </p:attrNameLst>
                                      </p:cBhvr>
                                      <p:to>
                                        <p:strVal val="visible"/>
                                      </p:to>
                                    </p:set>
                                    <p:animEffect transition="in" filter="fade">
                                      <p:cBhvr>
                                        <p:cTn id="25" dur="1000"/>
                                        <p:tgtEl>
                                          <p:spTgt spid="143"/>
                                        </p:tgtEl>
                                      </p:cBhvr>
                                    </p:animEffect>
                                  </p:childTnLst>
                                </p:cTn>
                              </p:par>
                              <p:par>
                                <p:cTn id="26" presetID="42" presetClass="path" presetSubtype="0" decel="50000" fill="hold" nodeType="withEffect">
                                  <p:stCondLst>
                                    <p:cond delay="500"/>
                                  </p:stCondLst>
                                  <p:childTnLst>
                                    <p:animMotion origin="layout" path="M -3.95833E-6 0.03727 L -3.95833E-6 0 " pathEditMode="relative" rAng="0" ptsTypes="AA">
                                      <p:cBhvr>
                                        <p:cTn id="27" dur="1000" fill="hold"/>
                                        <p:tgtEl>
                                          <p:spTgt spid="143"/>
                                        </p:tgtEl>
                                        <p:attrNameLst>
                                          <p:attrName>ppt_x</p:attrName>
                                          <p:attrName>ppt_y</p:attrName>
                                        </p:attrNameLst>
                                      </p:cBhvr>
                                      <p:rCtr x="0" y="-1875"/>
                                    </p:animMotion>
                                  </p:childTnLst>
                                </p:cTn>
                              </p:par>
                              <p:par>
                                <p:cTn id="28" presetID="10" presetClass="entr" presetSubtype="0" fill="hold" nodeType="withEffect">
                                  <p:stCondLst>
                                    <p:cond delay="750"/>
                                  </p:stCondLst>
                                  <p:childTnLst>
                                    <p:set>
                                      <p:cBhvr>
                                        <p:cTn id="29" dur="1" fill="hold">
                                          <p:stCondLst>
                                            <p:cond delay="0"/>
                                          </p:stCondLst>
                                        </p:cTn>
                                        <p:tgtEl>
                                          <p:spTgt spid="191"/>
                                        </p:tgtEl>
                                        <p:attrNameLst>
                                          <p:attrName>style.visibility</p:attrName>
                                        </p:attrNameLst>
                                      </p:cBhvr>
                                      <p:to>
                                        <p:strVal val="visible"/>
                                      </p:to>
                                    </p:set>
                                    <p:animEffect transition="in" filter="fade">
                                      <p:cBhvr>
                                        <p:cTn id="30" dur="1000"/>
                                        <p:tgtEl>
                                          <p:spTgt spid="191"/>
                                        </p:tgtEl>
                                      </p:cBhvr>
                                    </p:animEffect>
                                  </p:childTnLst>
                                </p:cTn>
                              </p:par>
                              <p:par>
                                <p:cTn id="31" presetID="42" presetClass="path" presetSubtype="0" decel="50000" fill="hold" nodeType="withEffect">
                                  <p:stCondLst>
                                    <p:cond delay="750"/>
                                  </p:stCondLst>
                                  <p:childTnLst>
                                    <p:animMotion origin="layout" path="M -3.95833E-6 0.03727 L -3.95833E-6 0 " pathEditMode="relative" rAng="0" ptsTypes="AA">
                                      <p:cBhvr>
                                        <p:cTn id="32" dur="1000" fill="hold"/>
                                        <p:tgtEl>
                                          <p:spTgt spid="191"/>
                                        </p:tgtEl>
                                        <p:attrNameLst>
                                          <p:attrName>ppt_x</p:attrName>
                                          <p:attrName>ppt_y</p:attrName>
                                        </p:attrNameLst>
                                      </p:cBhvr>
                                      <p:rCtr x="0" y="-1875"/>
                                    </p:animMotion>
                                  </p:childTnLst>
                                </p:cTn>
                              </p:par>
                              <p:par>
                                <p:cTn id="33" presetID="10" presetClass="entr" presetSubtype="0" fill="hold" nodeType="withEffect">
                                  <p:stCondLst>
                                    <p:cond delay="750"/>
                                  </p:stCondLst>
                                  <p:childTnLst>
                                    <p:set>
                                      <p:cBhvr>
                                        <p:cTn id="34" dur="1" fill="hold">
                                          <p:stCondLst>
                                            <p:cond delay="0"/>
                                          </p:stCondLst>
                                        </p:cTn>
                                        <p:tgtEl>
                                          <p:spTgt spid="192"/>
                                        </p:tgtEl>
                                        <p:attrNameLst>
                                          <p:attrName>style.visibility</p:attrName>
                                        </p:attrNameLst>
                                      </p:cBhvr>
                                      <p:to>
                                        <p:strVal val="visible"/>
                                      </p:to>
                                    </p:set>
                                    <p:animEffect transition="in" filter="fade">
                                      <p:cBhvr>
                                        <p:cTn id="35" dur="1000"/>
                                        <p:tgtEl>
                                          <p:spTgt spid="192"/>
                                        </p:tgtEl>
                                      </p:cBhvr>
                                    </p:animEffect>
                                  </p:childTnLst>
                                </p:cTn>
                              </p:par>
                              <p:par>
                                <p:cTn id="36" presetID="42" presetClass="path" presetSubtype="0" decel="50000" fill="hold" nodeType="withEffect">
                                  <p:stCondLst>
                                    <p:cond delay="750"/>
                                  </p:stCondLst>
                                  <p:childTnLst>
                                    <p:animMotion origin="layout" path="M -3.95833E-6 0.03727 L -3.95833E-6 0 " pathEditMode="relative" rAng="0" ptsTypes="AA">
                                      <p:cBhvr>
                                        <p:cTn id="37" dur="1000" fill="hold"/>
                                        <p:tgtEl>
                                          <p:spTgt spid="192"/>
                                        </p:tgtEl>
                                        <p:attrNameLst>
                                          <p:attrName>ppt_x</p:attrName>
                                          <p:attrName>ppt_y</p:attrName>
                                        </p:attrNameLst>
                                      </p:cBhvr>
                                      <p:rCtr x="0" y="-1875"/>
                                    </p:animMotion>
                                  </p:childTnLst>
                                </p:cTn>
                              </p:par>
                              <p:par>
                                <p:cTn id="38" presetID="10" presetClass="entr" presetSubtype="0" fill="hold" nodeType="withEffect">
                                  <p:stCondLst>
                                    <p:cond delay="175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1000"/>
                                        <p:tgtEl>
                                          <p:spTgt spid="4"/>
                                        </p:tgtEl>
                                      </p:cBhvr>
                                    </p:animEffect>
                                  </p:childTnLst>
                                </p:cTn>
                              </p:par>
                              <p:par>
                                <p:cTn id="41" presetID="42" presetClass="path" presetSubtype="0" decel="50000" fill="hold" nodeType="withEffect">
                                  <p:stCondLst>
                                    <p:cond delay="1750"/>
                                  </p:stCondLst>
                                  <p:childTnLst>
                                    <p:animMotion origin="layout" path="M -3.95833E-6 0.03727 L -3.95833E-6 0 " pathEditMode="relative" rAng="0" ptsTypes="AA">
                                      <p:cBhvr>
                                        <p:cTn id="42" dur="1000" fill="hold"/>
                                        <p:tgtEl>
                                          <p:spTgt spid="4"/>
                                        </p:tgtEl>
                                        <p:attrNameLst>
                                          <p:attrName>ppt_x</p:attrName>
                                          <p:attrName>ppt_y</p:attrName>
                                        </p:attrNameLst>
                                      </p:cBhvr>
                                      <p:rCtr x="0" y="-1875"/>
                                    </p:animMotion>
                                  </p:childTnLst>
                                </p:cTn>
                              </p:par>
                              <p:par>
                                <p:cTn id="43" presetID="10" presetClass="entr" presetSubtype="0" fill="hold" nodeType="withEffect">
                                  <p:stCondLst>
                                    <p:cond delay="2500"/>
                                  </p:stCondLst>
                                  <p:childTnLst>
                                    <p:set>
                                      <p:cBhvr>
                                        <p:cTn id="44" dur="1" fill="hold">
                                          <p:stCondLst>
                                            <p:cond delay="0"/>
                                          </p:stCondLst>
                                        </p:cTn>
                                        <p:tgtEl>
                                          <p:spTgt spid="214"/>
                                        </p:tgtEl>
                                        <p:attrNameLst>
                                          <p:attrName>style.visibility</p:attrName>
                                        </p:attrNameLst>
                                      </p:cBhvr>
                                      <p:to>
                                        <p:strVal val="visible"/>
                                      </p:to>
                                    </p:set>
                                    <p:animEffect transition="in" filter="fade">
                                      <p:cBhvr>
                                        <p:cTn id="45" dur="1000"/>
                                        <p:tgtEl>
                                          <p:spTgt spid="214"/>
                                        </p:tgtEl>
                                      </p:cBhvr>
                                    </p:animEffect>
                                  </p:childTnLst>
                                </p:cTn>
                              </p:par>
                              <p:par>
                                <p:cTn id="46" presetID="42" presetClass="path" presetSubtype="0" decel="50000" fill="hold" nodeType="withEffect">
                                  <p:stCondLst>
                                    <p:cond delay="2500"/>
                                  </p:stCondLst>
                                  <p:childTnLst>
                                    <p:animMotion origin="layout" path="M -3.95833E-6 0.03727 L -3.95833E-6 0 " pathEditMode="relative" rAng="0" ptsTypes="AA">
                                      <p:cBhvr>
                                        <p:cTn id="47" dur="1000" fill="hold"/>
                                        <p:tgtEl>
                                          <p:spTgt spid="214"/>
                                        </p:tgtEl>
                                        <p:attrNameLst>
                                          <p:attrName>ppt_x</p:attrName>
                                          <p:attrName>ppt_y</p:attrName>
                                        </p:attrNameLst>
                                      </p:cBhvr>
                                      <p:rCtr x="0" y="-18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5AB3F-2FCF-2411-B6A6-07378A7AF180}"/>
            </a:ext>
          </a:extLst>
        </p:cNvPr>
        <p:cNvGrpSpPr/>
        <p:nvPr/>
      </p:nvGrpSpPr>
      <p:grpSpPr>
        <a:xfrm>
          <a:off x="0" y="0"/>
          <a:ext cx="0" cy="0"/>
          <a:chOff x="0" y="0"/>
          <a:chExt cx="0" cy="0"/>
        </a:xfrm>
      </p:grpSpPr>
      <p:sp>
        <p:nvSpPr>
          <p:cNvPr id="101" name="Eyebrow"/>
          <p:cNvSpPr txBox="1"/>
          <p:nvPr/>
        </p:nvSpPr>
        <p:spPr>
          <a:xfrm>
            <a:off x="548640" y="1485900"/>
            <a:ext cx="5212080" cy="292608"/>
          </a:xfrm>
          <a:prstGeom prst="rect">
            <a:avLst/>
          </a:prstGeom>
          <a:noFill/>
        </p:spPr>
        <p:txBody>
          <a:bodyPr wrap="square" lIns="0" tIns="0" rIns="0" bIns="0" anchor="t">
            <a:noAutofit/>
          </a:bodyPr>
          <a:lstStyle/>
          <a:p>
            <a:pPr algn="l">
              <a:spcAft>
                <a:spcPts val="0"/>
              </a:spcAft>
            </a:pPr>
            <a:r>
              <a:rPr lang="en-GB" sz="1100" b="1" spc="300" dirty="0">
                <a:solidFill>
                  <a:srgbClr val="71F1F7"/>
                </a:solidFill>
                <a:latin typeface="Source Sans 3"/>
                <a:cs typeface="Source Sans 3"/>
              </a:rPr>
              <a:t>YOUR SERVICENOW AI READINESS GAP</a:t>
            </a:r>
          </a:p>
        </p:txBody>
      </p:sp>
      <p:sp>
        <p:nvSpPr>
          <p:cNvPr id="102" name="Title"/>
          <p:cNvSpPr txBox="1"/>
          <p:nvPr/>
        </p:nvSpPr>
        <p:spPr>
          <a:xfrm>
            <a:off x="548640" y="1851660"/>
            <a:ext cx="5257800" cy="1371600"/>
          </a:xfrm>
          <a:prstGeom prst="rect">
            <a:avLst/>
          </a:prstGeom>
          <a:noFill/>
        </p:spPr>
        <p:txBody>
          <a:bodyPr wrap="square" lIns="0" tIns="0" rIns="0" bIns="0" anchor="t">
            <a:noAutofit/>
          </a:bodyPr>
          <a:lstStyle/>
          <a:p>
            <a:pPr algn="l">
              <a:lnSpc>
                <a:spcPct val="90000"/>
              </a:lnSpc>
              <a:spcAft>
                <a:spcPts val="0"/>
              </a:spcAft>
            </a:pPr>
            <a:r>
              <a:rPr lang="en-GB" sz="3100" b="1" dirty="0">
                <a:solidFill>
                  <a:srgbClr val="FFFFFF"/>
                </a:solidFill>
                <a:latin typeface="Source Sans 3"/>
                <a:cs typeface="Source Sans 3"/>
              </a:rPr>
              <a:t>What's stopping us from</a:t>
            </a:r>
          </a:p>
          <a:p>
            <a:pPr algn="l">
              <a:lnSpc>
                <a:spcPct val="90000"/>
              </a:lnSpc>
              <a:spcAft>
                <a:spcPts val="0"/>
              </a:spcAft>
            </a:pPr>
            <a:r>
              <a:rPr lang="en-GB" sz="3100" b="1" dirty="0">
                <a:solidFill>
                  <a:srgbClr val="8FFFDB"/>
                </a:solidFill>
                <a:latin typeface="Source Sans 3"/>
                <a:cs typeface="Source Sans 3"/>
              </a:rPr>
              <a:t>letting AI do the work?</a:t>
            </a:r>
          </a:p>
        </p:txBody>
      </p:sp>
      <p:sp>
        <p:nvSpPr>
          <p:cNvPr id="103" name="Definition"/>
          <p:cNvSpPr txBox="1"/>
          <p:nvPr/>
        </p:nvSpPr>
        <p:spPr>
          <a:xfrm>
            <a:off x="548640" y="3515868"/>
            <a:ext cx="5349240" cy="685800"/>
          </a:xfrm>
          <a:prstGeom prst="rect">
            <a:avLst/>
          </a:prstGeom>
          <a:noFill/>
        </p:spPr>
        <p:txBody>
          <a:bodyPr wrap="square" lIns="0" tIns="0" rIns="0" bIns="0" anchor="t">
            <a:noAutofit/>
          </a:bodyPr>
          <a:lstStyle/>
          <a:p>
            <a:pPr algn="l">
              <a:lnSpc>
                <a:spcPct val="105000"/>
              </a:lnSpc>
              <a:spcAft>
                <a:spcPts val="0"/>
              </a:spcAft>
            </a:pPr>
            <a:r>
              <a:rPr lang="en-GB" sz="1700" b="0" dirty="0">
                <a:solidFill>
                  <a:srgbClr val="FFFFFF">
                    <a:alpha val="88000"/>
                  </a:srgbClr>
                </a:solidFill>
                <a:latin typeface="Source Sans 3"/>
                <a:cs typeface="Source Sans 3"/>
              </a:rPr>
              <a:t>Can we trust the data, rely on the workflow, control the action and justify the consumption?</a:t>
            </a:r>
          </a:p>
        </p:txBody>
      </p:sp>
      <p:sp>
        <p:nvSpPr>
          <p:cNvPr id="104" name="CTA"/>
          <p:cNvSpPr/>
          <p:nvPr/>
        </p:nvSpPr>
        <p:spPr>
          <a:xfrm>
            <a:off x="548640" y="4658868"/>
            <a:ext cx="2926080" cy="457200"/>
          </a:xfrm>
          <a:prstGeom prst="roundRect">
            <a:avLst>
              <a:gd name="adj" fmla="val 50000"/>
            </a:avLst>
          </a:prstGeom>
          <a:solidFill>
            <a:srgbClr val="8FFFDB"/>
          </a:solidFill>
          <a:ln>
            <a:noFill/>
          </a:ln>
        </p:spPr>
        <p:txBody>
          <a:bodyPr wrap="square" lIns="73152" tIns="0" rIns="73152" bIns="0" anchor="ctr">
            <a:noAutofit/>
          </a:bodyPr>
          <a:lstStyle/>
          <a:p>
            <a:pPr algn="ctr">
              <a:spcAft>
                <a:spcPts val="0"/>
              </a:spcAft>
            </a:pPr>
            <a:r>
              <a:rPr lang="en-GB" sz="1400" b="1" dirty="0">
                <a:solidFill>
                  <a:srgbClr val="040E3D"/>
                </a:solidFill>
                <a:latin typeface="Source Sans 3"/>
                <a:cs typeface="Source Sans 3"/>
              </a:rPr>
              <a:t>Calculate your readiness  →</a:t>
            </a:r>
          </a:p>
        </p:txBody>
      </p:sp>
      <p:sp>
        <p:nvSpPr>
          <p:cNvPr id="106" name="Exhibit label"/>
          <p:cNvSpPr txBox="1"/>
          <p:nvPr/>
        </p:nvSpPr>
        <p:spPr>
          <a:xfrm>
            <a:off x="6309360" y="795528"/>
            <a:ext cx="4937760" cy="274320"/>
          </a:xfrm>
          <a:prstGeom prst="rect">
            <a:avLst/>
          </a:prstGeom>
          <a:noFill/>
        </p:spPr>
        <p:txBody>
          <a:bodyPr wrap="square" lIns="0" tIns="0" rIns="0" bIns="0" anchor="t">
            <a:noAutofit/>
          </a:bodyPr>
          <a:lstStyle/>
          <a:p>
            <a:pPr algn="l">
              <a:spcAft>
                <a:spcPts val="0"/>
              </a:spcAft>
            </a:pPr>
            <a:r>
              <a:rPr lang="en-GB" sz="1000" b="1" dirty="0">
                <a:solidFill>
                  <a:srgbClr val="71F1F7"/>
                </a:solidFill>
                <a:latin typeface="Source Sans 3"/>
                <a:cs typeface="Source Sans 3"/>
              </a:rPr>
              <a:t>EXHIBIT 01</a:t>
            </a:r>
            <a:r>
              <a:rPr lang="en-GB" sz="1000" b="1" dirty="0">
                <a:solidFill>
                  <a:srgbClr val="FFFFFF">
                    <a:alpha val="70000"/>
                  </a:srgbClr>
                </a:solidFill>
                <a:latin typeface="Source Sans 3"/>
                <a:cs typeface="Source Sans 3"/>
              </a:rPr>
              <a:t>  ·  THE EXECUTION GAP</a:t>
            </a:r>
          </a:p>
        </p:txBody>
      </p:sp>
      <p:cxnSp>
        <p:nvCxnSpPr>
          <p:cNvPr id="107" name="Y axis"/>
          <p:cNvCxnSpPr/>
          <p:nvPr/>
        </p:nvCxnSpPr>
        <p:spPr>
          <a:xfrm>
            <a:off x="6675120" y="1344168"/>
            <a:ext cx="0" cy="3291840"/>
          </a:xfrm>
          <a:prstGeom prst="line">
            <a:avLst/>
          </a:prstGeom>
          <a:ln w="9144" cap="rnd">
            <a:solidFill>
              <a:srgbClr val="FFFFFF">
                <a:alpha val="35000"/>
              </a:srgbClr>
            </a:solidFill>
          </a:ln>
        </p:spPr>
      </p:cxnSp>
      <p:cxnSp>
        <p:nvCxnSpPr>
          <p:cNvPr id="108" name="X axis"/>
          <p:cNvCxnSpPr/>
          <p:nvPr/>
        </p:nvCxnSpPr>
        <p:spPr>
          <a:xfrm>
            <a:off x="6675120" y="4636008"/>
            <a:ext cx="4526280" cy="0"/>
          </a:xfrm>
          <a:prstGeom prst="line">
            <a:avLst/>
          </a:prstGeom>
          <a:ln w="9144" cap="rnd">
            <a:solidFill>
              <a:srgbClr val="FFFFFF">
                <a:alpha val="35000"/>
              </a:srgbClr>
            </a:solidFill>
          </a:ln>
        </p:spPr>
      </p:cxnSp>
      <p:sp>
        <p:nvSpPr>
          <p:cNvPr id="109" name="Y axis label"/>
          <p:cNvSpPr txBox="1"/>
          <p:nvPr/>
        </p:nvSpPr>
        <p:spPr>
          <a:xfrm rot="16200000">
            <a:off x="5623560" y="2578608"/>
            <a:ext cx="1737360" cy="274320"/>
          </a:xfrm>
          <a:prstGeom prst="rect">
            <a:avLst/>
          </a:prstGeom>
          <a:noFill/>
        </p:spPr>
        <p:txBody>
          <a:bodyPr wrap="square" lIns="0" tIns="0" rIns="0" bIns="0" anchor="ctr">
            <a:noAutofit/>
          </a:bodyPr>
          <a:lstStyle/>
          <a:p>
            <a:pPr algn="ctr">
              <a:spcAft>
                <a:spcPts val="0"/>
              </a:spcAft>
            </a:pPr>
            <a:r>
              <a:rPr lang="en-GB" sz="900" b="1" dirty="0">
                <a:solidFill>
                  <a:srgbClr val="FFFFFF">
                    <a:alpha val="60000"/>
                  </a:srgbClr>
                </a:solidFill>
                <a:latin typeface="Source Sans 3"/>
                <a:cs typeface="Source Sans 3"/>
              </a:rPr>
              <a:t>CAPABILITY →</a:t>
            </a:r>
          </a:p>
        </p:txBody>
      </p:sp>
      <p:sp>
        <p:nvSpPr>
          <p:cNvPr id="110" name="Gap area"/>
          <p:cNvSpPr/>
          <p:nvPr/>
        </p:nvSpPr>
        <p:spPr>
          <a:xfrm>
            <a:off x="6675120" y="1527048"/>
            <a:ext cx="4526280" cy="3081528"/>
          </a:xfrm>
          <a:custGeom>
            <a:avLst/>
            <a:gdLst/>
            <a:ahLst/>
            <a:cxnLst/>
            <a:rect l="0" t="0" r="r" b="b"/>
            <a:pathLst>
              <a:path w="4526280" h="3081528">
                <a:moveTo>
                  <a:pt x="0" y="3063240"/>
                </a:moveTo>
                <a:lnTo>
                  <a:pt x="94298" y="3050324"/>
                </a:lnTo>
                <a:lnTo>
                  <a:pt x="188595" y="3030910"/>
                </a:lnTo>
                <a:lnTo>
                  <a:pt x="282893" y="3005281"/>
                </a:lnTo>
                <a:lnTo>
                  <a:pt x="377190" y="2973718"/>
                </a:lnTo>
                <a:lnTo>
                  <a:pt x="471488" y="2936505"/>
                </a:lnTo>
                <a:lnTo>
                  <a:pt x="565785" y="2893924"/>
                </a:lnTo>
                <a:lnTo>
                  <a:pt x="660082" y="2846258"/>
                </a:lnTo>
                <a:lnTo>
                  <a:pt x="754380" y="2793788"/>
                </a:lnTo>
                <a:lnTo>
                  <a:pt x="848678" y="2736799"/>
                </a:lnTo>
                <a:lnTo>
                  <a:pt x="942975" y="2675571"/>
                </a:lnTo>
                <a:lnTo>
                  <a:pt x="1037272" y="2610388"/>
                </a:lnTo>
                <a:lnTo>
                  <a:pt x="1131570" y="2541532"/>
                </a:lnTo>
                <a:lnTo>
                  <a:pt x="1225868" y="2469286"/>
                </a:lnTo>
                <a:lnTo>
                  <a:pt x="1320165" y="2393932"/>
                </a:lnTo>
                <a:lnTo>
                  <a:pt x="1414463" y="2315753"/>
                </a:lnTo>
                <a:lnTo>
                  <a:pt x="1508760" y="2235031"/>
                </a:lnTo>
                <a:lnTo>
                  <a:pt x="1603057" y="2152049"/>
                </a:lnTo>
                <a:lnTo>
                  <a:pt x="1697355" y="2067089"/>
                </a:lnTo>
                <a:lnTo>
                  <a:pt x="1791653" y="1980434"/>
                </a:lnTo>
                <a:lnTo>
                  <a:pt x="1885950" y="1892366"/>
                </a:lnTo>
                <a:lnTo>
                  <a:pt x="1980247" y="1803168"/>
                </a:lnTo>
                <a:lnTo>
                  <a:pt x="2074545" y="1713123"/>
                </a:lnTo>
                <a:lnTo>
                  <a:pt x="2168842" y="1622513"/>
                </a:lnTo>
                <a:lnTo>
                  <a:pt x="2263140" y="1531620"/>
                </a:lnTo>
                <a:lnTo>
                  <a:pt x="2357438" y="1440727"/>
                </a:lnTo>
                <a:lnTo>
                  <a:pt x="2451735" y="1350117"/>
                </a:lnTo>
                <a:lnTo>
                  <a:pt x="2546032" y="1260072"/>
                </a:lnTo>
                <a:lnTo>
                  <a:pt x="2640330" y="1170874"/>
                </a:lnTo>
                <a:lnTo>
                  <a:pt x="2734628" y="1082806"/>
                </a:lnTo>
                <a:lnTo>
                  <a:pt x="2828925" y="996151"/>
                </a:lnTo>
                <a:lnTo>
                  <a:pt x="2923222" y="911191"/>
                </a:lnTo>
                <a:lnTo>
                  <a:pt x="3017520" y="828209"/>
                </a:lnTo>
                <a:lnTo>
                  <a:pt x="3111818" y="747487"/>
                </a:lnTo>
                <a:lnTo>
                  <a:pt x="3206115" y="669308"/>
                </a:lnTo>
                <a:lnTo>
                  <a:pt x="3300413" y="593954"/>
                </a:lnTo>
                <a:lnTo>
                  <a:pt x="3394710" y="521708"/>
                </a:lnTo>
                <a:lnTo>
                  <a:pt x="3489008" y="452852"/>
                </a:lnTo>
                <a:lnTo>
                  <a:pt x="3583305" y="387669"/>
                </a:lnTo>
                <a:lnTo>
                  <a:pt x="3677603" y="326441"/>
                </a:lnTo>
                <a:lnTo>
                  <a:pt x="3771900" y="269452"/>
                </a:lnTo>
                <a:lnTo>
                  <a:pt x="3866197" y="216982"/>
                </a:lnTo>
                <a:lnTo>
                  <a:pt x="3960495" y="169316"/>
                </a:lnTo>
                <a:lnTo>
                  <a:pt x="4054792" y="126735"/>
                </a:lnTo>
                <a:lnTo>
                  <a:pt x="4149090" y="89522"/>
                </a:lnTo>
                <a:lnTo>
                  <a:pt x="4243388" y="57959"/>
                </a:lnTo>
                <a:lnTo>
                  <a:pt x="4337685" y="32330"/>
                </a:lnTo>
                <a:lnTo>
                  <a:pt x="4431982" y="12916"/>
                </a:lnTo>
                <a:lnTo>
                  <a:pt x="4526280" y="0"/>
                </a:lnTo>
                <a:lnTo>
                  <a:pt x="4526280" y="2217420"/>
                </a:lnTo>
                <a:lnTo>
                  <a:pt x="4431982" y="2246043"/>
                </a:lnTo>
                <a:lnTo>
                  <a:pt x="4337685" y="2274303"/>
                </a:lnTo>
                <a:lnTo>
                  <a:pt x="4243388" y="2302197"/>
                </a:lnTo>
                <a:lnTo>
                  <a:pt x="4149090" y="2329721"/>
                </a:lnTo>
                <a:lnTo>
                  <a:pt x="4054792" y="2356873"/>
                </a:lnTo>
                <a:lnTo>
                  <a:pt x="3960495" y="2383648"/>
                </a:lnTo>
                <a:lnTo>
                  <a:pt x="3866197" y="2410043"/>
                </a:lnTo>
                <a:lnTo>
                  <a:pt x="3771900" y="2436055"/>
                </a:lnTo>
                <a:lnTo>
                  <a:pt x="3677603" y="2461680"/>
                </a:lnTo>
                <a:lnTo>
                  <a:pt x="3583305" y="2486913"/>
                </a:lnTo>
                <a:lnTo>
                  <a:pt x="3489008" y="2511751"/>
                </a:lnTo>
                <a:lnTo>
                  <a:pt x="3394710" y="2536190"/>
                </a:lnTo>
                <a:lnTo>
                  <a:pt x="3300413" y="2560224"/>
                </a:lnTo>
                <a:lnTo>
                  <a:pt x="3206115" y="2583850"/>
                </a:lnTo>
                <a:lnTo>
                  <a:pt x="3111818" y="2607063"/>
                </a:lnTo>
                <a:lnTo>
                  <a:pt x="3017520" y="2629857"/>
                </a:lnTo>
                <a:lnTo>
                  <a:pt x="2923222" y="2652228"/>
                </a:lnTo>
                <a:lnTo>
                  <a:pt x="2828925" y="2674170"/>
                </a:lnTo>
                <a:lnTo>
                  <a:pt x="2734628" y="2695678"/>
                </a:lnTo>
                <a:lnTo>
                  <a:pt x="2640330" y="2716745"/>
                </a:lnTo>
                <a:lnTo>
                  <a:pt x="2546032" y="2737365"/>
                </a:lnTo>
                <a:lnTo>
                  <a:pt x="2451735" y="2757532"/>
                </a:lnTo>
                <a:lnTo>
                  <a:pt x="2357438" y="2777239"/>
                </a:lnTo>
                <a:lnTo>
                  <a:pt x="2263140" y="2796479"/>
                </a:lnTo>
                <a:lnTo>
                  <a:pt x="2168842" y="2815243"/>
                </a:lnTo>
                <a:lnTo>
                  <a:pt x="2074545" y="2833524"/>
                </a:lnTo>
                <a:lnTo>
                  <a:pt x="1980247" y="2851313"/>
                </a:lnTo>
                <a:lnTo>
                  <a:pt x="1885950" y="2868601"/>
                </a:lnTo>
                <a:lnTo>
                  <a:pt x="1791653" y="2885378"/>
                </a:lnTo>
                <a:lnTo>
                  <a:pt x="1697355" y="2901633"/>
                </a:lnTo>
                <a:lnTo>
                  <a:pt x="1603057" y="2917356"/>
                </a:lnTo>
                <a:lnTo>
                  <a:pt x="1508760" y="2932532"/>
                </a:lnTo>
                <a:lnTo>
                  <a:pt x="1414463" y="2947150"/>
                </a:lnTo>
                <a:lnTo>
                  <a:pt x="1320165" y="2961194"/>
                </a:lnTo>
                <a:lnTo>
                  <a:pt x="1225868" y="2974649"/>
                </a:lnTo>
                <a:lnTo>
                  <a:pt x="1131570" y="2987497"/>
                </a:lnTo>
                <a:lnTo>
                  <a:pt x="1037272" y="2999717"/>
                </a:lnTo>
                <a:lnTo>
                  <a:pt x="942975" y="3011288"/>
                </a:lnTo>
                <a:lnTo>
                  <a:pt x="848678" y="3022185"/>
                </a:lnTo>
                <a:lnTo>
                  <a:pt x="754380" y="3032378"/>
                </a:lnTo>
                <a:lnTo>
                  <a:pt x="660082" y="3041833"/>
                </a:lnTo>
                <a:lnTo>
                  <a:pt x="565785" y="3050509"/>
                </a:lnTo>
                <a:lnTo>
                  <a:pt x="471488" y="3058358"/>
                </a:lnTo>
                <a:lnTo>
                  <a:pt x="377190" y="3065314"/>
                </a:lnTo>
                <a:lnTo>
                  <a:pt x="282893" y="3071296"/>
                </a:lnTo>
                <a:lnTo>
                  <a:pt x="188595" y="3076180"/>
                </a:lnTo>
                <a:lnTo>
                  <a:pt x="94298" y="3079764"/>
                </a:lnTo>
                <a:lnTo>
                  <a:pt x="0" y="3081528"/>
                </a:lnTo>
                <a:close/>
              </a:path>
            </a:pathLst>
          </a:custGeom>
          <a:gradFill rotWithShape="1">
            <a:gsLst>
              <a:gs pos="0">
                <a:srgbClr val="F65275">
                  <a:alpha val="0"/>
                </a:srgbClr>
              </a:gs>
              <a:gs pos="100000">
                <a:srgbClr val="F65275">
                  <a:alpha val="32000"/>
                </a:srgbClr>
              </a:gs>
            </a:gsLst>
            <a:lin ang="0" scaled="0"/>
          </a:gradFill>
          <a:ln>
            <a:noFill/>
          </a:ln>
        </p:spPr>
        <p:txBody>
          <a:bodyPr/>
          <a:lstStyle/>
          <a:p>
            <a:endParaRPr lang="en-US" dirty="0"/>
          </a:p>
        </p:txBody>
      </p:sp>
      <p:sp>
        <p:nvSpPr>
          <p:cNvPr id="111" name="Platform AI capability line"/>
          <p:cNvSpPr/>
          <p:nvPr/>
        </p:nvSpPr>
        <p:spPr>
          <a:xfrm>
            <a:off x="6675120" y="1527048"/>
            <a:ext cx="4526280" cy="3063240"/>
          </a:xfrm>
          <a:custGeom>
            <a:avLst/>
            <a:gdLst/>
            <a:ahLst/>
            <a:cxnLst/>
            <a:rect l="0" t="0" r="r" b="b"/>
            <a:pathLst>
              <a:path w="4526280" h="3063240">
                <a:moveTo>
                  <a:pt x="0" y="3063240"/>
                </a:moveTo>
                <a:lnTo>
                  <a:pt x="94298" y="3050324"/>
                </a:lnTo>
                <a:lnTo>
                  <a:pt x="188595" y="3030910"/>
                </a:lnTo>
                <a:lnTo>
                  <a:pt x="282893" y="3005281"/>
                </a:lnTo>
                <a:lnTo>
                  <a:pt x="377190" y="2973718"/>
                </a:lnTo>
                <a:lnTo>
                  <a:pt x="471488" y="2936505"/>
                </a:lnTo>
                <a:lnTo>
                  <a:pt x="565785" y="2893924"/>
                </a:lnTo>
                <a:lnTo>
                  <a:pt x="660082" y="2846258"/>
                </a:lnTo>
                <a:lnTo>
                  <a:pt x="754380" y="2793788"/>
                </a:lnTo>
                <a:lnTo>
                  <a:pt x="848678" y="2736799"/>
                </a:lnTo>
                <a:lnTo>
                  <a:pt x="942975" y="2675571"/>
                </a:lnTo>
                <a:lnTo>
                  <a:pt x="1037272" y="2610388"/>
                </a:lnTo>
                <a:lnTo>
                  <a:pt x="1131570" y="2541532"/>
                </a:lnTo>
                <a:lnTo>
                  <a:pt x="1225868" y="2469286"/>
                </a:lnTo>
                <a:lnTo>
                  <a:pt x="1320165" y="2393932"/>
                </a:lnTo>
                <a:lnTo>
                  <a:pt x="1414463" y="2315753"/>
                </a:lnTo>
                <a:lnTo>
                  <a:pt x="1508760" y="2235031"/>
                </a:lnTo>
                <a:lnTo>
                  <a:pt x="1603057" y="2152049"/>
                </a:lnTo>
                <a:lnTo>
                  <a:pt x="1697355" y="2067089"/>
                </a:lnTo>
                <a:lnTo>
                  <a:pt x="1791653" y="1980434"/>
                </a:lnTo>
                <a:lnTo>
                  <a:pt x="1885950" y="1892366"/>
                </a:lnTo>
                <a:lnTo>
                  <a:pt x="1980247" y="1803168"/>
                </a:lnTo>
                <a:lnTo>
                  <a:pt x="2074545" y="1713123"/>
                </a:lnTo>
                <a:lnTo>
                  <a:pt x="2168842" y="1622513"/>
                </a:lnTo>
                <a:lnTo>
                  <a:pt x="2263140" y="1531620"/>
                </a:lnTo>
                <a:lnTo>
                  <a:pt x="2357438" y="1440727"/>
                </a:lnTo>
                <a:lnTo>
                  <a:pt x="2451735" y="1350117"/>
                </a:lnTo>
                <a:lnTo>
                  <a:pt x="2546032" y="1260072"/>
                </a:lnTo>
                <a:lnTo>
                  <a:pt x="2640330" y="1170874"/>
                </a:lnTo>
                <a:lnTo>
                  <a:pt x="2734628" y="1082806"/>
                </a:lnTo>
                <a:lnTo>
                  <a:pt x="2828925" y="996151"/>
                </a:lnTo>
                <a:lnTo>
                  <a:pt x="2923222" y="911191"/>
                </a:lnTo>
                <a:lnTo>
                  <a:pt x="3017520" y="828209"/>
                </a:lnTo>
                <a:lnTo>
                  <a:pt x="3111818" y="747487"/>
                </a:lnTo>
                <a:lnTo>
                  <a:pt x="3206115" y="669308"/>
                </a:lnTo>
                <a:lnTo>
                  <a:pt x="3300413" y="593954"/>
                </a:lnTo>
                <a:lnTo>
                  <a:pt x="3394710" y="521708"/>
                </a:lnTo>
                <a:lnTo>
                  <a:pt x="3489008" y="452852"/>
                </a:lnTo>
                <a:lnTo>
                  <a:pt x="3583305" y="387669"/>
                </a:lnTo>
                <a:lnTo>
                  <a:pt x="3677603" y="326441"/>
                </a:lnTo>
                <a:lnTo>
                  <a:pt x="3771900" y="269452"/>
                </a:lnTo>
                <a:lnTo>
                  <a:pt x="3866197" y="216982"/>
                </a:lnTo>
                <a:lnTo>
                  <a:pt x="3960495" y="169316"/>
                </a:lnTo>
                <a:lnTo>
                  <a:pt x="4054792" y="126735"/>
                </a:lnTo>
                <a:lnTo>
                  <a:pt x="4149090" y="89522"/>
                </a:lnTo>
                <a:lnTo>
                  <a:pt x="4243388" y="57959"/>
                </a:lnTo>
                <a:lnTo>
                  <a:pt x="4337685" y="32330"/>
                </a:lnTo>
                <a:lnTo>
                  <a:pt x="4431982" y="12916"/>
                </a:lnTo>
                <a:lnTo>
                  <a:pt x="4526280" y="0"/>
                </a:lnTo>
              </a:path>
            </a:pathLst>
          </a:custGeom>
          <a:noFill/>
          <a:ln w="32004" cap="rnd">
            <a:solidFill>
              <a:srgbClr val="71F1F7"/>
            </a:solidFill>
            <a:round/>
          </a:ln>
        </p:spPr>
        <p:txBody>
          <a:bodyPr/>
          <a:lstStyle/>
          <a:p>
            <a:endParaRPr lang="en-US"/>
          </a:p>
        </p:txBody>
      </p:sp>
      <p:sp>
        <p:nvSpPr>
          <p:cNvPr id="112" name="Organisational readiness line"/>
          <p:cNvSpPr/>
          <p:nvPr/>
        </p:nvSpPr>
        <p:spPr>
          <a:xfrm>
            <a:off x="6675120" y="3744468"/>
            <a:ext cx="4526280" cy="864108"/>
          </a:xfrm>
          <a:custGeom>
            <a:avLst/>
            <a:gdLst/>
            <a:ahLst/>
            <a:cxnLst/>
            <a:rect l="0" t="0" r="r" b="b"/>
            <a:pathLst>
              <a:path w="4526280" h="864108">
                <a:moveTo>
                  <a:pt x="0" y="864108"/>
                </a:moveTo>
                <a:lnTo>
                  <a:pt x="94298" y="862344"/>
                </a:lnTo>
                <a:lnTo>
                  <a:pt x="188595" y="858760"/>
                </a:lnTo>
                <a:lnTo>
                  <a:pt x="282893" y="853876"/>
                </a:lnTo>
                <a:lnTo>
                  <a:pt x="377190" y="847894"/>
                </a:lnTo>
                <a:lnTo>
                  <a:pt x="471488" y="840938"/>
                </a:lnTo>
                <a:lnTo>
                  <a:pt x="565785" y="833089"/>
                </a:lnTo>
                <a:lnTo>
                  <a:pt x="660082" y="824413"/>
                </a:lnTo>
                <a:lnTo>
                  <a:pt x="754380" y="814958"/>
                </a:lnTo>
                <a:lnTo>
                  <a:pt x="848678" y="804765"/>
                </a:lnTo>
                <a:lnTo>
                  <a:pt x="942975" y="793868"/>
                </a:lnTo>
                <a:lnTo>
                  <a:pt x="1037272" y="782297"/>
                </a:lnTo>
                <a:lnTo>
                  <a:pt x="1131570" y="770077"/>
                </a:lnTo>
                <a:lnTo>
                  <a:pt x="1225868" y="757229"/>
                </a:lnTo>
                <a:lnTo>
                  <a:pt x="1320165" y="743774"/>
                </a:lnTo>
                <a:lnTo>
                  <a:pt x="1414463" y="729730"/>
                </a:lnTo>
                <a:lnTo>
                  <a:pt x="1508760" y="715112"/>
                </a:lnTo>
                <a:lnTo>
                  <a:pt x="1603057" y="699936"/>
                </a:lnTo>
                <a:lnTo>
                  <a:pt x="1697355" y="684213"/>
                </a:lnTo>
                <a:lnTo>
                  <a:pt x="1791653" y="667958"/>
                </a:lnTo>
                <a:lnTo>
                  <a:pt x="1885950" y="651181"/>
                </a:lnTo>
                <a:lnTo>
                  <a:pt x="1980247" y="633893"/>
                </a:lnTo>
                <a:lnTo>
                  <a:pt x="2074545" y="616104"/>
                </a:lnTo>
                <a:lnTo>
                  <a:pt x="2168842" y="597823"/>
                </a:lnTo>
                <a:lnTo>
                  <a:pt x="2263140" y="579059"/>
                </a:lnTo>
                <a:lnTo>
                  <a:pt x="2357438" y="559819"/>
                </a:lnTo>
                <a:lnTo>
                  <a:pt x="2451735" y="540112"/>
                </a:lnTo>
                <a:lnTo>
                  <a:pt x="2546032" y="519945"/>
                </a:lnTo>
                <a:lnTo>
                  <a:pt x="2640330" y="499325"/>
                </a:lnTo>
                <a:lnTo>
                  <a:pt x="2734628" y="478258"/>
                </a:lnTo>
                <a:lnTo>
                  <a:pt x="2828925" y="456750"/>
                </a:lnTo>
                <a:lnTo>
                  <a:pt x="2923222" y="434808"/>
                </a:lnTo>
                <a:lnTo>
                  <a:pt x="3017520" y="412437"/>
                </a:lnTo>
                <a:lnTo>
                  <a:pt x="3111818" y="389643"/>
                </a:lnTo>
                <a:lnTo>
                  <a:pt x="3206115" y="366430"/>
                </a:lnTo>
                <a:lnTo>
                  <a:pt x="3300413" y="342804"/>
                </a:lnTo>
                <a:lnTo>
                  <a:pt x="3394710" y="318770"/>
                </a:lnTo>
                <a:lnTo>
                  <a:pt x="3489008" y="294331"/>
                </a:lnTo>
                <a:lnTo>
                  <a:pt x="3583305" y="269493"/>
                </a:lnTo>
                <a:lnTo>
                  <a:pt x="3677603" y="244260"/>
                </a:lnTo>
                <a:lnTo>
                  <a:pt x="3771900" y="218635"/>
                </a:lnTo>
                <a:lnTo>
                  <a:pt x="3866197" y="192623"/>
                </a:lnTo>
                <a:lnTo>
                  <a:pt x="3960495" y="166228"/>
                </a:lnTo>
                <a:lnTo>
                  <a:pt x="4054792" y="139453"/>
                </a:lnTo>
                <a:lnTo>
                  <a:pt x="4149090" y="112301"/>
                </a:lnTo>
                <a:lnTo>
                  <a:pt x="4243388" y="84777"/>
                </a:lnTo>
                <a:lnTo>
                  <a:pt x="4337685" y="56883"/>
                </a:lnTo>
                <a:lnTo>
                  <a:pt x="4431982" y="28623"/>
                </a:lnTo>
                <a:lnTo>
                  <a:pt x="4526280" y="0"/>
                </a:lnTo>
              </a:path>
            </a:pathLst>
          </a:custGeom>
          <a:noFill/>
          <a:ln w="32004" cap="rnd">
            <a:solidFill>
              <a:srgbClr val="F65275"/>
            </a:solidFill>
            <a:prstDash val="dash"/>
            <a:round/>
          </a:ln>
        </p:spPr>
        <p:txBody>
          <a:bodyPr/>
          <a:lstStyle/>
          <a:p>
            <a:endParaRPr lang="en-US"/>
          </a:p>
        </p:txBody>
      </p:sp>
      <p:sp>
        <p:nvSpPr>
          <p:cNvPr id="113" name="Capability end"/>
          <p:cNvSpPr/>
          <p:nvPr/>
        </p:nvSpPr>
        <p:spPr>
          <a:xfrm>
            <a:off x="11137392" y="1463040"/>
            <a:ext cx="128016" cy="128016"/>
          </a:xfrm>
          <a:prstGeom prst="ellipse">
            <a:avLst/>
          </a:prstGeom>
          <a:solidFill>
            <a:srgbClr val="71F1F7"/>
          </a:solidFill>
          <a:ln w="13716">
            <a:solidFill>
              <a:srgbClr val="040E3D"/>
            </a:solidFill>
          </a:ln>
        </p:spPr>
        <p:txBody>
          <a:bodyPr/>
          <a:lstStyle/>
          <a:p>
            <a:endParaRPr lang="en-US"/>
          </a:p>
        </p:txBody>
      </p:sp>
      <p:sp>
        <p:nvSpPr>
          <p:cNvPr id="114" name="Readiness end"/>
          <p:cNvSpPr/>
          <p:nvPr/>
        </p:nvSpPr>
        <p:spPr>
          <a:xfrm>
            <a:off x="11137392" y="3680460"/>
            <a:ext cx="128016" cy="128016"/>
          </a:xfrm>
          <a:prstGeom prst="ellipse">
            <a:avLst/>
          </a:prstGeom>
          <a:solidFill>
            <a:srgbClr val="F65275"/>
          </a:solidFill>
          <a:ln w="13716">
            <a:solidFill>
              <a:srgbClr val="040E3D"/>
            </a:solidFill>
          </a:ln>
        </p:spPr>
        <p:txBody>
          <a:bodyPr/>
          <a:lstStyle/>
          <a:p>
            <a:endParaRPr lang="en-US"/>
          </a:p>
        </p:txBody>
      </p:sp>
      <p:sp>
        <p:nvSpPr>
          <p:cNvPr id="115" name="Start"/>
          <p:cNvSpPr/>
          <p:nvPr/>
        </p:nvSpPr>
        <p:spPr>
          <a:xfrm>
            <a:off x="6611112" y="4526280"/>
            <a:ext cx="128016" cy="128016"/>
          </a:xfrm>
          <a:prstGeom prst="ellipse">
            <a:avLst/>
          </a:prstGeom>
          <a:solidFill>
            <a:srgbClr val="FFFFFF"/>
          </a:solidFill>
          <a:ln w="13716">
            <a:solidFill>
              <a:srgbClr val="040E3D"/>
            </a:solidFill>
          </a:ln>
        </p:spPr>
        <p:txBody>
          <a:bodyPr/>
          <a:lstStyle/>
          <a:p>
            <a:endParaRPr lang="en-US"/>
          </a:p>
        </p:txBody>
      </p:sp>
      <p:cxnSp>
        <p:nvCxnSpPr>
          <p:cNvPr id="116" name="Gap measure"/>
          <p:cNvCxnSpPr/>
          <p:nvPr/>
        </p:nvCxnSpPr>
        <p:spPr>
          <a:xfrm>
            <a:off x="10635615" y="1742084"/>
            <a:ext cx="0" cy="2122892"/>
          </a:xfrm>
          <a:prstGeom prst="line">
            <a:avLst/>
          </a:prstGeom>
          <a:ln w="12802" cap="rnd">
            <a:solidFill>
              <a:srgbClr val="FFFFFF">
                <a:alpha val="75000"/>
              </a:srgbClr>
            </a:solidFill>
            <a:prstDash val="dash"/>
          </a:ln>
        </p:spPr>
      </p:cxnSp>
      <p:cxnSp>
        <p:nvCxnSpPr>
          <p:cNvPr id="117" name="Gap cap top"/>
          <p:cNvCxnSpPr/>
          <p:nvPr/>
        </p:nvCxnSpPr>
        <p:spPr>
          <a:xfrm>
            <a:off x="10553319" y="1742084"/>
            <a:ext cx="164592" cy="0"/>
          </a:xfrm>
          <a:prstGeom prst="line">
            <a:avLst/>
          </a:prstGeom>
          <a:ln w="12802" cap="rnd">
            <a:solidFill>
              <a:srgbClr val="FFFFFF">
                <a:alpha val="75000"/>
              </a:srgbClr>
            </a:solidFill>
          </a:ln>
        </p:spPr>
      </p:cxnSp>
      <p:cxnSp>
        <p:nvCxnSpPr>
          <p:cNvPr id="118" name="Gap cap bottom"/>
          <p:cNvCxnSpPr/>
          <p:nvPr/>
        </p:nvCxnSpPr>
        <p:spPr>
          <a:xfrm>
            <a:off x="10553319" y="3864976"/>
            <a:ext cx="164592" cy="0"/>
          </a:xfrm>
          <a:prstGeom prst="line">
            <a:avLst/>
          </a:prstGeom>
          <a:ln w="12802" cap="rnd">
            <a:solidFill>
              <a:srgbClr val="FFFFFF">
                <a:alpha val="75000"/>
              </a:srgbClr>
            </a:solidFill>
          </a:ln>
        </p:spPr>
      </p:cxnSp>
      <p:sp>
        <p:nvSpPr>
          <p:cNvPr id="119" name="Capability label"/>
          <p:cNvSpPr txBox="1"/>
          <p:nvPr/>
        </p:nvSpPr>
        <p:spPr>
          <a:xfrm>
            <a:off x="9006840" y="1051560"/>
            <a:ext cx="2194560" cy="274320"/>
          </a:xfrm>
          <a:prstGeom prst="rect">
            <a:avLst/>
          </a:prstGeom>
          <a:noFill/>
        </p:spPr>
        <p:txBody>
          <a:bodyPr wrap="square" lIns="0" tIns="0" rIns="0" bIns="0" anchor="t">
            <a:noAutofit/>
          </a:bodyPr>
          <a:lstStyle/>
          <a:p>
            <a:pPr algn="r">
              <a:spcAft>
                <a:spcPts val="0"/>
              </a:spcAft>
            </a:pPr>
            <a:r>
              <a:rPr lang="en-GB" sz="1200" b="1" dirty="0">
                <a:solidFill>
                  <a:srgbClr val="71F1F7"/>
                </a:solidFill>
                <a:latin typeface="Source Sans 3"/>
                <a:cs typeface="Source Sans 3"/>
              </a:rPr>
              <a:t>Platform AI capability</a:t>
            </a:r>
          </a:p>
        </p:txBody>
      </p:sp>
      <p:sp>
        <p:nvSpPr>
          <p:cNvPr id="120" name="Readiness label"/>
          <p:cNvSpPr txBox="1"/>
          <p:nvPr/>
        </p:nvSpPr>
        <p:spPr>
          <a:xfrm>
            <a:off x="8823960" y="4293108"/>
            <a:ext cx="2377440" cy="274320"/>
          </a:xfrm>
          <a:prstGeom prst="rect">
            <a:avLst/>
          </a:prstGeom>
          <a:noFill/>
        </p:spPr>
        <p:txBody>
          <a:bodyPr wrap="square" lIns="0" tIns="0" rIns="0" bIns="0" anchor="t">
            <a:noAutofit/>
          </a:bodyPr>
          <a:lstStyle/>
          <a:p>
            <a:pPr algn="r">
              <a:spcAft>
                <a:spcPts val="0"/>
              </a:spcAft>
            </a:pPr>
            <a:r>
              <a:rPr lang="en-GB" sz="1200" b="1" dirty="0">
                <a:solidFill>
                  <a:srgbClr val="F65275"/>
                </a:solidFill>
                <a:latin typeface="Source Sans 3"/>
                <a:cs typeface="Source Sans 3"/>
              </a:rPr>
              <a:t>Organisational readiness</a:t>
            </a:r>
          </a:p>
        </p:txBody>
      </p:sp>
      <p:sp>
        <p:nvSpPr>
          <p:cNvPr id="121" name="Gap label"/>
          <p:cNvSpPr/>
          <p:nvPr/>
        </p:nvSpPr>
        <p:spPr>
          <a:xfrm>
            <a:off x="7772400" y="2807208"/>
            <a:ext cx="2788920" cy="621792"/>
          </a:xfrm>
          <a:prstGeom prst="roundRect">
            <a:avLst>
              <a:gd name="adj" fmla="val 18000"/>
            </a:avLst>
          </a:prstGeom>
          <a:solidFill>
            <a:srgbClr val="040E3D"/>
          </a:solidFill>
          <a:ln w="10973">
            <a:solidFill>
              <a:srgbClr val="71F1F7">
                <a:alpha val="60000"/>
              </a:srgbClr>
            </a:solidFill>
          </a:ln>
        </p:spPr>
        <p:txBody>
          <a:bodyPr wrap="square" lIns="73152" tIns="0" rIns="73152" bIns="0" anchor="ctr">
            <a:noAutofit/>
          </a:bodyPr>
          <a:lstStyle/>
          <a:p>
            <a:pPr algn="ctr">
              <a:spcAft>
                <a:spcPts val="0"/>
              </a:spcAft>
            </a:pPr>
            <a:r>
              <a:rPr lang="en-GB" sz="1300" b="1" dirty="0">
                <a:solidFill>
                  <a:srgbClr val="FFFFFF"/>
                </a:solidFill>
                <a:latin typeface="Source Sans 3"/>
                <a:cs typeface="Source Sans 3"/>
              </a:rPr>
              <a:t>The ServiceNow AI Readiness Gap</a:t>
            </a:r>
          </a:p>
          <a:p>
            <a:pPr algn="ctr">
              <a:spcAft>
                <a:spcPts val="0"/>
              </a:spcAft>
            </a:pPr>
            <a:r>
              <a:rPr lang="en-GB" sz="900" b="1" dirty="0">
                <a:solidFill>
                  <a:srgbClr val="8FFFDB"/>
                </a:solidFill>
                <a:latin typeface="Source Sans 3"/>
                <a:cs typeface="Source Sans 3"/>
              </a:rPr>
              <a:t>THIS IS THE WORK</a:t>
            </a:r>
          </a:p>
        </p:txBody>
      </p:sp>
      <p:sp>
        <p:nvSpPr>
          <p:cNvPr id="122" name="X start"/>
          <p:cNvSpPr txBox="1"/>
          <p:nvPr/>
        </p:nvSpPr>
        <p:spPr>
          <a:xfrm>
            <a:off x="6656832" y="4709160"/>
            <a:ext cx="1097280" cy="228600"/>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2024</a:t>
            </a:r>
          </a:p>
        </p:txBody>
      </p:sp>
      <p:sp>
        <p:nvSpPr>
          <p:cNvPr id="123" name="X end"/>
          <p:cNvSpPr txBox="1"/>
          <p:nvPr/>
        </p:nvSpPr>
        <p:spPr>
          <a:xfrm>
            <a:off x="9189720" y="4709160"/>
            <a:ext cx="2011680" cy="228600"/>
          </a:xfrm>
          <a:prstGeom prst="rect">
            <a:avLst/>
          </a:prstGeom>
          <a:noFill/>
        </p:spPr>
        <p:txBody>
          <a:bodyPr wrap="square" lIns="0" tIns="0" rIns="0" bIns="0" anchor="t">
            <a:noAutofit/>
          </a:bodyPr>
          <a:lstStyle/>
          <a:p>
            <a:pPr algn="r">
              <a:spcAft>
                <a:spcPts val="0"/>
              </a:spcAft>
            </a:pPr>
            <a:r>
              <a:rPr lang="en-GB" sz="900" b="1" dirty="0">
                <a:solidFill>
                  <a:srgbClr val="FFFFFF">
                    <a:alpha val="60000"/>
                  </a:srgbClr>
                </a:solidFill>
                <a:latin typeface="Source Sans 3"/>
                <a:cs typeface="Source Sans 3"/>
              </a:rPr>
              <a:t>2026 AND BEYOND</a:t>
            </a:r>
          </a:p>
        </p:txBody>
      </p:sp>
      <p:cxnSp>
        <p:nvCxnSpPr>
          <p:cNvPr id="124" name="Legend divider"/>
          <p:cNvCxnSpPr/>
          <p:nvPr/>
        </p:nvCxnSpPr>
        <p:spPr>
          <a:xfrm>
            <a:off x="6309360" y="5212080"/>
            <a:ext cx="4983480" cy="0"/>
          </a:xfrm>
          <a:prstGeom prst="line">
            <a:avLst/>
          </a:prstGeom>
          <a:ln w="7315" cap="rnd">
            <a:solidFill>
              <a:srgbClr val="FFFFFF">
                <a:alpha val="20000"/>
              </a:srgbClr>
            </a:solidFill>
          </a:ln>
        </p:spPr>
      </p:cxnSp>
      <p:cxnSp>
        <p:nvCxnSpPr>
          <p:cNvPr id="125" name="Legend capability"/>
          <p:cNvCxnSpPr/>
          <p:nvPr/>
        </p:nvCxnSpPr>
        <p:spPr>
          <a:xfrm>
            <a:off x="6355080" y="5504688"/>
            <a:ext cx="365760" cy="0"/>
          </a:xfrm>
          <a:prstGeom prst="line">
            <a:avLst/>
          </a:prstGeom>
          <a:ln w="27432" cap="rnd">
            <a:solidFill>
              <a:srgbClr val="71F1F7"/>
            </a:solidFill>
          </a:ln>
        </p:spPr>
      </p:cxnSp>
      <p:sp>
        <p:nvSpPr>
          <p:cNvPr id="126" name="Legend capability text"/>
          <p:cNvSpPr txBox="1"/>
          <p:nvPr/>
        </p:nvSpPr>
        <p:spPr>
          <a:xfrm>
            <a:off x="6812280" y="5321808"/>
            <a:ext cx="1508760" cy="411480"/>
          </a:xfrm>
          <a:prstGeom prst="rect">
            <a:avLst/>
          </a:prstGeom>
          <a:noFill/>
        </p:spPr>
        <p:txBody>
          <a:bodyPr wrap="square" lIns="0" tIns="0" rIns="0" bIns="0" anchor="ctr">
            <a:noAutofit/>
          </a:bodyPr>
          <a:lstStyle/>
          <a:p>
            <a:pPr algn="l">
              <a:lnSpc>
                <a:spcPct val="110000"/>
              </a:lnSpc>
              <a:spcAft>
                <a:spcPts val="0"/>
              </a:spcAft>
            </a:pPr>
            <a:r>
              <a:rPr lang="en-GB" sz="850" b="1" dirty="0">
                <a:solidFill>
                  <a:srgbClr val="FFFFFF">
                    <a:alpha val="80000"/>
                  </a:srgbClr>
                </a:solidFill>
                <a:latin typeface="Source Sans 3"/>
                <a:cs typeface="Source Sans 3"/>
              </a:rPr>
              <a:t>WHAT THE PLATFORM CAN DO</a:t>
            </a:r>
          </a:p>
        </p:txBody>
      </p:sp>
      <p:cxnSp>
        <p:nvCxnSpPr>
          <p:cNvPr id="127" name="Legend readiness"/>
          <p:cNvCxnSpPr/>
          <p:nvPr/>
        </p:nvCxnSpPr>
        <p:spPr>
          <a:xfrm>
            <a:off x="8366760" y="5504688"/>
            <a:ext cx="365760" cy="0"/>
          </a:xfrm>
          <a:prstGeom prst="line">
            <a:avLst/>
          </a:prstGeom>
          <a:ln w="27432" cap="rnd">
            <a:solidFill>
              <a:srgbClr val="F65275"/>
            </a:solidFill>
            <a:prstDash val="dash"/>
          </a:ln>
        </p:spPr>
      </p:cxnSp>
      <p:sp>
        <p:nvSpPr>
          <p:cNvPr id="128" name="Legend readiness text"/>
          <p:cNvSpPr txBox="1"/>
          <p:nvPr/>
        </p:nvSpPr>
        <p:spPr>
          <a:xfrm>
            <a:off x="8823960" y="5321808"/>
            <a:ext cx="1508760" cy="411480"/>
          </a:xfrm>
          <a:prstGeom prst="rect">
            <a:avLst/>
          </a:prstGeom>
          <a:noFill/>
        </p:spPr>
        <p:txBody>
          <a:bodyPr wrap="square" lIns="0" tIns="0" rIns="0" bIns="0" anchor="ctr">
            <a:noAutofit/>
          </a:bodyPr>
          <a:lstStyle/>
          <a:p>
            <a:pPr algn="l">
              <a:lnSpc>
                <a:spcPct val="110000"/>
              </a:lnSpc>
              <a:spcAft>
                <a:spcPts val="0"/>
              </a:spcAft>
            </a:pPr>
            <a:r>
              <a:rPr lang="en-GB" sz="850" b="1" dirty="0">
                <a:solidFill>
                  <a:srgbClr val="FFFFFF">
                    <a:alpha val="80000"/>
                  </a:srgbClr>
                </a:solidFill>
                <a:latin typeface="Source Sans 3"/>
                <a:cs typeface="Source Sans 3"/>
              </a:rPr>
              <a:t>WHAT YOUR OPERATION CAN SAFELY USE</a:t>
            </a:r>
          </a:p>
        </p:txBody>
      </p:sp>
      <p:sp>
        <p:nvSpPr>
          <p:cNvPr id="129" name="Legend note"/>
          <p:cNvSpPr txBox="1"/>
          <p:nvPr/>
        </p:nvSpPr>
        <p:spPr>
          <a:xfrm>
            <a:off x="10332720" y="5321808"/>
            <a:ext cx="1188720" cy="411480"/>
          </a:xfrm>
          <a:prstGeom prst="rect">
            <a:avLst/>
          </a:prstGeom>
          <a:noFill/>
        </p:spPr>
        <p:txBody>
          <a:bodyPr wrap="square" lIns="0" tIns="0" rIns="0" bIns="0" anchor="ctr">
            <a:noAutofit/>
          </a:bodyPr>
          <a:lstStyle/>
          <a:p>
            <a:pPr algn="l">
              <a:lnSpc>
                <a:spcPct val="110000"/>
              </a:lnSpc>
              <a:spcAft>
                <a:spcPts val="0"/>
              </a:spcAft>
            </a:pPr>
            <a:r>
              <a:rPr lang="en-GB" sz="750" b="1" dirty="0">
                <a:solidFill>
                  <a:srgbClr val="FFFFFF">
                    <a:alpha val="50000"/>
                  </a:srgbClr>
                </a:solidFill>
                <a:latin typeface="Source Sans 3"/>
                <a:cs typeface="Source Sans 3"/>
              </a:rPr>
              <a:t>ILLUSTRATIVE TRAJECTORY. READINESS VARIES BY ESTATE</a:t>
            </a:r>
          </a:p>
        </p:txBody>
      </p:sp>
    </p:spTree>
    <p:extLst>
      <p:ext uri="{BB962C8B-B14F-4D97-AF65-F5344CB8AC3E}">
        <p14:creationId xmlns:p14="http://schemas.microsoft.com/office/powerpoint/2010/main" val="150554216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03052-77C1-B23A-E0C2-7C8194270CB0}"/>
            </a:ext>
          </a:extLst>
        </p:cNvPr>
        <p:cNvGrpSpPr/>
        <p:nvPr/>
      </p:nvGrpSpPr>
      <p:grpSpPr>
        <a:xfrm>
          <a:off x="0" y="0"/>
          <a:ext cx="0" cy="0"/>
          <a:chOff x="0" y="0"/>
          <a:chExt cx="0" cy="0"/>
        </a:xfrm>
      </p:grpSpPr>
      <p:pic>
        <p:nvPicPr>
          <p:cNvPr id="2" name="Picture 15">
            <a:extLst>
              <a:ext uri="{FF2B5EF4-FFF2-40B4-BE49-F238E27FC236}">
                <a16:creationId xmlns:a16="http://schemas.microsoft.com/office/drawing/2014/main" id="{E644F948-6735-F24D-889D-F52816FE7FDD}"/>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81299" y="6353915"/>
            <a:ext cx="980079" cy="280022"/>
          </a:xfrm>
          <a:prstGeom prst="rect">
            <a:avLst/>
          </a:prstGeom>
        </p:spPr>
      </p:pic>
      <p:pic>
        <p:nvPicPr>
          <p:cNvPr id="12" name="Picture 15">
            <a:extLst>
              <a:ext uri="{FF2B5EF4-FFF2-40B4-BE49-F238E27FC236}">
                <a16:creationId xmlns:a16="http://schemas.microsoft.com/office/drawing/2014/main" id="{948A4436-F744-CED8-C103-F0BF9A2350E1}"/>
              </a:ext>
              <a:ext uri="{C183D7F6-B498-43B3-948B-1728B52AA6E4}">
                <adec:decorative xmlns:adec="http://schemas.microsoft.com/office/drawing/2017/decorative" val="1"/>
              </a:ext>
            </a:extLst>
          </p:cNvPr>
          <p:cNvPicPr>
            <a:picLocks/>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9837" y="6353915"/>
            <a:ext cx="980334" cy="280022"/>
          </a:xfrm>
          <a:prstGeom prst="rect">
            <a:avLst/>
          </a:prstGeom>
        </p:spPr>
      </p:pic>
      <p:sp>
        <p:nvSpPr>
          <p:cNvPr id="4" name="Footer Placeholder 4">
            <a:extLst>
              <a:ext uri="{FF2B5EF4-FFF2-40B4-BE49-F238E27FC236}">
                <a16:creationId xmlns:a16="http://schemas.microsoft.com/office/drawing/2014/main" id="{9B1F3085-24C8-1AFF-DEF5-0E7502E091B4}"/>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6" name="Footer Placeholder 4">
            <a:extLst>
              <a:ext uri="{FF2B5EF4-FFF2-40B4-BE49-F238E27FC236}">
                <a16:creationId xmlns:a16="http://schemas.microsoft.com/office/drawing/2014/main" id="{3FDF6B38-0419-D4B3-9292-705BBDB4AE83}"/>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25" name="Picture 24">
            <a:extLst>
              <a:ext uri="{FF2B5EF4-FFF2-40B4-BE49-F238E27FC236}">
                <a16:creationId xmlns:a16="http://schemas.microsoft.com/office/drawing/2014/main" id="{32A007B8-ADCE-D8B4-47DF-BCA0CD71351E}"/>
              </a:ext>
            </a:extLst>
          </p:cNvPr>
          <p:cNvPicPr>
            <a:picLocks noChangeAspect="1"/>
          </p:cNvPicPr>
          <p:nvPr/>
        </p:nvPicPr>
        <p:blipFill>
          <a:blip r:embed="rId4"/>
          <a:stretch>
            <a:fillRect/>
          </a:stretch>
        </p:blipFill>
        <p:spPr>
          <a:xfrm>
            <a:off x="1644475" y="1644399"/>
            <a:ext cx="8899872" cy="4709516"/>
          </a:xfrm>
          <a:prstGeom prst="rect">
            <a:avLst/>
          </a:prstGeom>
        </p:spPr>
      </p:pic>
      <p:sp>
        <p:nvSpPr>
          <p:cNvPr id="26" name="Title 32">
            <a:extLst>
              <a:ext uri="{FF2B5EF4-FFF2-40B4-BE49-F238E27FC236}">
                <a16:creationId xmlns:a16="http://schemas.microsoft.com/office/drawing/2014/main" id="{6C3286FD-DC9E-7DE1-1AF1-63FD4144B20F}"/>
              </a:ext>
            </a:extLst>
          </p:cNvPr>
          <p:cNvSpPr txBox="1">
            <a:spLocks/>
          </p:cNvSpPr>
          <p:nvPr/>
        </p:nvSpPr>
        <p:spPr>
          <a:xfrm>
            <a:off x="3697847" y="423541"/>
            <a:ext cx="5048768" cy="1030762"/>
          </a:xfrm>
          <a:prstGeom prst="rect">
            <a:avLst/>
          </a:prstGeom>
        </p:spPr>
        <p:txBody>
          <a:bodyPr wrap="square" anchor="t"/>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marL="0" marR="0" lvl="0" indent="0" algn="ctr" defTabSz="913102" rtl="0" eaLnBrk="1" fontAlgn="auto" latinLnBrk="0" hangingPunct="1">
              <a:lnSpc>
                <a:spcPct val="85000"/>
              </a:lnSpc>
              <a:spcBef>
                <a:spcPct val="0"/>
              </a:spcBef>
              <a:spcAft>
                <a:spcPts val="0"/>
              </a:spcAft>
              <a:buClrTx/>
              <a:buSzTx/>
              <a:buFontTx/>
              <a:buNone/>
              <a:tabLst>
                <a:tab pos="397897" algn="l"/>
              </a:tabLst>
              <a:defRPr/>
            </a:pPr>
            <a:r>
              <a:rPr kumimoji="0" lang="en-US" sz="4200" b="1" i="0" u="none" strike="noStrike" kern="1200" cap="none" spc="0" normalizeH="0" baseline="0" noProof="0" dirty="0">
                <a:ln>
                  <a:noFill/>
                </a:ln>
                <a:solidFill>
                  <a:schemeClr val="accent3"/>
                </a:solidFill>
                <a:effectLst/>
                <a:uLnTx/>
                <a:uFillTx/>
                <a:latin typeface="Source Sans 3" panose="020B0504040101010104" pitchFamily="34" charset="77"/>
                <a:ea typeface="+mj-ea"/>
              </a:rPr>
              <a:t>AI needs</a:t>
            </a:r>
          </a:p>
        </p:txBody>
      </p:sp>
      <p:sp>
        <p:nvSpPr>
          <p:cNvPr id="27" name="Title 32">
            <a:extLst>
              <a:ext uri="{FF2B5EF4-FFF2-40B4-BE49-F238E27FC236}">
                <a16:creationId xmlns:a16="http://schemas.microsoft.com/office/drawing/2014/main" id="{28DA55E0-215E-9FCD-6E50-CF2455BF1BD8}"/>
              </a:ext>
            </a:extLst>
          </p:cNvPr>
          <p:cNvSpPr txBox="1">
            <a:spLocks/>
          </p:cNvSpPr>
          <p:nvPr/>
        </p:nvSpPr>
        <p:spPr>
          <a:xfrm>
            <a:off x="1034462" y="1050954"/>
            <a:ext cx="10375538" cy="1030762"/>
          </a:xfrm>
          <a:prstGeom prst="rect">
            <a:avLst/>
          </a:prstGeom>
        </p:spPr>
        <p:txBody>
          <a:bodyPr wrap="square" anchor="t"/>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marL="0" marR="0" lvl="0" indent="0" algn="ctr" defTabSz="913102" rtl="0" eaLnBrk="1" fontAlgn="auto" latinLnBrk="0" hangingPunct="1">
              <a:lnSpc>
                <a:spcPct val="85000"/>
              </a:lnSpc>
              <a:spcBef>
                <a:spcPct val="0"/>
              </a:spcBef>
              <a:spcAft>
                <a:spcPts val="0"/>
              </a:spcAft>
              <a:buClrTx/>
              <a:buSzTx/>
              <a:buFontTx/>
              <a:buNone/>
              <a:tabLst>
                <a:tab pos="397897" algn="l"/>
              </a:tabLst>
              <a:defRPr/>
            </a:pPr>
            <a:r>
              <a:rPr kumimoji="0" lang="en-US" sz="3600" b="1" i="0" u="none" strike="noStrike" kern="1200" cap="none" spc="0" normalizeH="0" baseline="0" noProof="0" dirty="0">
                <a:ln>
                  <a:noFill/>
                </a:ln>
                <a:effectLst/>
                <a:uLnTx/>
                <a:uFillTx/>
                <a:latin typeface="Source Sans 3" panose="020B0504040101010104" pitchFamily="34" charset="77"/>
                <a:ea typeface="+mj-ea"/>
              </a:rPr>
              <a:t>four strong foundations.</a:t>
            </a:r>
          </a:p>
        </p:txBody>
      </p:sp>
    </p:spTree>
    <p:extLst>
      <p:ext uri="{BB962C8B-B14F-4D97-AF65-F5344CB8AC3E}">
        <p14:creationId xmlns:p14="http://schemas.microsoft.com/office/powerpoint/2010/main" val="105863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ED6A3-458D-21A9-4AC5-7AD8C41C4817}"/>
            </a:ext>
          </a:extLst>
        </p:cNvPr>
        <p:cNvGrpSpPr/>
        <p:nvPr/>
      </p:nvGrpSpPr>
      <p:grpSpPr>
        <a:xfrm>
          <a:off x="0" y="0"/>
          <a:ext cx="0" cy="0"/>
          <a:chOff x="0" y="0"/>
          <a:chExt cx="0" cy="0"/>
        </a:xfrm>
      </p:grpSpPr>
      <p:pic>
        <p:nvPicPr>
          <p:cNvPr id="5" name="Picture 4" descr="A green and blue gradient&#10;&#10;AI-generated content may be incorrect.">
            <a:extLst>
              <a:ext uri="{FF2B5EF4-FFF2-40B4-BE49-F238E27FC236}">
                <a16:creationId xmlns:a16="http://schemas.microsoft.com/office/drawing/2014/main" id="{6A7B3C91-2525-79C8-4FA1-91379B2DE284}"/>
              </a:ext>
            </a:extLst>
          </p:cNvPr>
          <p:cNvPicPr>
            <a:picLocks noChangeAspect="1"/>
          </p:cNvPicPr>
          <p:nvPr/>
        </p:nvPicPr>
        <p:blipFill>
          <a:blip r:embed="rId3"/>
          <a:stretch>
            <a:fillRect/>
          </a:stretch>
        </p:blipFill>
        <p:spPr>
          <a:xfrm flipH="1" flipV="1">
            <a:off x="-1" y="1786"/>
            <a:ext cx="12188825" cy="6856214"/>
          </a:xfrm>
          <a:prstGeom prst="rect">
            <a:avLst/>
          </a:prstGeom>
        </p:spPr>
      </p:pic>
      <p:pic>
        <p:nvPicPr>
          <p:cNvPr id="2" name="Picture 15">
            <a:extLst>
              <a:ext uri="{FF2B5EF4-FFF2-40B4-BE49-F238E27FC236}">
                <a16:creationId xmlns:a16="http://schemas.microsoft.com/office/drawing/2014/main" id="{90CE6540-0FB3-B24A-9C25-CA65BDA38408}"/>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81299" y="6353915"/>
            <a:ext cx="980079" cy="280022"/>
          </a:xfrm>
          <a:prstGeom prst="rect">
            <a:avLst/>
          </a:prstGeom>
        </p:spPr>
      </p:pic>
      <p:pic>
        <p:nvPicPr>
          <p:cNvPr id="12" name="Picture 15">
            <a:extLst>
              <a:ext uri="{FF2B5EF4-FFF2-40B4-BE49-F238E27FC236}">
                <a16:creationId xmlns:a16="http://schemas.microsoft.com/office/drawing/2014/main" id="{6EF4468E-2248-3A36-764B-67F68DFA944F}"/>
              </a:ext>
              <a:ext uri="{C183D7F6-B498-43B3-948B-1728B52AA6E4}">
                <adec:decorative xmlns:adec="http://schemas.microsoft.com/office/drawing/2017/decorative" val="1"/>
              </a:ext>
            </a:extLst>
          </p:cNvPr>
          <p:cNvPicPr>
            <a:picLocks/>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79837" y="6353915"/>
            <a:ext cx="980334" cy="280022"/>
          </a:xfrm>
          <a:prstGeom prst="rect">
            <a:avLst/>
          </a:prstGeom>
        </p:spPr>
      </p:pic>
      <p:sp>
        <p:nvSpPr>
          <p:cNvPr id="23" name="Title 32">
            <a:extLst>
              <a:ext uri="{FF2B5EF4-FFF2-40B4-BE49-F238E27FC236}">
                <a16:creationId xmlns:a16="http://schemas.microsoft.com/office/drawing/2014/main" id="{BF3F37FA-BB02-5E9C-D449-F12ADCD9C14B}"/>
              </a:ext>
            </a:extLst>
          </p:cNvPr>
          <p:cNvSpPr txBox="1">
            <a:spLocks/>
          </p:cNvSpPr>
          <p:nvPr/>
        </p:nvSpPr>
        <p:spPr>
          <a:xfrm>
            <a:off x="906642" y="750812"/>
            <a:ext cx="10375538" cy="1030762"/>
          </a:xfrm>
          <a:prstGeom prst="rect">
            <a:avLst/>
          </a:prstGeom>
        </p:spPr>
        <p:txBody>
          <a:bodyPr wrap="square" anchor="t"/>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marL="0" marR="0" lvl="0" indent="0" algn="ctr" defTabSz="913102" rtl="0" eaLnBrk="1" fontAlgn="auto" latinLnBrk="0" hangingPunct="1">
              <a:lnSpc>
                <a:spcPct val="85000"/>
              </a:lnSpc>
              <a:spcBef>
                <a:spcPct val="0"/>
              </a:spcBef>
              <a:spcAft>
                <a:spcPts val="0"/>
              </a:spcAft>
              <a:buClrTx/>
              <a:buSzTx/>
              <a:buFontTx/>
              <a:buNone/>
              <a:tabLst>
                <a:tab pos="397897" algn="l"/>
              </a:tabLst>
              <a:defRPr/>
            </a:pPr>
            <a:r>
              <a:rPr kumimoji="0" lang="en-US" sz="3900" b="1" i="0" u="none" strike="noStrike" kern="1200" cap="none" spc="0" normalizeH="0" baseline="0" noProof="0" dirty="0">
                <a:ln>
                  <a:noFill/>
                </a:ln>
                <a:effectLst/>
                <a:uLnTx/>
                <a:uFillTx/>
                <a:latin typeface="Source Sans 3" panose="020B0504040101010104" pitchFamily="34" charset="77"/>
                <a:ea typeface="+mj-ea"/>
              </a:rPr>
              <a:t>one ceiling.</a:t>
            </a:r>
          </a:p>
        </p:txBody>
      </p:sp>
      <p:sp>
        <p:nvSpPr>
          <p:cNvPr id="24" name="Title 32">
            <a:extLst>
              <a:ext uri="{FF2B5EF4-FFF2-40B4-BE49-F238E27FC236}">
                <a16:creationId xmlns:a16="http://schemas.microsoft.com/office/drawing/2014/main" id="{C4C7B1E1-DE5E-EA17-A19F-D3C755622A66}"/>
              </a:ext>
            </a:extLst>
          </p:cNvPr>
          <p:cNvSpPr txBox="1">
            <a:spLocks/>
          </p:cNvSpPr>
          <p:nvPr/>
        </p:nvSpPr>
        <p:spPr>
          <a:xfrm>
            <a:off x="3633389" y="361279"/>
            <a:ext cx="5048768" cy="1030762"/>
          </a:xfrm>
          <a:prstGeom prst="rect">
            <a:avLst/>
          </a:prstGeom>
        </p:spPr>
        <p:txBody>
          <a:bodyPr wrap="square" anchor="t"/>
          <a:lstStyle>
            <a:lvl1pPr marL="0" algn="l" defTabSz="913924" rtl="0" eaLnBrk="1" latinLnBrk="0" hangingPunct="1">
              <a:lnSpc>
                <a:spcPct val="85000"/>
              </a:lnSpc>
              <a:spcBef>
                <a:spcPct val="0"/>
              </a:spcBef>
              <a:buNone/>
              <a:tabLst>
                <a:tab pos="398254" algn="l"/>
              </a:tabLst>
              <a:defRPr lang="en-US" sz="3998" b="1" i="0" kern="1200" spc="0" baseline="0" dirty="0">
                <a:solidFill>
                  <a:schemeClr val="bg1"/>
                </a:solidFill>
                <a:latin typeface="+mj-lt"/>
                <a:ea typeface="+mj-ea"/>
                <a:cs typeface="Source Sans 3" panose="020B0504040101010104" pitchFamily="34" charset="77"/>
              </a:defRPr>
            </a:lvl1pPr>
          </a:lstStyle>
          <a:p>
            <a:pPr marL="0" marR="0" lvl="0" indent="0" algn="ctr" defTabSz="913102" rtl="0" eaLnBrk="1" fontAlgn="auto" latinLnBrk="0" hangingPunct="1">
              <a:lnSpc>
                <a:spcPct val="85000"/>
              </a:lnSpc>
              <a:spcBef>
                <a:spcPct val="0"/>
              </a:spcBef>
              <a:spcAft>
                <a:spcPts val="0"/>
              </a:spcAft>
              <a:buClrTx/>
              <a:buSzTx/>
              <a:buFontTx/>
              <a:buNone/>
              <a:tabLst>
                <a:tab pos="397897" algn="l"/>
              </a:tabLst>
              <a:defRPr/>
            </a:pPr>
            <a:r>
              <a:rPr kumimoji="0" lang="en-US" sz="3700" b="1" i="0" u="none" strike="noStrike" kern="1200" cap="none" spc="0" normalizeH="0" baseline="0" noProof="0" dirty="0">
                <a:ln>
                  <a:noFill/>
                </a:ln>
                <a:solidFill>
                  <a:schemeClr val="accent1"/>
                </a:solidFill>
                <a:effectLst/>
                <a:uLnTx/>
                <a:uFillTx/>
                <a:latin typeface="Source Sans 3" panose="020B0504040101010104" pitchFamily="34" charset="77"/>
                <a:ea typeface="+mj-ea"/>
              </a:rPr>
              <a:t>Four foundations.</a:t>
            </a:r>
          </a:p>
        </p:txBody>
      </p:sp>
      <p:sp>
        <p:nvSpPr>
          <p:cNvPr id="4" name="Footer Placeholder 4">
            <a:extLst>
              <a:ext uri="{FF2B5EF4-FFF2-40B4-BE49-F238E27FC236}">
                <a16:creationId xmlns:a16="http://schemas.microsoft.com/office/drawing/2014/main" id="{9A56C22E-53F3-BB21-EA1A-8BD3862F110A}"/>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6" name="Footer Placeholder 4">
            <a:extLst>
              <a:ext uri="{FF2B5EF4-FFF2-40B4-BE49-F238E27FC236}">
                <a16:creationId xmlns:a16="http://schemas.microsoft.com/office/drawing/2014/main" id="{EF6C22EF-B653-851B-8F84-99A4A5DB42FA}"/>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3" name="Picture 2">
            <a:extLst>
              <a:ext uri="{FF2B5EF4-FFF2-40B4-BE49-F238E27FC236}">
                <a16:creationId xmlns:a16="http://schemas.microsoft.com/office/drawing/2014/main" id="{0F4CA813-7938-D253-1F7F-C4D08654A72B}"/>
              </a:ext>
            </a:extLst>
          </p:cNvPr>
          <p:cNvPicPr>
            <a:picLocks noChangeAspect="1"/>
          </p:cNvPicPr>
          <p:nvPr/>
        </p:nvPicPr>
        <p:blipFill>
          <a:blip r:embed="rId5"/>
          <a:stretch>
            <a:fillRect/>
          </a:stretch>
        </p:blipFill>
        <p:spPr>
          <a:xfrm>
            <a:off x="1644474" y="1575495"/>
            <a:ext cx="8899874" cy="4709517"/>
          </a:xfrm>
          <a:prstGeom prst="rect">
            <a:avLst/>
          </a:prstGeom>
        </p:spPr>
      </p:pic>
    </p:spTree>
    <p:extLst>
      <p:ext uri="{BB962C8B-B14F-4D97-AF65-F5344CB8AC3E}">
        <p14:creationId xmlns:p14="http://schemas.microsoft.com/office/powerpoint/2010/main" val="1730130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4482-2D31-14F7-2ED5-5CD4D07A1474}"/>
            </a:ext>
          </a:extLst>
        </p:cNvPr>
        <p:cNvGrpSpPr/>
        <p:nvPr/>
      </p:nvGrpSpPr>
      <p:grpSpPr>
        <a:xfrm>
          <a:off x="0" y="0"/>
          <a:ext cx="0" cy="0"/>
          <a:chOff x="0" y="0"/>
          <a:chExt cx="0" cy="0"/>
        </a:xfrm>
      </p:grpSpPr>
      <p:pic>
        <p:nvPicPr>
          <p:cNvPr id="77" name="Picture 76" descr="A blue and white background&#10;&#10;AI-generated content may be incorrect.">
            <a:extLst>
              <a:ext uri="{FF2B5EF4-FFF2-40B4-BE49-F238E27FC236}">
                <a16:creationId xmlns:a16="http://schemas.microsoft.com/office/drawing/2014/main" id="{43B5BAB8-8DFC-CA2A-55AF-381C4317521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894"/>
            <a:ext cx="12188825" cy="4401520"/>
          </a:xfrm>
          <a:prstGeom prst="rect">
            <a:avLst/>
          </a:prstGeom>
        </p:spPr>
      </p:pic>
      <p:pic>
        <p:nvPicPr>
          <p:cNvPr id="4" name="Picture 3" descr="A blue and purple background&#10;&#10;AI-generated content may be incorrect.">
            <a:extLst>
              <a:ext uri="{FF2B5EF4-FFF2-40B4-BE49-F238E27FC236}">
                <a16:creationId xmlns:a16="http://schemas.microsoft.com/office/drawing/2014/main" id="{EA11A61C-44C1-7637-BD7F-2B0DBCAD6FF4}"/>
              </a:ext>
            </a:extLst>
          </p:cNvPr>
          <p:cNvPicPr/>
          <p:nvPr/>
        </p:nvPicPr>
        <p:blipFill>
          <a:blip r:embed="rId4" cstate="screen">
            <a:extLst>
              <a:ext uri="{28A0092B-C50C-407E-A947-70E740481C1C}">
                <a14:useLocalDpi xmlns:a14="http://schemas.microsoft.com/office/drawing/2010/main"/>
              </a:ext>
            </a:extLst>
          </a:blip>
          <a:stretch>
            <a:fillRect/>
          </a:stretch>
        </p:blipFill>
        <p:spPr>
          <a:xfrm>
            <a:off x="-1" y="892"/>
            <a:ext cx="12190415" cy="6857108"/>
          </a:xfrm>
          <a:prstGeom prst="rect">
            <a:avLst/>
          </a:prstGeom>
        </p:spPr>
      </p:pic>
      <p:sp>
        <p:nvSpPr>
          <p:cNvPr id="5" name="Rounded Rectangle 2">
            <a:extLst>
              <a:ext uri="{FF2B5EF4-FFF2-40B4-BE49-F238E27FC236}">
                <a16:creationId xmlns:a16="http://schemas.microsoft.com/office/drawing/2014/main" id="{4EBB4ABF-BAFD-D892-8D73-41F3D2874D39}"/>
              </a:ext>
            </a:extLst>
          </p:cNvPr>
          <p:cNvSpPr/>
          <p:nvPr/>
        </p:nvSpPr>
        <p:spPr>
          <a:xfrm>
            <a:off x="5140981" y="2489975"/>
            <a:ext cx="1906861" cy="2093488"/>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6" name="Rounded Rectangle 2">
            <a:extLst>
              <a:ext uri="{FF2B5EF4-FFF2-40B4-BE49-F238E27FC236}">
                <a16:creationId xmlns:a16="http://schemas.microsoft.com/office/drawing/2014/main" id="{5999A2A2-79B2-4A71-B215-2D725E54D6B2}"/>
              </a:ext>
            </a:extLst>
          </p:cNvPr>
          <p:cNvSpPr/>
          <p:nvPr/>
        </p:nvSpPr>
        <p:spPr>
          <a:xfrm>
            <a:off x="7205949" y="2489975"/>
            <a:ext cx="1906861" cy="2093488"/>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7" name="Rounded Rectangle 2">
            <a:extLst>
              <a:ext uri="{FF2B5EF4-FFF2-40B4-BE49-F238E27FC236}">
                <a16:creationId xmlns:a16="http://schemas.microsoft.com/office/drawing/2014/main" id="{EA7E5A89-CE45-8653-0149-AD91AE8B64E9}"/>
              </a:ext>
            </a:extLst>
          </p:cNvPr>
          <p:cNvSpPr/>
          <p:nvPr/>
        </p:nvSpPr>
        <p:spPr>
          <a:xfrm>
            <a:off x="9270918" y="2489975"/>
            <a:ext cx="1906861" cy="2093488"/>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60" name="TextBox 59">
            <a:extLst>
              <a:ext uri="{FF2B5EF4-FFF2-40B4-BE49-F238E27FC236}">
                <a16:creationId xmlns:a16="http://schemas.microsoft.com/office/drawing/2014/main" id="{8B098945-8504-8C27-4250-90D9A79E291E}"/>
              </a:ext>
            </a:extLst>
          </p:cNvPr>
          <p:cNvSpPr txBox="1"/>
          <p:nvPr/>
        </p:nvSpPr>
        <p:spPr>
          <a:xfrm>
            <a:off x="5040601" y="3720234"/>
            <a:ext cx="2139389" cy="605294"/>
          </a:xfrm>
          <a:prstGeom prst="rect">
            <a:avLst/>
          </a:prstGeom>
          <a:noFill/>
        </p:spPr>
        <p:txBody>
          <a:bodyPr wrap="square" rtlCol="0">
            <a:spAutoFit/>
          </a:bodyPr>
          <a:lstStyle/>
          <a:p>
            <a:pPr algn="ctr">
              <a:lnSpc>
                <a:spcPts val="2000"/>
              </a:lnSpc>
            </a:pPr>
            <a:r>
              <a:rPr lang="en-US" sz="2000" b="1">
                <a:solidFill>
                  <a:schemeClr val="accent1"/>
                </a:solidFill>
                <a:latin typeface="Source Sans 3" panose="020B0504040101010104" pitchFamily="34" charset="77"/>
              </a:rPr>
              <a:t>Asset</a:t>
            </a:r>
            <a:r>
              <a:rPr lang="en-US" sz="2000" b="1">
                <a:solidFill>
                  <a:schemeClr val="bg1"/>
                </a:solidFill>
                <a:latin typeface="Source Sans 3" panose="020B0504040101010104" pitchFamily="34" charset="77"/>
              </a:rPr>
              <a:t> </a:t>
            </a:r>
          </a:p>
          <a:p>
            <a:pPr algn="ctr">
              <a:lnSpc>
                <a:spcPts val="2000"/>
              </a:lnSpc>
            </a:pPr>
            <a:r>
              <a:rPr lang="en-US" sz="2000" b="1">
                <a:solidFill>
                  <a:schemeClr val="bg1"/>
                </a:solidFill>
                <a:latin typeface="Source Sans 3" panose="020B0504040101010104" pitchFamily="34" charset="77"/>
              </a:rPr>
              <a:t>issues</a:t>
            </a:r>
          </a:p>
        </p:txBody>
      </p:sp>
      <p:sp>
        <p:nvSpPr>
          <p:cNvPr id="69" name="TextBox 68">
            <a:extLst>
              <a:ext uri="{FF2B5EF4-FFF2-40B4-BE49-F238E27FC236}">
                <a16:creationId xmlns:a16="http://schemas.microsoft.com/office/drawing/2014/main" id="{263B1B93-3603-57EE-7EA5-C2FB469ADB7C}"/>
              </a:ext>
            </a:extLst>
          </p:cNvPr>
          <p:cNvSpPr txBox="1"/>
          <p:nvPr/>
        </p:nvSpPr>
        <p:spPr>
          <a:xfrm>
            <a:off x="5177633" y="2742284"/>
            <a:ext cx="1892206" cy="1107996"/>
          </a:xfrm>
          <a:prstGeom prst="rect">
            <a:avLst/>
          </a:prstGeom>
          <a:noFill/>
        </p:spPr>
        <p:txBody>
          <a:bodyPr wrap="square" lIns="0" tIns="0" rIns="0" bIns="0" rtlCol="0">
            <a:spAutoFit/>
          </a:bodyPr>
          <a:lstStyle/>
          <a:p>
            <a:pPr algn="ctr"/>
            <a:r>
              <a:rPr lang="en-US" sz="7100" b="0" i="0">
                <a:solidFill>
                  <a:schemeClr val="bg1"/>
                </a:solidFill>
                <a:latin typeface="+mj-lt"/>
                <a:cs typeface="Source Sans 3" panose="020B0404040101010104" pitchFamily="34" charset="77"/>
              </a:rPr>
              <a:t>0</a:t>
            </a:r>
          </a:p>
        </p:txBody>
      </p:sp>
      <p:sp>
        <p:nvSpPr>
          <p:cNvPr id="64" name="TextBox 63">
            <a:extLst>
              <a:ext uri="{FF2B5EF4-FFF2-40B4-BE49-F238E27FC236}">
                <a16:creationId xmlns:a16="http://schemas.microsoft.com/office/drawing/2014/main" id="{1794E08E-C4B7-3EA7-5D63-0F08F0DD4E4D}"/>
              </a:ext>
            </a:extLst>
          </p:cNvPr>
          <p:cNvSpPr txBox="1"/>
          <p:nvPr/>
        </p:nvSpPr>
        <p:spPr>
          <a:xfrm>
            <a:off x="7093694" y="3720234"/>
            <a:ext cx="2139389" cy="605294"/>
          </a:xfrm>
          <a:prstGeom prst="rect">
            <a:avLst/>
          </a:prstGeom>
          <a:noFill/>
        </p:spPr>
        <p:txBody>
          <a:bodyPr wrap="square" rtlCol="0">
            <a:spAutoFit/>
          </a:bodyPr>
          <a:lstStyle/>
          <a:p>
            <a:pPr algn="ctr">
              <a:lnSpc>
                <a:spcPts val="2000"/>
              </a:lnSpc>
            </a:pPr>
            <a:r>
              <a:rPr lang="en-US" sz="2000" b="1">
                <a:solidFill>
                  <a:schemeClr val="accent1"/>
                </a:solidFill>
                <a:latin typeface="Source Sans 3" panose="020B0504040101010104" pitchFamily="34" charset="77"/>
              </a:rPr>
              <a:t>Severe</a:t>
            </a:r>
            <a:r>
              <a:rPr lang="en-US" sz="2000" b="1">
                <a:solidFill>
                  <a:schemeClr val="bg1"/>
                </a:solidFill>
                <a:latin typeface="Source Sans 3" panose="020B0504040101010104" pitchFamily="34" charset="77"/>
              </a:rPr>
              <a:t> </a:t>
            </a:r>
          </a:p>
          <a:p>
            <a:pPr algn="ctr">
              <a:lnSpc>
                <a:spcPts val="2000"/>
              </a:lnSpc>
            </a:pPr>
            <a:r>
              <a:rPr lang="en-US" sz="2000" b="1">
                <a:solidFill>
                  <a:schemeClr val="bg1"/>
                </a:solidFill>
                <a:latin typeface="Source Sans 3" panose="020B0504040101010104" pitchFamily="34" charset="77"/>
              </a:rPr>
              <a:t>breaches</a:t>
            </a:r>
          </a:p>
        </p:txBody>
      </p:sp>
      <p:sp>
        <p:nvSpPr>
          <p:cNvPr id="70" name="TextBox 69">
            <a:extLst>
              <a:ext uri="{FF2B5EF4-FFF2-40B4-BE49-F238E27FC236}">
                <a16:creationId xmlns:a16="http://schemas.microsoft.com/office/drawing/2014/main" id="{2E6F334F-2280-53CA-BD02-3215D38D382E}"/>
              </a:ext>
            </a:extLst>
          </p:cNvPr>
          <p:cNvSpPr txBox="1"/>
          <p:nvPr/>
        </p:nvSpPr>
        <p:spPr>
          <a:xfrm>
            <a:off x="7219061" y="2742284"/>
            <a:ext cx="1892206" cy="1107996"/>
          </a:xfrm>
          <a:prstGeom prst="rect">
            <a:avLst/>
          </a:prstGeom>
          <a:noFill/>
        </p:spPr>
        <p:txBody>
          <a:bodyPr wrap="square" lIns="0" tIns="0" rIns="0" bIns="0" rtlCol="0">
            <a:spAutoFit/>
          </a:bodyPr>
          <a:lstStyle/>
          <a:p>
            <a:pPr algn="ctr"/>
            <a:r>
              <a:rPr lang="en-US" sz="7100" b="0" i="0">
                <a:solidFill>
                  <a:schemeClr val="bg1"/>
                </a:solidFill>
                <a:latin typeface="+mj-lt"/>
                <a:cs typeface="Source Sans 3" panose="020B0404040101010104" pitchFamily="34" charset="77"/>
              </a:rPr>
              <a:t>0</a:t>
            </a:r>
          </a:p>
        </p:txBody>
      </p:sp>
      <p:sp>
        <p:nvSpPr>
          <p:cNvPr id="65" name="TextBox 64">
            <a:extLst>
              <a:ext uri="{FF2B5EF4-FFF2-40B4-BE49-F238E27FC236}">
                <a16:creationId xmlns:a16="http://schemas.microsoft.com/office/drawing/2014/main" id="{1F003839-F8B0-910B-2027-3A8A815F40DF}"/>
              </a:ext>
            </a:extLst>
          </p:cNvPr>
          <p:cNvSpPr txBox="1"/>
          <p:nvPr/>
        </p:nvSpPr>
        <p:spPr>
          <a:xfrm>
            <a:off x="9157806" y="3720234"/>
            <a:ext cx="2139389" cy="605294"/>
          </a:xfrm>
          <a:prstGeom prst="rect">
            <a:avLst/>
          </a:prstGeom>
          <a:noFill/>
        </p:spPr>
        <p:txBody>
          <a:bodyPr wrap="square" rtlCol="0">
            <a:spAutoFit/>
          </a:bodyPr>
          <a:lstStyle/>
          <a:p>
            <a:pPr algn="ctr">
              <a:lnSpc>
                <a:spcPts val="2000"/>
              </a:lnSpc>
            </a:pPr>
            <a:r>
              <a:rPr lang="en-US" sz="2000" b="1">
                <a:solidFill>
                  <a:schemeClr val="accent1"/>
                </a:solidFill>
                <a:latin typeface="Source Sans 3" panose="020B0504040101010104" pitchFamily="34" charset="77"/>
              </a:rPr>
              <a:t>Misaligned</a:t>
            </a:r>
            <a:r>
              <a:rPr lang="en-US" sz="2000" b="1">
                <a:solidFill>
                  <a:schemeClr val="bg1"/>
                </a:solidFill>
                <a:latin typeface="Source Sans 3" panose="020B0504040101010104" pitchFamily="34" charset="77"/>
              </a:rPr>
              <a:t> </a:t>
            </a:r>
          </a:p>
          <a:p>
            <a:pPr algn="ctr">
              <a:lnSpc>
                <a:spcPts val="2000"/>
              </a:lnSpc>
            </a:pPr>
            <a:r>
              <a:rPr lang="en-US" sz="2000" b="1">
                <a:solidFill>
                  <a:schemeClr val="bg1"/>
                </a:solidFill>
                <a:latin typeface="Source Sans 3" panose="020B0504040101010104" pitchFamily="34" charset="77"/>
              </a:rPr>
              <a:t>Investments</a:t>
            </a:r>
          </a:p>
        </p:txBody>
      </p:sp>
      <p:sp>
        <p:nvSpPr>
          <p:cNvPr id="71" name="TextBox 70">
            <a:extLst>
              <a:ext uri="{FF2B5EF4-FFF2-40B4-BE49-F238E27FC236}">
                <a16:creationId xmlns:a16="http://schemas.microsoft.com/office/drawing/2014/main" id="{0D9C36B0-09D6-F88F-23B8-F291E5591A09}"/>
              </a:ext>
            </a:extLst>
          </p:cNvPr>
          <p:cNvSpPr txBox="1"/>
          <p:nvPr/>
        </p:nvSpPr>
        <p:spPr>
          <a:xfrm>
            <a:off x="9260491" y="2742284"/>
            <a:ext cx="1892206" cy="1107996"/>
          </a:xfrm>
          <a:prstGeom prst="rect">
            <a:avLst/>
          </a:prstGeom>
          <a:noFill/>
        </p:spPr>
        <p:txBody>
          <a:bodyPr wrap="square" lIns="0" tIns="0" rIns="0" bIns="0" rtlCol="0">
            <a:spAutoFit/>
          </a:bodyPr>
          <a:lstStyle/>
          <a:p>
            <a:pPr algn="ctr"/>
            <a:r>
              <a:rPr lang="en-US" sz="7100" b="0" i="0">
                <a:solidFill>
                  <a:schemeClr val="bg1"/>
                </a:solidFill>
                <a:latin typeface="+mj-lt"/>
                <a:cs typeface="Source Sans 3" panose="020B0404040101010104" pitchFamily="34" charset="77"/>
              </a:rPr>
              <a:t>0</a:t>
            </a:r>
          </a:p>
        </p:txBody>
      </p:sp>
      <p:grpSp>
        <p:nvGrpSpPr>
          <p:cNvPr id="10" name="Group 9">
            <a:extLst>
              <a:ext uri="{FF2B5EF4-FFF2-40B4-BE49-F238E27FC236}">
                <a16:creationId xmlns:a16="http://schemas.microsoft.com/office/drawing/2014/main" id="{CE094708-C16B-B5CC-9DB7-FAE70C466BB4}"/>
              </a:ext>
            </a:extLst>
          </p:cNvPr>
          <p:cNvGrpSpPr/>
          <p:nvPr/>
        </p:nvGrpSpPr>
        <p:grpSpPr>
          <a:xfrm>
            <a:off x="1018603" y="4749108"/>
            <a:ext cx="10153204" cy="1508150"/>
            <a:chOff x="1189986" y="4768112"/>
            <a:chExt cx="10153204" cy="1508150"/>
          </a:xfrm>
        </p:grpSpPr>
        <p:sp>
          <p:nvSpPr>
            <p:cNvPr id="11" name="Rounded Rectangle 13">
              <a:extLst>
                <a:ext uri="{FF2B5EF4-FFF2-40B4-BE49-F238E27FC236}">
                  <a16:creationId xmlns:a16="http://schemas.microsoft.com/office/drawing/2014/main" id="{1FCD21BC-304C-2E6E-E92F-ED5D7A84534B}"/>
                </a:ext>
              </a:extLst>
            </p:cNvPr>
            <p:cNvSpPr/>
            <p:nvPr/>
          </p:nvSpPr>
          <p:spPr>
            <a:xfrm>
              <a:off x="2155867" y="4961662"/>
              <a:ext cx="9187323" cy="955026"/>
            </a:xfrm>
            <a:prstGeom prst="roundRect">
              <a:avLst>
                <a:gd name="adj" fmla="val 6458"/>
              </a:avLst>
            </a:prstGeom>
            <a:blipFill>
              <a:blip r:embed="rId6" cstate="print">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600">
                <a:solidFill>
                  <a:srgbClr val="000000"/>
                </a:solidFill>
                <a:latin typeface="Source Sans 3" panose="020B0404040101010104" pitchFamily="34" charset="77"/>
              </a:endParaRPr>
            </a:p>
          </p:txBody>
        </p:sp>
        <p:sp>
          <p:nvSpPr>
            <p:cNvPr id="17" name="TextBox 16">
              <a:extLst>
                <a:ext uri="{FF2B5EF4-FFF2-40B4-BE49-F238E27FC236}">
                  <a16:creationId xmlns:a16="http://schemas.microsoft.com/office/drawing/2014/main" id="{5EEDAC24-0534-8CAF-AF9B-EE08E4826FC7}"/>
                </a:ext>
              </a:extLst>
            </p:cNvPr>
            <p:cNvSpPr txBox="1"/>
            <p:nvPr/>
          </p:nvSpPr>
          <p:spPr>
            <a:xfrm>
              <a:off x="2970189" y="5081000"/>
              <a:ext cx="8312089" cy="617146"/>
            </a:xfrm>
            <a:prstGeom prst="rect">
              <a:avLst/>
            </a:prstGeom>
          </p:spPr>
          <p:txBody>
            <a:bodyPr vert="horz" wrap="square" lIns="0" tIns="0" rIns="0" bIns="0" rtlCol="0" anchor="b" anchorCtr="0">
              <a:noAutofit/>
            </a:bodyPr>
            <a:lstStyle>
              <a:defPPr>
                <a:defRPr lang="en-US"/>
              </a:defPPr>
              <a:lvl1pPr>
                <a:lnSpc>
                  <a:spcPct val="85000"/>
                </a:lnSpc>
                <a:spcBef>
                  <a:spcPct val="0"/>
                </a:spcBef>
                <a:buNone/>
                <a:tabLst>
                  <a:tab pos="398463" algn="l"/>
                </a:tabLst>
                <a:defRPr sz="4400" b="0" i="0" spc="0" baseline="0">
                  <a:solidFill>
                    <a:schemeClr val="bg1"/>
                  </a:solidFill>
                  <a:latin typeface="Source Sans 3" panose="020B0504040101010104" pitchFamily="34" charset="77"/>
                  <a:ea typeface="+mj-ea"/>
                  <a:cs typeface="Source Sans 3" panose="020B0504040101010104" pitchFamily="34" charset="77"/>
                </a:defRPr>
              </a:lvl1pPr>
            </a:lstStyle>
            <a:p>
              <a:r>
                <a:rPr lang="en-US" sz="1900"/>
                <a:t>Which Zero can your evidence support first?</a:t>
              </a:r>
            </a:p>
          </p:txBody>
        </p:sp>
      </p:grpSp>
      <p:sp>
        <p:nvSpPr>
          <p:cNvPr id="8" name="Title 1">
            <a:extLst>
              <a:ext uri="{FF2B5EF4-FFF2-40B4-BE49-F238E27FC236}">
                <a16:creationId xmlns:a16="http://schemas.microsoft.com/office/drawing/2014/main" id="{D6B10387-85CF-DD2D-8E58-70E8DB239CCE}"/>
              </a:ext>
            </a:extLst>
          </p:cNvPr>
          <p:cNvSpPr txBox="1">
            <a:spLocks/>
          </p:cNvSpPr>
          <p:nvPr/>
        </p:nvSpPr>
        <p:spPr>
          <a:xfrm>
            <a:off x="3069258" y="581738"/>
            <a:ext cx="6051895" cy="1195261"/>
          </a:xfrm>
          <a:prstGeom prst="rect">
            <a:avLst/>
          </a:prstGeom>
        </p:spPr>
        <p:txBody>
          <a:bodyPr vert="horz" wrap="square" lIns="0" tIns="0" rIns="0" bIns="0" rtlCol="0" anchor="b" anchorCtr="0">
            <a:noAutofit/>
          </a:bodyPr>
          <a:lstStyle>
            <a:defPPr>
              <a:defRPr lang="en-US"/>
            </a:defPPr>
            <a:lvl1pPr algn="ctr">
              <a:lnSpc>
                <a:spcPct val="85000"/>
              </a:lnSpc>
              <a:spcBef>
                <a:spcPct val="0"/>
              </a:spcBef>
              <a:buNone/>
              <a:tabLst>
                <a:tab pos="398463" algn="l"/>
              </a:tabLst>
              <a:defRPr sz="4800" b="1" i="0" spc="0" baseline="0">
                <a:solidFill>
                  <a:schemeClr val="accent1"/>
                </a:solidFill>
                <a:latin typeface="+mj-lt"/>
                <a:ea typeface="+mj-ea"/>
                <a:cs typeface="Source Sans 3" panose="020B0504040101010104" pitchFamily="34" charset="77"/>
              </a:defRPr>
            </a:lvl1pPr>
          </a:lstStyle>
          <a:p>
            <a:r>
              <a:rPr lang="en-US" sz="3700" b="1">
                <a:solidFill>
                  <a:srgbClr val="8FFFDB"/>
                </a:solidFill>
                <a:latin typeface="Source Sans 3"/>
              </a:rPr>
              <a:t>Autonomy Is Earned.</a:t>
            </a:r>
          </a:p>
        </p:txBody>
      </p:sp>
      <p:sp>
        <p:nvSpPr>
          <p:cNvPr id="2" name="Rounded Rectangle 2">
            <a:extLst>
              <a:ext uri="{FF2B5EF4-FFF2-40B4-BE49-F238E27FC236}">
                <a16:creationId xmlns:a16="http://schemas.microsoft.com/office/drawing/2014/main" id="{F034C97B-3C97-6D58-B80E-D10F9CB615FE}"/>
              </a:ext>
            </a:extLst>
          </p:cNvPr>
          <p:cNvSpPr/>
          <p:nvPr/>
        </p:nvSpPr>
        <p:spPr>
          <a:xfrm>
            <a:off x="1011045" y="2489975"/>
            <a:ext cx="1906861" cy="2093488"/>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52" name="TextBox 51">
            <a:extLst>
              <a:ext uri="{FF2B5EF4-FFF2-40B4-BE49-F238E27FC236}">
                <a16:creationId xmlns:a16="http://schemas.microsoft.com/office/drawing/2014/main" id="{0932E04F-5003-D87F-A7CF-827E22DC6264}"/>
              </a:ext>
            </a:extLst>
          </p:cNvPr>
          <p:cNvSpPr txBox="1"/>
          <p:nvPr/>
        </p:nvSpPr>
        <p:spPr>
          <a:xfrm>
            <a:off x="893248" y="3720234"/>
            <a:ext cx="2139388" cy="605294"/>
          </a:xfrm>
          <a:prstGeom prst="rect">
            <a:avLst/>
          </a:prstGeom>
          <a:noFill/>
        </p:spPr>
        <p:txBody>
          <a:bodyPr wrap="square" rtlCol="0">
            <a:spAutoFit/>
          </a:bodyPr>
          <a:lstStyle/>
          <a:p>
            <a:pPr algn="ctr">
              <a:lnSpc>
                <a:spcPts val="2000"/>
              </a:lnSpc>
            </a:pPr>
            <a:r>
              <a:rPr lang="en-US" sz="2000" b="1">
                <a:solidFill>
                  <a:schemeClr val="accent1"/>
                </a:solidFill>
                <a:latin typeface="Source Sans 3" panose="020B0504040101010104" pitchFamily="34" charset="77"/>
              </a:rPr>
              <a:t>Touch</a:t>
            </a:r>
            <a:r>
              <a:rPr lang="en-US" sz="2000" b="1">
                <a:solidFill>
                  <a:schemeClr val="bg1"/>
                </a:solidFill>
                <a:latin typeface="Source Sans 3" panose="020B0504040101010104" pitchFamily="34" charset="77"/>
              </a:rPr>
              <a:t> </a:t>
            </a:r>
          </a:p>
          <a:p>
            <a:pPr algn="ctr">
              <a:lnSpc>
                <a:spcPts val="2000"/>
              </a:lnSpc>
            </a:pPr>
            <a:r>
              <a:rPr lang="en-US" sz="2000" b="1">
                <a:solidFill>
                  <a:schemeClr val="bg1"/>
                </a:solidFill>
                <a:latin typeface="Source Sans 3" panose="020B0504040101010104" pitchFamily="34" charset="77"/>
              </a:rPr>
              <a:t>support</a:t>
            </a:r>
          </a:p>
        </p:txBody>
      </p:sp>
      <p:sp>
        <p:nvSpPr>
          <p:cNvPr id="67" name="TextBox 66">
            <a:extLst>
              <a:ext uri="{FF2B5EF4-FFF2-40B4-BE49-F238E27FC236}">
                <a16:creationId xmlns:a16="http://schemas.microsoft.com/office/drawing/2014/main" id="{4025F794-C6A7-D2B7-CB45-71E423BA4430}"/>
              </a:ext>
            </a:extLst>
          </p:cNvPr>
          <p:cNvSpPr txBox="1"/>
          <p:nvPr/>
        </p:nvSpPr>
        <p:spPr>
          <a:xfrm>
            <a:off x="1025353" y="2742284"/>
            <a:ext cx="1892206" cy="1107996"/>
          </a:xfrm>
          <a:prstGeom prst="rect">
            <a:avLst/>
          </a:prstGeom>
          <a:noFill/>
        </p:spPr>
        <p:txBody>
          <a:bodyPr wrap="square" lIns="0" tIns="0" rIns="0" bIns="0" rtlCol="0">
            <a:spAutoFit/>
          </a:bodyPr>
          <a:lstStyle/>
          <a:p>
            <a:pPr algn="ctr"/>
            <a:r>
              <a:rPr lang="en-US" sz="7100" b="0" i="0">
                <a:solidFill>
                  <a:schemeClr val="bg1"/>
                </a:solidFill>
                <a:latin typeface="+mj-lt"/>
                <a:cs typeface="Source Sans 3" panose="020B0404040101010104" pitchFamily="34" charset="77"/>
              </a:rPr>
              <a:t>0</a:t>
            </a:r>
          </a:p>
        </p:txBody>
      </p:sp>
      <p:sp>
        <p:nvSpPr>
          <p:cNvPr id="3" name="Rounded Rectangle 2">
            <a:extLst>
              <a:ext uri="{FF2B5EF4-FFF2-40B4-BE49-F238E27FC236}">
                <a16:creationId xmlns:a16="http://schemas.microsoft.com/office/drawing/2014/main" id="{63C91455-53B1-34E9-FE84-D8A7E01E1A0F}"/>
              </a:ext>
            </a:extLst>
          </p:cNvPr>
          <p:cNvSpPr/>
          <p:nvPr/>
        </p:nvSpPr>
        <p:spPr>
          <a:xfrm>
            <a:off x="3076013" y="2489975"/>
            <a:ext cx="1906861" cy="2093488"/>
          </a:xfrm>
          <a:prstGeom prst="roundRect">
            <a:avLst>
              <a:gd name="adj" fmla="val 3950"/>
            </a:avLst>
          </a:prstGeom>
          <a:blipFill>
            <a:blip r:embed="rId5" cstate="screen">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panose="020B0404040101010104" pitchFamily="34" charset="77"/>
              <a:ea typeface="+mn-ea"/>
              <a:cs typeface="+mn-cs"/>
            </a:endParaRPr>
          </a:p>
        </p:txBody>
      </p:sp>
      <p:sp>
        <p:nvSpPr>
          <p:cNvPr id="56" name="TextBox 55">
            <a:extLst>
              <a:ext uri="{FF2B5EF4-FFF2-40B4-BE49-F238E27FC236}">
                <a16:creationId xmlns:a16="http://schemas.microsoft.com/office/drawing/2014/main" id="{84E54179-2DEA-03F5-2607-84462533A09F}"/>
              </a:ext>
            </a:extLst>
          </p:cNvPr>
          <p:cNvSpPr txBox="1"/>
          <p:nvPr/>
        </p:nvSpPr>
        <p:spPr>
          <a:xfrm>
            <a:off x="2973226" y="3734748"/>
            <a:ext cx="2139388" cy="605294"/>
          </a:xfrm>
          <a:prstGeom prst="rect">
            <a:avLst/>
          </a:prstGeom>
          <a:noFill/>
        </p:spPr>
        <p:txBody>
          <a:bodyPr wrap="square" rtlCol="0">
            <a:spAutoFit/>
          </a:bodyPr>
          <a:lstStyle/>
          <a:p>
            <a:pPr algn="ctr">
              <a:lnSpc>
                <a:spcPts val="2000"/>
              </a:lnSpc>
            </a:pPr>
            <a:r>
              <a:rPr lang="en-US" sz="2000" b="1">
                <a:solidFill>
                  <a:schemeClr val="accent1"/>
                </a:solidFill>
                <a:latin typeface="Source Sans 3" panose="020B0504040101010104" pitchFamily="34" charset="77"/>
              </a:rPr>
              <a:t>Service</a:t>
            </a:r>
            <a:r>
              <a:rPr lang="en-US" sz="2000" b="1">
                <a:solidFill>
                  <a:schemeClr val="bg1"/>
                </a:solidFill>
                <a:latin typeface="Source Sans 3" panose="020B0504040101010104" pitchFamily="34" charset="77"/>
              </a:rPr>
              <a:t> </a:t>
            </a:r>
          </a:p>
          <a:p>
            <a:pPr algn="ctr">
              <a:lnSpc>
                <a:spcPts val="2000"/>
              </a:lnSpc>
            </a:pPr>
            <a:r>
              <a:rPr lang="en-US" sz="2000" b="1">
                <a:solidFill>
                  <a:schemeClr val="bg1"/>
                </a:solidFill>
                <a:latin typeface="Source Sans 3" panose="020B0504040101010104" pitchFamily="34" charset="77"/>
              </a:rPr>
              <a:t>outages</a:t>
            </a:r>
          </a:p>
        </p:txBody>
      </p:sp>
      <p:sp>
        <p:nvSpPr>
          <p:cNvPr id="68" name="TextBox 67">
            <a:extLst>
              <a:ext uri="{FF2B5EF4-FFF2-40B4-BE49-F238E27FC236}">
                <a16:creationId xmlns:a16="http://schemas.microsoft.com/office/drawing/2014/main" id="{F18EB449-575B-A336-EB7C-6228657F87B5}"/>
              </a:ext>
            </a:extLst>
          </p:cNvPr>
          <p:cNvSpPr txBox="1"/>
          <p:nvPr/>
        </p:nvSpPr>
        <p:spPr>
          <a:xfrm>
            <a:off x="3103994" y="2742284"/>
            <a:ext cx="1892206" cy="1107996"/>
          </a:xfrm>
          <a:prstGeom prst="rect">
            <a:avLst/>
          </a:prstGeom>
          <a:noFill/>
        </p:spPr>
        <p:txBody>
          <a:bodyPr wrap="square" lIns="0" tIns="0" rIns="0" bIns="0" rtlCol="0">
            <a:spAutoFit/>
          </a:bodyPr>
          <a:lstStyle/>
          <a:p>
            <a:pPr algn="ctr"/>
            <a:r>
              <a:rPr lang="en-US" sz="7100" b="0" i="0">
                <a:solidFill>
                  <a:schemeClr val="bg1"/>
                </a:solidFill>
                <a:latin typeface="+mj-lt"/>
                <a:cs typeface="Source Sans 3" panose="020B0404040101010104" pitchFamily="34" charset="77"/>
              </a:rPr>
              <a:t>0</a:t>
            </a:r>
          </a:p>
        </p:txBody>
      </p:sp>
      <p:sp>
        <p:nvSpPr>
          <p:cNvPr id="9" name="TextBox 8">
            <a:extLst>
              <a:ext uri="{FF2B5EF4-FFF2-40B4-BE49-F238E27FC236}">
                <a16:creationId xmlns:a16="http://schemas.microsoft.com/office/drawing/2014/main" id="{4C295185-4B30-D5D2-D39A-8C4197C1B19E}"/>
              </a:ext>
            </a:extLst>
          </p:cNvPr>
          <p:cNvSpPr txBox="1">
            <a:spLocks/>
          </p:cNvSpPr>
          <p:nvPr/>
        </p:nvSpPr>
        <p:spPr>
          <a:xfrm>
            <a:off x="4125368" y="6451617"/>
            <a:ext cx="4034010" cy="246221"/>
          </a:xfrm>
          <a:prstGeom prst="rect">
            <a:avLst/>
          </a:prstGeom>
          <a:noFill/>
        </p:spPr>
        <p:txBody>
          <a:bodyPr wrap="square" lIns="0" tIns="0" rIns="0" bIns="0" rtlCol="0">
            <a:spAutoFit/>
          </a:bodyPr>
          <a:lstStyle/>
          <a:p>
            <a:pPr algn="l"/>
            <a:r>
              <a:rPr lang="en-US" sz="800" b="0" i="0" dirty="0">
                <a:solidFill>
                  <a:schemeClr val="bg1"/>
                </a:solidFill>
                <a:latin typeface="Source Sans 3" panose="020B0404040101010104" pitchFamily="34" charset="77"/>
                <a:cs typeface="Source Sans 3" panose="020B0404040101010104" pitchFamily="34" charset="77"/>
              </a:rPr>
              <a:t>* Five Zeros are directional ambitions, not guaranteed results.</a:t>
            </a:r>
          </a:p>
        </p:txBody>
      </p:sp>
      <p:pic>
        <p:nvPicPr>
          <p:cNvPr id="13" name="Picture 15">
            <a:extLst>
              <a:ext uri="{FF2B5EF4-FFF2-40B4-BE49-F238E27FC236}">
                <a16:creationId xmlns:a16="http://schemas.microsoft.com/office/drawing/2014/main" id="{9B6AF64D-85A6-E6FE-4588-B3BAC7535B4F}"/>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481299" y="6353915"/>
            <a:ext cx="980079" cy="280022"/>
          </a:xfrm>
          <a:prstGeom prst="rect">
            <a:avLst/>
          </a:prstGeom>
        </p:spPr>
      </p:pic>
      <p:pic>
        <p:nvPicPr>
          <p:cNvPr id="15" name="Picture 15">
            <a:extLst>
              <a:ext uri="{FF2B5EF4-FFF2-40B4-BE49-F238E27FC236}">
                <a16:creationId xmlns:a16="http://schemas.microsoft.com/office/drawing/2014/main" id="{2782948A-5287-2061-F730-2ADC99836BFB}"/>
              </a:ext>
              <a:ext uri="{C183D7F6-B498-43B3-948B-1728B52AA6E4}">
                <adec:decorative xmlns:adec="http://schemas.microsoft.com/office/drawing/2017/decorative" val="1"/>
              </a:ext>
            </a:extLst>
          </p:cNvPr>
          <p:cNvPicPr>
            <a:picLocks/>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479837" y="6353915"/>
            <a:ext cx="980334" cy="280022"/>
          </a:xfrm>
          <a:prstGeom prst="rect">
            <a:avLst/>
          </a:prstGeom>
        </p:spPr>
      </p:pic>
      <p:sp>
        <p:nvSpPr>
          <p:cNvPr id="22" name="Footer Placeholder 4">
            <a:extLst>
              <a:ext uri="{FF2B5EF4-FFF2-40B4-BE49-F238E27FC236}">
                <a16:creationId xmlns:a16="http://schemas.microsoft.com/office/drawing/2014/main" id="{02C23DDB-02C9-2CEF-ABE9-48F07E6EF747}"/>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78" name="Autonomy supporting line"/>
          <p:cNvSpPr txBox="1"/>
          <p:nvPr/>
        </p:nvSpPr>
        <p:spPr>
          <a:xfrm>
            <a:off x="2194560" y="1892807"/>
            <a:ext cx="7744968" cy="310896"/>
          </a:xfrm>
          <a:prstGeom prst="rect">
            <a:avLst/>
          </a:prstGeom>
          <a:noFill/>
        </p:spPr>
        <p:txBody>
          <a:bodyPr wrap="square" lIns="18288" tIns="18288" rIns="18288" bIns="18288" anchor="ctr">
            <a:spAutoFit/>
          </a:bodyPr>
          <a:lstStyle/>
          <a:p>
            <a:pPr algn="ctr"/>
            <a:r>
              <a:rPr sz="1400" b="0">
                <a:solidFill>
                  <a:srgbClr val="FFFFFF"/>
                </a:solidFill>
                <a:latin typeface="Source Sans 3"/>
              </a:rPr>
              <a:t>Greater autonomy requires stronger evidence and controls.</a:t>
            </a:r>
          </a:p>
        </p:txBody>
      </p:sp>
    </p:spTree>
    <p:extLst>
      <p:ext uri="{BB962C8B-B14F-4D97-AF65-F5344CB8AC3E}">
        <p14:creationId xmlns:p14="http://schemas.microsoft.com/office/powerpoint/2010/main" val="2935715828"/>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E5EB-FFDA-91B5-CFF7-B392A60EB10F}"/>
            </a:ext>
          </a:extLst>
        </p:cNvPr>
        <p:cNvGrpSpPr/>
        <p:nvPr/>
      </p:nvGrpSpPr>
      <p:grpSpPr>
        <a:xfrm>
          <a:off x="0" y="0"/>
          <a:ext cx="0" cy="0"/>
          <a:chOff x="0" y="0"/>
          <a:chExt cx="0" cy="0"/>
        </a:xfrm>
      </p:grpSpPr>
      <p:sp>
        <p:nvSpPr>
          <p:cNvPr id="9" name="!!title3">
            <a:extLst>
              <a:ext uri="{FF2B5EF4-FFF2-40B4-BE49-F238E27FC236}">
                <a16:creationId xmlns:a16="http://schemas.microsoft.com/office/drawing/2014/main" id="{D6CFFA2C-5FE3-2031-0869-69D650EA82CE}"/>
              </a:ext>
            </a:extLst>
          </p:cNvPr>
          <p:cNvSpPr txBox="1">
            <a:spLocks/>
          </p:cNvSpPr>
          <p:nvPr/>
        </p:nvSpPr>
        <p:spPr>
          <a:xfrm>
            <a:off x="1591506" y="349052"/>
            <a:ext cx="9014008" cy="757130"/>
          </a:xfrm>
          <a:prstGeom prst="rect">
            <a:avLst/>
          </a:prstGeom>
          <a:noFill/>
        </p:spPr>
        <p:txBody>
          <a:bodyPr wrap="square" rtlCol="0">
            <a:spAutoFit/>
          </a:bodyPr>
          <a:lstStyle/>
          <a:p>
            <a:pPr algn="ctr" defTabSz="914126">
              <a:lnSpc>
                <a:spcPct val="90000"/>
              </a:lnSpc>
              <a:defRPr/>
            </a:pPr>
            <a:r>
              <a:rPr lang="en-US" sz="3600" b="1" dirty="0">
                <a:solidFill>
                  <a:srgbClr val="8FFFDB"/>
                </a:solidFill>
                <a:latin typeface="Source Sans 3" panose="020B0504040101010104" pitchFamily="34" charset="77"/>
                <a:cs typeface="Source Sans 3" panose="020B0504040101010104" pitchFamily="34" charset="77"/>
              </a:rPr>
              <a:t>Which Zero should we tackle first?</a:t>
            </a:r>
          </a:p>
        </p:txBody>
      </p:sp>
      <p:sp>
        <p:nvSpPr>
          <p:cNvPr id="122" name="Choosing a Zero criteria"/>
          <p:cNvSpPr txBox="1"/>
          <p:nvPr/>
        </p:nvSpPr>
        <p:spPr>
          <a:xfrm>
            <a:off x="2825496" y="1042415"/>
            <a:ext cx="6647688" cy="283464"/>
          </a:xfrm>
          <a:prstGeom prst="rect">
            <a:avLst/>
          </a:prstGeom>
          <a:noFill/>
        </p:spPr>
        <p:txBody>
          <a:bodyPr wrap="square" lIns="18288" tIns="18288" rIns="18288" bIns="18288" anchor="ctr">
            <a:spAutoFit/>
          </a:bodyPr>
          <a:lstStyle/>
          <a:p>
            <a:pPr algn="ctr"/>
            <a:r>
              <a:rPr sz="1400" b="1">
                <a:solidFill>
                  <a:srgbClr val="FFFFFF"/>
                </a:solidFill>
                <a:latin typeface="Source Sans 3"/>
              </a:rPr>
              <a:t>Business value   ×   Readiness   ×   Assist consumption</a:t>
            </a:r>
          </a:p>
        </p:txBody>
      </p:sp>
      <p:pic>
        <p:nvPicPr>
          <p:cNvPr id="7" name="Picture 6">
            <a:extLst>
              <a:ext uri="{FF2B5EF4-FFF2-40B4-BE49-F238E27FC236}">
                <a16:creationId xmlns:a16="http://schemas.microsoft.com/office/drawing/2014/main" id="{01B2390A-5BE6-B02F-E162-EE0E96D8ABB0}"/>
              </a:ext>
            </a:extLst>
          </p:cNvPr>
          <p:cNvPicPr>
            <a:picLocks noChangeAspect="1"/>
          </p:cNvPicPr>
          <p:nvPr/>
        </p:nvPicPr>
        <p:blipFill>
          <a:blip r:embed="rId3"/>
          <a:stretch>
            <a:fillRect/>
          </a:stretch>
        </p:blipFill>
        <p:spPr>
          <a:xfrm>
            <a:off x="2208212" y="1411973"/>
            <a:ext cx="7772400" cy="5096975"/>
          </a:xfrm>
          <a:prstGeom prst="rect">
            <a:avLst/>
          </a:prstGeom>
        </p:spPr>
      </p:pic>
    </p:spTree>
    <p:extLst>
      <p:ext uri="{BB962C8B-B14F-4D97-AF65-F5344CB8AC3E}">
        <p14:creationId xmlns:p14="http://schemas.microsoft.com/office/powerpoint/2010/main" val="3916606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80C5-E7FA-9BFF-DF1A-8408D340676A}"/>
            </a:ext>
          </a:extLst>
        </p:cNvPr>
        <p:cNvGrpSpPr/>
        <p:nvPr/>
      </p:nvGrpSpPr>
      <p:grpSpPr>
        <a:xfrm>
          <a:off x="0" y="0"/>
          <a:ext cx="0" cy="0"/>
          <a:chOff x="0" y="0"/>
          <a:chExt cx="0" cy="0"/>
        </a:xfrm>
      </p:grpSpPr>
      <p:sp>
        <p:nvSpPr>
          <p:cNvPr id="301" name="Title"/>
          <p:cNvSpPr txBox="1"/>
          <p:nvPr/>
        </p:nvSpPr>
        <p:spPr>
          <a:xfrm>
            <a:off x="548640" y="411480"/>
            <a:ext cx="11064240" cy="685800"/>
          </a:xfrm>
          <a:prstGeom prst="rect">
            <a:avLst/>
          </a:prstGeom>
          <a:noFill/>
        </p:spPr>
        <p:txBody>
          <a:bodyPr wrap="square" lIns="0" tIns="0" rIns="0" bIns="0" anchor="t">
            <a:noAutofit/>
          </a:bodyPr>
          <a:lstStyle/>
          <a:p>
            <a:pPr algn="l">
              <a:spcAft>
                <a:spcPts val="0"/>
              </a:spcAft>
            </a:pPr>
            <a:r>
              <a:rPr lang="en-GB" sz="2950" b="1" dirty="0">
                <a:solidFill>
                  <a:srgbClr val="FFFFFF"/>
                </a:solidFill>
                <a:latin typeface="Source Sans 3"/>
                <a:cs typeface="Source Sans 3"/>
              </a:rPr>
              <a:t>Know where to start. Know what it takes. Keep moving.</a:t>
            </a:r>
          </a:p>
        </p:txBody>
      </p:sp>
      <p:sp>
        <p:nvSpPr>
          <p:cNvPr id="302" name="Subtitle"/>
          <p:cNvSpPr txBox="1"/>
          <p:nvPr/>
        </p:nvSpPr>
        <p:spPr>
          <a:xfrm>
            <a:off x="548640" y="1097280"/>
            <a:ext cx="11064240" cy="411480"/>
          </a:xfrm>
          <a:prstGeom prst="rect">
            <a:avLst/>
          </a:prstGeom>
          <a:noFill/>
        </p:spPr>
        <p:txBody>
          <a:bodyPr wrap="square" lIns="0" tIns="0" rIns="0" bIns="0" anchor="t">
            <a:noAutofit/>
          </a:bodyPr>
          <a:lstStyle/>
          <a:p>
            <a:pPr algn="l">
              <a:spcAft>
                <a:spcPts val="0"/>
              </a:spcAft>
            </a:pPr>
            <a:r>
              <a:rPr lang="en-GB" sz="1900" b="1" dirty="0">
                <a:solidFill>
                  <a:srgbClr val="8FFFDB"/>
                </a:solidFill>
                <a:latin typeface="Source Sans 3"/>
                <a:cs typeface="Source Sans 3"/>
              </a:rPr>
              <a:t>The first two steps are free.</a:t>
            </a:r>
          </a:p>
        </p:txBody>
      </p:sp>
      <p:sp>
        <p:nvSpPr>
          <p:cNvPr id="303" name="Card 01"/>
          <p:cNvSpPr/>
          <p:nvPr/>
        </p:nvSpPr>
        <p:spPr>
          <a:xfrm>
            <a:off x="548640" y="1783080"/>
            <a:ext cx="3520440" cy="3886200"/>
          </a:xfrm>
          <a:prstGeom prst="roundRect">
            <a:avLst>
              <a:gd name="adj" fmla="val 6000"/>
            </a:avLst>
          </a:prstGeom>
          <a:solidFill>
            <a:srgbClr val="FFFFFF">
              <a:alpha val="5000"/>
            </a:srgbClr>
          </a:solidFill>
          <a:ln w="10973">
            <a:solidFill>
              <a:srgbClr val="FFFFFF">
                <a:alpha val="14000"/>
              </a:srgbClr>
            </a:solidFill>
          </a:ln>
        </p:spPr>
        <p:txBody>
          <a:bodyPr/>
          <a:lstStyle/>
          <a:p>
            <a:endParaRPr lang="en-US"/>
          </a:p>
        </p:txBody>
      </p:sp>
      <p:pic>
        <p:nvPicPr>
          <p:cNvPr id="304" name="Self-serve tools icon" descr="Self-serve tools icon"/>
          <p:cNvPicPr>
            <a:picLocks noChangeAspect="1"/>
          </p:cNvPicPr>
          <p:nvPr/>
        </p:nvPicPr>
        <p:blipFill>
          <a:blip r:embed="rId3"/>
          <a:stretch>
            <a:fillRect/>
          </a:stretch>
        </p:blipFill>
        <p:spPr>
          <a:xfrm>
            <a:off x="841248" y="2075688"/>
            <a:ext cx="713232" cy="713232"/>
          </a:xfrm>
          <a:prstGeom prst="rect">
            <a:avLst/>
          </a:prstGeom>
        </p:spPr>
      </p:pic>
      <p:sp>
        <p:nvSpPr>
          <p:cNvPr id="305" name="Step 01"/>
          <p:cNvSpPr txBox="1"/>
          <p:nvPr/>
        </p:nvSpPr>
        <p:spPr>
          <a:xfrm>
            <a:off x="2971800" y="2112264"/>
            <a:ext cx="822960" cy="365760"/>
          </a:xfrm>
          <a:prstGeom prst="rect">
            <a:avLst/>
          </a:prstGeom>
          <a:noFill/>
        </p:spPr>
        <p:txBody>
          <a:bodyPr wrap="square" lIns="0" tIns="0" rIns="0" bIns="0" anchor="t">
            <a:noAutofit/>
          </a:bodyPr>
          <a:lstStyle/>
          <a:p>
            <a:pPr algn="r">
              <a:spcAft>
                <a:spcPts val="0"/>
              </a:spcAft>
            </a:pPr>
            <a:r>
              <a:rPr lang="en-GB" sz="1800" b="1" dirty="0">
                <a:solidFill>
                  <a:srgbClr val="71F1F7"/>
                </a:solidFill>
                <a:latin typeface="Source Sans 3"/>
                <a:cs typeface="Source Sans 3"/>
              </a:rPr>
              <a:t>01</a:t>
            </a:r>
          </a:p>
        </p:txBody>
      </p:sp>
      <p:sp>
        <p:nvSpPr>
          <p:cNvPr id="306" name="Step 01 title"/>
          <p:cNvSpPr txBox="1"/>
          <p:nvPr/>
        </p:nvSpPr>
        <p:spPr>
          <a:xfrm>
            <a:off x="841248" y="2898648"/>
            <a:ext cx="2971800" cy="411480"/>
          </a:xfrm>
          <a:prstGeom prst="rect">
            <a:avLst/>
          </a:prstGeom>
          <a:noFill/>
        </p:spPr>
        <p:txBody>
          <a:bodyPr wrap="square" lIns="0" tIns="0" rIns="0" bIns="0" anchor="t">
            <a:noAutofit/>
          </a:bodyPr>
          <a:lstStyle/>
          <a:p>
            <a:pPr algn="l">
              <a:spcAft>
                <a:spcPts val="0"/>
              </a:spcAft>
            </a:pPr>
            <a:r>
              <a:rPr lang="en-GB" sz="2100" b="1" dirty="0">
                <a:solidFill>
                  <a:srgbClr val="FFFFFF"/>
                </a:solidFill>
                <a:latin typeface="Source Sans 3"/>
                <a:cs typeface="Source Sans 3"/>
              </a:rPr>
              <a:t>Self-serve tools</a:t>
            </a:r>
          </a:p>
        </p:txBody>
      </p:sp>
      <p:sp>
        <p:nvSpPr>
          <p:cNvPr id="307" name="Step 01 commitment"/>
          <p:cNvSpPr/>
          <p:nvPr/>
        </p:nvSpPr>
        <p:spPr>
          <a:xfrm>
            <a:off x="841248" y="3383280"/>
            <a:ext cx="2148840" cy="310896"/>
          </a:xfrm>
          <a:prstGeom prst="roundRect">
            <a:avLst>
              <a:gd name="adj" fmla="val 50000"/>
            </a:avLst>
          </a:prstGeom>
          <a:noFill/>
          <a:ln w="10973">
            <a:solidFill>
              <a:srgbClr val="71F1F7"/>
            </a:solidFill>
          </a:ln>
        </p:spPr>
        <p:txBody>
          <a:bodyPr wrap="square" lIns="45720" tIns="0" rIns="45720" bIns="0" anchor="ctr">
            <a:noAutofit/>
          </a:bodyPr>
          <a:lstStyle/>
          <a:p>
            <a:pPr algn="ctr">
              <a:spcAft>
                <a:spcPts val="0"/>
              </a:spcAft>
            </a:pPr>
            <a:r>
              <a:rPr lang="en-GB" sz="1000" b="1" dirty="0">
                <a:solidFill>
                  <a:srgbClr val="71F1F7"/>
                </a:solidFill>
                <a:latin typeface="Source Sans 3"/>
                <a:cs typeface="Source Sans 3"/>
              </a:rPr>
              <a:t>FREE  ·  ABOUT 10 MINUTES</a:t>
            </a:r>
          </a:p>
        </p:txBody>
      </p:sp>
      <p:cxnSp>
        <p:nvCxnSpPr>
          <p:cNvPr id="308" name="Step 01 divider"/>
          <p:cNvCxnSpPr/>
          <p:nvPr/>
        </p:nvCxnSpPr>
        <p:spPr>
          <a:xfrm>
            <a:off x="841248" y="3886200"/>
            <a:ext cx="2935224" cy="0"/>
          </a:xfrm>
          <a:prstGeom prst="line">
            <a:avLst/>
          </a:prstGeom>
          <a:ln w="7315" cap="rnd">
            <a:solidFill>
              <a:srgbClr val="FFFFFF">
                <a:alpha val="18000"/>
              </a:srgbClr>
            </a:solidFill>
          </a:ln>
        </p:spPr>
      </p:cxnSp>
      <p:sp>
        <p:nvSpPr>
          <p:cNvPr id="309" name="Step 01 question label"/>
          <p:cNvSpPr txBox="1"/>
          <p:nvPr/>
        </p:nvSpPr>
        <p:spPr>
          <a:xfrm>
            <a:off x="841248" y="3995928"/>
            <a:ext cx="2971800" cy="256032"/>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THE QUESTION</a:t>
            </a:r>
          </a:p>
        </p:txBody>
      </p:sp>
      <p:sp>
        <p:nvSpPr>
          <p:cNvPr id="310" name="Step 01 question"/>
          <p:cNvSpPr txBox="1"/>
          <p:nvPr/>
        </p:nvSpPr>
        <p:spPr>
          <a:xfrm>
            <a:off x="841248" y="4233672"/>
            <a:ext cx="2971800" cy="384048"/>
          </a:xfrm>
          <a:prstGeom prst="rect">
            <a:avLst/>
          </a:prstGeom>
          <a:noFill/>
        </p:spPr>
        <p:txBody>
          <a:bodyPr wrap="square" lIns="0" tIns="0" rIns="0" bIns="0" anchor="t">
            <a:noAutofit/>
          </a:bodyPr>
          <a:lstStyle/>
          <a:p>
            <a:pPr algn="l">
              <a:spcAft>
                <a:spcPts val="0"/>
              </a:spcAft>
            </a:pPr>
            <a:r>
              <a:rPr lang="en-GB" sz="1600" b="1" dirty="0">
                <a:solidFill>
                  <a:srgbClr val="FFFFFF"/>
                </a:solidFill>
                <a:latin typeface="Source Sans 3"/>
                <a:cs typeface="Source Sans 3"/>
              </a:rPr>
              <a:t>Are we ready?</a:t>
            </a:r>
          </a:p>
        </p:txBody>
      </p:sp>
      <p:sp>
        <p:nvSpPr>
          <p:cNvPr id="311" name="Step 01 output label"/>
          <p:cNvSpPr txBox="1"/>
          <p:nvPr/>
        </p:nvSpPr>
        <p:spPr>
          <a:xfrm>
            <a:off x="841248" y="4663440"/>
            <a:ext cx="2971800" cy="256032"/>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WHAT YOU GET</a:t>
            </a:r>
          </a:p>
        </p:txBody>
      </p:sp>
      <p:sp>
        <p:nvSpPr>
          <p:cNvPr id="312" name="Step 01 output"/>
          <p:cNvSpPr txBox="1"/>
          <p:nvPr/>
        </p:nvSpPr>
        <p:spPr>
          <a:xfrm>
            <a:off x="841248" y="4901184"/>
            <a:ext cx="2971800" cy="685800"/>
          </a:xfrm>
          <a:prstGeom prst="rect">
            <a:avLst/>
          </a:prstGeom>
          <a:noFill/>
        </p:spPr>
        <p:txBody>
          <a:bodyPr wrap="square" lIns="0" tIns="0" rIns="0" bIns="0" anchor="t">
            <a:noAutofit/>
          </a:bodyPr>
          <a:lstStyle/>
          <a:p>
            <a:pPr algn="l">
              <a:lnSpc>
                <a:spcPct val="108000"/>
              </a:lnSpc>
              <a:spcAft>
                <a:spcPts val="0"/>
              </a:spcAft>
            </a:pPr>
            <a:r>
              <a:rPr lang="en-GB" sz="1250" b="0" dirty="0">
                <a:solidFill>
                  <a:srgbClr val="FFFFFF">
                    <a:alpha val="85000"/>
                  </a:srgbClr>
                </a:solidFill>
                <a:latin typeface="Source Sans 3"/>
                <a:cs typeface="Source Sans 3"/>
              </a:rPr>
              <a:t>AI Readiness Benchmark score, Assist estimate and tier map.</a:t>
            </a:r>
          </a:p>
        </p:txBody>
      </p:sp>
      <p:sp>
        <p:nvSpPr>
          <p:cNvPr id="313" name="Arrow 1"/>
          <p:cNvSpPr/>
          <p:nvPr/>
        </p:nvSpPr>
        <p:spPr>
          <a:xfrm>
            <a:off x="4142232" y="3579876"/>
            <a:ext cx="155448" cy="292608"/>
          </a:xfrm>
          <a:prstGeom prst="chevron">
            <a:avLst/>
          </a:prstGeom>
          <a:solidFill>
            <a:srgbClr val="2CB0CD"/>
          </a:solidFill>
          <a:ln>
            <a:noFill/>
          </a:ln>
        </p:spPr>
        <p:txBody>
          <a:bodyPr/>
          <a:lstStyle/>
          <a:p>
            <a:endParaRPr lang="en-US"/>
          </a:p>
        </p:txBody>
      </p:sp>
      <p:sp>
        <p:nvSpPr>
          <p:cNvPr id="314" name="Card 02"/>
          <p:cNvSpPr/>
          <p:nvPr/>
        </p:nvSpPr>
        <p:spPr>
          <a:xfrm>
            <a:off x="4343400" y="1783080"/>
            <a:ext cx="3520440" cy="3886200"/>
          </a:xfrm>
          <a:prstGeom prst="roundRect">
            <a:avLst>
              <a:gd name="adj" fmla="val 6000"/>
            </a:avLst>
          </a:prstGeom>
          <a:solidFill>
            <a:srgbClr val="FFFFFF">
              <a:alpha val="5000"/>
            </a:srgbClr>
          </a:solidFill>
          <a:ln w="10973">
            <a:solidFill>
              <a:srgbClr val="FFFFFF">
                <a:alpha val="14000"/>
              </a:srgbClr>
            </a:solidFill>
          </a:ln>
        </p:spPr>
        <p:txBody>
          <a:bodyPr/>
          <a:lstStyle/>
          <a:p>
            <a:endParaRPr lang="en-US"/>
          </a:p>
        </p:txBody>
      </p:sp>
      <p:pic>
        <p:nvPicPr>
          <p:cNvPr id="315" name="Readiness Assessment icon" descr="Readiness Assessment icon"/>
          <p:cNvPicPr>
            <a:picLocks noChangeAspect="1"/>
          </p:cNvPicPr>
          <p:nvPr/>
        </p:nvPicPr>
        <p:blipFill>
          <a:blip r:embed="rId4"/>
          <a:stretch>
            <a:fillRect/>
          </a:stretch>
        </p:blipFill>
        <p:spPr>
          <a:xfrm>
            <a:off x="4636008" y="2075688"/>
            <a:ext cx="713232" cy="713232"/>
          </a:xfrm>
          <a:prstGeom prst="rect">
            <a:avLst/>
          </a:prstGeom>
        </p:spPr>
      </p:pic>
      <p:sp>
        <p:nvSpPr>
          <p:cNvPr id="316" name="Step 02"/>
          <p:cNvSpPr txBox="1"/>
          <p:nvPr/>
        </p:nvSpPr>
        <p:spPr>
          <a:xfrm>
            <a:off x="6766560" y="2112264"/>
            <a:ext cx="822960" cy="365760"/>
          </a:xfrm>
          <a:prstGeom prst="rect">
            <a:avLst/>
          </a:prstGeom>
          <a:noFill/>
        </p:spPr>
        <p:txBody>
          <a:bodyPr wrap="square" lIns="0" tIns="0" rIns="0" bIns="0" anchor="t">
            <a:noAutofit/>
          </a:bodyPr>
          <a:lstStyle/>
          <a:p>
            <a:pPr algn="r">
              <a:spcAft>
                <a:spcPts val="0"/>
              </a:spcAft>
            </a:pPr>
            <a:r>
              <a:rPr lang="en-GB" sz="1800" b="1" dirty="0">
                <a:solidFill>
                  <a:srgbClr val="71F1F7"/>
                </a:solidFill>
                <a:latin typeface="Source Sans 3"/>
                <a:cs typeface="Source Sans 3"/>
              </a:rPr>
              <a:t>02</a:t>
            </a:r>
          </a:p>
        </p:txBody>
      </p:sp>
      <p:sp>
        <p:nvSpPr>
          <p:cNvPr id="317" name="Step 02 title"/>
          <p:cNvSpPr txBox="1"/>
          <p:nvPr/>
        </p:nvSpPr>
        <p:spPr>
          <a:xfrm>
            <a:off x="4636008" y="2898648"/>
            <a:ext cx="2971800" cy="411480"/>
          </a:xfrm>
          <a:prstGeom prst="rect">
            <a:avLst/>
          </a:prstGeom>
          <a:noFill/>
        </p:spPr>
        <p:txBody>
          <a:bodyPr wrap="square" lIns="0" tIns="0" rIns="0" bIns="0" anchor="t">
            <a:noAutofit/>
          </a:bodyPr>
          <a:lstStyle/>
          <a:p>
            <a:pPr algn="l">
              <a:spcAft>
                <a:spcPts val="0"/>
              </a:spcAft>
            </a:pPr>
            <a:r>
              <a:rPr lang="en-GB" sz="2100" b="1" dirty="0">
                <a:solidFill>
                  <a:srgbClr val="FFFFFF"/>
                </a:solidFill>
                <a:latin typeface="Source Sans 3"/>
                <a:cs typeface="Source Sans 3"/>
              </a:rPr>
              <a:t>Readiness Assessment</a:t>
            </a:r>
          </a:p>
        </p:txBody>
      </p:sp>
      <p:sp>
        <p:nvSpPr>
          <p:cNvPr id="318" name="Step 02 commitment"/>
          <p:cNvSpPr/>
          <p:nvPr/>
        </p:nvSpPr>
        <p:spPr>
          <a:xfrm>
            <a:off x="4636008" y="3383280"/>
            <a:ext cx="2148840" cy="310896"/>
          </a:xfrm>
          <a:prstGeom prst="roundRect">
            <a:avLst>
              <a:gd name="adj" fmla="val 50000"/>
            </a:avLst>
          </a:prstGeom>
          <a:noFill/>
          <a:ln w="10973">
            <a:solidFill>
              <a:srgbClr val="71F1F7"/>
            </a:solidFill>
          </a:ln>
        </p:spPr>
        <p:txBody>
          <a:bodyPr wrap="square" lIns="45720" tIns="0" rIns="45720" bIns="0" anchor="ctr">
            <a:noAutofit/>
          </a:bodyPr>
          <a:lstStyle/>
          <a:p>
            <a:pPr algn="ctr">
              <a:spcAft>
                <a:spcPts val="0"/>
              </a:spcAft>
            </a:pPr>
            <a:r>
              <a:rPr lang="en-GB" sz="1000" b="1" dirty="0">
                <a:solidFill>
                  <a:srgbClr val="71F1F7"/>
                </a:solidFill>
                <a:latin typeface="Source Sans 3"/>
                <a:cs typeface="Source Sans 3"/>
              </a:rPr>
              <a:t>FREE  ·  90 MINUTES</a:t>
            </a:r>
          </a:p>
        </p:txBody>
      </p:sp>
      <p:cxnSp>
        <p:nvCxnSpPr>
          <p:cNvPr id="319" name="Step 02 divider"/>
          <p:cNvCxnSpPr/>
          <p:nvPr/>
        </p:nvCxnSpPr>
        <p:spPr>
          <a:xfrm>
            <a:off x="4636008" y="3886200"/>
            <a:ext cx="2935224" cy="0"/>
          </a:xfrm>
          <a:prstGeom prst="line">
            <a:avLst/>
          </a:prstGeom>
          <a:ln w="7315" cap="rnd">
            <a:solidFill>
              <a:srgbClr val="FFFFFF">
                <a:alpha val="18000"/>
              </a:srgbClr>
            </a:solidFill>
          </a:ln>
        </p:spPr>
      </p:cxnSp>
      <p:sp>
        <p:nvSpPr>
          <p:cNvPr id="320" name="Step 02 question label"/>
          <p:cNvSpPr txBox="1"/>
          <p:nvPr/>
        </p:nvSpPr>
        <p:spPr>
          <a:xfrm>
            <a:off x="4636008" y="3995928"/>
            <a:ext cx="2971800" cy="256032"/>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THE QUESTION</a:t>
            </a:r>
          </a:p>
        </p:txBody>
      </p:sp>
      <p:sp>
        <p:nvSpPr>
          <p:cNvPr id="321" name="Step 02 question"/>
          <p:cNvSpPr txBox="1"/>
          <p:nvPr/>
        </p:nvSpPr>
        <p:spPr>
          <a:xfrm>
            <a:off x="4636008" y="4233672"/>
            <a:ext cx="2971800" cy="384048"/>
          </a:xfrm>
          <a:prstGeom prst="rect">
            <a:avLst/>
          </a:prstGeom>
          <a:noFill/>
        </p:spPr>
        <p:txBody>
          <a:bodyPr wrap="square" lIns="0" tIns="0" rIns="0" bIns="0" anchor="t">
            <a:noAutofit/>
          </a:bodyPr>
          <a:lstStyle/>
          <a:p>
            <a:pPr algn="l">
              <a:spcAft>
                <a:spcPts val="0"/>
              </a:spcAft>
            </a:pPr>
            <a:r>
              <a:rPr lang="en-GB" sz="1600" b="1" dirty="0">
                <a:solidFill>
                  <a:srgbClr val="FFFFFF"/>
                </a:solidFill>
                <a:latin typeface="Source Sans 3"/>
                <a:cs typeface="Source Sans 3"/>
              </a:rPr>
              <a:t>Where should we start?</a:t>
            </a:r>
          </a:p>
        </p:txBody>
      </p:sp>
      <p:sp>
        <p:nvSpPr>
          <p:cNvPr id="322" name="Step 02 output label"/>
          <p:cNvSpPr txBox="1"/>
          <p:nvPr/>
        </p:nvSpPr>
        <p:spPr>
          <a:xfrm>
            <a:off x="4636008" y="4663440"/>
            <a:ext cx="2971800" cy="256032"/>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WHAT YOU GET</a:t>
            </a:r>
          </a:p>
        </p:txBody>
      </p:sp>
      <p:sp>
        <p:nvSpPr>
          <p:cNvPr id="323" name="Step 02 output"/>
          <p:cNvSpPr txBox="1"/>
          <p:nvPr/>
        </p:nvSpPr>
        <p:spPr>
          <a:xfrm>
            <a:off x="4636008" y="4901184"/>
            <a:ext cx="2971800" cy="685800"/>
          </a:xfrm>
          <a:prstGeom prst="rect">
            <a:avLst/>
          </a:prstGeom>
          <a:noFill/>
        </p:spPr>
        <p:txBody>
          <a:bodyPr wrap="square" lIns="0" tIns="0" rIns="0" bIns="0" anchor="t">
            <a:noAutofit/>
          </a:bodyPr>
          <a:lstStyle/>
          <a:p>
            <a:pPr algn="l">
              <a:lnSpc>
                <a:spcPct val="108000"/>
              </a:lnSpc>
              <a:spcAft>
                <a:spcPts val="0"/>
              </a:spcAft>
            </a:pPr>
            <a:r>
              <a:rPr lang="en-GB" sz="1250" b="0" dirty="0">
                <a:solidFill>
                  <a:srgbClr val="FFFFFF">
                    <a:alpha val="85000"/>
                  </a:srgbClr>
                </a:solidFill>
                <a:latin typeface="Source Sans 3"/>
                <a:cs typeface="Source Sans 3"/>
              </a:rPr>
              <a:t>Decision Brief: your autonomy ceiling, first outcome and 90-day priorities.</a:t>
            </a:r>
          </a:p>
        </p:txBody>
      </p:sp>
      <p:sp>
        <p:nvSpPr>
          <p:cNvPr id="324" name="Arrow 2"/>
          <p:cNvSpPr/>
          <p:nvPr/>
        </p:nvSpPr>
        <p:spPr>
          <a:xfrm>
            <a:off x="7936992" y="3579876"/>
            <a:ext cx="155448" cy="292608"/>
          </a:xfrm>
          <a:prstGeom prst="chevron">
            <a:avLst/>
          </a:prstGeom>
          <a:solidFill>
            <a:srgbClr val="2CB0CD"/>
          </a:solidFill>
          <a:ln>
            <a:noFill/>
          </a:ln>
        </p:spPr>
        <p:txBody>
          <a:bodyPr/>
          <a:lstStyle/>
          <a:p>
            <a:endParaRPr lang="en-US"/>
          </a:p>
        </p:txBody>
      </p:sp>
      <p:sp>
        <p:nvSpPr>
          <p:cNvPr id="325" name="Card 03"/>
          <p:cNvSpPr/>
          <p:nvPr/>
        </p:nvSpPr>
        <p:spPr>
          <a:xfrm>
            <a:off x="8138160" y="1783080"/>
            <a:ext cx="3520440" cy="3886200"/>
          </a:xfrm>
          <a:prstGeom prst="roundRect">
            <a:avLst>
              <a:gd name="adj" fmla="val 6000"/>
            </a:avLst>
          </a:prstGeom>
          <a:solidFill>
            <a:srgbClr val="FFFFFF">
              <a:alpha val="9000"/>
            </a:srgbClr>
          </a:solidFill>
          <a:ln w="22860">
            <a:solidFill>
              <a:srgbClr val="2CB0CD"/>
            </a:solidFill>
          </a:ln>
        </p:spPr>
        <p:txBody>
          <a:bodyPr/>
          <a:lstStyle/>
          <a:p>
            <a:endParaRPr lang="en-US"/>
          </a:p>
        </p:txBody>
      </p:sp>
      <p:pic>
        <p:nvPicPr>
          <p:cNvPr id="326" name="AI RunState icon" descr="AI RunState icon"/>
          <p:cNvPicPr>
            <a:picLocks noChangeAspect="1"/>
          </p:cNvPicPr>
          <p:nvPr/>
        </p:nvPicPr>
        <p:blipFill>
          <a:blip r:embed="rId5"/>
          <a:stretch>
            <a:fillRect/>
          </a:stretch>
        </p:blipFill>
        <p:spPr>
          <a:xfrm>
            <a:off x="8430768" y="2075688"/>
            <a:ext cx="713232" cy="713232"/>
          </a:xfrm>
          <a:prstGeom prst="rect">
            <a:avLst/>
          </a:prstGeom>
        </p:spPr>
      </p:pic>
      <p:sp>
        <p:nvSpPr>
          <p:cNvPr id="327" name="Step 03"/>
          <p:cNvSpPr txBox="1"/>
          <p:nvPr/>
        </p:nvSpPr>
        <p:spPr>
          <a:xfrm>
            <a:off x="10561320" y="2112264"/>
            <a:ext cx="822960" cy="365760"/>
          </a:xfrm>
          <a:prstGeom prst="rect">
            <a:avLst/>
          </a:prstGeom>
          <a:noFill/>
        </p:spPr>
        <p:txBody>
          <a:bodyPr wrap="square" lIns="0" tIns="0" rIns="0" bIns="0" anchor="t">
            <a:noAutofit/>
          </a:bodyPr>
          <a:lstStyle/>
          <a:p>
            <a:pPr algn="r">
              <a:spcAft>
                <a:spcPts val="0"/>
              </a:spcAft>
            </a:pPr>
            <a:r>
              <a:rPr lang="en-GB" sz="1800" b="1" dirty="0">
                <a:solidFill>
                  <a:srgbClr val="8FFFDB"/>
                </a:solidFill>
                <a:latin typeface="Source Sans 3"/>
                <a:cs typeface="Source Sans 3"/>
              </a:rPr>
              <a:t>03</a:t>
            </a:r>
          </a:p>
        </p:txBody>
      </p:sp>
      <p:sp>
        <p:nvSpPr>
          <p:cNvPr id="328" name="Step 03 title"/>
          <p:cNvSpPr txBox="1"/>
          <p:nvPr/>
        </p:nvSpPr>
        <p:spPr>
          <a:xfrm>
            <a:off x="8430768" y="2898648"/>
            <a:ext cx="2971800" cy="411480"/>
          </a:xfrm>
          <a:prstGeom prst="rect">
            <a:avLst/>
          </a:prstGeom>
          <a:noFill/>
        </p:spPr>
        <p:txBody>
          <a:bodyPr wrap="square" lIns="0" tIns="0" rIns="0" bIns="0" anchor="t">
            <a:noAutofit/>
          </a:bodyPr>
          <a:lstStyle/>
          <a:p>
            <a:pPr algn="l">
              <a:spcAft>
                <a:spcPts val="0"/>
              </a:spcAft>
            </a:pPr>
            <a:r>
              <a:rPr lang="en-GB" sz="2100" b="1" dirty="0">
                <a:solidFill>
                  <a:srgbClr val="FFFFFF"/>
                </a:solidFill>
                <a:latin typeface="Source Sans 3"/>
                <a:cs typeface="Source Sans 3"/>
              </a:rPr>
              <a:t>AI RunState</a:t>
            </a:r>
          </a:p>
        </p:txBody>
      </p:sp>
      <p:sp>
        <p:nvSpPr>
          <p:cNvPr id="329" name="Step 03 commitment"/>
          <p:cNvSpPr/>
          <p:nvPr/>
        </p:nvSpPr>
        <p:spPr>
          <a:xfrm>
            <a:off x="8430768" y="3383280"/>
            <a:ext cx="2240280" cy="310896"/>
          </a:xfrm>
          <a:prstGeom prst="roundRect">
            <a:avLst>
              <a:gd name="adj" fmla="val 50000"/>
            </a:avLst>
          </a:prstGeom>
          <a:solidFill>
            <a:srgbClr val="8FFFDB"/>
          </a:solidFill>
          <a:ln>
            <a:noFill/>
          </a:ln>
        </p:spPr>
        <p:txBody>
          <a:bodyPr wrap="square" lIns="45720" tIns="0" rIns="45720" bIns="0" anchor="ctr">
            <a:noAutofit/>
          </a:bodyPr>
          <a:lstStyle/>
          <a:p>
            <a:pPr algn="ctr">
              <a:spcAft>
                <a:spcPts val="0"/>
              </a:spcAft>
            </a:pPr>
            <a:r>
              <a:rPr lang="en-GB" sz="1000" b="1" dirty="0">
                <a:solidFill>
                  <a:srgbClr val="040E3D"/>
                </a:solidFill>
                <a:latin typeface="Source Sans 3"/>
                <a:cs typeface="Source Sans 3"/>
              </a:rPr>
              <a:t>12-MONTH ENGAGEMENT</a:t>
            </a:r>
          </a:p>
        </p:txBody>
      </p:sp>
      <p:cxnSp>
        <p:nvCxnSpPr>
          <p:cNvPr id="330" name="Step 03 divider"/>
          <p:cNvCxnSpPr/>
          <p:nvPr/>
        </p:nvCxnSpPr>
        <p:spPr>
          <a:xfrm>
            <a:off x="8430768" y="3886200"/>
            <a:ext cx="2935224" cy="0"/>
          </a:xfrm>
          <a:prstGeom prst="line">
            <a:avLst/>
          </a:prstGeom>
          <a:ln w="7315" cap="rnd">
            <a:solidFill>
              <a:srgbClr val="FFFFFF">
                <a:alpha val="18000"/>
              </a:srgbClr>
            </a:solidFill>
          </a:ln>
        </p:spPr>
      </p:cxnSp>
      <p:sp>
        <p:nvSpPr>
          <p:cNvPr id="331" name="Step 03 question label"/>
          <p:cNvSpPr txBox="1"/>
          <p:nvPr/>
        </p:nvSpPr>
        <p:spPr>
          <a:xfrm>
            <a:off x="8430768" y="3995928"/>
            <a:ext cx="2971800" cy="256032"/>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THE QUESTION</a:t>
            </a:r>
          </a:p>
        </p:txBody>
      </p:sp>
      <p:sp>
        <p:nvSpPr>
          <p:cNvPr id="332" name="Step 03 question"/>
          <p:cNvSpPr txBox="1"/>
          <p:nvPr/>
        </p:nvSpPr>
        <p:spPr>
          <a:xfrm>
            <a:off x="8430768" y="4233672"/>
            <a:ext cx="2971800" cy="384048"/>
          </a:xfrm>
          <a:prstGeom prst="rect">
            <a:avLst/>
          </a:prstGeom>
          <a:noFill/>
        </p:spPr>
        <p:txBody>
          <a:bodyPr wrap="square" lIns="0" tIns="0" rIns="0" bIns="0" anchor="t">
            <a:noAutofit/>
          </a:bodyPr>
          <a:lstStyle/>
          <a:p>
            <a:pPr algn="l">
              <a:spcAft>
                <a:spcPts val="0"/>
              </a:spcAft>
            </a:pPr>
            <a:r>
              <a:rPr lang="en-GB" sz="1600" b="1" dirty="0">
                <a:solidFill>
                  <a:srgbClr val="FFFFFF"/>
                </a:solidFill>
                <a:latin typeface="Source Sans 3"/>
                <a:cs typeface="Source Sans 3"/>
              </a:rPr>
              <a:t>How do we keep delivering?</a:t>
            </a:r>
          </a:p>
        </p:txBody>
      </p:sp>
      <p:sp>
        <p:nvSpPr>
          <p:cNvPr id="333" name="Step 03 output label"/>
          <p:cNvSpPr txBox="1"/>
          <p:nvPr/>
        </p:nvSpPr>
        <p:spPr>
          <a:xfrm>
            <a:off x="8430768" y="4663440"/>
            <a:ext cx="2971800" cy="256032"/>
          </a:xfrm>
          <a:prstGeom prst="rect">
            <a:avLst/>
          </a:prstGeom>
          <a:noFill/>
        </p:spPr>
        <p:txBody>
          <a:bodyPr wrap="square" lIns="0" tIns="0" rIns="0" bIns="0" anchor="t">
            <a:noAutofit/>
          </a:bodyPr>
          <a:lstStyle/>
          <a:p>
            <a:pPr algn="l">
              <a:spcAft>
                <a:spcPts val="0"/>
              </a:spcAft>
            </a:pPr>
            <a:r>
              <a:rPr lang="en-GB" sz="900" b="1" dirty="0">
                <a:solidFill>
                  <a:srgbClr val="FFFFFF">
                    <a:alpha val="60000"/>
                  </a:srgbClr>
                </a:solidFill>
                <a:latin typeface="Source Sans 3"/>
                <a:cs typeface="Source Sans 3"/>
              </a:rPr>
              <a:t>WHAT YOU GET</a:t>
            </a:r>
          </a:p>
        </p:txBody>
      </p:sp>
      <p:sp>
        <p:nvSpPr>
          <p:cNvPr id="334" name="Step 03 output"/>
          <p:cNvSpPr txBox="1"/>
          <p:nvPr/>
        </p:nvSpPr>
        <p:spPr>
          <a:xfrm>
            <a:off x="8430768" y="4901184"/>
            <a:ext cx="2971800" cy="685800"/>
          </a:xfrm>
          <a:prstGeom prst="rect">
            <a:avLst/>
          </a:prstGeom>
          <a:noFill/>
        </p:spPr>
        <p:txBody>
          <a:bodyPr wrap="square" lIns="0" tIns="0" rIns="0" bIns="0" anchor="t">
            <a:noAutofit/>
          </a:bodyPr>
          <a:lstStyle/>
          <a:p>
            <a:pPr algn="l">
              <a:lnSpc>
                <a:spcPct val="108000"/>
              </a:lnSpc>
              <a:spcAft>
                <a:spcPts val="0"/>
              </a:spcAft>
            </a:pPr>
            <a:r>
              <a:rPr lang="en-GB" sz="1250" b="0" dirty="0">
                <a:solidFill>
                  <a:srgbClr val="FFFFFF">
                    <a:alpha val="85000"/>
                  </a:srgbClr>
                </a:solidFill>
                <a:latin typeface="Source Sans 3"/>
                <a:cs typeface="Source Sans 3"/>
              </a:rPr>
              <a:t>AI Action Plan, quarterly backlog cycles and monthly Extend delivery capacity.</a:t>
            </a:r>
          </a:p>
        </p:txBody>
      </p:sp>
      <p:sp>
        <p:nvSpPr>
          <p:cNvPr id="335" name="CTA"/>
          <p:cNvSpPr/>
          <p:nvPr/>
        </p:nvSpPr>
        <p:spPr>
          <a:xfrm>
            <a:off x="8778240" y="5815584"/>
            <a:ext cx="2880360" cy="402336"/>
          </a:xfrm>
          <a:prstGeom prst="roundRect">
            <a:avLst>
              <a:gd name="adj" fmla="val 50000"/>
            </a:avLst>
          </a:prstGeom>
          <a:solidFill>
            <a:srgbClr val="8FFFDB"/>
          </a:solidFill>
          <a:ln>
            <a:noFill/>
          </a:ln>
        </p:spPr>
        <p:txBody>
          <a:bodyPr wrap="square" lIns="73152" tIns="0" rIns="73152" bIns="0" anchor="ctr">
            <a:noAutofit/>
          </a:bodyPr>
          <a:lstStyle/>
          <a:p>
            <a:pPr algn="ctr">
              <a:spcAft>
                <a:spcPts val="0"/>
              </a:spcAft>
            </a:pPr>
            <a:r>
              <a:rPr lang="en-GB" sz="1250" b="1" dirty="0">
                <a:solidFill>
                  <a:srgbClr val="040E3D"/>
                </a:solidFill>
                <a:latin typeface="Source Sans 3"/>
                <a:cs typeface="Source Sans 3"/>
              </a:rPr>
              <a:t>Book your 90-minute session  →</a:t>
            </a:r>
          </a:p>
        </p:txBody>
      </p:sp>
      <p:sp>
        <p:nvSpPr>
          <p:cNvPr id="336" name="Copyright"/>
          <p:cNvSpPr txBox="1"/>
          <p:nvPr/>
        </p:nvSpPr>
        <p:spPr>
          <a:xfrm>
            <a:off x="7936992" y="6400800"/>
            <a:ext cx="3090672" cy="228600"/>
          </a:xfrm>
          <a:prstGeom prst="rect">
            <a:avLst/>
          </a:prstGeom>
          <a:noFill/>
        </p:spPr>
        <p:txBody>
          <a:bodyPr wrap="square" lIns="0" tIns="0" rIns="0" bIns="0" anchor="ctr">
            <a:noAutofit/>
          </a:bodyPr>
          <a:lstStyle/>
          <a:p>
            <a:pPr algn="r">
              <a:spcAft>
                <a:spcPts val="0"/>
              </a:spcAft>
            </a:pPr>
            <a:r>
              <a:rPr lang="en-GB" sz="800" b="0" dirty="0">
                <a:solidFill>
                  <a:srgbClr val="FFFFFF"/>
                </a:solidFill>
                <a:latin typeface="Source Sans 3"/>
                <a:cs typeface="Source Sans 3"/>
              </a:rPr>
              <a:t>© 2026 Crossfuze. All Rights Reserved.</a:t>
            </a:r>
          </a:p>
        </p:txBody>
      </p:sp>
    </p:spTree>
    <p:extLst>
      <p:ext uri="{BB962C8B-B14F-4D97-AF65-F5344CB8AC3E}">
        <p14:creationId xmlns:p14="http://schemas.microsoft.com/office/powerpoint/2010/main" val="1976962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64D0E-FC30-A2D6-E4E7-10FB87C0D2CF}"/>
            </a:ext>
          </a:extLst>
        </p:cNvPr>
        <p:cNvGrpSpPr/>
        <p:nvPr/>
      </p:nvGrpSpPr>
      <p:grpSpPr>
        <a:xfrm>
          <a:off x="0" y="0"/>
          <a:ext cx="0" cy="0"/>
          <a:chOff x="0" y="0"/>
          <a:chExt cx="0" cy="0"/>
        </a:xfrm>
      </p:grpSpPr>
      <p:pic>
        <p:nvPicPr>
          <p:cNvPr id="100" name="Picture 15">
            <a:extLst>
              <a:ext uri="{FF2B5EF4-FFF2-40B4-BE49-F238E27FC236}">
                <a16:creationId xmlns:a16="http://schemas.microsoft.com/office/drawing/2014/main" id="{B0AFC73A-0D27-0788-3C94-134E92B0BA92}"/>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8373" y="6355437"/>
            <a:ext cx="980589" cy="280168"/>
          </a:xfrm>
          <a:prstGeom prst="rect">
            <a:avLst/>
          </a:prstGeom>
        </p:spPr>
      </p:pic>
      <p:sp>
        <p:nvSpPr>
          <p:cNvPr id="17" name="Footer Placeholder 4">
            <a:extLst>
              <a:ext uri="{FF2B5EF4-FFF2-40B4-BE49-F238E27FC236}">
                <a16:creationId xmlns:a16="http://schemas.microsoft.com/office/drawing/2014/main" id="{1A6435D5-B46D-6C13-95ED-9DA5E82616CA}"/>
              </a:ext>
            </a:extLst>
          </p:cNvPr>
          <p:cNvSpPr txBox="1">
            <a:spLocks/>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marL="0" marR="0" lvl="0" indent="0" algn="r" defTabSz="4570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ource Sans 3"/>
                <a:ea typeface="+mn-ea"/>
                <a:cs typeface="+mn-cs"/>
              </a:rPr>
              <a:t>© 2026 Crossfuze. All Rights Reserved.</a:t>
            </a:r>
          </a:p>
        </p:txBody>
      </p:sp>
      <p:pic>
        <p:nvPicPr>
          <p:cNvPr id="60" name="Picture 59">
            <a:extLst>
              <a:ext uri="{FF2B5EF4-FFF2-40B4-BE49-F238E27FC236}">
                <a16:creationId xmlns:a16="http://schemas.microsoft.com/office/drawing/2014/main" id="{46624D26-CD35-8DD3-EC05-35D2296B4049}"/>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 contrast="-20000"/>
                    </a14:imgEffect>
                  </a14:imgLayer>
                </a14:imgProps>
              </a:ext>
              <a:ext uri="{28A0092B-C50C-407E-A947-70E740481C1C}">
                <a14:useLocalDpi xmlns:a14="http://schemas.microsoft.com/office/drawing/2010/main"/>
              </a:ext>
            </a:extLst>
          </a:blip>
          <a:srcRect/>
          <a:stretch>
            <a:fillRect/>
          </a:stretch>
        </p:blipFill>
        <p:spPr>
          <a:xfrm>
            <a:off x="0" y="6339006"/>
            <a:ext cx="12188825" cy="1822399"/>
          </a:xfrm>
          <a:prstGeom prst="rect">
            <a:avLst/>
          </a:prstGeom>
        </p:spPr>
      </p:pic>
      <p:pic>
        <p:nvPicPr>
          <p:cNvPr id="61" name="Picture 60">
            <a:extLst>
              <a:ext uri="{FF2B5EF4-FFF2-40B4-BE49-F238E27FC236}">
                <a16:creationId xmlns:a16="http://schemas.microsoft.com/office/drawing/2014/main" id="{C007BAFD-EEFD-C9C7-6CB1-5E262E44E285}"/>
              </a:ext>
            </a:extLst>
          </p:cNvPr>
          <p:cNvPicPr>
            <a:picLocks/>
          </p:cNvPicPr>
          <p:nvPr/>
        </p:nvPicPr>
        <p:blipFill>
          <a:blip r:embed="rId6" cstate="screen">
            <a:extLst>
              <a:ext uri="{28A0092B-C50C-407E-A947-70E740481C1C}">
                <a14:useLocalDpi xmlns:a14="http://schemas.microsoft.com/office/drawing/2010/main"/>
              </a:ext>
            </a:extLst>
          </a:blip>
          <a:stretch>
            <a:fillRect/>
          </a:stretch>
        </p:blipFill>
        <p:spPr>
          <a:xfrm>
            <a:off x="3848366" y="7132729"/>
            <a:ext cx="2529590" cy="722739"/>
          </a:xfrm>
          <a:prstGeom prst="rect">
            <a:avLst/>
          </a:prstGeom>
        </p:spPr>
      </p:pic>
      <p:sp>
        <p:nvSpPr>
          <p:cNvPr id="138" name="Rounded Rectangle 137">
            <a:extLst>
              <a:ext uri="{FF2B5EF4-FFF2-40B4-BE49-F238E27FC236}">
                <a16:creationId xmlns:a16="http://schemas.microsoft.com/office/drawing/2014/main" id="{7F4FF61C-1469-57A2-D65E-85D0CB332816}"/>
              </a:ext>
            </a:extLst>
          </p:cNvPr>
          <p:cNvSpPr>
            <a:spLocks/>
          </p:cNvSpPr>
          <p:nvPr/>
        </p:nvSpPr>
        <p:spPr>
          <a:xfrm>
            <a:off x="10844835" y="906124"/>
            <a:ext cx="1145352" cy="415264"/>
          </a:xfrm>
          <a:prstGeom prst="roundRect">
            <a:avLst/>
          </a:prstGeom>
          <a:noFill/>
          <a:ln>
            <a:solidFill>
              <a:srgbClr val="FFFFFF">
                <a:alpha val="21000"/>
              </a:srgbClr>
            </a:solidFill>
          </a:ln>
        </p:spPr>
        <p:txBody>
          <a:bodyPr wrap="square" lIns="91440" tIns="0" rIns="91440" bIns="0" rtlCol="0" anchor="ctr">
            <a:noAutofit/>
          </a:bodyPr>
          <a:lstStyle/>
          <a:p>
            <a:pPr algn="ctr" defTabSz="914400">
              <a:lnSpc>
                <a:spcPct val="85000"/>
              </a:lnSpc>
            </a:pPr>
            <a:r>
              <a:rPr lang="en-US" sz="1050" b="1" kern="0">
                <a:solidFill>
                  <a:schemeClr val="accent1"/>
                </a:solidFill>
                <a:latin typeface="Source Sans 3" panose="020B0504040101010104" pitchFamily="34" charset="77"/>
              </a:rPr>
              <a:t>Autonomous Workforce</a:t>
            </a:r>
          </a:p>
        </p:txBody>
      </p:sp>
      <p:sp>
        <p:nvSpPr>
          <p:cNvPr id="140" name="Seven score title"/>
          <p:cNvSpPr txBox="1"/>
          <p:nvPr/>
        </p:nvSpPr>
        <p:spPr>
          <a:xfrm>
            <a:off x="968667" y="822960"/>
            <a:ext cx="7955279" cy="429768"/>
          </a:xfrm>
          <a:prstGeom prst="rect">
            <a:avLst/>
          </a:prstGeom>
          <a:noFill/>
        </p:spPr>
        <p:txBody>
          <a:bodyPr wrap="square" lIns="18288" tIns="18288" rIns="18288" bIns="18288" anchor="ctr">
            <a:spAutoFit/>
          </a:bodyPr>
          <a:lstStyle/>
          <a:p>
            <a:pPr algn="l"/>
            <a:r>
              <a:rPr sz="3200" b="1" dirty="0">
                <a:solidFill>
                  <a:srgbClr val="8FFFDB"/>
                </a:solidFill>
                <a:latin typeface="Source Sans 3"/>
              </a:rPr>
              <a:t>How ready are we?</a:t>
            </a:r>
          </a:p>
        </p:txBody>
      </p:sp>
      <p:sp>
        <p:nvSpPr>
          <p:cNvPr id="141" name="Illustrative disclaimer"/>
          <p:cNvSpPr txBox="1"/>
          <p:nvPr/>
        </p:nvSpPr>
        <p:spPr>
          <a:xfrm>
            <a:off x="8595360" y="182880"/>
            <a:ext cx="2834640" cy="320040"/>
          </a:xfrm>
          <a:prstGeom prst="rect">
            <a:avLst/>
          </a:prstGeom>
          <a:noFill/>
        </p:spPr>
        <p:txBody>
          <a:bodyPr wrap="square" lIns="18288" tIns="18288" rIns="18288" bIns="18288" anchor="ctr">
            <a:spAutoFit/>
          </a:bodyPr>
          <a:lstStyle/>
          <a:p>
            <a:pPr algn="r"/>
            <a:r>
              <a:rPr sz="1300" b="1">
                <a:solidFill>
                  <a:srgbClr val="FFFFFF"/>
                </a:solidFill>
                <a:latin typeface="Source Sans 3"/>
              </a:rPr>
              <a:t>ILLUSTRATIVE READOUT</a:t>
            </a:r>
          </a:p>
        </p:txBody>
      </p:sp>
      <p:sp>
        <p:nvSpPr>
          <p:cNvPr id="142" name="Rounded Rectangle 141"/>
          <p:cNvSpPr/>
          <p:nvPr/>
        </p:nvSpPr>
        <p:spPr>
          <a:xfrm>
            <a:off x="731520" y="1700784"/>
            <a:ext cx="10881360" cy="4087368"/>
          </a:xfrm>
          <a:prstGeom prst="roundRect">
            <a:avLst/>
          </a:prstGeom>
          <a:solidFill>
            <a:srgbClr val="040E3D"/>
          </a:solidFill>
          <a:ln w="762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Crossfuze SEVEN WEIGHTED D"/>
          <p:cNvSpPr txBox="1"/>
          <p:nvPr/>
        </p:nvSpPr>
        <p:spPr>
          <a:xfrm>
            <a:off x="969264" y="1847088"/>
            <a:ext cx="6903720" cy="329184"/>
          </a:xfrm>
          <a:prstGeom prst="rect">
            <a:avLst/>
          </a:prstGeom>
          <a:noFill/>
        </p:spPr>
        <p:txBody>
          <a:bodyPr wrap="square" lIns="18288" tIns="18288" rIns="18288" bIns="18288" anchor="ctr">
            <a:spAutoFit/>
          </a:bodyPr>
          <a:lstStyle/>
          <a:p>
            <a:pPr algn="l"/>
            <a:r>
              <a:rPr sz="1500" b="1">
                <a:solidFill>
                  <a:srgbClr val="8FFFDB"/>
                </a:solidFill>
                <a:latin typeface="Source Sans 3"/>
              </a:rPr>
              <a:t>SEVEN WEIGHTED DIMENSIONS</a:t>
            </a:r>
          </a:p>
        </p:txBody>
      </p:sp>
      <p:sp>
        <p:nvSpPr>
          <p:cNvPr id="144" name="Crossfuze Data quality"/>
          <p:cNvSpPr txBox="1"/>
          <p:nvPr/>
        </p:nvSpPr>
        <p:spPr>
          <a:xfrm>
            <a:off x="1005840" y="2249424"/>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Data quality</a:t>
            </a:r>
          </a:p>
        </p:txBody>
      </p:sp>
      <p:sp>
        <p:nvSpPr>
          <p:cNvPr id="145" name="Crossfuze 20%"/>
          <p:cNvSpPr txBox="1"/>
          <p:nvPr/>
        </p:nvSpPr>
        <p:spPr>
          <a:xfrm>
            <a:off x="3986784" y="2249424"/>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20%</a:t>
            </a:r>
          </a:p>
        </p:txBody>
      </p:sp>
      <p:sp>
        <p:nvSpPr>
          <p:cNvPr id="146" name="Rectangle 145"/>
          <p:cNvSpPr/>
          <p:nvPr/>
        </p:nvSpPr>
        <p:spPr>
          <a:xfrm>
            <a:off x="4590288" y="2345436"/>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ectangle 146"/>
          <p:cNvSpPr/>
          <p:nvPr/>
        </p:nvSpPr>
        <p:spPr>
          <a:xfrm>
            <a:off x="4590288" y="2345436"/>
            <a:ext cx="1248156" cy="91440"/>
          </a:xfrm>
          <a:prstGeom prst="rect">
            <a:avLst/>
          </a:prstGeom>
          <a:solidFill>
            <a:srgbClr val="2CB0CD"/>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Crossfuze 5/10"/>
          <p:cNvSpPr txBox="1"/>
          <p:nvPr/>
        </p:nvSpPr>
        <p:spPr>
          <a:xfrm>
            <a:off x="7205472" y="2249424"/>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5/10</a:t>
            </a:r>
          </a:p>
        </p:txBody>
      </p:sp>
      <p:sp>
        <p:nvSpPr>
          <p:cNvPr id="149" name="Crossfuze Process determin"/>
          <p:cNvSpPr txBox="1"/>
          <p:nvPr/>
        </p:nvSpPr>
        <p:spPr>
          <a:xfrm>
            <a:off x="1005840" y="2670048"/>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Process determinism</a:t>
            </a:r>
          </a:p>
        </p:txBody>
      </p:sp>
      <p:sp>
        <p:nvSpPr>
          <p:cNvPr id="150" name="Crossfuze 15%"/>
          <p:cNvSpPr txBox="1"/>
          <p:nvPr/>
        </p:nvSpPr>
        <p:spPr>
          <a:xfrm>
            <a:off x="3986784" y="2670048"/>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15%</a:t>
            </a:r>
          </a:p>
        </p:txBody>
      </p:sp>
      <p:sp>
        <p:nvSpPr>
          <p:cNvPr id="151" name="Rectangle 150"/>
          <p:cNvSpPr/>
          <p:nvPr/>
        </p:nvSpPr>
        <p:spPr>
          <a:xfrm>
            <a:off x="4590288" y="2766060"/>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1"/>
          <p:cNvSpPr/>
          <p:nvPr/>
        </p:nvSpPr>
        <p:spPr>
          <a:xfrm>
            <a:off x="4590288" y="2766060"/>
            <a:ext cx="1997049" cy="91440"/>
          </a:xfrm>
          <a:prstGeom prst="rect">
            <a:avLst/>
          </a:prstGeom>
          <a:solidFill>
            <a:srgbClr val="8FFFDB"/>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Crossfuze 8/10"/>
          <p:cNvSpPr txBox="1"/>
          <p:nvPr/>
        </p:nvSpPr>
        <p:spPr>
          <a:xfrm>
            <a:off x="7205472" y="2670048"/>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8/10</a:t>
            </a:r>
          </a:p>
        </p:txBody>
      </p:sp>
      <p:sp>
        <p:nvSpPr>
          <p:cNvPr id="154" name="Crossfuze Knowledge and co"/>
          <p:cNvSpPr txBox="1"/>
          <p:nvPr/>
        </p:nvSpPr>
        <p:spPr>
          <a:xfrm>
            <a:off x="1005840" y="3090672"/>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Knowledge and content</a:t>
            </a:r>
          </a:p>
        </p:txBody>
      </p:sp>
      <p:sp>
        <p:nvSpPr>
          <p:cNvPr id="155" name="Crossfuze 15%"/>
          <p:cNvSpPr txBox="1"/>
          <p:nvPr/>
        </p:nvSpPr>
        <p:spPr>
          <a:xfrm>
            <a:off x="3986784" y="3090672"/>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15%</a:t>
            </a:r>
          </a:p>
        </p:txBody>
      </p:sp>
      <p:sp>
        <p:nvSpPr>
          <p:cNvPr id="156" name="Rectangle 155"/>
          <p:cNvSpPr/>
          <p:nvPr/>
        </p:nvSpPr>
        <p:spPr>
          <a:xfrm>
            <a:off x="4590288" y="3186684"/>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ectangle 156"/>
          <p:cNvSpPr/>
          <p:nvPr/>
        </p:nvSpPr>
        <p:spPr>
          <a:xfrm>
            <a:off x="4590288" y="3186684"/>
            <a:ext cx="748893" cy="91440"/>
          </a:xfrm>
          <a:prstGeom prst="rect">
            <a:avLst/>
          </a:prstGeom>
          <a:solidFill>
            <a:srgbClr val="F65275"/>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Crossfuze 3/10"/>
          <p:cNvSpPr txBox="1"/>
          <p:nvPr/>
        </p:nvSpPr>
        <p:spPr>
          <a:xfrm>
            <a:off x="7205472" y="3090672"/>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3/10</a:t>
            </a:r>
          </a:p>
        </p:txBody>
      </p:sp>
      <p:sp>
        <p:nvSpPr>
          <p:cNvPr id="159" name="Crossfuze Workflow and int"/>
          <p:cNvSpPr txBox="1"/>
          <p:nvPr/>
        </p:nvSpPr>
        <p:spPr>
          <a:xfrm>
            <a:off x="1005840" y="3511296"/>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Workflow and integration</a:t>
            </a:r>
          </a:p>
        </p:txBody>
      </p:sp>
      <p:sp>
        <p:nvSpPr>
          <p:cNvPr id="160" name="Crossfuze 15%"/>
          <p:cNvSpPr txBox="1"/>
          <p:nvPr/>
        </p:nvSpPr>
        <p:spPr>
          <a:xfrm>
            <a:off x="3986784" y="3511296"/>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15%</a:t>
            </a:r>
          </a:p>
        </p:txBody>
      </p:sp>
      <p:sp>
        <p:nvSpPr>
          <p:cNvPr id="161" name="Rectangle 160"/>
          <p:cNvSpPr/>
          <p:nvPr/>
        </p:nvSpPr>
        <p:spPr>
          <a:xfrm>
            <a:off x="4590288" y="3607308"/>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Rectangle 161"/>
          <p:cNvSpPr/>
          <p:nvPr/>
        </p:nvSpPr>
        <p:spPr>
          <a:xfrm>
            <a:off x="4590288" y="3607308"/>
            <a:ext cx="1248156" cy="91440"/>
          </a:xfrm>
          <a:prstGeom prst="rect">
            <a:avLst/>
          </a:prstGeom>
          <a:solidFill>
            <a:srgbClr val="2CB0CD"/>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Crossfuze 5/10"/>
          <p:cNvSpPr txBox="1"/>
          <p:nvPr/>
        </p:nvSpPr>
        <p:spPr>
          <a:xfrm>
            <a:off x="7205472" y="3511296"/>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5/10</a:t>
            </a:r>
          </a:p>
        </p:txBody>
      </p:sp>
      <p:sp>
        <p:nvSpPr>
          <p:cNvPr id="164" name="Crossfuze Governance and s"/>
          <p:cNvSpPr txBox="1"/>
          <p:nvPr/>
        </p:nvSpPr>
        <p:spPr>
          <a:xfrm>
            <a:off x="1005840" y="3931920"/>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Governance and security</a:t>
            </a:r>
          </a:p>
        </p:txBody>
      </p:sp>
      <p:sp>
        <p:nvSpPr>
          <p:cNvPr id="165" name="Crossfuze 15%"/>
          <p:cNvSpPr txBox="1"/>
          <p:nvPr/>
        </p:nvSpPr>
        <p:spPr>
          <a:xfrm>
            <a:off x="3986784" y="3931920"/>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15%</a:t>
            </a:r>
          </a:p>
        </p:txBody>
      </p:sp>
      <p:sp>
        <p:nvSpPr>
          <p:cNvPr id="166" name="Rectangle 165"/>
          <p:cNvSpPr/>
          <p:nvPr/>
        </p:nvSpPr>
        <p:spPr>
          <a:xfrm>
            <a:off x="4590288" y="4027932"/>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ectangle 166"/>
          <p:cNvSpPr/>
          <p:nvPr/>
        </p:nvSpPr>
        <p:spPr>
          <a:xfrm>
            <a:off x="4590288" y="4027932"/>
            <a:ext cx="748893" cy="91440"/>
          </a:xfrm>
          <a:prstGeom prst="rect">
            <a:avLst/>
          </a:prstGeom>
          <a:solidFill>
            <a:srgbClr val="F65275"/>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Crossfuze 3/10"/>
          <p:cNvSpPr txBox="1"/>
          <p:nvPr/>
        </p:nvSpPr>
        <p:spPr>
          <a:xfrm>
            <a:off x="7205472" y="3931920"/>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3/10</a:t>
            </a:r>
          </a:p>
        </p:txBody>
      </p:sp>
      <p:sp>
        <p:nvSpPr>
          <p:cNvPr id="169" name="Crossfuze Platform and ent"/>
          <p:cNvSpPr txBox="1"/>
          <p:nvPr/>
        </p:nvSpPr>
        <p:spPr>
          <a:xfrm>
            <a:off x="1005840" y="4352544"/>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Platform and entitlement</a:t>
            </a:r>
          </a:p>
        </p:txBody>
      </p:sp>
      <p:sp>
        <p:nvSpPr>
          <p:cNvPr id="170" name="Crossfuze 10%"/>
          <p:cNvSpPr txBox="1"/>
          <p:nvPr/>
        </p:nvSpPr>
        <p:spPr>
          <a:xfrm>
            <a:off x="3986784" y="4352544"/>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10%</a:t>
            </a:r>
          </a:p>
        </p:txBody>
      </p:sp>
      <p:sp>
        <p:nvSpPr>
          <p:cNvPr id="171" name="Rectangle 170"/>
          <p:cNvSpPr/>
          <p:nvPr/>
        </p:nvSpPr>
        <p:spPr>
          <a:xfrm>
            <a:off x="4590288" y="4448556"/>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Rectangle 171"/>
          <p:cNvSpPr/>
          <p:nvPr/>
        </p:nvSpPr>
        <p:spPr>
          <a:xfrm>
            <a:off x="4590288" y="4448556"/>
            <a:ext cx="1997049" cy="91440"/>
          </a:xfrm>
          <a:prstGeom prst="rect">
            <a:avLst/>
          </a:prstGeom>
          <a:solidFill>
            <a:srgbClr val="8FFFDB"/>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Crossfuze 8/10"/>
          <p:cNvSpPr txBox="1"/>
          <p:nvPr/>
        </p:nvSpPr>
        <p:spPr>
          <a:xfrm>
            <a:off x="7205472" y="4352544"/>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8/10</a:t>
            </a:r>
          </a:p>
        </p:txBody>
      </p:sp>
      <p:sp>
        <p:nvSpPr>
          <p:cNvPr id="174" name="Crossfuze Ownership and ad"/>
          <p:cNvSpPr txBox="1"/>
          <p:nvPr/>
        </p:nvSpPr>
        <p:spPr>
          <a:xfrm>
            <a:off x="1005840" y="4773168"/>
            <a:ext cx="2880360" cy="310896"/>
          </a:xfrm>
          <a:prstGeom prst="rect">
            <a:avLst/>
          </a:prstGeom>
          <a:noFill/>
        </p:spPr>
        <p:txBody>
          <a:bodyPr wrap="square" lIns="18288" tIns="18288" rIns="18288" bIns="18288" anchor="ctr">
            <a:spAutoFit/>
          </a:bodyPr>
          <a:lstStyle/>
          <a:p>
            <a:pPr algn="l"/>
            <a:r>
              <a:rPr sz="1400" b="0">
                <a:solidFill>
                  <a:srgbClr val="FFFFFF"/>
                </a:solidFill>
                <a:latin typeface="Source Sans 3"/>
              </a:rPr>
              <a:t>Ownership and adoption</a:t>
            </a:r>
          </a:p>
        </p:txBody>
      </p:sp>
      <p:sp>
        <p:nvSpPr>
          <p:cNvPr id="175" name="Crossfuze 10%"/>
          <p:cNvSpPr txBox="1"/>
          <p:nvPr/>
        </p:nvSpPr>
        <p:spPr>
          <a:xfrm>
            <a:off x="3986784" y="4773168"/>
            <a:ext cx="448056" cy="310896"/>
          </a:xfrm>
          <a:prstGeom prst="rect">
            <a:avLst/>
          </a:prstGeom>
          <a:noFill/>
        </p:spPr>
        <p:txBody>
          <a:bodyPr wrap="square" lIns="18288" tIns="18288" rIns="18288" bIns="18288" anchor="ctr">
            <a:spAutoFit/>
          </a:bodyPr>
          <a:lstStyle/>
          <a:p>
            <a:pPr algn="l"/>
            <a:r>
              <a:rPr sz="1100" b="0">
                <a:solidFill>
                  <a:srgbClr val="F2F2F4"/>
                </a:solidFill>
                <a:latin typeface="Source Sans 3"/>
              </a:rPr>
              <a:t>10%</a:t>
            </a:r>
          </a:p>
        </p:txBody>
      </p:sp>
      <p:sp>
        <p:nvSpPr>
          <p:cNvPr id="176" name="Rectangle 175"/>
          <p:cNvSpPr/>
          <p:nvPr/>
        </p:nvSpPr>
        <p:spPr>
          <a:xfrm>
            <a:off x="4590288" y="4869180"/>
            <a:ext cx="2496312" cy="91440"/>
          </a:xfrm>
          <a:prstGeom prst="rect">
            <a:avLst/>
          </a:prstGeom>
          <a:solidFill>
            <a:srgbClr val="040E3D"/>
          </a:solidFill>
          <a:ln w="762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Rectangle 176"/>
          <p:cNvSpPr/>
          <p:nvPr/>
        </p:nvSpPr>
        <p:spPr>
          <a:xfrm>
            <a:off x="4590288" y="4869180"/>
            <a:ext cx="1248156" cy="91440"/>
          </a:xfrm>
          <a:prstGeom prst="rect">
            <a:avLst/>
          </a:prstGeom>
          <a:solidFill>
            <a:srgbClr val="2CB0CD"/>
          </a:solidFill>
          <a:ln w="762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Crossfuze 5/10"/>
          <p:cNvSpPr txBox="1"/>
          <p:nvPr/>
        </p:nvSpPr>
        <p:spPr>
          <a:xfrm>
            <a:off x="7205472" y="4773168"/>
            <a:ext cx="640080" cy="310896"/>
          </a:xfrm>
          <a:prstGeom prst="rect">
            <a:avLst/>
          </a:prstGeom>
          <a:noFill/>
        </p:spPr>
        <p:txBody>
          <a:bodyPr wrap="square" lIns="18288" tIns="18288" rIns="18288" bIns="18288" anchor="ctr">
            <a:spAutoFit/>
          </a:bodyPr>
          <a:lstStyle/>
          <a:p>
            <a:pPr algn="l"/>
            <a:r>
              <a:rPr sz="1200" b="1">
                <a:solidFill>
                  <a:srgbClr val="FFFFFF"/>
                </a:solidFill>
                <a:latin typeface="Source Sans 3"/>
              </a:rPr>
              <a:t>5/10</a:t>
            </a:r>
          </a:p>
        </p:txBody>
      </p:sp>
      <p:sp>
        <p:nvSpPr>
          <p:cNvPr id="179" name="Rounded Rectangle 178"/>
          <p:cNvSpPr/>
          <p:nvPr/>
        </p:nvSpPr>
        <p:spPr>
          <a:xfrm>
            <a:off x="8302752" y="1938528"/>
            <a:ext cx="2907792" cy="3429000"/>
          </a:xfrm>
          <a:prstGeom prst="roundRect">
            <a:avLst/>
          </a:prstGeom>
          <a:solidFill>
            <a:srgbClr val="040E3D"/>
          </a:solidFill>
          <a:ln w="762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Crossfuze WEIGHTED SCORE"/>
          <p:cNvSpPr txBox="1"/>
          <p:nvPr/>
        </p:nvSpPr>
        <p:spPr>
          <a:xfrm>
            <a:off x="8513064" y="2148840"/>
            <a:ext cx="2505456" cy="237744"/>
          </a:xfrm>
          <a:prstGeom prst="rect">
            <a:avLst/>
          </a:prstGeom>
          <a:noFill/>
        </p:spPr>
        <p:txBody>
          <a:bodyPr wrap="square" lIns="18288" tIns="18288" rIns="18288" bIns="18288" anchor="ctr">
            <a:spAutoFit/>
          </a:bodyPr>
          <a:lstStyle/>
          <a:p>
            <a:pPr algn="ctr"/>
            <a:r>
              <a:rPr sz="1200" b="1">
                <a:solidFill>
                  <a:srgbClr val="8FFFDB"/>
                </a:solidFill>
                <a:latin typeface="Source Sans 3"/>
              </a:rPr>
              <a:t>WEIGHTED SCORE</a:t>
            </a:r>
          </a:p>
        </p:txBody>
      </p:sp>
      <p:sp>
        <p:nvSpPr>
          <p:cNvPr id="181" name="Crossfuze 5.2/10"/>
          <p:cNvSpPr txBox="1"/>
          <p:nvPr/>
        </p:nvSpPr>
        <p:spPr>
          <a:xfrm>
            <a:off x="8458200" y="2432304"/>
            <a:ext cx="2606040" cy="713232"/>
          </a:xfrm>
          <a:prstGeom prst="rect">
            <a:avLst/>
          </a:prstGeom>
          <a:noFill/>
        </p:spPr>
        <p:txBody>
          <a:bodyPr wrap="square" lIns="18288" tIns="18288" rIns="18288" bIns="18288" anchor="ctr">
            <a:spAutoFit/>
          </a:bodyPr>
          <a:lstStyle/>
          <a:p>
            <a:pPr algn="ctr"/>
            <a:r>
              <a:rPr sz="4800" b="1">
                <a:solidFill>
                  <a:srgbClr val="FFFFFF"/>
                </a:solidFill>
                <a:latin typeface="Source Sans 3"/>
              </a:rPr>
              <a:t>5.2/10</a:t>
            </a:r>
          </a:p>
        </p:txBody>
      </p:sp>
      <p:sp>
        <p:nvSpPr>
          <p:cNvPr id="182" name="Crossfuze PROVISIONAL"/>
          <p:cNvSpPr txBox="1"/>
          <p:nvPr/>
        </p:nvSpPr>
        <p:spPr>
          <a:xfrm>
            <a:off x="8503920" y="3200400"/>
            <a:ext cx="2560320" cy="256032"/>
          </a:xfrm>
          <a:prstGeom prst="rect">
            <a:avLst/>
          </a:prstGeom>
          <a:noFill/>
        </p:spPr>
        <p:txBody>
          <a:bodyPr wrap="square" lIns="18288" tIns="18288" rIns="18288" bIns="18288" anchor="ctr">
            <a:spAutoFit/>
          </a:bodyPr>
          <a:lstStyle/>
          <a:p>
            <a:pPr algn="ctr"/>
            <a:r>
              <a:rPr sz="1400" b="1">
                <a:solidFill>
                  <a:srgbClr val="C0A6FF"/>
                </a:solidFill>
                <a:latin typeface="Source Sans 3"/>
              </a:rPr>
              <a:t>PROVISIONAL</a:t>
            </a:r>
          </a:p>
        </p:txBody>
      </p:sp>
      <p:sp>
        <p:nvSpPr>
          <p:cNvPr id="183" name="Crossfuze AUTONOMY CEILING"/>
          <p:cNvSpPr txBox="1"/>
          <p:nvPr/>
        </p:nvSpPr>
        <p:spPr>
          <a:xfrm>
            <a:off x="8485632" y="3685032"/>
            <a:ext cx="2569464" cy="274320"/>
          </a:xfrm>
          <a:prstGeom prst="rect">
            <a:avLst/>
          </a:prstGeom>
          <a:noFill/>
        </p:spPr>
        <p:txBody>
          <a:bodyPr wrap="square" lIns="18288" tIns="18288" rIns="18288" bIns="18288" anchor="ctr">
            <a:spAutoFit/>
          </a:bodyPr>
          <a:lstStyle/>
          <a:p>
            <a:pPr algn="ctr"/>
            <a:r>
              <a:rPr sz="1200" b="1">
                <a:solidFill>
                  <a:srgbClr val="8FFFDB"/>
                </a:solidFill>
                <a:latin typeface="Source Sans 3"/>
              </a:rPr>
              <a:t>AUTONOMY CEILING</a:t>
            </a:r>
          </a:p>
        </p:txBody>
      </p:sp>
      <p:sp>
        <p:nvSpPr>
          <p:cNvPr id="184" name="Crossfuze Knowledge"/>
          <p:cNvSpPr txBox="1"/>
          <p:nvPr/>
        </p:nvSpPr>
        <p:spPr>
          <a:xfrm>
            <a:off x="8458200" y="4041648"/>
            <a:ext cx="2606040" cy="393192"/>
          </a:xfrm>
          <a:prstGeom prst="rect">
            <a:avLst/>
          </a:prstGeom>
          <a:noFill/>
        </p:spPr>
        <p:txBody>
          <a:bodyPr wrap="square" lIns="18288" tIns="18288" rIns="18288" bIns="18288" anchor="ctr">
            <a:spAutoFit/>
          </a:bodyPr>
          <a:lstStyle/>
          <a:p>
            <a:pPr algn="ctr"/>
            <a:r>
              <a:rPr sz="2400" b="1">
                <a:solidFill>
                  <a:srgbClr val="FFFFFF"/>
                </a:solidFill>
                <a:latin typeface="Source Sans 3"/>
              </a:rPr>
              <a:t>Knowledge</a:t>
            </a:r>
          </a:p>
        </p:txBody>
      </p:sp>
      <p:sp>
        <p:nvSpPr>
          <p:cNvPr id="185" name="Crossfuze Weakest required"/>
          <p:cNvSpPr txBox="1"/>
          <p:nvPr/>
        </p:nvSpPr>
        <p:spPr>
          <a:xfrm>
            <a:off x="8485632" y="4608576"/>
            <a:ext cx="2569464" cy="438912"/>
          </a:xfrm>
          <a:prstGeom prst="rect">
            <a:avLst/>
          </a:prstGeom>
          <a:noFill/>
        </p:spPr>
        <p:txBody>
          <a:bodyPr wrap="square" lIns="18288" tIns="18288" rIns="18288" bIns="18288" anchor="ctr">
            <a:spAutoFit/>
          </a:bodyPr>
          <a:lstStyle/>
          <a:p>
            <a:pPr algn="ctr"/>
            <a:r>
              <a:rPr sz="1100" b="0">
                <a:solidFill>
                  <a:srgbClr val="F2F2F4"/>
                </a:solidFill>
                <a:latin typeface="Source Sans 3"/>
              </a:rPr>
              <a:t>Weakest required foundation</a:t>
            </a:r>
          </a:p>
        </p:txBody>
      </p:sp>
      <p:sp>
        <p:nvSpPr>
          <p:cNvPr id="186" name="Crossfuze Missing evidence"/>
          <p:cNvSpPr txBox="1"/>
          <p:nvPr/>
        </p:nvSpPr>
        <p:spPr>
          <a:xfrm>
            <a:off x="1005840" y="5897880"/>
            <a:ext cx="10222992" cy="265176"/>
          </a:xfrm>
          <a:prstGeom prst="rect">
            <a:avLst/>
          </a:prstGeom>
          <a:noFill/>
        </p:spPr>
        <p:txBody>
          <a:bodyPr wrap="square" lIns="18288" tIns="18288" rIns="18288" bIns="18288" anchor="ctr">
            <a:spAutoFit/>
          </a:bodyPr>
          <a:lstStyle/>
          <a:p>
            <a:pPr algn="ctr"/>
            <a:r>
              <a:rPr sz="1100" b="0">
                <a:solidFill>
                  <a:srgbClr val="FFFFFF"/>
                </a:solidFill>
                <a:latin typeface="Source Sans 3"/>
              </a:rPr>
              <a:t>Missing evidence is not scored as zero. This example is not a customer assessment.</a:t>
            </a:r>
          </a:p>
        </p:txBody>
      </p:sp>
    </p:spTree>
    <p:extLst>
      <p:ext uri="{BB962C8B-B14F-4D97-AF65-F5344CB8AC3E}">
        <p14:creationId xmlns:p14="http://schemas.microsoft.com/office/powerpoint/2010/main" val="3111104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i-runstate-consumption-bg.png"/>
          <p:cNvPicPr>
            <a:picLocks noChangeAspect="1"/>
          </p:cNvPicPr>
          <p:nvPr/>
        </p:nvPicPr>
        <p:blipFill>
          <a:blip r:embed="rId3"/>
          <a:stretch>
            <a:fillRect/>
          </a:stretch>
        </p:blipFill>
        <p:spPr>
          <a:xfrm>
            <a:off x="0" y="0"/>
            <a:ext cx="12188825" cy="6858000"/>
          </a:xfrm>
          <a:prstGeom prst="rect">
            <a:avLst/>
          </a:prstGeom>
        </p:spPr>
      </p:pic>
      <p:sp>
        <p:nvSpPr>
          <p:cNvPr id="3" name="TextBox 2"/>
          <p:cNvSpPr txBox="1"/>
          <p:nvPr/>
        </p:nvSpPr>
        <p:spPr>
          <a:xfrm>
            <a:off x="566928" y="274320"/>
            <a:ext cx="5486400" cy="228600"/>
          </a:xfrm>
          <a:prstGeom prst="rect">
            <a:avLst/>
          </a:prstGeom>
          <a:noFill/>
        </p:spPr>
        <p:txBody>
          <a:bodyPr wrap="square" lIns="0" tIns="0" rIns="0" bIns="0" anchor="ctr">
            <a:spAutoFit/>
          </a:bodyPr>
          <a:lstStyle/>
          <a:p>
            <a:pPr algn="l">
              <a:spcBef>
                <a:spcPts val="0"/>
              </a:spcBef>
              <a:spcAft>
                <a:spcPts val="0"/>
              </a:spcAft>
            </a:pPr>
            <a:r>
              <a:rPr sz="1100" b="1">
                <a:solidFill>
                  <a:srgbClr val="71F1F7"/>
                </a:solidFill>
                <a:latin typeface="Source Sans 3"/>
              </a:rPr>
              <a:t>AUTONOMOUS IT  /  VALUE &amp; AI CONSUMPTION</a:t>
            </a:r>
          </a:p>
        </p:txBody>
      </p:sp>
      <p:sp>
        <p:nvSpPr>
          <p:cNvPr id="4" name="TextBox 3"/>
          <p:cNvSpPr txBox="1"/>
          <p:nvPr/>
        </p:nvSpPr>
        <p:spPr>
          <a:xfrm>
            <a:off x="566928" y="630936"/>
            <a:ext cx="11064240" cy="576072"/>
          </a:xfrm>
          <a:prstGeom prst="rect">
            <a:avLst/>
          </a:prstGeom>
          <a:noFill/>
        </p:spPr>
        <p:txBody>
          <a:bodyPr wrap="square" lIns="0" tIns="0" rIns="0" bIns="0" anchor="ctr">
            <a:spAutoFit/>
          </a:bodyPr>
          <a:lstStyle/>
          <a:p>
            <a:pPr algn="l">
              <a:spcBef>
                <a:spcPts val="0"/>
              </a:spcBef>
              <a:spcAft>
                <a:spcPts val="0"/>
              </a:spcAft>
            </a:pPr>
            <a:r>
              <a:rPr sz="3300" b="1">
                <a:solidFill>
                  <a:srgbClr val="8FFFDB"/>
                </a:solidFill>
                <a:latin typeface="Source Sans 3"/>
              </a:rPr>
              <a:t>What will AI cost us as it scales?</a:t>
            </a:r>
          </a:p>
        </p:txBody>
      </p:sp>
      <p:sp>
        <p:nvSpPr>
          <p:cNvPr id="5" name="TextBox 4"/>
          <p:cNvSpPr txBox="1"/>
          <p:nvPr/>
        </p:nvSpPr>
        <p:spPr>
          <a:xfrm>
            <a:off x="576072" y="1307592"/>
            <a:ext cx="10972800" cy="347472"/>
          </a:xfrm>
          <a:prstGeom prst="rect">
            <a:avLst/>
          </a:prstGeom>
          <a:noFill/>
        </p:spPr>
        <p:txBody>
          <a:bodyPr wrap="square" lIns="0" tIns="0" rIns="0" bIns="0" anchor="ctr">
            <a:spAutoFit/>
          </a:bodyPr>
          <a:lstStyle/>
          <a:p>
            <a:pPr algn="l">
              <a:spcBef>
                <a:spcPts val="0"/>
              </a:spcBef>
              <a:spcAft>
                <a:spcPts val="0"/>
              </a:spcAft>
            </a:pPr>
            <a:r>
              <a:rPr sz="1600" b="0">
                <a:solidFill>
                  <a:srgbClr val="F8FAFF"/>
                </a:solidFill>
                <a:latin typeface="Source Sans 3"/>
              </a:rPr>
              <a:t>Estimate what each outcome uses, then check the value and the entitlement fit.</a:t>
            </a:r>
          </a:p>
        </p:txBody>
      </p:sp>
      <p:sp>
        <p:nvSpPr>
          <p:cNvPr id="6" name="Rounded Rectangle 5"/>
          <p:cNvSpPr/>
          <p:nvPr/>
        </p:nvSpPr>
        <p:spPr>
          <a:xfrm>
            <a:off x="566928" y="1901952"/>
            <a:ext cx="4160520" cy="3264408"/>
          </a:xfrm>
          <a:prstGeom prst="roundRect">
            <a:avLst>
              <a:gd name="adj" fmla="val 8500"/>
            </a:avLst>
          </a:prstGeom>
          <a:solidFill>
            <a:srgbClr val="051039"/>
          </a:solidFill>
          <a:ln w="12065">
            <a:solidFill>
              <a:srgbClr val="71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01184" y="1901952"/>
            <a:ext cx="2871216" cy="3264408"/>
          </a:xfrm>
          <a:prstGeom prst="roundRect">
            <a:avLst>
              <a:gd name="adj" fmla="val 9500"/>
            </a:avLst>
          </a:prstGeom>
          <a:solidFill>
            <a:srgbClr val="051039"/>
          </a:solidFill>
          <a:ln w="12065">
            <a:solidFill>
              <a:srgbClr val="71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946136" y="1901952"/>
            <a:ext cx="3675887" cy="3264408"/>
          </a:xfrm>
          <a:prstGeom prst="roundRect">
            <a:avLst>
              <a:gd name="adj" fmla="val 9500"/>
            </a:avLst>
          </a:prstGeom>
          <a:solidFill>
            <a:srgbClr val="051039"/>
          </a:solidFill>
          <a:ln w="12065">
            <a:solidFill>
              <a:srgbClr val="71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084831"/>
            <a:ext cx="3657600" cy="265176"/>
          </a:xfrm>
          <a:prstGeom prst="rect">
            <a:avLst/>
          </a:prstGeom>
          <a:noFill/>
        </p:spPr>
        <p:txBody>
          <a:bodyPr wrap="square" lIns="0" tIns="0" rIns="0" bIns="0" anchor="ctr">
            <a:spAutoFit/>
          </a:bodyPr>
          <a:lstStyle/>
          <a:p>
            <a:pPr algn="l">
              <a:spcBef>
                <a:spcPts val="0"/>
              </a:spcBef>
              <a:spcAft>
                <a:spcPts val="0"/>
              </a:spcAft>
            </a:pPr>
            <a:r>
              <a:rPr sz="1200" b="1">
                <a:solidFill>
                  <a:srgbClr val="8FFFDB"/>
                </a:solidFill>
                <a:latin typeface="Source Sans 3"/>
              </a:rPr>
              <a:t>01   MODEL THE WORK</a:t>
            </a:r>
          </a:p>
        </p:txBody>
      </p:sp>
      <p:sp>
        <p:nvSpPr>
          <p:cNvPr id="10" name="TextBox 9"/>
          <p:cNvSpPr txBox="1"/>
          <p:nvPr/>
        </p:nvSpPr>
        <p:spPr>
          <a:xfrm>
            <a:off x="777240" y="2441448"/>
            <a:ext cx="3657600" cy="219456"/>
          </a:xfrm>
          <a:prstGeom prst="rect">
            <a:avLst/>
          </a:prstGeom>
          <a:noFill/>
        </p:spPr>
        <p:txBody>
          <a:bodyPr wrap="square" lIns="0" tIns="0" rIns="0" bIns="0" anchor="ctr">
            <a:spAutoFit/>
          </a:bodyPr>
          <a:lstStyle/>
          <a:p>
            <a:pPr algn="l">
              <a:spcBef>
                <a:spcPts val="0"/>
              </a:spcBef>
              <a:spcAft>
                <a:spcPts val="0"/>
              </a:spcAft>
            </a:pPr>
            <a:r>
              <a:rPr sz="1100" b="0">
                <a:solidFill>
                  <a:srgbClr val="C8D6EE"/>
                </a:solidFill>
                <a:latin typeface="Source Sans 3"/>
              </a:rPr>
              <a:t>Illustrative agentic run sizes</a:t>
            </a:r>
          </a:p>
        </p:txBody>
      </p:sp>
      <p:sp>
        <p:nvSpPr>
          <p:cNvPr id="11" name="TextBox 10"/>
          <p:cNvSpPr txBox="1"/>
          <p:nvPr/>
        </p:nvSpPr>
        <p:spPr>
          <a:xfrm>
            <a:off x="777240" y="2779776"/>
            <a:ext cx="1188720" cy="347472"/>
          </a:xfrm>
          <a:prstGeom prst="rect">
            <a:avLst/>
          </a:prstGeom>
          <a:noFill/>
        </p:spPr>
        <p:txBody>
          <a:bodyPr wrap="square" lIns="0" tIns="0" rIns="0" bIns="0" anchor="ctr">
            <a:spAutoFit/>
          </a:bodyPr>
          <a:lstStyle/>
          <a:p>
            <a:pPr algn="l">
              <a:spcBef>
                <a:spcPts val="0"/>
              </a:spcBef>
              <a:spcAft>
                <a:spcPts val="0"/>
              </a:spcAft>
            </a:pPr>
            <a:r>
              <a:rPr sz="1500" b="1">
                <a:solidFill>
                  <a:srgbClr val="F8FAFF"/>
                </a:solidFill>
                <a:latin typeface="Source Sans 3"/>
              </a:rPr>
              <a:t>NARROW</a:t>
            </a:r>
          </a:p>
        </p:txBody>
      </p:sp>
      <p:sp>
        <p:nvSpPr>
          <p:cNvPr id="12" name="TextBox 11"/>
          <p:cNvSpPr txBox="1"/>
          <p:nvPr/>
        </p:nvSpPr>
        <p:spPr>
          <a:xfrm>
            <a:off x="1993392" y="2779776"/>
            <a:ext cx="941832" cy="347472"/>
          </a:xfrm>
          <a:prstGeom prst="rect">
            <a:avLst/>
          </a:prstGeom>
          <a:noFill/>
        </p:spPr>
        <p:txBody>
          <a:bodyPr wrap="square" lIns="0" tIns="0" rIns="0" bIns="0" anchor="ctr">
            <a:spAutoFit/>
          </a:bodyPr>
          <a:lstStyle/>
          <a:p>
            <a:pPr algn="l">
              <a:spcBef>
                <a:spcPts val="0"/>
              </a:spcBef>
              <a:spcAft>
                <a:spcPts val="0"/>
              </a:spcAft>
            </a:pPr>
            <a:r>
              <a:rPr sz="1100" b="0">
                <a:solidFill>
                  <a:srgbClr val="C8D6EE"/>
                </a:solidFill>
                <a:latin typeface="Source Sans 3"/>
              </a:rPr>
              <a:t>0–4 tools</a:t>
            </a:r>
          </a:p>
        </p:txBody>
      </p:sp>
      <p:sp>
        <p:nvSpPr>
          <p:cNvPr id="13" name="TextBox 12"/>
          <p:cNvSpPr txBox="1"/>
          <p:nvPr/>
        </p:nvSpPr>
        <p:spPr>
          <a:xfrm>
            <a:off x="2880360" y="2752344"/>
            <a:ext cx="795528" cy="411480"/>
          </a:xfrm>
          <a:prstGeom prst="rect">
            <a:avLst/>
          </a:prstGeom>
          <a:noFill/>
        </p:spPr>
        <p:txBody>
          <a:bodyPr wrap="square" lIns="0" tIns="0" rIns="0" bIns="0" anchor="ctr">
            <a:spAutoFit/>
          </a:bodyPr>
          <a:lstStyle/>
          <a:p>
            <a:pPr algn="r">
              <a:spcBef>
                <a:spcPts val="0"/>
              </a:spcBef>
              <a:spcAft>
                <a:spcPts val="0"/>
              </a:spcAft>
            </a:pPr>
            <a:r>
              <a:rPr sz="2500" b="1">
                <a:solidFill>
                  <a:srgbClr val="71F1F7"/>
                </a:solidFill>
                <a:latin typeface="Source Sans 3"/>
              </a:rPr>
              <a:t>25</a:t>
            </a:r>
          </a:p>
        </p:txBody>
      </p:sp>
      <p:sp>
        <p:nvSpPr>
          <p:cNvPr id="14" name="TextBox 13"/>
          <p:cNvSpPr txBox="1"/>
          <p:nvPr/>
        </p:nvSpPr>
        <p:spPr>
          <a:xfrm>
            <a:off x="3712463" y="2798064"/>
            <a:ext cx="758952" cy="320040"/>
          </a:xfrm>
          <a:prstGeom prst="rect">
            <a:avLst/>
          </a:prstGeom>
          <a:noFill/>
        </p:spPr>
        <p:txBody>
          <a:bodyPr wrap="square" lIns="0" tIns="0" rIns="0" bIns="0" anchor="ctr">
            <a:spAutoFit/>
          </a:bodyPr>
          <a:lstStyle/>
          <a:p>
            <a:pPr algn="l">
              <a:spcBef>
                <a:spcPts val="0"/>
              </a:spcBef>
              <a:spcAft>
                <a:spcPts val="0"/>
              </a:spcAft>
            </a:pPr>
            <a:r>
              <a:rPr sz="900" b="0">
                <a:solidFill>
                  <a:srgbClr val="C8D6EE"/>
                </a:solidFill>
                <a:latin typeface="Source Sans 3"/>
              </a:rPr>
              <a:t>Assists</a:t>
            </a:r>
          </a:p>
        </p:txBody>
      </p:sp>
      <p:cxnSp>
        <p:nvCxnSpPr>
          <p:cNvPr id="15" name="Connector 14"/>
          <p:cNvCxnSpPr/>
          <p:nvPr/>
        </p:nvCxnSpPr>
        <p:spPr>
          <a:xfrm>
            <a:off x="777240" y="3310128"/>
            <a:ext cx="3639312" cy="0"/>
          </a:xfrm>
          <a:prstGeom prst="line">
            <a:avLst/>
          </a:prstGeom>
          <a:ln w="8890">
            <a:solidFill>
              <a:srgbClr val="2A4B6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3410712"/>
            <a:ext cx="1188720" cy="347472"/>
          </a:xfrm>
          <a:prstGeom prst="rect">
            <a:avLst/>
          </a:prstGeom>
          <a:noFill/>
        </p:spPr>
        <p:txBody>
          <a:bodyPr wrap="square" lIns="0" tIns="0" rIns="0" bIns="0" anchor="ctr">
            <a:spAutoFit/>
          </a:bodyPr>
          <a:lstStyle/>
          <a:p>
            <a:pPr algn="l">
              <a:spcBef>
                <a:spcPts val="0"/>
              </a:spcBef>
              <a:spcAft>
                <a:spcPts val="0"/>
              </a:spcAft>
            </a:pPr>
            <a:r>
              <a:rPr sz="1500" b="1">
                <a:solidFill>
                  <a:srgbClr val="F8FAFF"/>
                </a:solidFill>
                <a:latin typeface="Source Sans 3"/>
              </a:rPr>
              <a:t>MEDIUM</a:t>
            </a:r>
          </a:p>
        </p:txBody>
      </p:sp>
      <p:sp>
        <p:nvSpPr>
          <p:cNvPr id="17" name="TextBox 16"/>
          <p:cNvSpPr txBox="1"/>
          <p:nvPr/>
        </p:nvSpPr>
        <p:spPr>
          <a:xfrm>
            <a:off x="1993392" y="3410712"/>
            <a:ext cx="941832" cy="347472"/>
          </a:xfrm>
          <a:prstGeom prst="rect">
            <a:avLst/>
          </a:prstGeom>
          <a:noFill/>
        </p:spPr>
        <p:txBody>
          <a:bodyPr wrap="square" lIns="0" tIns="0" rIns="0" bIns="0" anchor="ctr">
            <a:spAutoFit/>
          </a:bodyPr>
          <a:lstStyle/>
          <a:p>
            <a:pPr algn="l">
              <a:spcBef>
                <a:spcPts val="0"/>
              </a:spcBef>
              <a:spcAft>
                <a:spcPts val="0"/>
              </a:spcAft>
            </a:pPr>
            <a:r>
              <a:rPr sz="1100" b="0">
                <a:solidFill>
                  <a:srgbClr val="C8D6EE"/>
                </a:solidFill>
                <a:latin typeface="Source Sans 3"/>
              </a:rPr>
              <a:t>5–8 tools</a:t>
            </a:r>
          </a:p>
        </p:txBody>
      </p:sp>
      <p:sp>
        <p:nvSpPr>
          <p:cNvPr id="18" name="TextBox 17"/>
          <p:cNvSpPr txBox="1"/>
          <p:nvPr/>
        </p:nvSpPr>
        <p:spPr>
          <a:xfrm>
            <a:off x="2880360" y="3383280"/>
            <a:ext cx="795528" cy="411480"/>
          </a:xfrm>
          <a:prstGeom prst="rect">
            <a:avLst/>
          </a:prstGeom>
          <a:noFill/>
        </p:spPr>
        <p:txBody>
          <a:bodyPr wrap="square" lIns="0" tIns="0" rIns="0" bIns="0" anchor="ctr">
            <a:spAutoFit/>
          </a:bodyPr>
          <a:lstStyle/>
          <a:p>
            <a:pPr algn="r">
              <a:spcBef>
                <a:spcPts val="0"/>
              </a:spcBef>
              <a:spcAft>
                <a:spcPts val="0"/>
              </a:spcAft>
            </a:pPr>
            <a:r>
              <a:rPr sz="2500" b="1">
                <a:solidFill>
                  <a:srgbClr val="71F1F7"/>
                </a:solidFill>
                <a:latin typeface="Source Sans 3"/>
              </a:rPr>
              <a:t>50</a:t>
            </a:r>
          </a:p>
        </p:txBody>
      </p:sp>
      <p:sp>
        <p:nvSpPr>
          <p:cNvPr id="19" name="TextBox 18"/>
          <p:cNvSpPr txBox="1"/>
          <p:nvPr/>
        </p:nvSpPr>
        <p:spPr>
          <a:xfrm>
            <a:off x="3712463" y="3429000"/>
            <a:ext cx="758952" cy="320040"/>
          </a:xfrm>
          <a:prstGeom prst="rect">
            <a:avLst/>
          </a:prstGeom>
          <a:noFill/>
        </p:spPr>
        <p:txBody>
          <a:bodyPr wrap="square" lIns="0" tIns="0" rIns="0" bIns="0" anchor="ctr">
            <a:spAutoFit/>
          </a:bodyPr>
          <a:lstStyle/>
          <a:p>
            <a:pPr algn="l">
              <a:spcBef>
                <a:spcPts val="0"/>
              </a:spcBef>
              <a:spcAft>
                <a:spcPts val="0"/>
              </a:spcAft>
            </a:pPr>
            <a:r>
              <a:rPr sz="900" b="0">
                <a:solidFill>
                  <a:srgbClr val="C8D6EE"/>
                </a:solidFill>
                <a:latin typeface="Source Sans 3"/>
              </a:rPr>
              <a:t>Assists</a:t>
            </a:r>
          </a:p>
        </p:txBody>
      </p:sp>
      <p:cxnSp>
        <p:nvCxnSpPr>
          <p:cNvPr id="20" name="Connector 19"/>
          <p:cNvCxnSpPr/>
          <p:nvPr/>
        </p:nvCxnSpPr>
        <p:spPr>
          <a:xfrm>
            <a:off x="777240" y="3941063"/>
            <a:ext cx="3639312" cy="0"/>
          </a:xfrm>
          <a:prstGeom prst="line">
            <a:avLst/>
          </a:prstGeom>
          <a:ln w="8890">
            <a:solidFill>
              <a:srgbClr val="2A4B6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4041648"/>
            <a:ext cx="1188720" cy="347472"/>
          </a:xfrm>
          <a:prstGeom prst="rect">
            <a:avLst/>
          </a:prstGeom>
          <a:noFill/>
        </p:spPr>
        <p:txBody>
          <a:bodyPr wrap="square" lIns="0" tIns="0" rIns="0" bIns="0" anchor="ctr">
            <a:spAutoFit/>
          </a:bodyPr>
          <a:lstStyle/>
          <a:p>
            <a:pPr algn="l">
              <a:spcBef>
                <a:spcPts val="0"/>
              </a:spcBef>
              <a:spcAft>
                <a:spcPts val="0"/>
              </a:spcAft>
            </a:pPr>
            <a:r>
              <a:rPr sz="1500" b="1">
                <a:solidFill>
                  <a:srgbClr val="F8FAFF"/>
                </a:solidFill>
                <a:latin typeface="Source Sans 3"/>
              </a:rPr>
              <a:t>WIDE</a:t>
            </a:r>
          </a:p>
        </p:txBody>
      </p:sp>
      <p:sp>
        <p:nvSpPr>
          <p:cNvPr id="22" name="TextBox 21"/>
          <p:cNvSpPr txBox="1"/>
          <p:nvPr/>
        </p:nvSpPr>
        <p:spPr>
          <a:xfrm>
            <a:off x="1993392" y="4041648"/>
            <a:ext cx="941832" cy="347472"/>
          </a:xfrm>
          <a:prstGeom prst="rect">
            <a:avLst/>
          </a:prstGeom>
          <a:noFill/>
        </p:spPr>
        <p:txBody>
          <a:bodyPr wrap="square" lIns="0" tIns="0" rIns="0" bIns="0" anchor="ctr">
            <a:spAutoFit/>
          </a:bodyPr>
          <a:lstStyle/>
          <a:p>
            <a:pPr algn="l">
              <a:spcBef>
                <a:spcPts val="0"/>
              </a:spcBef>
              <a:spcAft>
                <a:spcPts val="0"/>
              </a:spcAft>
            </a:pPr>
            <a:r>
              <a:rPr sz="1100" b="0">
                <a:solidFill>
                  <a:srgbClr val="C8D6EE"/>
                </a:solidFill>
                <a:latin typeface="Source Sans 3"/>
              </a:rPr>
              <a:t>9–20 tools</a:t>
            </a:r>
          </a:p>
        </p:txBody>
      </p:sp>
      <p:sp>
        <p:nvSpPr>
          <p:cNvPr id="23" name="TextBox 22"/>
          <p:cNvSpPr txBox="1"/>
          <p:nvPr/>
        </p:nvSpPr>
        <p:spPr>
          <a:xfrm>
            <a:off x="2880360" y="4014215"/>
            <a:ext cx="795528" cy="411480"/>
          </a:xfrm>
          <a:prstGeom prst="rect">
            <a:avLst/>
          </a:prstGeom>
          <a:noFill/>
        </p:spPr>
        <p:txBody>
          <a:bodyPr wrap="square" lIns="0" tIns="0" rIns="0" bIns="0" anchor="ctr">
            <a:spAutoFit/>
          </a:bodyPr>
          <a:lstStyle/>
          <a:p>
            <a:pPr algn="r">
              <a:spcBef>
                <a:spcPts val="0"/>
              </a:spcBef>
              <a:spcAft>
                <a:spcPts val="0"/>
              </a:spcAft>
            </a:pPr>
            <a:r>
              <a:rPr sz="2500" b="1">
                <a:solidFill>
                  <a:srgbClr val="71F1F7"/>
                </a:solidFill>
                <a:latin typeface="Source Sans 3"/>
              </a:rPr>
              <a:t>150</a:t>
            </a:r>
          </a:p>
        </p:txBody>
      </p:sp>
      <p:sp>
        <p:nvSpPr>
          <p:cNvPr id="24" name="TextBox 23"/>
          <p:cNvSpPr txBox="1"/>
          <p:nvPr/>
        </p:nvSpPr>
        <p:spPr>
          <a:xfrm>
            <a:off x="3712463" y="4059935"/>
            <a:ext cx="758952" cy="320040"/>
          </a:xfrm>
          <a:prstGeom prst="rect">
            <a:avLst/>
          </a:prstGeom>
          <a:noFill/>
        </p:spPr>
        <p:txBody>
          <a:bodyPr wrap="square" lIns="0" tIns="0" rIns="0" bIns="0" anchor="ctr">
            <a:spAutoFit/>
          </a:bodyPr>
          <a:lstStyle/>
          <a:p>
            <a:pPr algn="l">
              <a:spcBef>
                <a:spcPts val="0"/>
              </a:spcBef>
              <a:spcAft>
                <a:spcPts val="0"/>
              </a:spcAft>
            </a:pPr>
            <a:r>
              <a:rPr sz="900" b="0">
                <a:solidFill>
                  <a:srgbClr val="C8D6EE"/>
                </a:solidFill>
                <a:latin typeface="Source Sans 3"/>
              </a:rPr>
              <a:t>Assists</a:t>
            </a:r>
          </a:p>
        </p:txBody>
      </p:sp>
      <p:sp>
        <p:nvSpPr>
          <p:cNvPr id="25" name="TextBox 24"/>
          <p:cNvSpPr txBox="1"/>
          <p:nvPr/>
        </p:nvSpPr>
        <p:spPr>
          <a:xfrm>
            <a:off x="777240" y="4718304"/>
            <a:ext cx="3611880" cy="237744"/>
          </a:xfrm>
          <a:prstGeom prst="rect">
            <a:avLst/>
          </a:prstGeom>
          <a:noFill/>
        </p:spPr>
        <p:txBody>
          <a:bodyPr wrap="square" lIns="0" tIns="0" rIns="0" bIns="0" anchor="ctr">
            <a:spAutoFit/>
          </a:bodyPr>
          <a:lstStyle/>
          <a:p>
            <a:pPr algn="l">
              <a:spcBef>
                <a:spcPts val="0"/>
              </a:spcBef>
              <a:spcAft>
                <a:spcPts val="0"/>
              </a:spcAft>
            </a:pPr>
            <a:r>
              <a:rPr sz="1000" b="1">
                <a:solidFill>
                  <a:srgbClr val="71F1F7"/>
                </a:solidFill>
                <a:latin typeface="Source Sans 3"/>
              </a:rPr>
              <a:t>Run volumes  ×  complexity = annual usage</a:t>
            </a:r>
          </a:p>
        </p:txBody>
      </p:sp>
      <p:sp>
        <p:nvSpPr>
          <p:cNvPr id="26" name="TextBox 25"/>
          <p:cNvSpPr txBox="1"/>
          <p:nvPr/>
        </p:nvSpPr>
        <p:spPr>
          <a:xfrm>
            <a:off x="5102352" y="2084831"/>
            <a:ext cx="2468880" cy="265176"/>
          </a:xfrm>
          <a:prstGeom prst="rect">
            <a:avLst/>
          </a:prstGeom>
          <a:noFill/>
        </p:spPr>
        <p:txBody>
          <a:bodyPr wrap="square" lIns="0" tIns="0" rIns="0" bIns="0" anchor="ctr">
            <a:spAutoFit/>
          </a:bodyPr>
          <a:lstStyle/>
          <a:p>
            <a:pPr algn="l">
              <a:spcBef>
                <a:spcPts val="0"/>
              </a:spcBef>
              <a:spcAft>
                <a:spcPts val="0"/>
              </a:spcAft>
            </a:pPr>
            <a:r>
              <a:rPr sz="1200" b="1">
                <a:solidFill>
                  <a:srgbClr val="8FFFDB"/>
                </a:solidFill>
                <a:latin typeface="Source Sans 3"/>
              </a:rPr>
              <a:t>02   SIZE THE USAGE</a:t>
            </a:r>
          </a:p>
        </p:txBody>
      </p:sp>
      <p:sp>
        <p:nvSpPr>
          <p:cNvPr id="27" name="TextBox 26"/>
          <p:cNvSpPr txBox="1"/>
          <p:nvPr/>
        </p:nvSpPr>
        <p:spPr>
          <a:xfrm>
            <a:off x="5102352" y="2441448"/>
            <a:ext cx="2423160" cy="219456"/>
          </a:xfrm>
          <a:prstGeom prst="rect">
            <a:avLst/>
          </a:prstGeom>
          <a:noFill/>
        </p:spPr>
        <p:txBody>
          <a:bodyPr wrap="square" lIns="0" tIns="0" rIns="0" bIns="0" anchor="ctr">
            <a:spAutoFit/>
          </a:bodyPr>
          <a:lstStyle/>
          <a:p>
            <a:pPr algn="l">
              <a:spcBef>
                <a:spcPts val="0"/>
              </a:spcBef>
              <a:spcAft>
                <a:spcPts val="0"/>
              </a:spcAft>
            </a:pPr>
            <a:r>
              <a:rPr sz="1100" b="0">
                <a:solidFill>
                  <a:srgbClr val="C8D6EE"/>
                </a:solidFill>
                <a:latin typeface="Source Sans 3"/>
              </a:rPr>
              <a:t>Example annual mix</a:t>
            </a:r>
          </a:p>
        </p:txBody>
      </p:sp>
      <p:sp>
        <p:nvSpPr>
          <p:cNvPr id="28" name="TextBox 27"/>
          <p:cNvSpPr txBox="1"/>
          <p:nvPr/>
        </p:nvSpPr>
        <p:spPr>
          <a:xfrm>
            <a:off x="5102352" y="2807208"/>
            <a:ext cx="2423160" cy="292608"/>
          </a:xfrm>
          <a:prstGeom prst="rect">
            <a:avLst/>
          </a:prstGeom>
          <a:noFill/>
        </p:spPr>
        <p:txBody>
          <a:bodyPr wrap="square" lIns="0" tIns="0" rIns="0" bIns="0" anchor="ctr">
            <a:spAutoFit/>
          </a:bodyPr>
          <a:lstStyle/>
          <a:p>
            <a:pPr algn="l">
              <a:spcBef>
                <a:spcPts val="0"/>
              </a:spcBef>
              <a:spcAft>
                <a:spcPts val="0"/>
              </a:spcAft>
            </a:pPr>
            <a:r>
              <a:rPr sz="1300" b="1">
                <a:solidFill>
                  <a:srgbClr val="F8FAFF"/>
                </a:solidFill>
                <a:latin typeface="Source Sans 3"/>
              </a:rPr>
              <a:t>30,000 narrow × 25</a:t>
            </a:r>
          </a:p>
        </p:txBody>
      </p:sp>
      <p:sp>
        <p:nvSpPr>
          <p:cNvPr id="29" name="TextBox 28"/>
          <p:cNvSpPr txBox="1"/>
          <p:nvPr/>
        </p:nvSpPr>
        <p:spPr>
          <a:xfrm>
            <a:off x="5102352" y="3172968"/>
            <a:ext cx="2423160" cy="292608"/>
          </a:xfrm>
          <a:prstGeom prst="rect">
            <a:avLst/>
          </a:prstGeom>
          <a:noFill/>
        </p:spPr>
        <p:txBody>
          <a:bodyPr wrap="square" lIns="0" tIns="0" rIns="0" bIns="0" anchor="ctr">
            <a:spAutoFit/>
          </a:bodyPr>
          <a:lstStyle/>
          <a:p>
            <a:pPr algn="l">
              <a:spcBef>
                <a:spcPts val="0"/>
              </a:spcBef>
              <a:spcAft>
                <a:spcPts val="0"/>
              </a:spcAft>
            </a:pPr>
            <a:r>
              <a:rPr sz="1300" b="1">
                <a:solidFill>
                  <a:srgbClr val="F8FAFF"/>
                </a:solidFill>
                <a:latin typeface="Source Sans 3"/>
              </a:rPr>
              <a:t>5,000 wide × 150</a:t>
            </a:r>
          </a:p>
        </p:txBody>
      </p:sp>
      <p:cxnSp>
        <p:nvCxnSpPr>
          <p:cNvPr id="30" name="Connector 29"/>
          <p:cNvCxnSpPr/>
          <p:nvPr/>
        </p:nvCxnSpPr>
        <p:spPr>
          <a:xfrm>
            <a:off x="5102352" y="3648456"/>
            <a:ext cx="2313431" cy="0"/>
          </a:xfrm>
          <a:prstGeom prst="line">
            <a:avLst/>
          </a:prstGeom>
          <a:ln w="10160">
            <a:solidFill>
              <a:srgbClr val="54748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47488" y="3730752"/>
            <a:ext cx="2468880" cy="694944"/>
          </a:xfrm>
          <a:prstGeom prst="rect">
            <a:avLst/>
          </a:prstGeom>
          <a:noFill/>
        </p:spPr>
        <p:txBody>
          <a:bodyPr wrap="square" lIns="0" tIns="0" rIns="0" bIns="0" anchor="ctr">
            <a:spAutoFit/>
          </a:bodyPr>
          <a:lstStyle/>
          <a:p>
            <a:pPr algn="l">
              <a:spcBef>
                <a:spcPts val="0"/>
              </a:spcBef>
              <a:spcAft>
                <a:spcPts val="0"/>
              </a:spcAft>
            </a:pPr>
            <a:r>
              <a:rPr sz="4100" b="1">
                <a:solidFill>
                  <a:srgbClr val="8FFFDB"/>
                </a:solidFill>
                <a:latin typeface="Source Sans 3"/>
              </a:rPr>
              <a:t>1.5M</a:t>
            </a:r>
          </a:p>
        </p:txBody>
      </p:sp>
      <p:sp>
        <p:nvSpPr>
          <p:cNvPr id="32" name="TextBox 31"/>
          <p:cNvSpPr txBox="1"/>
          <p:nvPr/>
        </p:nvSpPr>
        <p:spPr>
          <a:xfrm>
            <a:off x="5102352" y="4443984"/>
            <a:ext cx="2377440" cy="274320"/>
          </a:xfrm>
          <a:prstGeom prst="rect">
            <a:avLst/>
          </a:prstGeom>
          <a:noFill/>
        </p:spPr>
        <p:txBody>
          <a:bodyPr wrap="square" lIns="0" tIns="0" rIns="0" bIns="0" anchor="ctr">
            <a:spAutoFit/>
          </a:bodyPr>
          <a:lstStyle/>
          <a:p>
            <a:pPr algn="l">
              <a:spcBef>
                <a:spcPts val="0"/>
              </a:spcBef>
              <a:spcAft>
                <a:spcPts val="0"/>
              </a:spcAft>
            </a:pPr>
            <a:r>
              <a:rPr sz="1100" b="1">
                <a:solidFill>
                  <a:srgbClr val="71F1F7"/>
                </a:solidFill>
                <a:latin typeface="Source Sans 3"/>
              </a:rPr>
              <a:t>ANNUAL ASSISTS</a:t>
            </a:r>
          </a:p>
        </p:txBody>
      </p:sp>
      <p:sp>
        <p:nvSpPr>
          <p:cNvPr id="33" name="TextBox 32"/>
          <p:cNvSpPr txBox="1"/>
          <p:nvPr/>
        </p:nvSpPr>
        <p:spPr>
          <a:xfrm>
            <a:off x="5102352" y="4782312"/>
            <a:ext cx="2468880" cy="246888"/>
          </a:xfrm>
          <a:prstGeom prst="rect">
            <a:avLst/>
          </a:prstGeom>
          <a:noFill/>
        </p:spPr>
        <p:txBody>
          <a:bodyPr wrap="square" lIns="0" tIns="0" rIns="0" bIns="0" anchor="ctr">
            <a:spAutoFit/>
          </a:bodyPr>
          <a:lstStyle/>
          <a:p>
            <a:pPr algn="l">
              <a:spcBef>
                <a:spcPts val="0"/>
              </a:spcBef>
              <a:spcAft>
                <a:spcPts val="0"/>
              </a:spcAft>
            </a:pPr>
            <a:r>
              <a:rPr sz="890" b="0">
                <a:solidFill>
                  <a:srgbClr val="C8D6EE"/>
                </a:solidFill>
                <a:latin typeface="Source Sans 3"/>
              </a:rPr>
              <a:t>Illustrative baseline; P90 to be modelled</a:t>
            </a:r>
          </a:p>
        </p:txBody>
      </p:sp>
      <p:sp>
        <p:nvSpPr>
          <p:cNvPr id="34" name="TextBox 33"/>
          <p:cNvSpPr txBox="1"/>
          <p:nvPr/>
        </p:nvSpPr>
        <p:spPr>
          <a:xfrm>
            <a:off x="8174736" y="2084831"/>
            <a:ext cx="3154680" cy="265176"/>
          </a:xfrm>
          <a:prstGeom prst="rect">
            <a:avLst/>
          </a:prstGeom>
          <a:noFill/>
        </p:spPr>
        <p:txBody>
          <a:bodyPr wrap="square" lIns="0" tIns="0" rIns="0" bIns="0" anchor="ctr">
            <a:spAutoFit/>
          </a:bodyPr>
          <a:lstStyle/>
          <a:p>
            <a:pPr algn="l">
              <a:spcBef>
                <a:spcPts val="0"/>
              </a:spcBef>
              <a:spcAft>
                <a:spcPts val="0"/>
              </a:spcAft>
            </a:pPr>
            <a:r>
              <a:rPr sz="1200" b="1">
                <a:solidFill>
                  <a:srgbClr val="8FFFDB"/>
                </a:solidFill>
                <a:latin typeface="Source Sans 3"/>
              </a:rPr>
              <a:t>03   SELECT THE TIER</a:t>
            </a:r>
          </a:p>
        </p:txBody>
      </p:sp>
      <p:sp>
        <p:nvSpPr>
          <p:cNvPr id="35" name="TextBox 34"/>
          <p:cNvSpPr txBox="1"/>
          <p:nvPr/>
        </p:nvSpPr>
        <p:spPr>
          <a:xfrm>
            <a:off x="8174736" y="2441448"/>
            <a:ext cx="3154680" cy="219456"/>
          </a:xfrm>
          <a:prstGeom prst="rect">
            <a:avLst/>
          </a:prstGeom>
          <a:noFill/>
        </p:spPr>
        <p:txBody>
          <a:bodyPr wrap="square" lIns="0" tIns="0" rIns="0" bIns="0" anchor="ctr">
            <a:spAutoFit/>
          </a:bodyPr>
          <a:lstStyle/>
          <a:p>
            <a:pPr algn="l">
              <a:spcBef>
                <a:spcPts val="0"/>
              </a:spcBef>
              <a:spcAft>
                <a:spcPts val="0"/>
              </a:spcAft>
            </a:pPr>
            <a:r>
              <a:rPr sz="1100" b="0">
                <a:solidFill>
                  <a:srgbClr val="C8D6EE"/>
                </a:solidFill>
                <a:latin typeface="Source Sans 3"/>
              </a:rPr>
              <a:t>Capability × entitlement coverage</a:t>
            </a:r>
          </a:p>
        </p:txBody>
      </p:sp>
      <p:sp>
        <p:nvSpPr>
          <p:cNvPr id="36" name="Rounded Rectangle 35"/>
          <p:cNvSpPr/>
          <p:nvPr/>
        </p:nvSpPr>
        <p:spPr>
          <a:xfrm>
            <a:off x="8183879" y="2807208"/>
            <a:ext cx="3209544" cy="420624"/>
          </a:xfrm>
          <a:prstGeom prst="roundRect">
            <a:avLst>
              <a:gd name="adj" fmla="val 12000"/>
            </a:avLst>
          </a:prstGeom>
          <a:solidFill>
            <a:srgbClr val="102452"/>
          </a:solidFill>
          <a:ln w="8255">
            <a:solidFill>
              <a:srgbClr val="264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30183" y="2862072"/>
            <a:ext cx="1691640" cy="301752"/>
          </a:xfrm>
          <a:prstGeom prst="rect">
            <a:avLst/>
          </a:prstGeom>
          <a:noFill/>
        </p:spPr>
        <p:txBody>
          <a:bodyPr wrap="square" lIns="0" tIns="0" rIns="0" bIns="0" anchor="ctr">
            <a:spAutoFit/>
          </a:bodyPr>
          <a:lstStyle/>
          <a:p>
            <a:pPr algn="l">
              <a:spcBef>
                <a:spcPts val="0"/>
              </a:spcBef>
              <a:spcAft>
                <a:spcPts val="0"/>
              </a:spcAft>
            </a:pPr>
            <a:r>
              <a:rPr sz="1200" b="1">
                <a:solidFill>
                  <a:srgbClr val="F8FAFF"/>
                </a:solidFill>
                <a:latin typeface="Source Sans 3"/>
              </a:rPr>
              <a:t>FOUNDATION</a:t>
            </a:r>
          </a:p>
        </p:txBody>
      </p:sp>
      <p:sp>
        <p:nvSpPr>
          <p:cNvPr id="38" name="TextBox 37"/>
          <p:cNvSpPr txBox="1"/>
          <p:nvPr/>
        </p:nvSpPr>
        <p:spPr>
          <a:xfrm>
            <a:off x="9957816" y="2871215"/>
            <a:ext cx="1298448" cy="274320"/>
          </a:xfrm>
          <a:prstGeom prst="rect">
            <a:avLst/>
          </a:prstGeom>
          <a:noFill/>
        </p:spPr>
        <p:txBody>
          <a:bodyPr wrap="square" lIns="0" tIns="0" rIns="0" bIns="0" anchor="ctr">
            <a:spAutoFit/>
          </a:bodyPr>
          <a:lstStyle/>
          <a:p>
            <a:pPr algn="r">
              <a:spcBef>
                <a:spcPts val="0"/>
              </a:spcBef>
              <a:spcAft>
                <a:spcPts val="0"/>
              </a:spcAft>
            </a:pPr>
            <a:r>
              <a:rPr sz="1100" b="0">
                <a:solidFill>
                  <a:srgbClr val="71F1F7"/>
                </a:solidFill>
                <a:latin typeface="Source Sans 3"/>
              </a:rPr>
              <a:t>Assisted</a:t>
            </a:r>
          </a:p>
        </p:txBody>
      </p:sp>
      <p:sp>
        <p:nvSpPr>
          <p:cNvPr id="39" name="Rounded Rectangle 38"/>
          <p:cNvSpPr/>
          <p:nvPr/>
        </p:nvSpPr>
        <p:spPr>
          <a:xfrm>
            <a:off x="8183879" y="3319272"/>
            <a:ext cx="3209544" cy="420624"/>
          </a:xfrm>
          <a:prstGeom prst="roundRect">
            <a:avLst>
              <a:gd name="adj" fmla="val 12000"/>
            </a:avLst>
          </a:prstGeom>
          <a:solidFill>
            <a:srgbClr val="102452"/>
          </a:solidFill>
          <a:ln w="8255">
            <a:solidFill>
              <a:srgbClr val="264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330183" y="3374136"/>
            <a:ext cx="1691640" cy="301752"/>
          </a:xfrm>
          <a:prstGeom prst="rect">
            <a:avLst/>
          </a:prstGeom>
          <a:noFill/>
        </p:spPr>
        <p:txBody>
          <a:bodyPr wrap="square" lIns="0" tIns="0" rIns="0" bIns="0" anchor="ctr">
            <a:spAutoFit/>
          </a:bodyPr>
          <a:lstStyle/>
          <a:p>
            <a:pPr algn="l">
              <a:spcBef>
                <a:spcPts val="0"/>
              </a:spcBef>
              <a:spcAft>
                <a:spcPts val="0"/>
              </a:spcAft>
            </a:pPr>
            <a:r>
              <a:rPr sz="1200" b="1">
                <a:solidFill>
                  <a:srgbClr val="F8FAFF"/>
                </a:solidFill>
                <a:latin typeface="Source Sans 3"/>
              </a:rPr>
              <a:t>ADVANCED</a:t>
            </a:r>
          </a:p>
        </p:txBody>
      </p:sp>
      <p:sp>
        <p:nvSpPr>
          <p:cNvPr id="41" name="TextBox 40"/>
          <p:cNvSpPr txBox="1"/>
          <p:nvPr/>
        </p:nvSpPr>
        <p:spPr>
          <a:xfrm>
            <a:off x="9957816" y="3383279"/>
            <a:ext cx="1298448" cy="274320"/>
          </a:xfrm>
          <a:prstGeom prst="rect">
            <a:avLst/>
          </a:prstGeom>
          <a:noFill/>
        </p:spPr>
        <p:txBody>
          <a:bodyPr wrap="square" lIns="0" tIns="0" rIns="0" bIns="0" anchor="ctr">
            <a:spAutoFit/>
          </a:bodyPr>
          <a:lstStyle/>
          <a:p>
            <a:pPr algn="r">
              <a:spcBef>
                <a:spcPts val="0"/>
              </a:spcBef>
              <a:spcAft>
                <a:spcPts val="0"/>
              </a:spcAft>
            </a:pPr>
            <a:r>
              <a:rPr sz="1100" b="0">
                <a:solidFill>
                  <a:srgbClr val="71F1F7"/>
                </a:solidFill>
                <a:latin typeface="Source Sans 3"/>
              </a:rPr>
              <a:t>Agentic</a:t>
            </a:r>
          </a:p>
        </p:txBody>
      </p:sp>
      <p:sp>
        <p:nvSpPr>
          <p:cNvPr id="42" name="Rounded Rectangle 41"/>
          <p:cNvSpPr/>
          <p:nvPr/>
        </p:nvSpPr>
        <p:spPr>
          <a:xfrm>
            <a:off x="8183879" y="3831335"/>
            <a:ext cx="3209544" cy="420624"/>
          </a:xfrm>
          <a:prstGeom prst="roundRect">
            <a:avLst>
              <a:gd name="adj" fmla="val 12000"/>
            </a:avLst>
          </a:prstGeom>
          <a:solidFill>
            <a:srgbClr val="102452"/>
          </a:solidFill>
          <a:ln w="8255">
            <a:solidFill>
              <a:srgbClr val="264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30183" y="3886199"/>
            <a:ext cx="1691640" cy="301752"/>
          </a:xfrm>
          <a:prstGeom prst="rect">
            <a:avLst/>
          </a:prstGeom>
          <a:noFill/>
        </p:spPr>
        <p:txBody>
          <a:bodyPr wrap="square" lIns="0" tIns="0" rIns="0" bIns="0" anchor="ctr">
            <a:spAutoFit/>
          </a:bodyPr>
          <a:lstStyle/>
          <a:p>
            <a:pPr algn="l">
              <a:spcBef>
                <a:spcPts val="0"/>
              </a:spcBef>
              <a:spcAft>
                <a:spcPts val="0"/>
              </a:spcAft>
            </a:pPr>
            <a:r>
              <a:rPr sz="1200" b="1">
                <a:solidFill>
                  <a:srgbClr val="F8FAFF"/>
                </a:solidFill>
                <a:latin typeface="Source Sans 3"/>
              </a:rPr>
              <a:t>PRIME</a:t>
            </a:r>
          </a:p>
        </p:txBody>
      </p:sp>
      <p:sp>
        <p:nvSpPr>
          <p:cNvPr id="44" name="TextBox 43"/>
          <p:cNvSpPr txBox="1"/>
          <p:nvPr/>
        </p:nvSpPr>
        <p:spPr>
          <a:xfrm>
            <a:off x="9957816" y="3895344"/>
            <a:ext cx="1298448" cy="274320"/>
          </a:xfrm>
          <a:prstGeom prst="rect">
            <a:avLst/>
          </a:prstGeom>
          <a:noFill/>
        </p:spPr>
        <p:txBody>
          <a:bodyPr wrap="square" lIns="0" tIns="0" rIns="0" bIns="0" anchor="ctr">
            <a:spAutoFit/>
          </a:bodyPr>
          <a:lstStyle/>
          <a:p>
            <a:pPr algn="r">
              <a:spcBef>
                <a:spcPts val="0"/>
              </a:spcBef>
              <a:spcAft>
                <a:spcPts val="0"/>
              </a:spcAft>
            </a:pPr>
            <a:r>
              <a:rPr sz="1100" b="0">
                <a:solidFill>
                  <a:srgbClr val="71F1F7"/>
                </a:solidFill>
                <a:latin typeface="Source Sans 3"/>
              </a:rPr>
              <a:t>Autonomous</a:t>
            </a:r>
          </a:p>
        </p:txBody>
      </p:sp>
      <p:cxnSp>
        <p:nvCxnSpPr>
          <p:cNvPr id="45" name="Connector 44"/>
          <p:cNvCxnSpPr/>
          <p:nvPr/>
        </p:nvCxnSpPr>
        <p:spPr>
          <a:xfrm>
            <a:off x="8183879" y="4480560"/>
            <a:ext cx="3200401" cy="0"/>
          </a:xfrm>
          <a:prstGeom prst="line">
            <a:avLst/>
          </a:prstGeom>
          <a:ln w="10160">
            <a:solidFill>
              <a:srgbClr val="3F657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211312" y="4572000"/>
            <a:ext cx="3136392" cy="219456"/>
          </a:xfrm>
          <a:prstGeom prst="rect">
            <a:avLst/>
          </a:prstGeom>
          <a:noFill/>
        </p:spPr>
        <p:txBody>
          <a:bodyPr wrap="square" lIns="0" tIns="0" rIns="0" bIns="0" anchor="ctr">
            <a:spAutoFit/>
          </a:bodyPr>
          <a:lstStyle/>
          <a:p>
            <a:pPr algn="l">
              <a:spcBef>
                <a:spcPts val="0"/>
              </a:spcBef>
              <a:spcAft>
                <a:spcPts val="0"/>
              </a:spcAft>
            </a:pPr>
            <a:r>
              <a:rPr sz="1050" b="1">
                <a:solidFill>
                  <a:srgbClr val="F8FAFF"/>
                </a:solidFill>
                <a:latin typeface="Source Sans 3"/>
              </a:rPr>
              <a:t>GATE 1   Required functions and controls</a:t>
            </a:r>
          </a:p>
        </p:txBody>
      </p:sp>
      <p:sp>
        <p:nvSpPr>
          <p:cNvPr id="47" name="TextBox 46"/>
          <p:cNvSpPr txBox="1"/>
          <p:nvPr/>
        </p:nvSpPr>
        <p:spPr>
          <a:xfrm>
            <a:off x="8211312" y="4846320"/>
            <a:ext cx="3136392" cy="219456"/>
          </a:xfrm>
          <a:prstGeom prst="rect">
            <a:avLst/>
          </a:prstGeom>
          <a:noFill/>
        </p:spPr>
        <p:txBody>
          <a:bodyPr wrap="square" lIns="0" tIns="0" rIns="0" bIns="0" anchor="ctr">
            <a:spAutoFit/>
          </a:bodyPr>
          <a:lstStyle/>
          <a:p>
            <a:pPr algn="l">
              <a:spcBef>
                <a:spcPts val="0"/>
              </a:spcBef>
              <a:spcAft>
                <a:spcPts val="0"/>
              </a:spcAft>
            </a:pPr>
            <a:r>
              <a:rPr sz="1050" b="1">
                <a:solidFill>
                  <a:srgbClr val="8FFFDB"/>
                </a:solidFill>
                <a:latin typeface="Source Sans 3"/>
              </a:rPr>
              <a:t>GATE 2   P90 demand vs. real allocation</a:t>
            </a:r>
          </a:p>
        </p:txBody>
      </p:sp>
      <p:sp>
        <p:nvSpPr>
          <p:cNvPr id="48" name="Rounded Rectangle 47"/>
          <p:cNvSpPr/>
          <p:nvPr/>
        </p:nvSpPr>
        <p:spPr>
          <a:xfrm>
            <a:off x="566928" y="5376672"/>
            <a:ext cx="11055096" cy="594360"/>
          </a:xfrm>
          <a:prstGeom prst="roundRect">
            <a:avLst>
              <a:gd name="adj" fmla="val 10000"/>
            </a:avLst>
          </a:prstGeom>
          <a:solidFill>
            <a:srgbClr val="112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66928" y="5376672"/>
            <a:ext cx="47548" cy="594360"/>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95528" y="5504688"/>
            <a:ext cx="1234440" cy="283464"/>
          </a:xfrm>
          <a:prstGeom prst="rect">
            <a:avLst/>
          </a:prstGeom>
          <a:noFill/>
        </p:spPr>
        <p:txBody>
          <a:bodyPr wrap="square" lIns="0" tIns="0" rIns="0" bIns="0" anchor="ctr">
            <a:spAutoFit/>
          </a:bodyPr>
          <a:lstStyle/>
          <a:p>
            <a:pPr algn="l">
              <a:spcBef>
                <a:spcPts val="0"/>
              </a:spcBef>
              <a:spcAft>
                <a:spcPts val="0"/>
              </a:spcAft>
            </a:pPr>
            <a:r>
              <a:rPr sz="1070" b="1">
                <a:solidFill>
                  <a:srgbClr val="8FFFDB"/>
                </a:solidFill>
                <a:latin typeface="Source Sans 3"/>
              </a:rPr>
              <a:t>THE DECISION</a:t>
            </a:r>
          </a:p>
        </p:txBody>
      </p:sp>
      <p:sp>
        <p:nvSpPr>
          <p:cNvPr id="51" name="TextBox 50"/>
          <p:cNvSpPr txBox="1"/>
          <p:nvPr/>
        </p:nvSpPr>
        <p:spPr>
          <a:xfrm>
            <a:off x="2185416" y="5482742"/>
            <a:ext cx="9144000" cy="301752"/>
          </a:xfrm>
          <a:prstGeom prst="rect">
            <a:avLst/>
          </a:prstGeom>
          <a:noFill/>
        </p:spPr>
        <p:txBody>
          <a:bodyPr wrap="square" lIns="0" tIns="0" rIns="0" bIns="0" anchor="ctr">
            <a:spAutoFit/>
          </a:bodyPr>
          <a:lstStyle/>
          <a:p>
            <a:pPr algn="l">
              <a:spcBef>
                <a:spcPts val="0"/>
              </a:spcBef>
              <a:spcAft>
                <a:spcPts val="0"/>
              </a:spcAft>
            </a:pPr>
            <a:r>
              <a:rPr sz="1520" b="1">
                <a:solidFill>
                  <a:srgbClr val="F8FAFF"/>
                </a:solidFill>
                <a:latin typeface="Source Sans 3"/>
              </a:rPr>
              <a:t>Choose a tier only when both capability fit and expected usage are covered.</a:t>
            </a:r>
          </a:p>
        </p:txBody>
      </p:sp>
      <p:pic>
        <p:nvPicPr>
          <p:cNvPr id="52" name="Picture 51" descr="road-to-zero-crossfuze-logo.png"/>
          <p:cNvPicPr>
            <a:picLocks noChangeAspect="1"/>
          </p:cNvPicPr>
          <p:nvPr/>
        </p:nvPicPr>
        <p:blipFill>
          <a:blip r:embed="rId4"/>
          <a:stretch>
            <a:fillRect/>
          </a:stretch>
        </p:blipFill>
        <p:spPr>
          <a:xfrm>
            <a:off x="566928" y="6446520"/>
            <a:ext cx="1124712" cy="192670"/>
          </a:xfrm>
          <a:prstGeom prst="rect">
            <a:avLst/>
          </a:prstGeom>
        </p:spPr>
      </p:pic>
      <p:sp>
        <p:nvSpPr>
          <p:cNvPr id="53" name="TextBox 52"/>
          <p:cNvSpPr txBox="1"/>
          <p:nvPr/>
        </p:nvSpPr>
        <p:spPr>
          <a:xfrm>
            <a:off x="2926080" y="6327648"/>
            <a:ext cx="7680960" cy="283464"/>
          </a:xfrm>
          <a:prstGeom prst="rect">
            <a:avLst/>
          </a:prstGeom>
          <a:noFill/>
        </p:spPr>
        <p:txBody>
          <a:bodyPr wrap="square" lIns="0" tIns="0" rIns="0" bIns="0" anchor="ctr">
            <a:spAutoFit/>
          </a:bodyPr>
          <a:lstStyle/>
          <a:p>
            <a:pPr algn="l">
              <a:spcBef>
                <a:spcPts val="0"/>
              </a:spcBef>
              <a:spcAft>
                <a:spcPts val="0"/>
              </a:spcAft>
            </a:pPr>
            <a:r>
              <a:rPr sz="880" b="0">
                <a:solidFill>
                  <a:srgbClr val="B5C4D9"/>
                </a:solidFill>
                <a:latin typeface="Source Sans 3"/>
              </a:rPr>
              <a:t>Planning model only. Actual Assist rates, entitlement and product access depend on contract and configuration.</a:t>
            </a:r>
          </a:p>
        </p:txBody>
      </p:sp>
      <p:sp>
        <p:nvSpPr>
          <p:cNvPr id="54" name="TextBox 53"/>
          <p:cNvSpPr txBox="1"/>
          <p:nvPr/>
        </p:nvSpPr>
        <p:spPr>
          <a:xfrm>
            <a:off x="10808208" y="6373368"/>
            <a:ext cx="886968" cy="237744"/>
          </a:xfrm>
          <a:prstGeom prst="rect">
            <a:avLst/>
          </a:prstGeom>
          <a:noFill/>
        </p:spPr>
        <p:txBody>
          <a:bodyPr wrap="square" lIns="0" tIns="0" rIns="0" bIns="0" anchor="ctr">
            <a:spAutoFit/>
          </a:bodyPr>
          <a:lstStyle/>
          <a:p>
            <a:pPr algn="r">
              <a:spcBef>
                <a:spcPts val="0"/>
              </a:spcBef>
              <a:spcAft>
                <a:spcPts val="0"/>
              </a:spcAft>
            </a:pPr>
            <a:r>
              <a:rPr sz="850" b="0">
                <a:solidFill>
                  <a:srgbClr val="B5C4D9"/>
                </a:solidFill>
                <a:latin typeface="Source Sans 3"/>
              </a:rPr>
              <a:t>© 2026 Crossfuze.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3D6A-F57B-2DBC-96FA-F7394CFC786F}"/>
            </a:ext>
          </a:extLst>
        </p:cNvPr>
        <p:cNvGrpSpPr/>
        <p:nvPr/>
      </p:nvGrpSpPr>
      <p:grpSpPr>
        <a:xfrm>
          <a:off x="0" y="0"/>
          <a:ext cx="0" cy="0"/>
          <a:chOff x="0" y="0"/>
          <a:chExt cx="0" cy="0"/>
        </a:xfrm>
      </p:grpSpPr>
      <p:sp>
        <p:nvSpPr>
          <p:cNvPr id="8" name="Freeform 7">
            <a:extLst>
              <a:ext uri="{FF2B5EF4-FFF2-40B4-BE49-F238E27FC236}">
                <a16:creationId xmlns:a16="http://schemas.microsoft.com/office/drawing/2014/main" id="{FEA8BAEA-BB87-8DCC-1728-B81CFF88B120}"/>
              </a:ext>
            </a:extLst>
          </p:cNvPr>
          <p:cNvSpPr>
            <a:spLocks noGrp="1" noRot="1" noMove="1" noResize="1" noEditPoints="1" noAdjustHandles="1" noChangeArrowheads="1" noChangeShapeType="1"/>
          </p:cNvSpPr>
          <p:nvPr/>
        </p:nvSpPr>
        <p:spPr>
          <a:xfrm>
            <a:off x="1687410" y="843260"/>
            <a:ext cx="3309257" cy="5436412"/>
          </a:xfrm>
          <a:custGeom>
            <a:avLst/>
            <a:gdLst>
              <a:gd name="connsiteX0" fmla="*/ 2409372 w 3309257"/>
              <a:gd name="connsiteY0" fmla="*/ 0 h 6908800"/>
              <a:gd name="connsiteX1" fmla="*/ 3309257 w 3309257"/>
              <a:gd name="connsiteY1" fmla="*/ 3468914 h 6908800"/>
              <a:gd name="connsiteX2" fmla="*/ 2278743 w 3309257"/>
              <a:gd name="connsiteY2" fmla="*/ 6908800 h 6908800"/>
              <a:gd name="connsiteX3" fmla="*/ 0 w 3309257"/>
              <a:gd name="connsiteY3" fmla="*/ 6908800 h 6908800"/>
              <a:gd name="connsiteX4" fmla="*/ 0 w 3309257"/>
              <a:gd name="connsiteY4" fmla="*/ 14514 h 6908800"/>
              <a:gd name="connsiteX5" fmla="*/ 2409372 w 3309257"/>
              <a:gd name="connsiteY5" fmla="*/ 0 h 69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9257" h="6908800">
                <a:moveTo>
                  <a:pt x="2409372" y="0"/>
                </a:moveTo>
                <a:lnTo>
                  <a:pt x="3309257" y="3468914"/>
                </a:lnTo>
                <a:lnTo>
                  <a:pt x="2278743" y="6908800"/>
                </a:lnTo>
                <a:lnTo>
                  <a:pt x="0" y="6908800"/>
                </a:lnTo>
                <a:lnTo>
                  <a:pt x="0" y="14514"/>
                </a:lnTo>
                <a:lnTo>
                  <a:pt x="2409372" y="0"/>
                </a:lnTo>
                <a:close/>
              </a:path>
            </a:pathLst>
          </a:custGeom>
          <a:gradFill flip="none" rotWithShape="1">
            <a:gsLst>
              <a:gs pos="43000">
                <a:schemeClr val="accent3">
                  <a:tint val="66000"/>
                  <a:satMod val="160000"/>
                  <a:alpha val="0"/>
                </a:schemeClr>
              </a:gs>
              <a:gs pos="100000">
                <a:schemeClr val="accent5">
                  <a:alpha val="7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9" name="Freeform 8">
            <a:extLst>
              <a:ext uri="{FF2B5EF4-FFF2-40B4-BE49-F238E27FC236}">
                <a16:creationId xmlns:a16="http://schemas.microsoft.com/office/drawing/2014/main" id="{738A099D-F2FA-D3B3-2B30-B0F95B67F44F}"/>
              </a:ext>
            </a:extLst>
          </p:cNvPr>
          <p:cNvSpPr>
            <a:spLocks noGrp="1" noRot="1" noMove="1" noResize="1" noEditPoints="1" noAdjustHandles="1" noChangeArrowheads="1" noChangeShapeType="1"/>
          </p:cNvSpPr>
          <p:nvPr/>
        </p:nvSpPr>
        <p:spPr>
          <a:xfrm>
            <a:off x="5198252" y="843260"/>
            <a:ext cx="3309257" cy="5436412"/>
          </a:xfrm>
          <a:custGeom>
            <a:avLst/>
            <a:gdLst>
              <a:gd name="connsiteX0" fmla="*/ 2409372 w 3309257"/>
              <a:gd name="connsiteY0" fmla="*/ 0 h 6908800"/>
              <a:gd name="connsiteX1" fmla="*/ 3309257 w 3309257"/>
              <a:gd name="connsiteY1" fmla="*/ 3468914 h 6908800"/>
              <a:gd name="connsiteX2" fmla="*/ 2278743 w 3309257"/>
              <a:gd name="connsiteY2" fmla="*/ 6908800 h 6908800"/>
              <a:gd name="connsiteX3" fmla="*/ 0 w 3309257"/>
              <a:gd name="connsiteY3" fmla="*/ 6908800 h 6908800"/>
              <a:gd name="connsiteX4" fmla="*/ 0 w 3309257"/>
              <a:gd name="connsiteY4" fmla="*/ 14514 h 6908800"/>
              <a:gd name="connsiteX5" fmla="*/ 2409372 w 3309257"/>
              <a:gd name="connsiteY5" fmla="*/ 0 h 690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9257" h="6908800">
                <a:moveTo>
                  <a:pt x="2409372" y="0"/>
                </a:moveTo>
                <a:lnTo>
                  <a:pt x="3309257" y="3468914"/>
                </a:lnTo>
                <a:lnTo>
                  <a:pt x="2278743" y="6908800"/>
                </a:lnTo>
                <a:lnTo>
                  <a:pt x="0" y="6908800"/>
                </a:lnTo>
                <a:lnTo>
                  <a:pt x="0" y="14514"/>
                </a:lnTo>
                <a:lnTo>
                  <a:pt x="2409372" y="0"/>
                </a:lnTo>
                <a:close/>
              </a:path>
            </a:pathLst>
          </a:custGeom>
          <a:gradFill flip="none" rotWithShape="1">
            <a:gsLst>
              <a:gs pos="43000">
                <a:schemeClr val="accent3">
                  <a:tint val="66000"/>
                  <a:satMod val="160000"/>
                  <a:alpha val="0"/>
                </a:schemeClr>
              </a:gs>
              <a:gs pos="100000">
                <a:schemeClr val="accent5">
                  <a:alpha val="7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30" name="!!Background">
            <a:extLst>
              <a:ext uri="{FF2B5EF4-FFF2-40B4-BE49-F238E27FC236}">
                <a16:creationId xmlns:a16="http://schemas.microsoft.com/office/drawing/2014/main" id="{3F5321F8-BD58-0743-5C39-67942E6148B3}"/>
              </a:ext>
            </a:extLst>
          </p:cNvPr>
          <p:cNvSpPr>
            <a:spLocks noGrp="1" noRot="1" noMove="1" noResize="1" noEditPoints="1" noAdjustHandles="1" noChangeArrowheads="1" noChangeShapeType="1"/>
          </p:cNvSpPr>
          <p:nvPr/>
        </p:nvSpPr>
        <p:spPr>
          <a:xfrm>
            <a:off x="304446" y="843260"/>
            <a:ext cx="11582754" cy="5436413"/>
          </a:xfrm>
          <a:prstGeom prst="roundRect">
            <a:avLst>
              <a:gd name="adj" fmla="val 3508"/>
            </a:avLst>
          </a:prstGeom>
          <a:blipFill>
            <a:blip r:embed="rId3" cstate="print">
              <a:alphaModFix amt="10000"/>
              <a:extLst>
                <a:ext uri="{28A0092B-C50C-407E-A947-70E740481C1C}">
                  <a14:useLocalDpi xmlns:a14="http://schemas.microsoft.com/office/drawing/2010/main"/>
                </a:ext>
              </a:extLst>
            </a:blip>
            <a:stretch>
              <a:fillRect/>
            </a:stretch>
          </a:blipFill>
          <a:ln w="6350">
            <a:solidFill>
              <a:schemeClr val="tx1">
                <a:lumMod val="50000"/>
                <a:lumOff val="50000"/>
              </a:schemeClr>
            </a:solidFill>
          </a:ln>
          <a:scene3d>
            <a:camera prst="orthographicFront"/>
            <a:lightRig rig="brightRoom" dir="t">
              <a:rot lat="0" lon="0" rev="0"/>
            </a:lightRig>
          </a:scene3d>
          <a:sp3d extrusionH="38100" prstMaterial="translucentPowder">
            <a:bevelT w="139700" h="889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u="none" strike="noStrike" kern="1200" cap="none" spc="0" normalizeH="0" baseline="0" noProof="0">
              <a:ln>
                <a:noFill/>
              </a:ln>
              <a:solidFill>
                <a:srgbClr val="FFFFFF"/>
              </a:solidFill>
              <a:effectLst/>
              <a:uLnTx/>
              <a:uFillTx/>
              <a:latin typeface="Source Sans 3" panose="020B0504040101010104" pitchFamily="34" charset="77"/>
              <a:ea typeface="+mn-ea"/>
              <a:cs typeface="+mn-cs"/>
            </a:endParaRPr>
          </a:p>
        </p:txBody>
      </p:sp>
      <p:sp>
        <p:nvSpPr>
          <p:cNvPr id="38" name="Title 1">
            <a:extLst>
              <a:ext uri="{FF2B5EF4-FFF2-40B4-BE49-F238E27FC236}">
                <a16:creationId xmlns:a16="http://schemas.microsoft.com/office/drawing/2014/main" id="{1224CE98-5D74-F4D6-530E-97E6D8BD34F4}"/>
              </a:ext>
            </a:extLst>
          </p:cNvPr>
          <p:cNvSpPr>
            <a:spLocks noGrp="1" noRot="1" noMove="1" noResize="1" noEditPoints="1" noAdjustHandles="1" noChangeArrowheads="1" noChangeShapeType="1"/>
          </p:cNvSpPr>
          <p:nvPr>
            <p:ph type="title"/>
          </p:nvPr>
        </p:nvSpPr>
        <p:spPr>
          <a:xfrm>
            <a:off x="0" y="255476"/>
            <a:ext cx="12188825" cy="1115051"/>
          </a:xfrm>
        </p:spPr>
        <p:txBody>
          <a:bodyPr vert="horz" wrap="square" lIns="0" tIns="0" rIns="0" bIns="0" rtlCol="0" anchor="t" anchorCtr="0">
            <a:noAutofit/>
          </a:bodyPr>
          <a:lstStyle/>
          <a:p>
            <a:pPr algn="ctr"/>
            <a:r>
              <a:rPr lang="en-US" sz="3500" b="1" dirty="0">
                <a:solidFill>
                  <a:srgbClr val="8FFFDB"/>
                </a:solidFill>
              </a:rPr>
              <a:t>What will 90 minutes help us answer?</a:t>
            </a:r>
          </a:p>
        </p:txBody>
      </p:sp>
      <p:sp>
        <p:nvSpPr>
          <p:cNvPr id="75" name="Footer Placeholder 4">
            <a:extLst>
              <a:ext uri="{FF2B5EF4-FFF2-40B4-BE49-F238E27FC236}">
                <a16:creationId xmlns:a16="http://schemas.microsoft.com/office/drawing/2014/main" id="{2B2B86A1-2220-69AC-0BBF-26F68FE24DF6}"/>
              </a:ext>
            </a:extLst>
          </p:cNvPr>
          <p:cNvSpPr txBox="1">
            <a:spLocks noGrp="1" noRot="1" noMove="1" noResize="1" noEditPoints="1" noAdjustHandles="1" noChangeArrowheads="1" noChangeShapeType="1"/>
          </p:cNvSpPr>
          <p:nvPr/>
        </p:nvSpPr>
        <p:spPr>
          <a:xfrm>
            <a:off x="7938390" y="6407756"/>
            <a:ext cx="3091610" cy="214690"/>
          </a:xfrm>
          <a:prstGeom prst="rect">
            <a:avLst/>
          </a:prstGeom>
        </p:spPr>
        <p:txBody>
          <a:bodyPr vert="horz" lIns="91416" tIns="45708" rIns="91416" bIns="45708"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lvl="0"/>
            <a:r>
              <a:rPr lang="en-US" sz="800">
                <a:solidFill>
                  <a:schemeClr val="bg1"/>
                </a:solidFill>
              </a:rPr>
              <a:t>© 2026 Crossfuze. All Rights Reserved.</a:t>
            </a:r>
          </a:p>
        </p:txBody>
      </p:sp>
      <p:sp>
        <p:nvSpPr>
          <p:cNvPr id="76" name="Decision Brief eyebrow"/>
          <p:cNvSpPr txBox="1"/>
          <p:nvPr/>
        </p:nvSpPr>
        <p:spPr>
          <a:xfrm>
            <a:off x="621792" y="1042415"/>
            <a:ext cx="10945368" cy="365760"/>
          </a:xfrm>
          <a:prstGeom prst="rect">
            <a:avLst/>
          </a:prstGeom>
          <a:noFill/>
        </p:spPr>
        <p:txBody>
          <a:bodyPr wrap="square" lIns="36576" tIns="0" rIns="36576" bIns="0" anchor="ctr">
            <a:spAutoFit/>
          </a:bodyPr>
          <a:lstStyle/>
          <a:p>
            <a:pPr algn="ctr"/>
            <a:r>
              <a:rPr sz="1600" b="1">
                <a:solidFill>
                  <a:srgbClr val="FFFFFF"/>
                </a:solidFill>
                <a:latin typeface="Source Sans 3"/>
              </a:rPr>
              <a:t>YOUR AI READINESS DECISION BRIEF  •  PROVISIONAL FINDINGS</a:t>
            </a:r>
          </a:p>
        </p:txBody>
      </p:sp>
      <p:sp>
        <p:nvSpPr>
          <p:cNvPr id="77" name="Rounded Rectangle 76"/>
          <p:cNvSpPr/>
          <p:nvPr/>
        </p:nvSpPr>
        <p:spPr>
          <a:xfrm>
            <a:off x="667512" y="1719072"/>
            <a:ext cx="3529584" cy="1618488"/>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Decision item 01"/>
          <p:cNvSpPr txBox="1"/>
          <p:nvPr/>
        </p:nvSpPr>
        <p:spPr>
          <a:xfrm>
            <a:off x="850392" y="1828800"/>
            <a:ext cx="658368" cy="365760"/>
          </a:xfrm>
          <a:prstGeom prst="rect">
            <a:avLst/>
          </a:prstGeom>
          <a:noFill/>
        </p:spPr>
        <p:txBody>
          <a:bodyPr wrap="square" lIns="36576" tIns="0" rIns="36576" bIns="0" anchor="ctr">
            <a:spAutoFit/>
          </a:bodyPr>
          <a:lstStyle/>
          <a:p>
            <a:pPr algn="l"/>
            <a:r>
              <a:rPr sz="2000" b="1">
                <a:solidFill>
                  <a:srgbClr val="8FFFDB"/>
                </a:solidFill>
                <a:latin typeface="Source Sans 3"/>
              </a:rPr>
              <a:t>01</a:t>
            </a:r>
          </a:p>
        </p:txBody>
      </p:sp>
      <p:sp>
        <p:nvSpPr>
          <p:cNvPr id="79" name="Decision brief 01"/>
          <p:cNvSpPr txBox="1"/>
          <p:nvPr/>
        </p:nvSpPr>
        <p:spPr>
          <a:xfrm>
            <a:off x="1545336" y="1847088"/>
            <a:ext cx="2423160" cy="347472"/>
          </a:xfrm>
          <a:prstGeom prst="rect">
            <a:avLst/>
          </a:prstGeom>
          <a:noFill/>
        </p:spPr>
        <p:txBody>
          <a:bodyPr wrap="square" lIns="36576" tIns="0" rIns="36576" bIns="0" anchor="ctr">
            <a:spAutoFit/>
          </a:bodyPr>
          <a:lstStyle/>
          <a:p>
            <a:pPr algn="l"/>
            <a:r>
              <a:rPr sz="1900" b="1">
                <a:solidFill>
                  <a:srgbClr val="FFFFFF"/>
                </a:solidFill>
                <a:latin typeface="Source Sans 3"/>
              </a:rPr>
              <a:t>Foundation scores</a:t>
            </a:r>
          </a:p>
        </p:txBody>
      </p:sp>
      <p:sp>
        <p:nvSpPr>
          <p:cNvPr id="80" name="Decision detail 01"/>
          <p:cNvSpPr txBox="1"/>
          <p:nvPr/>
        </p:nvSpPr>
        <p:spPr>
          <a:xfrm>
            <a:off x="886968" y="2386584"/>
            <a:ext cx="3063240" cy="685800"/>
          </a:xfrm>
          <a:prstGeom prst="rect">
            <a:avLst/>
          </a:prstGeom>
          <a:noFill/>
        </p:spPr>
        <p:txBody>
          <a:bodyPr wrap="square" lIns="36576" tIns="0" rIns="36576" bIns="0" anchor="ctr">
            <a:spAutoFit/>
          </a:bodyPr>
          <a:lstStyle/>
          <a:p>
            <a:pPr algn="l"/>
            <a:r>
              <a:rPr sz="1500" b="0">
                <a:solidFill>
                  <a:srgbClr val="F2F2F4"/>
                </a:solidFill>
                <a:latin typeface="Source Sans 3"/>
              </a:rPr>
              <a:t>Four foundations.
Seven weighted dimensions.</a:t>
            </a:r>
          </a:p>
        </p:txBody>
      </p:sp>
      <p:sp>
        <p:nvSpPr>
          <p:cNvPr id="81" name="Rounded Rectangle 80"/>
          <p:cNvSpPr/>
          <p:nvPr/>
        </p:nvSpPr>
        <p:spPr>
          <a:xfrm>
            <a:off x="4553712" y="1719072"/>
            <a:ext cx="3529584" cy="1618488"/>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Decision item 02"/>
          <p:cNvSpPr txBox="1"/>
          <p:nvPr/>
        </p:nvSpPr>
        <p:spPr>
          <a:xfrm>
            <a:off x="4736592" y="1828800"/>
            <a:ext cx="658368" cy="365760"/>
          </a:xfrm>
          <a:prstGeom prst="rect">
            <a:avLst/>
          </a:prstGeom>
          <a:noFill/>
        </p:spPr>
        <p:txBody>
          <a:bodyPr wrap="square" lIns="36576" tIns="0" rIns="36576" bIns="0" anchor="ctr">
            <a:spAutoFit/>
          </a:bodyPr>
          <a:lstStyle/>
          <a:p>
            <a:pPr algn="l"/>
            <a:r>
              <a:rPr sz="2000" b="1">
                <a:solidFill>
                  <a:srgbClr val="8FFFDB"/>
                </a:solidFill>
                <a:latin typeface="Source Sans 3"/>
              </a:rPr>
              <a:t>02</a:t>
            </a:r>
          </a:p>
        </p:txBody>
      </p:sp>
      <p:sp>
        <p:nvSpPr>
          <p:cNvPr id="83" name="Decision brief 02"/>
          <p:cNvSpPr txBox="1"/>
          <p:nvPr/>
        </p:nvSpPr>
        <p:spPr>
          <a:xfrm>
            <a:off x="5431536" y="1847088"/>
            <a:ext cx="2423160" cy="347472"/>
          </a:xfrm>
          <a:prstGeom prst="rect">
            <a:avLst/>
          </a:prstGeom>
          <a:noFill/>
        </p:spPr>
        <p:txBody>
          <a:bodyPr wrap="square" lIns="36576" tIns="0" rIns="36576" bIns="0" anchor="ctr">
            <a:spAutoFit/>
          </a:bodyPr>
          <a:lstStyle/>
          <a:p>
            <a:pPr algn="l"/>
            <a:r>
              <a:rPr sz="1900" b="1">
                <a:solidFill>
                  <a:srgbClr val="FFFFFF"/>
                </a:solidFill>
                <a:latin typeface="Source Sans 3"/>
              </a:rPr>
              <a:t>Autonomy ceiling</a:t>
            </a:r>
          </a:p>
        </p:txBody>
      </p:sp>
      <p:sp>
        <p:nvSpPr>
          <p:cNvPr id="84" name="Decision detail 02"/>
          <p:cNvSpPr txBox="1"/>
          <p:nvPr/>
        </p:nvSpPr>
        <p:spPr>
          <a:xfrm>
            <a:off x="4773168" y="2386584"/>
            <a:ext cx="3063240" cy="685800"/>
          </a:xfrm>
          <a:prstGeom prst="rect">
            <a:avLst/>
          </a:prstGeom>
          <a:noFill/>
        </p:spPr>
        <p:txBody>
          <a:bodyPr wrap="square" lIns="36576" tIns="0" rIns="36576" bIns="0" anchor="ctr">
            <a:spAutoFit/>
          </a:bodyPr>
          <a:lstStyle/>
          <a:p>
            <a:pPr algn="l"/>
            <a:r>
              <a:rPr sz="1500" b="0">
                <a:solidFill>
                  <a:srgbClr val="F2F2F4"/>
                </a:solidFill>
                <a:latin typeface="Source Sans 3"/>
              </a:rPr>
              <a:t>The weakest required
foundation.</a:t>
            </a:r>
          </a:p>
        </p:txBody>
      </p:sp>
      <p:sp>
        <p:nvSpPr>
          <p:cNvPr id="85" name="Rounded Rectangle 84"/>
          <p:cNvSpPr/>
          <p:nvPr/>
        </p:nvSpPr>
        <p:spPr>
          <a:xfrm>
            <a:off x="8439912" y="1719072"/>
            <a:ext cx="3529584" cy="1618488"/>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Decision item 03"/>
          <p:cNvSpPr txBox="1"/>
          <p:nvPr/>
        </p:nvSpPr>
        <p:spPr>
          <a:xfrm>
            <a:off x="8622792" y="1828800"/>
            <a:ext cx="658368" cy="365760"/>
          </a:xfrm>
          <a:prstGeom prst="rect">
            <a:avLst/>
          </a:prstGeom>
          <a:noFill/>
        </p:spPr>
        <p:txBody>
          <a:bodyPr wrap="square" lIns="36576" tIns="0" rIns="36576" bIns="0" anchor="ctr">
            <a:spAutoFit/>
          </a:bodyPr>
          <a:lstStyle/>
          <a:p>
            <a:pPr algn="l"/>
            <a:r>
              <a:rPr sz="2000" b="1">
                <a:solidFill>
                  <a:srgbClr val="8FFFDB"/>
                </a:solidFill>
                <a:latin typeface="Source Sans 3"/>
              </a:rPr>
              <a:t>03</a:t>
            </a:r>
          </a:p>
        </p:txBody>
      </p:sp>
      <p:sp>
        <p:nvSpPr>
          <p:cNvPr id="87" name="Decision brief 03"/>
          <p:cNvSpPr txBox="1"/>
          <p:nvPr/>
        </p:nvSpPr>
        <p:spPr>
          <a:xfrm>
            <a:off x="9317736" y="1847088"/>
            <a:ext cx="2423160" cy="347472"/>
          </a:xfrm>
          <a:prstGeom prst="rect">
            <a:avLst/>
          </a:prstGeom>
          <a:noFill/>
        </p:spPr>
        <p:txBody>
          <a:bodyPr wrap="square" lIns="36576" tIns="0" rIns="36576" bIns="0" anchor="ctr">
            <a:spAutoFit/>
          </a:bodyPr>
          <a:lstStyle/>
          <a:p>
            <a:pPr algn="l"/>
            <a:r>
              <a:rPr sz="1900" b="1">
                <a:solidFill>
                  <a:srgbClr val="FFFFFF"/>
                </a:solidFill>
                <a:latin typeface="Source Sans 3"/>
              </a:rPr>
              <a:t>Control gaps</a:t>
            </a:r>
          </a:p>
        </p:txBody>
      </p:sp>
      <p:sp>
        <p:nvSpPr>
          <p:cNvPr id="88" name="Decision detail 03"/>
          <p:cNvSpPr txBox="1"/>
          <p:nvPr/>
        </p:nvSpPr>
        <p:spPr>
          <a:xfrm>
            <a:off x="8659368" y="2386584"/>
            <a:ext cx="3063240" cy="685800"/>
          </a:xfrm>
          <a:prstGeom prst="rect">
            <a:avLst/>
          </a:prstGeom>
          <a:noFill/>
        </p:spPr>
        <p:txBody>
          <a:bodyPr wrap="square" lIns="36576" tIns="0" rIns="36576" bIns="0" anchor="ctr">
            <a:spAutoFit/>
          </a:bodyPr>
          <a:lstStyle/>
          <a:p>
            <a:pPr algn="l"/>
            <a:r>
              <a:rPr sz="1500" b="0">
                <a:solidFill>
                  <a:srgbClr val="F2F2F4"/>
                </a:solidFill>
                <a:latin typeface="Source Sans 3"/>
              </a:rPr>
              <a:t>Observed, provisional
or requiring validation.</a:t>
            </a:r>
          </a:p>
        </p:txBody>
      </p:sp>
      <p:sp>
        <p:nvSpPr>
          <p:cNvPr id="89" name="Rounded Rectangle 88"/>
          <p:cNvSpPr/>
          <p:nvPr/>
        </p:nvSpPr>
        <p:spPr>
          <a:xfrm>
            <a:off x="667512" y="3584448"/>
            <a:ext cx="3529584" cy="1618488"/>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Decision item 04"/>
          <p:cNvSpPr txBox="1"/>
          <p:nvPr/>
        </p:nvSpPr>
        <p:spPr>
          <a:xfrm>
            <a:off x="850392" y="3694176"/>
            <a:ext cx="658368" cy="365760"/>
          </a:xfrm>
          <a:prstGeom prst="rect">
            <a:avLst/>
          </a:prstGeom>
          <a:noFill/>
        </p:spPr>
        <p:txBody>
          <a:bodyPr wrap="square" lIns="36576" tIns="0" rIns="36576" bIns="0" anchor="ctr">
            <a:spAutoFit/>
          </a:bodyPr>
          <a:lstStyle/>
          <a:p>
            <a:pPr algn="l"/>
            <a:r>
              <a:rPr sz="2000" b="1">
                <a:solidFill>
                  <a:srgbClr val="8FFFDB"/>
                </a:solidFill>
                <a:latin typeface="Source Sans 3"/>
              </a:rPr>
              <a:t>04</a:t>
            </a:r>
          </a:p>
        </p:txBody>
      </p:sp>
      <p:sp>
        <p:nvSpPr>
          <p:cNvPr id="91" name="Decision brief 04"/>
          <p:cNvSpPr txBox="1"/>
          <p:nvPr/>
        </p:nvSpPr>
        <p:spPr>
          <a:xfrm>
            <a:off x="1545336" y="3712463"/>
            <a:ext cx="2423160" cy="347472"/>
          </a:xfrm>
          <a:prstGeom prst="rect">
            <a:avLst/>
          </a:prstGeom>
          <a:noFill/>
        </p:spPr>
        <p:txBody>
          <a:bodyPr wrap="square" lIns="36576" tIns="0" rIns="36576" bIns="0" anchor="ctr">
            <a:spAutoFit/>
          </a:bodyPr>
          <a:lstStyle/>
          <a:p>
            <a:pPr algn="l"/>
            <a:r>
              <a:rPr sz="1900" b="1">
                <a:solidFill>
                  <a:srgbClr val="FFFFFF"/>
                </a:solidFill>
                <a:latin typeface="Source Sans 3"/>
              </a:rPr>
              <a:t>First outcome</a:t>
            </a:r>
          </a:p>
        </p:txBody>
      </p:sp>
      <p:sp>
        <p:nvSpPr>
          <p:cNvPr id="92" name="Decision detail 04"/>
          <p:cNvSpPr txBox="1"/>
          <p:nvPr/>
        </p:nvSpPr>
        <p:spPr>
          <a:xfrm>
            <a:off x="886968" y="4251960"/>
            <a:ext cx="3063240" cy="685800"/>
          </a:xfrm>
          <a:prstGeom prst="rect">
            <a:avLst/>
          </a:prstGeom>
          <a:noFill/>
        </p:spPr>
        <p:txBody>
          <a:bodyPr wrap="square" lIns="36576" tIns="0" rIns="36576" bIns="0" anchor="ctr">
            <a:spAutoFit/>
          </a:bodyPr>
          <a:lstStyle/>
          <a:p>
            <a:pPr algn="l"/>
            <a:r>
              <a:rPr sz="1500" b="0">
                <a:solidFill>
                  <a:srgbClr val="F2F2F4"/>
                </a:solidFill>
                <a:latin typeface="Source Sans 3"/>
              </a:rPr>
              <a:t>Value × readiness
starting priority.</a:t>
            </a:r>
          </a:p>
        </p:txBody>
      </p:sp>
      <p:sp>
        <p:nvSpPr>
          <p:cNvPr id="93" name="Rounded Rectangle 92"/>
          <p:cNvSpPr/>
          <p:nvPr/>
        </p:nvSpPr>
        <p:spPr>
          <a:xfrm>
            <a:off x="4553712" y="3584448"/>
            <a:ext cx="3529584" cy="1618488"/>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Decision item 05"/>
          <p:cNvSpPr txBox="1"/>
          <p:nvPr/>
        </p:nvSpPr>
        <p:spPr>
          <a:xfrm>
            <a:off x="4736592" y="3694176"/>
            <a:ext cx="658368" cy="365760"/>
          </a:xfrm>
          <a:prstGeom prst="rect">
            <a:avLst/>
          </a:prstGeom>
          <a:noFill/>
        </p:spPr>
        <p:txBody>
          <a:bodyPr wrap="square" lIns="36576" tIns="0" rIns="36576" bIns="0" anchor="ctr">
            <a:spAutoFit/>
          </a:bodyPr>
          <a:lstStyle/>
          <a:p>
            <a:pPr algn="l"/>
            <a:r>
              <a:rPr sz="2000" b="1">
                <a:solidFill>
                  <a:srgbClr val="8FFFDB"/>
                </a:solidFill>
                <a:latin typeface="Source Sans 3"/>
              </a:rPr>
              <a:t>05</a:t>
            </a:r>
          </a:p>
        </p:txBody>
      </p:sp>
      <p:sp>
        <p:nvSpPr>
          <p:cNvPr id="95" name="Decision brief 05"/>
          <p:cNvSpPr txBox="1"/>
          <p:nvPr/>
        </p:nvSpPr>
        <p:spPr>
          <a:xfrm>
            <a:off x="5431536" y="3712463"/>
            <a:ext cx="2423160" cy="347472"/>
          </a:xfrm>
          <a:prstGeom prst="rect">
            <a:avLst/>
          </a:prstGeom>
          <a:noFill/>
        </p:spPr>
        <p:txBody>
          <a:bodyPr wrap="square" lIns="36576" tIns="0" rIns="36576" bIns="0" anchor="ctr">
            <a:spAutoFit/>
          </a:bodyPr>
          <a:lstStyle/>
          <a:p>
            <a:pPr algn="l"/>
            <a:r>
              <a:rPr sz="1900" b="1">
                <a:solidFill>
                  <a:srgbClr val="FFFFFF"/>
                </a:solidFill>
                <a:latin typeface="Source Sans 3"/>
              </a:rPr>
              <a:t>Tier and usage</a:t>
            </a:r>
          </a:p>
        </p:txBody>
      </p:sp>
      <p:sp>
        <p:nvSpPr>
          <p:cNvPr id="96" name="Decision detail 05"/>
          <p:cNvSpPr txBox="1"/>
          <p:nvPr/>
        </p:nvSpPr>
        <p:spPr>
          <a:xfrm>
            <a:off x="4773168" y="4251960"/>
            <a:ext cx="3063240" cy="685800"/>
          </a:xfrm>
          <a:prstGeom prst="rect">
            <a:avLst/>
          </a:prstGeom>
          <a:noFill/>
        </p:spPr>
        <p:txBody>
          <a:bodyPr wrap="square" lIns="36576" tIns="0" rIns="36576" bIns="0" anchor="ctr">
            <a:spAutoFit/>
          </a:bodyPr>
          <a:lstStyle/>
          <a:p>
            <a:pPr algn="l"/>
            <a:r>
              <a:rPr sz="1500" b="0">
                <a:solidFill>
                  <a:srgbClr val="F2F2F4"/>
                </a:solidFill>
                <a:latin typeface="Source Sans 3"/>
              </a:rPr>
              <a:t>Indicative Assist scenario
and entitlement fit.</a:t>
            </a:r>
          </a:p>
        </p:txBody>
      </p:sp>
      <p:sp>
        <p:nvSpPr>
          <p:cNvPr id="97" name="Rounded Rectangle 96"/>
          <p:cNvSpPr/>
          <p:nvPr/>
        </p:nvSpPr>
        <p:spPr>
          <a:xfrm>
            <a:off x="8439912" y="3584448"/>
            <a:ext cx="3529584" cy="1618488"/>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Decision item 06"/>
          <p:cNvSpPr txBox="1"/>
          <p:nvPr/>
        </p:nvSpPr>
        <p:spPr>
          <a:xfrm>
            <a:off x="8622792" y="3694176"/>
            <a:ext cx="658368" cy="365760"/>
          </a:xfrm>
          <a:prstGeom prst="rect">
            <a:avLst/>
          </a:prstGeom>
          <a:noFill/>
        </p:spPr>
        <p:txBody>
          <a:bodyPr wrap="square" lIns="36576" tIns="0" rIns="36576" bIns="0" anchor="ctr">
            <a:spAutoFit/>
          </a:bodyPr>
          <a:lstStyle/>
          <a:p>
            <a:pPr algn="l"/>
            <a:r>
              <a:rPr sz="2000" b="1">
                <a:solidFill>
                  <a:srgbClr val="8FFFDB"/>
                </a:solidFill>
                <a:latin typeface="Source Sans 3"/>
              </a:rPr>
              <a:t>06</a:t>
            </a:r>
          </a:p>
        </p:txBody>
      </p:sp>
      <p:sp>
        <p:nvSpPr>
          <p:cNvPr id="99" name="Decision brief 06"/>
          <p:cNvSpPr txBox="1"/>
          <p:nvPr/>
        </p:nvSpPr>
        <p:spPr>
          <a:xfrm>
            <a:off x="9317736" y="3712463"/>
            <a:ext cx="2423160" cy="347472"/>
          </a:xfrm>
          <a:prstGeom prst="rect">
            <a:avLst/>
          </a:prstGeom>
          <a:noFill/>
        </p:spPr>
        <p:txBody>
          <a:bodyPr wrap="square" lIns="36576" tIns="0" rIns="36576" bIns="0" anchor="ctr">
            <a:spAutoFit/>
          </a:bodyPr>
          <a:lstStyle/>
          <a:p>
            <a:pPr algn="l"/>
            <a:r>
              <a:rPr sz="1900" b="1">
                <a:solidFill>
                  <a:srgbClr val="FFFFFF"/>
                </a:solidFill>
                <a:latin typeface="Source Sans 3"/>
              </a:rPr>
              <a:t>Initial priorities</a:t>
            </a:r>
          </a:p>
        </p:txBody>
      </p:sp>
      <p:sp>
        <p:nvSpPr>
          <p:cNvPr id="100" name="Decision detail 06"/>
          <p:cNvSpPr txBox="1"/>
          <p:nvPr/>
        </p:nvSpPr>
        <p:spPr>
          <a:xfrm>
            <a:off x="8659368" y="4251960"/>
            <a:ext cx="3063240" cy="685800"/>
          </a:xfrm>
          <a:prstGeom prst="rect">
            <a:avLst/>
          </a:prstGeom>
          <a:noFill/>
        </p:spPr>
        <p:txBody>
          <a:bodyPr wrap="square" lIns="36576" tIns="0" rIns="36576" bIns="0" anchor="ctr">
            <a:spAutoFit/>
          </a:bodyPr>
          <a:lstStyle/>
          <a:p>
            <a:pPr algn="l"/>
            <a:r>
              <a:rPr sz="1500" b="0">
                <a:solidFill>
                  <a:srgbClr val="F2F2F4"/>
                </a:solidFill>
                <a:latin typeface="Source Sans 3"/>
              </a:rPr>
              <a:t>Actions, owners and
dependencies.</a:t>
            </a:r>
          </a:p>
        </p:txBody>
      </p:sp>
      <p:sp>
        <p:nvSpPr>
          <p:cNvPr id="101" name="Provisional qualification"/>
          <p:cNvSpPr txBox="1"/>
          <p:nvPr/>
        </p:nvSpPr>
        <p:spPr>
          <a:xfrm>
            <a:off x="640080" y="5742432"/>
            <a:ext cx="10890504" cy="356616"/>
          </a:xfrm>
          <a:prstGeom prst="rect">
            <a:avLst/>
          </a:prstGeom>
          <a:noFill/>
        </p:spPr>
        <p:txBody>
          <a:bodyPr wrap="square" lIns="36576" tIns="0" rIns="36576" bIns="0" anchor="ctr">
            <a:spAutoFit/>
          </a:bodyPr>
          <a:lstStyle/>
          <a:p>
            <a:pPr algn="ctr"/>
            <a:r>
              <a:rPr sz="1400" b="0">
                <a:solidFill>
                  <a:srgbClr val="FFFFFF"/>
                </a:solidFill>
                <a:latin typeface="Source Sans 3"/>
              </a:rPr>
              <a:t>Provisional findings remain visible. Technical validation follows where needed.</a:t>
            </a:r>
          </a:p>
        </p:txBody>
      </p:sp>
    </p:spTree>
    <p:extLst>
      <p:ext uri="{BB962C8B-B14F-4D97-AF65-F5344CB8AC3E}">
        <p14:creationId xmlns:p14="http://schemas.microsoft.com/office/powerpoint/2010/main" val="2947501315"/>
      </p:ext>
    </p:extLst>
  </p:cSld>
  <p:clrMapOvr>
    <a:masterClrMapping/>
  </p:clrMapOvr>
  <p:transition spd="slow">
    <p:strips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unstate_dark_gradient.png"/>
          <p:cNvPicPr>
            <a:picLocks noChangeAspect="1"/>
          </p:cNvPicPr>
          <p:nvPr/>
        </p:nvPicPr>
        <p:blipFill>
          <a:blip r:embed="rId3"/>
          <a:stretch>
            <a:fillRect/>
          </a:stretch>
        </p:blipFill>
        <p:spPr>
          <a:xfrm>
            <a:off x="0" y="0"/>
            <a:ext cx="12188824" cy="6858000"/>
          </a:xfrm>
          <a:prstGeom prst="rect">
            <a:avLst/>
          </a:prstGeom>
        </p:spPr>
      </p:pic>
      <p:sp>
        <p:nvSpPr>
          <p:cNvPr id="3" name="TextBox 2"/>
          <p:cNvSpPr txBox="1"/>
          <p:nvPr/>
        </p:nvSpPr>
        <p:spPr>
          <a:xfrm>
            <a:off x="594360" y="384048"/>
            <a:ext cx="5669280" cy="18288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71F1F7"/>
                </a:solidFill>
                <a:latin typeface="Source Sans 3"/>
              </a:rPr>
              <a:t>CROSSFUZE  /  AI RUNSTATE  /  WHAT IT IS</a:t>
            </a:r>
          </a:p>
        </p:txBody>
      </p:sp>
      <p:sp>
        <p:nvSpPr>
          <p:cNvPr id="4" name="TextBox 3"/>
          <p:cNvSpPr txBox="1"/>
          <p:nvPr/>
        </p:nvSpPr>
        <p:spPr>
          <a:xfrm>
            <a:off x="576072" y="804672"/>
            <a:ext cx="10607040" cy="1463040"/>
          </a:xfrm>
          <a:prstGeom prst="rect">
            <a:avLst/>
          </a:prstGeom>
          <a:noFill/>
        </p:spPr>
        <p:txBody>
          <a:bodyPr wrap="square" lIns="0" tIns="0" rIns="0" bIns="0" anchor="t">
            <a:spAutoFit/>
          </a:bodyPr>
          <a:lstStyle/>
          <a:p>
            <a:pPr algn="l">
              <a:lnSpc>
                <a:spcPct val="98000"/>
              </a:lnSpc>
              <a:spcBef>
                <a:spcPts val="0"/>
              </a:spcBef>
              <a:spcAft>
                <a:spcPts val="0"/>
              </a:spcAft>
            </a:pPr>
            <a:r>
              <a:rPr sz="3700" b="1">
                <a:solidFill>
                  <a:srgbClr val="FFFFFF"/>
                </a:solidFill>
                <a:latin typeface="Source Sans 3"/>
              </a:rPr>
              <a:t>From an AI decision to</a:t>
            </a:r>
          </a:p>
          <a:p>
            <a:pPr algn="l">
              <a:lnSpc>
                <a:spcPct val="98000"/>
              </a:lnSpc>
              <a:spcBef>
                <a:spcPts val="0"/>
              </a:spcBef>
              <a:spcAft>
                <a:spcPts val="0"/>
              </a:spcAft>
            </a:pPr>
            <a:r>
              <a:rPr sz="3700" b="1">
                <a:solidFill>
                  <a:srgbClr val="FFFFFF"/>
                </a:solidFill>
                <a:latin typeface="Source Sans 3"/>
              </a:rPr>
              <a:t>work that gets done.</a:t>
            </a:r>
          </a:p>
        </p:txBody>
      </p:sp>
      <p:sp>
        <p:nvSpPr>
          <p:cNvPr id="5" name="TextBox 4"/>
          <p:cNvSpPr txBox="1"/>
          <p:nvPr/>
        </p:nvSpPr>
        <p:spPr>
          <a:xfrm>
            <a:off x="603504" y="2423160"/>
            <a:ext cx="10881360" cy="722376"/>
          </a:xfrm>
          <a:prstGeom prst="rect">
            <a:avLst/>
          </a:prstGeom>
          <a:noFill/>
        </p:spPr>
        <p:txBody>
          <a:bodyPr wrap="square" lIns="0" tIns="0" rIns="0" bIns="0" anchor="t">
            <a:spAutoFit/>
          </a:bodyPr>
          <a:lstStyle/>
          <a:p>
            <a:pPr algn="l">
              <a:lnSpc>
                <a:spcPct val="104000"/>
              </a:lnSpc>
              <a:spcBef>
                <a:spcPts val="0"/>
              </a:spcBef>
              <a:spcAft>
                <a:spcPts val="0"/>
              </a:spcAft>
            </a:pPr>
            <a:r>
              <a:rPr sz="1800" b="0">
                <a:solidFill>
                  <a:srgbClr val="D5E9F5"/>
                </a:solidFill>
                <a:latin typeface="Source Sans 3"/>
              </a:rPr>
              <a:t>A readiness assessment identifies where to start. AI RunState is Crossfuze’s 12-month</a:t>
            </a:r>
          </a:p>
          <a:p>
            <a:pPr algn="l">
              <a:lnSpc>
                <a:spcPct val="104000"/>
              </a:lnSpc>
              <a:spcBef>
                <a:spcPts val="0"/>
              </a:spcBef>
              <a:spcAft>
                <a:spcPts val="0"/>
              </a:spcAft>
            </a:pPr>
            <a:r>
              <a:rPr sz="1800" b="0">
                <a:solidFill>
                  <a:srgbClr val="D5E9F5"/>
                </a:solidFill>
                <a:latin typeface="Source Sans 3"/>
              </a:rPr>
              <a:t>ServiceNow AI delivery engagement that helps turn agreed priorities into approved work.</a:t>
            </a:r>
          </a:p>
        </p:txBody>
      </p:sp>
      <p:sp>
        <p:nvSpPr>
          <p:cNvPr id="6" name="Rounded Rectangle 5"/>
          <p:cNvSpPr/>
          <p:nvPr/>
        </p:nvSpPr>
        <p:spPr>
          <a:xfrm>
            <a:off x="603504" y="3474720"/>
            <a:ext cx="3072384" cy="1563624"/>
          </a:xfrm>
          <a:prstGeom prst="roundRect">
            <a:avLst>
              <a:gd name="adj" fmla="val 12000"/>
            </a:avLst>
          </a:prstGeom>
          <a:solidFill>
            <a:srgbClr val="101E4B"/>
          </a:solidFill>
          <a:ln w="12700">
            <a:solidFill>
              <a:srgbClr val="4357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712463"/>
            <a:ext cx="2377440" cy="18288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8FFFDB"/>
                </a:solidFill>
                <a:latin typeface="Source Sans 3"/>
              </a:rPr>
              <a:t>THE DECISION</a:t>
            </a:r>
          </a:p>
        </p:txBody>
      </p:sp>
      <p:sp>
        <p:nvSpPr>
          <p:cNvPr id="8" name="TextBox 7"/>
          <p:cNvSpPr txBox="1"/>
          <p:nvPr/>
        </p:nvSpPr>
        <p:spPr>
          <a:xfrm>
            <a:off x="804672" y="4023360"/>
            <a:ext cx="2697480" cy="347472"/>
          </a:xfrm>
          <a:prstGeom prst="rect">
            <a:avLst/>
          </a:prstGeom>
          <a:noFill/>
        </p:spPr>
        <p:txBody>
          <a:bodyPr wrap="square" lIns="0" tIns="0" rIns="0" bIns="0" anchor="t">
            <a:spAutoFit/>
          </a:bodyPr>
          <a:lstStyle/>
          <a:p>
            <a:pPr algn="l">
              <a:lnSpc>
                <a:spcPct val="102000"/>
              </a:lnSpc>
              <a:spcBef>
                <a:spcPts val="0"/>
              </a:spcBef>
              <a:spcAft>
                <a:spcPts val="0"/>
              </a:spcAft>
            </a:pPr>
            <a:r>
              <a:rPr sz="2000" b="1">
                <a:solidFill>
                  <a:srgbClr val="FFFFFF"/>
                </a:solidFill>
                <a:latin typeface="Source Sans 3"/>
              </a:rPr>
              <a:t>First Zero identified</a:t>
            </a:r>
          </a:p>
        </p:txBody>
      </p:sp>
      <p:sp>
        <p:nvSpPr>
          <p:cNvPr id="9" name="TextBox 8"/>
          <p:cNvSpPr txBox="1"/>
          <p:nvPr/>
        </p:nvSpPr>
        <p:spPr>
          <a:xfrm>
            <a:off x="822960" y="4480560"/>
            <a:ext cx="2596896" cy="438912"/>
          </a:xfrm>
          <a:prstGeom prst="rect">
            <a:avLst/>
          </a:prstGeom>
          <a:noFill/>
        </p:spPr>
        <p:txBody>
          <a:bodyPr wrap="square" lIns="0" tIns="0" rIns="0" bIns="0" anchor="t">
            <a:spAutoFit/>
          </a:bodyPr>
          <a:lstStyle/>
          <a:p>
            <a:pPr algn="l">
              <a:lnSpc>
                <a:spcPct val="102000"/>
              </a:lnSpc>
              <a:spcBef>
                <a:spcPts val="0"/>
              </a:spcBef>
              <a:spcAft>
                <a:spcPts val="0"/>
              </a:spcAft>
            </a:pPr>
            <a:r>
              <a:rPr sz="1300" b="0">
                <a:solidFill>
                  <a:srgbClr val="C4D2E5"/>
                </a:solidFill>
                <a:latin typeface="Source Sans 3"/>
              </a:rPr>
              <a:t>Readiness gaps · owner ·</a:t>
            </a:r>
          </a:p>
          <a:p>
            <a:pPr algn="l">
              <a:lnSpc>
                <a:spcPct val="102000"/>
              </a:lnSpc>
              <a:spcBef>
                <a:spcPts val="0"/>
              </a:spcBef>
              <a:spcAft>
                <a:spcPts val="0"/>
              </a:spcAft>
            </a:pPr>
            <a:r>
              <a:rPr sz="1300" b="0">
                <a:solidFill>
                  <a:srgbClr val="C4D2E5"/>
                </a:solidFill>
                <a:latin typeface="Source Sans 3"/>
              </a:rPr>
              <a:t>90-day priorities</a:t>
            </a:r>
          </a:p>
        </p:txBody>
      </p:sp>
      <p:sp>
        <p:nvSpPr>
          <p:cNvPr id="10" name="TextBox 9"/>
          <p:cNvSpPr txBox="1"/>
          <p:nvPr/>
        </p:nvSpPr>
        <p:spPr>
          <a:xfrm>
            <a:off x="3858768" y="3913632"/>
            <a:ext cx="512064" cy="640080"/>
          </a:xfrm>
          <a:prstGeom prst="rect">
            <a:avLst/>
          </a:prstGeom>
          <a:noFill/>
        </p:spPr>
        <p:txBody>
          <a:bodyPr wrap="square" lIns="0" tIns="0" rIns="0" bIns="0" anchor="t">
            <a:spAutoFit/>
          </a:bodyPr>
          <a:lstStyle/>
          <a:p>
            <a:pPr algn="ctr">
              <a:lnSpc>
                <a:spcPct val="102000"/>
              </a:lnSpc>
              <a:spcBef>
                <a:spcPts val="0"/>
              </a:spcBef>
              <a:spcAft>
                <a:spcPts val="0"/>
              </a:spcAft>
            </a:pPr>
            <a:r>
              <a:rPr sz="3200" b="1">
                <a:solidFill>
                  <a:srgbClr val="71F1F7"/>
                </a:solidFill>
                <a:latin typeface="Source Sans 3"/>
              </a:rPr>
              <a:t>→</a:t>
            </a:r>
          </a:p>
        </p:txBody>
      </p:sp>
      <p:sp>
        <p:nvSpPr>
          <p:cNvPr id="11" name="Rounded Rectangle 10"/>
          <p:cNvSpPr/>
          <p:nvPr/>
        </p:nvSpPr>
        <p:spPr>
          <a:xfrm>
            <a:off x="4434840" y="3474720"/>
            <a:ext cx="7132320" cy="1563624"/>
          </a:xfrm>
          <a:prstGeom prst="roundRect">
            <a:avLst>
              <a:gd name="adj" fmla="val 12000"/>
            </a:avLst>
          </a:prstGeom>
          <a:solidFill>
            <a:srgbClr val="0B163F"/>
          </a:solidFill>
          <a:ln w="16510">
            <a:solidFill>
              <a:srgbClr val="71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90872" y="3712463"/>
            <a:ext cx="2788920" cy="182880"/>
          </a:xfrm>
          <a:prstGeom prst="rect">
            <a:avLst/>
          </a:prstGeom>
          <a:noFill/>
        </p:spPr>
        <p:txBody>
          <a:bodyPr wrap="square" lIns="0" tIns="0" rIns="0" bIns="0" anchor="t">
            <a:spAutoFit/>
          </a:bodyPr>
          <a:lstStyle/>
          <a:p>
            <a:pPr algn="l">
              <a:lnSpc>
                <a:spcPct val="100000"/>
              </a:lnSpc>
              <a:spcBef>
                <a:spcPts val="0"/>
              </a:spcBef>
              <a:spcAft>
                <a:spcPts val="0"/>
              </a:spcAft>
            </a:pPr>
            <a:r>
              <a:rPr sz="900" b="1">
                <a:solidFill>
                  <a:srgbClr val="71F1F7"/>
                </a:solidFill>
                <a:latin typeface="Source Sans 3"/>
              </a:rPr>
              <a:t>THE ENGAGEMENT</a:t>
            </a:r>
          </a:p>
        </p:txBody>
      </p:sp>
      <p:sp>
        <p:nvSpPr>
          <p:cNvPr id="13" name="TextBox 12"/>
          <p:cNvSpPr txBox="1"/>
          <p:nvPr/>
        </p:nvSpPr>
        <p:spPr>
          <a:xfrm>
            <a:off x="4672584" y="3977639"/>
            <a:ext cx="5175504" cy="466344"/>
          </a:xfrm>
          <a:prstGeom prst="rect">
            <a:avLst/>
          </a:prstGeom>
          <a:noFill/>
        </p:spPr>
        <p:txBody>
          <a:bodyPr wrap="square" lIns="0" tIns="0" rIns="0" bIns="0" anchor="t">
            <a:spAutoFit/>
          </a:bodyPr>
          <a:lstStyle/>
          <a:p>
            <a:pPr algn="l">
              <a:lnSpc>
                <a:spcPct val="102000"/>
              </a:lnSpc>
              <a:spcBef>
                <a:spcPts val="0"/>
              </a:spcBef>
              <a:spcAft>
                <a:spcPts val="0"/>
              </a:spcAft>
            </a:pPr>
            <a:r>
              <a:rPr sz="2700" b="1">
                <a:solidFill>
                  <a:srgbClr val="FFFFFF"/>
                </a:solidFill>
                <a:latin typeface="Source Sans 3"/>
              </a:rPr>
              <a:t>AI RunState</a:t>
            </a:r>
          </a:p>
        </p:txBody>
      </p:sp>
      <p:sp>
        <p:nvSpPr>
          <p:cNvPr id="14" name="TextBox 13"/>
          <p:cNvSpPr txBox="1"/>
          <p:nvPr/>
        </p:nvSpPr>
        <p:spPr>
          <a:xfrm>
            <a:off x="4700016" y="4553712"/>
            <a:ext cx="6327648" cy="365760"/>
          </a:xfrm>
          <a:prstGeom prst="rect">
            <a:avLst/>
          </a:prstGeom>
          <a:noFill/>
        </p:spPr>
        <p:txBody>
          <a:bodyPr wrap="square" lIns="0" tIns="0" rIns="0" bIns="0" anchor="t">
            <a:spAutoFit/>
          </a:bodyPr>
          <a:lstStyle/>
          <a:p>
            <a:pPr algn="l">
              <a:lnSpc>
                <a:spcPct val="102000"/>
              </a:lnSpc>
              <a:spcBef>
                <a:spcPts val="0"/>
              </a:spcBef>
              <a:spcAft>
                <a:spcPts val="0"/>
              </a:spcAft>
            </a:pPr>
            <a:r>
              <a:rPr sz="1500" b="0">
                <a:solidFill>
                  <a:srgbClr val="DDECF1"/>
                </a:solidFill>
                <a:latin typeface="Source Sans 3"/>
              </a:rPr>
              <a:t>Advisory direction  ·  Delivery-ready backlog  ·  Extend capacity</a:t>
            </a:r>
          </a:p>
        </p:txBody>
      </p:sp>
      <p:sp>
        <p:nvSpPr>
          <p:cNvPr id="15" name="Rectangle 14"/>
          <p:cNvSpPr/>
          <p:nvPr/>
        </p:nvSpPr>
        <p:spPr>
          <a:xfrm>
            <a:off x="594360" y="5440680"/>
            <a:ext cx="10972800" cy="12700"/>
          </a:xfrm>
          <a:prstGeom prst="rect">
            <a:avLst/>
          </a:prstGeom>
          <a:solidFill>
            <a:srgbClr val="3551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 y="5568696"/>
            <a:ext cx="9144000" cy="320040"/>
          </a:xfrm>
          <a:prstGeom prst="rect">
            <a:avLst/>
          </a:prstGeom>
          <a:noFill/>
        </p:spPr>
        <p:txBody>
          <a:bodyPr wrap="square" lIns="0" tIns="0" rIns="0" bIns="0" anchor="t">
            <a:spAutoFit/>
          </a:bodyPr>
          <a:lstStyle/>
          <a:p>
            <a:pPr algn="l">
              <a:lnSpc>
                <a:spcPct val="102000"/>
              </a:lnSpc>
              <a:spcBef>
                <a:spcPts val="0"/>
              </a:spcBef>
              <a:spcAft>
                <a:spcPts val="0"/>
              </a:spcAft>
            </a:pPr>
            <a:r>
              <a:rPr sz="1600" b="1">
                <a:solidFill>
                  <a:srgbClr val="8FFFDB"/>
                </a:solidFill>
                <a:latin typeface="Source Sans 3"/>
              </a:rPr>
              <a:t>The customer keeps control of priorities, approvals and production release.</a:t>
            </a:r>
          </a:p>
        </p:txBody>
      </p:sp>
      <p:pic>
        <p:nvPicPr>
          <p:cNvPr id="17" name="Picture 16" descr="road-to-zero-crossfuze-logo.png"/>
          <p:cNvPicPr>
            <a:picLocks noChangeAspect="1"/>
          </p:cNvPicPr>
          <p:nvPr/>
        </p:nvPicPr>
        <p:blipFill>
          <a:blip r:embed="rId4"/>
          <a:stretch>
            <a:fillRect/>
          </a:stretch>
        </p:blipFill>
        <p:spPr>
          <a:xfrm>
            <a:off x="603504" y="6327648"/>
            <a:ext cx="1325880" cy="227131"/>
          </a:xfrm>
          <a:prstGeom prst="rect">
            <a:avLst/>
          </a:prstGeom>
        </p:spPr>
      </p:pic>
      <p:sp>
        <p:nvSpPr>
          <p:cNvPr id="18" name="TextBox 17"/>
          <p:cNvSpPr txBox="1"/>
          <p:nvPr/>
        </p:nvSpPr>
        <p:spPr>
          <a:xfrm>
            <a:off x="8897112" y="6364224"/>
            <a:ext cx="2706624" cy="192024"/>
          </a:xfrm>
          <a:prstGeom prst="rect">
            <a:avLst/>
          </a:prstGeom>
          <a:noFill/>
        </p:spPr>
        <p:txBody>
          <a:bodyPr wrap="square" lIns="0" tIns="0" rIns="0" bIns="0" anchor="t">
            <a:spAutoFit/>
          </a:bodyPr>
          <a:lstStyle/>
          <a:p>
            <a:pPr algn="r">
              <a:lnSpc>
                <a:spcPct val="102000"/>
              </a:lnSpc>
              <a:spcBef>
                <a:spcPts val="0"/>
              </a:spcBef>
              <a:spcAft>
                <a:spcPts val="0"/>
              </a:spcAft>
            </a:pPr>
            <a:r>
              <a:rPr sz="900" b="1">
                <a:solidFill>
                  <a:srgbClr val="BDD1E5"/>
                </a:solidFill>
                <a:latin typeface="Source Sans 3"/>
              </a:rPr>
              <a:t>ONE 12-MONTH ENGAGEMENT</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57E36-EA07-CE1B-5AE0-96411284CB62}"/>
            </a:ext>
          </a:extLst>
        </p:cNvPr>
        <p:cNvGrpSpPr/>
        <p:nvPr/>
      </p:nvGrpSpPr>
      <p:grpSpPr>
        <a:xfrm>
          <a:off x="0" y="0"/>
          <a:ext cx="0" cy="0"/>
          <a:chOff x="0" y="0"/>
          <a:chExt cx="0" cy="0"/>
        </a:xfrm>
      </p:grpSpPr>
      <p:pic>
        <p:nvPicPr>
          <p:cNvPr id="7" name="Road to Zero cover image">
            <a:extLst>
              <a:ext uri="{FF2B5EF4-FFF2-40B4-BE49-F238E27FC236}">
                <a16:creationId xmlns:a16="http://schemas.microsoft.com/office/drawing/2014/main" id="{1BEAC41B-EEE9-2E9A-619B-8336FDC1198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174" y="0"/>
            <a:ext cx="12185651" cy="6854429"/>
          </a:xfrm>
          <a:prstGeom prst="rect">
            <a:avLst/>
          </a:prstGeom>
        </p:spPr>
      </p:pic>
      <p:pic>
        <p:nvPicPr>
          <p:cNvPr id="13" name="Crossfuze logo">
            <a:extLst>
              <a:ext uri="{FF2B5EF4-FFF2-40B4-BE49-F238E27FC236}">
                <a16:creationId xmlns:a16="http://schemas.microsoft.com/office/drawing/2014/main" id="{C300AD0F-2EDD-AB8E-E01B-6E0F60D9C9B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2920" y="384048"/>
            <a:ext cx="1600200" cy="457200"/>
          </a:xfrm>
          <a:prstGeom prst="rect">
            <a:avLst/>
          </a:prstGeom>
        </p:spPr>
      </p:pic>
      <p:sp>
        <p:nvSpPr>
          <p:cNvPr id="201" name="Edition">
            <a:extLst>
              <a:ext uri="{FF2B5EF4-FFF2-40B4-BE49-F238E27FC236}">
                <a16:creationId xmlns:a16="http://schemas.microsoft.com/office/drawing/2014/main" id="{48BCE823-04DC-9E78-2701-2AE3DEA8C30B}"/>
              </a:ext>
            </a:extLst>
          </p:cNvPr>
          <p:cNvSpPr txBox="1"/>
          <p:nvPr/>
        </p:nvSpPr>
        <p:spPr>
          <a:xfrm>
            <a:off x="7863840" y="457200"/>
            <a:ext cx="3840480" cy="320040"/>
          </a:xfrm>
          <a:prstGeom prst="rect">
            <a:avLst/>
          </a:prstGeom>
          <a:noFill/>
        </p:spPr>
        <p:txBody>
          <a:bodyPr wrap="square" lIns="0" tIns="0" rIns="0" bIns="0" anchor="ctr">
            <a:noAutofit/>
          </a:bodyPr>
          <a:lstStyle/>
          <a:p>
            <a:pPr algn="r">
              <a:spcAft>
                <a:spcPts val="0"/>
              </a:spcAft>
            </a:pPr>
            <a:r>
              <a:rPr lang="en-GB" sz="1000" b="1" dirty="0">
                <a:solidFill>
                  <a:srgbClr val="FFFFFF">
                    <a:alpha val="75000"/>
                  </a:srgbClr>
                </a:solidFill>
                <a:latin typeface="Source Sans 3"/>
                <a:cs typeface="Source Sans 3"/>
              </a:rPr>
              <a:t>EDITION 2026</a:t>
            </a:r>
          </a:p>
        </p:txBody>
      </p:sp>
      <p:sp>
        <p:nvSpPr>
          <p:cNvPr id="202" name="Cover eyebrow">
            <a:extLst>
              <a:ext uri="{FF2B5EF4-FFF2-40B4-BE49-F238E27FC236}">
                <a16:creationId xmlns:a16="http://schemas.microsoft.com/office/drawing/2014/main" id="{6C21431A-38B7-DEE0-19CE-1939F734B339}"/>
              </a:ext>
            </a:extLst>
          </p:cNvPr>
          <p:cNvSpPr txBox="1"/>
          <p:nvPr/>
        </p:nvSpPr>
        <p:spPr>
          <a:xfrm>
            <a:off x="548640" y="1481328"/>
            <a:ext cx="6400800" cy="320040"/>
          </a:xfrm>
          <a:prstGeom prst="rect">
            <a:avLst/>
          </a:prstGeom>
          <a:noFill/>
        </p:spPr>
        <p:txBody>
          <a:bodyPr wrap="square" lIns="0" tIns="0" rIns="0" bIns="0" anchor="t">
            <a:noAutofit/>
          </a:bodyPr>
          <a:lstStyle/>
          <a:p>
            <a:pPr algn="l">
              <a:spcAft>
                <a:spcPts val="0"/>
              </a:spcAft>
            </a:pPr>
            <a:r>
              <a:rPr lang="en-GB" sz="1100" b="1" spc="300" dirty="0">
                <a:solidFill>
                  <a:srgbClr val="8FFFDB"/>
                </a:solidFill>
                <a:latin typeface="Source Sans 3"/>
                <a:cs typeface="Source Sans 3"/>
              </a:rPr>
              <a:t>THE CROSSFUZE GUIDE TO AUTONOMOUS IT</a:t>
            </a:r>
          </a:p>
        </p:txBody>
      </p:sp>
      <p:sp>
        <p:nvSpPr>
          <p:cNvPr id="203" name="Cover title">
            <a:extLst>
              <a:ext uri="{FF2B5EF4-FFF2-40B4-BE49-F238E27FC236}">
                <a16:creationId xmlns:a16="http://schemas.microsoft.com/office/drawing/2014/main" id="{3C71D960-0131-D389-3AE4-7A4C08AF6B61}"/>
              </a:ext>
            </a:extLst>
          </p:cNvPr>
          <p:cNvSpPr txBox="1"/>
          <p:nvPr/>
        </p:nvSpPr>
        <p:spPr>
          <a:xfrm>
            <a:off x="502920" y="1783080"/>
            <a:ext cx="6583680" cy="2240280"/>
          </a:xfrm>
          <a:prstGeom prst="rect">
            <a:avLst/>
          </a:prstGeom>
          <a:noFill/>
        </p:spPr>
        <p:txBody>
          <a:bodyPr wrap="square" lIns="0" tIns="0" rIns="0" bIns="0" anchor="t">
            <a:noAutofit/>
          </a:bodyPr>
          <a:lstStyle/>
          <a:p>
            <a:pPr algn="l">
              <a:lnSpc>
                <a:spcPct val="85000"/>
              </a:lnSpc>
              <a:spcAft>
                <a:spcPts val="0"/>
              </a:spcAft>
            </a:pPr>
            <a:r>
              <a:rPr lang="en-GB" sz="7200" b="1" dirty="0">
                <a:solidFill>
                  <a:srgbClr val="FFFFFF"/>
                </a:solidFill>
                <a:latin typeface="Source Sans 3"/>
                <a:cs typeface="Source Sans 3"/>
              </a:rPr>
              <a:t>AI </a:t>
            </a:r>
            <a:r>
              <a:rPr lang="en-GB" sz="7200" b="1" dirty="0" err="1">
                <a:solidFill>
                  <a:srgbClr val="FFFFFF"/>
                </a:solidFill>
                <a:latin typeface="Source Sans 3"/>
                <a:cs typeface="Source Sans 3"/>
              </a:rPr>
              <a:t>RunState</a:t>
            </a:r>
            <a:r>
              <a:rPr lang="en-GB" sz="7200" b="1" dirty="0">
                <a:solidFill>
                  <a:srgbClr val="8FFFDB"/>
                </a:solidFill>
                <a:latin typeface="Source Sans 3"/>
                <a:cs typeface="Source Sans 3"/>
              </a:rPr>
              <a:t>.</a:t>
            </a:r>
          </a:p>
        </p:txBody>
      </p:sp>
      <p:sp>
        <p:nvSpPr>
          <p:cNvPr id="204" name="Cover subtitle">
            <a:extLst>
              <a:ext uri="{FF2B5EF4-FFF2-40B4-BE49-F238E27FC236}">
                <a16:creationId xmlns:a16="http://schemas.microsoft.com/office/drawing/2014/main" id="{4CE4E391-FD46-FA82-E1BF-C3AF96110DDF}"/>
              </a:ext>
            </a:extLst>
          </p:cNvPr>
          <p:cNvSpPr txBox="1"/>
          <p:nvPr/>
        </p:nvSpPr>
        <p:spPr>
          <a:xfrm>
            <a:off x="502920" y="2743200"/>
            <a:ext cx="6035040" cy="502920"/>
          </a:xfrm>
          <a:prstGeom prst="rect">
            <a:avLst/>
          </a:prstGeom>
          <a:noFill/>
        </p:spPr>
        <p:txBody>
          <a:bodyPr wrap="square" lIns="0" tIns="0" rIns="0" bIns="0" anchor="t">
            <a:noAutofit/>
          </a:bodyPr>
          <a:lstStyle/>
          <a:p>
            <a:pPr algn="l">
              <a:spcAft>
                <a:spcPts val="0"/>
              </a:spcAft>
            </a:pPr>
            <a:r>
              <a:rPr lang="en-GB" sz="2400" dirty="0">
                <a:solidFill>
                  <a:srgbClr val="FFFFFF"/>
                </a:solidFill>
                <a:latin typeface="Source Sans 3"/>
                <a:cs typeface="Source Sans 3"/>
              </a:rPr>
              <a:t>From Readiness to delivery.</a:t>
            </a:r>
            <a:endParaRPr lang="en-GB" sz="2400" b="0" dirty="0">
              <a:solidFill>
                <a:srgbClr val="FFFFFF"/>
              </a:solidFill>
              <a:latin typeface="Source Sans 3"/>
              <a:cs typeface="Source Sans 3"/>
            </a:endParaRPr>
          </a:p>
        </p:txBody>
      </p:sp>
      <p:sp>
        <p:nvSpPr>
          <p:cNvPr id="205" name="Autonomous Enterprise line">
            <a:extLst>
              <a:ext uri="{FF2B5EF4-FFF2-40B4-BE49-F238E27FC236}">
                <a16:creationId xmlns:a16="http://schemas.microsoft.com/office/drawing/2014/main" id="{1AAD8EA5-FA27-767F-EA72-A95458EF1B86}"/>
              </a:ext>
            </a:extLst>
          </p:cNvPr>
          <p:cNvSpPr txBox="1"/>
          <p:nvPr/>
        </p:nvSpPr>
        <p:spPr>
          <a:xfrm>
            <a:off x="548640" y="5925312"/>
            <a:ext cx="6858000" cy="292608"/>
          </a:xfrm>
          <a:prstGeom prst="rect">
            <a:avLst/>
          </a:prstGeom>
          <a:noFill/>
        </p:spPr>
        <p:txBody>
          <a:bodyPr wrap="square" lIns="0" tIns="0" rIns="0" bIns="0" anchor="t">
            <a:noAutofit/>
          </a:bodyPr>
          <a:lstStyle/>
          <a:p>
            <a:pPr algn="l">
              <a:spcAft>
                <a:spcPts val="0"/>
              </a:spcAft>
            </a:pPr>
            <a:r>
              <a:rPr lang="en-GB" sz="1300" b="1" dirty="0">
                <a:solidFill>
                  <a:srgbClr val="FFFFFF"/>
                </a:solidFill>
                <a:latin typeface="Source Sans 3"/>
                <a:cs typeface="Source Sans 3"/>
              </a:rPr>
              <a:t>Part of Preparing for the Autonomous Enterprise</a:t>
            </a:r>
          </a:p>
        </p:txBody>
      </p:sp>
      <p:sp>
        <p:nvSpPr>
          <p:cNvPr id="206" name="Partner line">
            <a:extLst>
              <a:ext uri="{FF2B5EF4-FFF2-40B4-BE49-F238E27FC236}">
                <a16:creationId xmlns:a16="http://schemas.microsoft.com/office/drawing/2014/main" id="{08CA1AA9-15AC-95CF-130B-16A4BE623979}"/>
              </a:ext>
            </a:extLst>
          </p:cNvPr>
          <p:cNvSpPr txBox="1"/>
          <p:nvPr/>
        </p:nvSpPr>
        <p:spPr>
          <a:xfrm>
            <a:off x="548640" y="6217920"/>
            <a:ext cx="6858000" cy="256032"/>
          </a:xfrm>
          <a:prstGeom prst="rect">
            <a:avLst/>
          </a:prstGeom>
          <a:noFill/>
        </p:spPr>
        <p:txBody>
          <a:bodyPr wrap="square" lIns="0" tIns="0" rIns="0" bIns="0" anchor="t">
            <a:noAutofit/>
          </a:bodyPr>
          <a:lstStyle/>
          <a:p>
            <a:pPr algn="l">
              <a:spcAft>
                <a:spcPts val="0"/>
              </a:spcAft>
            </a:pPr>
            <a:r>
              <a:rPr lang="en-GB" sz="1000" b="0" dirty="0">
                <a:solidFill>
                  <a:srgbClr val="FFFFFF">
                    <a:alpha val="65000"/>
                  </a:srgbClr>
                </a:solidFill>
                <a:latin typeface="Source Sans 3"/>
                <a:cs typeface="Source Sans 3"/>
              </a:rPr>
              <a:t>Crossfuze · ServiceNow Elite Partner</a:t>
            </a:r>
          </a:p>
        </p:txBody>
      </p:sp>
    </p:spTree>
    <p:extLst>
      <p:ext uri="{BB962C8B-B14F-4D97-AF65-F5344CB8AC3E}">
        <p14:creationId xmlns:p14="http://schemas.microsoft.com/office/powerpoint/2010/main" val="360451912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unstate_dark_gradient.png"/>
          <p:cNvPicPr>
            <a:picLocks noChangeAspect="1"/>
          </p:cNvPicPr>
          <p:nvPr/>
        </p:nvPicPr>
        <p:blipFill>
          <a:blip r:embed="rId3"/>
          <a:stretch>
            <a:fillRect/>
          </a:stretch>
        </p:blipFill>
        <p:spPr>
          <a:xfrm>
            <a:off x="0" y="0"/>
            <a:ext cx="12191695" cy="2322576"/>
          </a:xfrm>
          <a:prstGeom prst="rect">
            <a:avLst/>
          </a:prstGeom>
        </p:spPr>
      </p:pic>
      <p:sp>
        <p:nvSpPr>
          <p:cNvPr id="3" name="Rectangle 2"/>
          <p:cNvSpPr/>
          <p:nvPr/>
        </p:nvSpPr>
        <p:spPr>
          <a:xfrm>
            <a:off x="0" y="2322576"/>
            <a:ext cx="12191695" cy="4535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10896"/>
            <a:ext cx="7315200" cy="219456"/>
          </a:xfrm>
          <a:prstGeom prst="rect">
            <a:avLst/>
          </a:prstGeom>
          <a:noFill/>
        </p:spPr>
        <p:txBody>
          <a:bodyPr wrap="square" lIns="0" tIns="0" rIns="0" bIns="0" anchor="t">
            <a:spAutoFit/>
          </a:bodyPr>
          <a:lstStyle/>
          <a:p>
            <a:pPr algn="l">
              <a:lnSpc>
                <a:spcPct val="103000"/>
              </a:lnSpc>
              <a:spcBef>
                <a:spcPts val="0"/>
              </a:spcBef>
              <a:spcAft>
                <a:spcPts val="0"/>
              </a:spcAft>
            </a:pPr>
            <a:r>
              <a:rPr sz="1030" b="1">
                <a:solidFill>
                  <a:srgbClr val="8FFFDB"/>
                </a:solidFill>
                <a:latin typeface="Source Sans 3"/>
              </a:rPr>
              <a:t>AUTONOMOUS IT  /  ROAD TO ZERO  /  THE OFFERING</a:t>
            </a:r>
          </a:p>
        </p:txBody>
      </p:sp>
      <p:sp>
        <p:nvSpPr>
          <p:cNvPr id="5" name="TextBox 4"/>
          <p:cNvSpPr txBox="1"/>
          <p:nvPr/>
        </p:nvSpPr>
        <p:spPr>
          <a:xfrm>
            <a:off x="640080" y="749808"/>
            <a:ext cx="6601968" cy="1188720"/>
          </a:xfrm>
          <a:prstGeom prst="rect">
            <a:avLst/>
          </a:prstGeom>
          <a:noFill/>
        </p:spPr>
        <p:txBody>
          <a:bodyPr wrap="square" lIns="0" tIns="0" rIns="0" bIns="0" anchor="t">
            <a:spAutoFit/>
          </a:bodyPr>
          <a:lstStyle/>
          <a:p>
            <a:pPr algn="l">
              <a:lnSpc>
                <a:spcPct val="99000"/>
              </a:lnSpc>
              <a:spcBef>
                <a:spcPts val="0"/>
              </a:spcBef>
              <a:spcAft>
                <a:spcPts val="0"/>
              </a:spcAft>
            </a:pPr>
            <a:r>
              <a:rPr sz="3000" b="1">
                <a:solidFill>
                  <a:srgbClr val="FFFFFF"/>
                </a:solidFill>
                <a:latin typeface="Source Sans 3"/>
              </a:rPr>
              <a:t>Turn AI priorities and existing</a:t>
            </a:r>
          </a:p>
          <a:p>
            <a:pPr algn="l">
              <a:lnSpc>
                <a:spcPct val="99000"/>
              </a:lnSpc>
              <a:spcBef>
                <a:spcPts val="0"/>
              </a:spcBef>
              <a:spcAft>
                <a:spcPts val="0"/>
              </a:spcAft>
            </a:pPr>
            <a:r>
              <a:rPr sz="3000" b="1">
                <a:solidFill>
                  <a:srgbClr val="FFFFFF"/>
                </a:solidFill>
                <a:latin typeface="Source Sans 3"/>
              </a:rPr>
              <a:t>demand into delivered work.</a:t>
            </a:r>
          </a:p>
        </p:txBody>
      </p:sp>
      <p:sp>
        <p:nvSpPr>
          <p:cNvPr id="6" name="TextBox 5"/>
          <p:cNvSpPr txBox="1"/>
          <p:nvPr/>
        </p:nvSpPr>
        <p:spPr>
          <a:xfrm>
            <a:off x="7754112" y="722376"/>
            <a:ext cx="3840480" cy="594360"/>
          </a:xfrm>
          <a:prstGeom prst="rect">
            <a:avLst/>
          </a:prstGeom>
          <a:noFill/>
        </p:spPr>
        <p:txBody>
          <a:bodyPr wrap="square" lIns="0" tIns="0" rIns="0" bIns="0" anchor="t">
            <a:spAutoFit/>
          </a:bodyPr>
          <a:lstStyle/>
          <a:p>
            <a:pPr algn="l">
              <a:lnSpc>
                <a:spcPct val="103000"/>
              </a:lnSpc>
              <a:spcBef>
                <a:spcPts val="0"/>
              </a:spcBef>
              <a:spcAft>
                <a:spcPts val="0"/>
              </a:spcAft>
            </a:pPr>
            <a:r>
              <a:rPr sz="3240" b="1">
                <a:solidFill>
                  <a:srgbClr val="8FFFDB"/>
                </a:solidFill>
                <a:latin typeface="Source Sans 3"/>
              </a:rPr>
              <a:t>AI RunState</a:t>
            </a:r>
          </a:p>
        </p:txBody>
      </p:sp>
      <p:sp>
        <p:nvSpPr>
          <p:cNvPr id="7" name="Rectangle 6"/>
          <p:cNvSpPr/>
          <p:nvPr/>
        </p:nvSpPr>
        <p:spPr>
          <a:xfrm>
            <a:off x="7754112" y="1389888"/>
            <a:ext cx="3611880" cy="20116"/>
          </a:xfrm>
          <a:prstGeom prst="rect">
            <a:avLst/>
          </a:prstGeom>
          <a:solidFill>
            <a:srgbClr val="71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63256" y="1600200"/>
            <a:ext cx="3867912" cy="566928"/>
          </a:xfrm>
          <a:prstGeom prst="rect">
            <a:avLst/>
          </a:prstGeom>
          <a:noFill/>
        </p:spPr>
        <p:txBody>
          <a:bodyPr wrap="square" lIns="0" tIns="0" rIns="0" bIns="0" anchor="t">
            <a:spAutoFit/>
          </a:bodyPr>
          <a:lstStyle/>
          <a:p>
            <a:pPr algn="l">
              <a:lnSpc>
                <a:spcPct val="105000"/>
              </a:lnSpc>
              <a:spcBef>
                <a:spcPts val="0"/>
              </a:spcBef>
              <a:spcAft>
                <a:spcPts val="0"/>
              </a:spcAft>
            </a:pPr>
            <a:r>
              <a:rPr sz="1400" b="0">
                <a:solidFill>
                  <a:srgbClr val="FFFFFF"/>
                </a:solidFill>
                <a:latin typeface="Source Sans 3"/>
              </a:rPr>
              <a:t>Your priorities, supported by a plan, an approved backlog and capacity to deliver.</a:t>
            </a:r>
          </a:p>
        </p:txBody>
      </p:sp>
      <p:sp>
        <p:nvSpPr>
          <p:cNvPr id="9" name="TextBox 8"/>
          <p:cNvSpPr txBox="1"/>
          <p:nvPr/>
        </p:nvSpPr>
        <p:spPr>
          <a:xfrm>
            <a:off x="640080" y="2551176"/>
            <a:ext cx="6217920" cy="365760"/>
          </a:xfrm>
          <a:prstGeom prst="rect">
            <a:avLst/>
          </a:prstGeom>
          <a:noFill/>
        </p:spPr>
        <p:txBody>
          <a:bodyPr wrap="square" lIns="0" tIns="0" rIns="0" bIns="0" anchor="t">
            <a:spAutoFit/>
          </a:bodyPr>
          <a:lstStyle/>
          <a:p>
            <a:pPr algn="l">
              <a:lnSpc>
                <a:spcPct val="103000"/>
              </a:lnSpc>
              <a:spcBef>
                <a:spcPts val="0"/>
              </a:spcBef>
              <a:spcAft>
                <a:spcPts val="0"/>
              </a:spcAft>
            </a:pPr>
            <a:r>
              <a:rPr sz="2200" b="1">
                <a:solidFill>
                  <a:srgbClr val="040E3D"/>
                </a:solidFill>
                <a:latin typeface="Source Sans 3"/>
              </a:rPr>
              <a:t>What is AI RunState?</a:t>
            </a:r>
          </a:p>
        </p:txBody>
      </p:sp>
      <p:sp>
        <p:nvSpPr>
          <p:cNvPr id="10" name="TextBox 9"/>
          <p:cNvSpPr txBox="1"/>
          <p:nvPr/>
        </p:nvSpPr>
        <p:spPr>
          <a:xfrm>
            <a:off x="640080" y="2926080"/>
            <a:ext cx="10899648" cy="539496"/>
          </a:xfrm>
          <a:prstGeom prst="rect">
            <a:avLst/>
          </a:prstGeom>
          <a:noFill/>
        </p:spPr>
        <p:txBody>
          <a:bodyPr wrap="square" lIns="0" tIns="0" rIns="0" bIns="0" anchor="t">
            <a:spAutoFit/>
          </a:bodyPr>
          <a:lstStyle/>
          <a:p>
            <a:pPr algn="l">
              <a:lnSpc>
                <a:spcPct val="108000"/>
              </a:lnSpc>
              <a:spcBef>
                <a:spcPts val="0"/>
              </a:spcBef>
              <a:spcAft>
                <a:spcPts val="0"/>
              </a:spcAft>
            </a:pPr>
            <a:r>
              <a:rPr sz="1580" b="0">
                <a:solidFill>
                  <a:srgbClr val="55657C"/>
                </a:solidFill>
                <a:latin typeface="Source Sans 3"/>
              </a:rPr>
              <a:t>A 12-month Crossfuze ServiceNow engagement that combines an AI action plan, prioritisation of existing and new work, and contracted technical delivery capacity.</a:t>
            </a:r>
          </a:p>
        </p:txBody>
      </p:sp>
      <p:sp>
        <p:nvSpPr>
          <p:cNvPr id="11" name="Rounded Rectangle 10"/>
          <p:cNvSpPr/>
          <p:nvPr/>
        </p:nvSpPr>
        <p:spPr>
          <a:xfrm>
            <a:off x="640080" y="3675887"/>
            <a:ext cx="3456432" cy="1947672"/>
          </a:xfrm>
          <a:prstGeom prst="roundRect">
            <a:avLst>
              <a:gd name="adj" fmla="val 8000"/>
            </a:avLst>
          </a:prstGeom>
          <a:solidFill>
            <a:srgbClr val="F5F8FA"/>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76656" y="3703320"/>
            <a:ext cx="3383279" cy="47548"/>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3815" y="3895344"/>
            <a:ext cx="457200" cy="466344"/>
          </a:xfrm>
          <a:prstGeom prst="roundRect">
            <a:avLst>
              <a:gd name="adj" fmla="val 8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3815" y="4023359"/>
            <a:ext cx="457200" cy="164592"/>
          </a:xfrm>
          <a:prstGeom prst="rect">
            <a:avLst/>
          </a:prstGeom>
          <a:noFill/>
        </p:spPr>
        <p:txBody>
          <a:bodyPr wrap="square" lIns="0" tIns="0" rIns="0" bIns="0" anchor="t">
            <a:spAutoFit/>
          </a:bodyPr>
          <a:lstStyle/>
          <a:p>
            <a:pPr algn="ctr">
              <a:lnSpc>
                <a:spcPct val="103000"/>
              </a:lnSpc>
              <a:spcBef>
                <a:spcPts val="0"/>
              </a:spcBef>
              <a:spcAft>
                <a:spcPts val="0"/>
              </a:spcAft>
            </a:pPr>
            <a:r>
              <a:rPr sz="1000" b="1">
                <a:solidFill>
                  <a:srgbClr val="8FFFDB"/>
                </a:solidFill>
                <a:latin typeface="Source Sans 3"/>
              </a:rPr>
              <a:t>01</a:t>
            </a:r>
          </a:p>
        </p:txBody>
      </p:sp>
      <p:sp>
        <p:nvSpPr>
          <p:cNvPr id="15" name="TextBox 14"/>
          <p:cNvSpPr txBox="1"/>
          <p:nvPr/>
        </p:nvSpPr>
        <p:spPr>
          <a:xfrm>
            <a:off x="1389888" y="3913631"/>
            <a:ext cx="2523744" cy="640080"/>
          </a:xfrm>
          <a:prstGeom prst="rect">
            <a:avLst/>
          </a:prstGeom>
          <a:noFill/>
        </p:spPr>
        <p:txBody>
          <a:bodyPr wrap="square" lIns="0" tIns="0" rIns="0" bIns="0" anchor="t">
            <a:spAutoFit/>
          </a:bodyPr>
          <a:lstStyle/>
          <a:p>
            <a:pPr algn="l">
              <a:lnSpc>
                <a:spcPct val="100000"/>
              </a:lnSpc>
              <a:spcBef>
                <a:spcPts val="0"/>
              </a:spcBef>
              <a:spcAft>
                <a:spcPts val="0"/>
              </a:spcAft>
            </a:pPr>
            <a:r>
              <a:rPr sz="1660" b="1">
                <a:solidFill>
                  <a:srgbClr val="040E3D"/>
                </a:solidFill>
                <a:latin typeface="Source Sans 3"/>
              </a:rPr>
              <a:t>Know what matters.</a:t>
            </a:r>
          </a:p>
        </p:txBody>
      </p:sp>
      <p:sp>
        <p:nvSpPr>
          <p:cNvPr id="16" name="TextBox 15"/>
          <p:cNvSpPr txBox="1"/>
          <p:nvPr/>
        </p:nvSpPr>
        <p:spPr>
          <a:xfrm>
            <a:off x="841247" y="4608575"/>
            <a:ext cx="3054096" cy="164592"/>
          </a:xfrm>
          <a:prstGeom prst="rect">
            <a:avLst/>
          </a:prstGeom>
          <a:noFill/>
        </p:spPr>
        <p:txBody>
          <a:bodyPr wrap="square" lIns="0" tIns="0" rIns="0" bIns="0" anchor="t">
            <a:spAutoFit/>
          </a:bodyPr>
          <a:lstStyle/>
          <a:p>
            <a:pPr algn="l">
              <a:lnSpc>
                <a:spcPct val="103000"/>
              </a:lnSpc>
              <a:spcBef>
                <a:spcPts val="0"/>
              </a:spcBef>
              <a:spcAft>
                <a:spcPts val="0"/>
              </a:spcAft>
            </a:pPr>
            <a:r>
              <a:rPr sz="950" b="1">
                <a:solidFill>
                  <a:srgbClr val="040E3D"/>
                </a:solidFill>
                <a:latin typeface="Source Sans 3"/>
              </a:rPr>
              <a:t>AI ACTION PLAN</a:t>
            </a:r>
          </a:p>
        </p:txBody>
      </p:sp>
      <p:sp>
        <p:nvSpPr>
          <p:cNvPr id="17" name="TextBox 16"/>
          <p:cNvSpPr txBox="1"/>
          <p:nvPr/>
        </p:nvSpPr>
        <p:spPr>
          <a:xfrm>
            <a:off x="841247" y="4828031"/>
            <a:ext cx="3063239" cy="548640"/>
          </a:xfrm>
          <a:prstGeom prst="rect">
            <a:avLst/>
          </a:prstGeom>
          <a:noFill/>
        </p:spPr>
        <p:txBody>
          <a:bodyPr wrap="square" lIns="0" tIns="0" rIns="0" bIns="0" anchor="t">
            <a:spAutoFit/>
          </a:bodyPr>
          <a:lstStyle/>
          <a:p>
            <a:pPr algn="l">
              <a:lnSpc>
                <a:spcPct val="102000"/>
              </a:lnSpc>
              <a:spcBef>
                <a:spcPts val="0"/>
              </a:spcBef>
              <a:spcAft>
                <a:spcPts val="0"/>
              </a:spcAft>
            </a:pPr>
            <a:r>
              <a:rPr sz="1100" b="0">
                <a:solidFill>
                  <a:srgbClr val="55657C"/>
                </a:solidFill>
                <a:latin typeface="Source Sans 3"/>
              </a:rPr>
              <a:t>Identify valuable AI use cases, dependencies and a practical 90-day roadmap.</a:t>
            </a:r>
          </a:p>
        </p:txBody>
      </p:sp>
      <p:sp>
        <p:nvSpPr>
          <p:cNvPr id="18" name="TextBox 17"/>
          <p:cNvSpPr txBox="1"/>
          <p:nvPr/>
        </p:nvSpPr>
        <p:spPr>
          <a:xfrm>
            <a:off x="841247" y="5422392"/>
            <a:ext cx="3054096" cy="155448"/>
          </a:xfrm>
          <a:prstGeom prst="rect">
            <a:avLst/>
          </a:prstGeom>
          <a:noFill/>
        </p:spPr>
        <p:txBody>
          <a:bodyPr wrap="square" lIns="0" tIns="0" rIns="0" bIns="0" anchor="t">
            <a:spAutoFit/>
          </a:bodyPr>
          <a:lstStyle/>
          <a:p>
            <a:pPr algn="l">
              <a:lnSpc>
                <a:spcPct val="103000"/>
              </a:lnSpc>
              <a:spcBef>
                <a:spcPts val="0"/>
              </a:spcBef>
              <a:spcAft>
                <a:spcPts val="0"/>
              </a:spcAft>
            </a:pPr>
            <a:r>
              <a:rPr sz="900" b="1">
                <a:solidFill>
                  <a:srgbClr val="040E3D"/>
                </a:solidFill>
                <a:latin typeface="Source Sans 3"/>
              </a:rPr>
              <a:t>Two advisory reviews</a:t>
            </a:r>
          </a:p>
        </p:txBody>
      </p:sp>
      <p:sp>
        <p:nvSpPr>
          <p:cNvPr id="19" name="Rounded Rectangle 18"/>
          <p:cNvSpPr/>
          <p:nvPr/>
        </p:nvSpPr>
        <p:spPr>
          <a:xfrm>
            <a:off x="4370832" y="3675887"/>
            <a:ext cx="3456432" cy="1947672"/>
          </a:xfrm>
          <a:prstGeom prst="roundRect">
            <a:avLst>
              <a:gd name="adj" fmla="val 8000"/>
            </a:avLst>
          </a:prstGeom>
          <a:solidFill>
            <a:srgbClr val="F5F8FA"/>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407408" y="3703320"/>
            <a:ext cx="3383279" cy="47548"/>
          </a:xfrm>
          <a:prstGeom prst="rect">
            <a:avLst/>
          </a:prstGeom>
          <a:solidFill>
            <a:srgbClr val="71F1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44568" y="3895344"/>
            <a:ext cx="457200" cy="466344"/>
          </a:xfrm>
          <a:prstGeom prst="roundRect">
            <a:avLst>
              <a:gd name="adj" fmla="val 8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44568" y="4023359"/>
            <a:ext cx="457200" cy="164592"/>
          </a:xfrm>
          <a:prstGeom prst="rect">
            <a:avLst/>
          </a:prstGeom>
          <a:noFill/>
        </p:spPr>
        <p:txBody>
          <a:bodyPr wrap="square" lIns="0" tIns="0" rIns="0" bIns="0" anchor="t">
            <a:spAutoFit/>
          </a:bodyPr>
          <a:lstStyle/>
          <a:p>
            <a:pPr algn="ctr">
              <a:lnSpc>
                <a:spcPct val="103000"/>
              </a:lnSpc>
              <a:spcBef>
                <a:spcPts val="0"/>
              </a:spcBef>
              <a:spcAft>
                <a:spcPts val="0"/>
              </a:spcAft>
            </a:pPr>
            <a:r>
              <a:rPr sz="1000" b="1">
                <a:solidFill>
                  <a:srgbClr val="71F1F7"/>
                </a:solidFill>
                <a:latin typeface="Source Sans 3"/>
              </a:rPr>
              <a:t>02</a:t>
            </a:r>
          </a:p>
        </p:txBody>
      </p:sp>
      <p:sp>
        <p:nvSpPr>
          <p:cNvPr id="23" name="TextBox 22"/>
          <p:cNvSpPr txBox="1"/>
          <p:nvPr/>
        </p:nvSpPr>
        <p:spPr>
          <a:xfrm>
            <a:off x="5120640" y="3913631"/>
            <a:ext cx="2523744" cy="640080"/>
          </a:xfrm>
          <a:prstGeom prst="rect">
            <a:avLst/>
          </a:prstGeom>
          <a:noFill/>
        </p:spPr>
        <p:txBody>
          <a:bodyPr wrap="square" lIns="0" tIns="0" rIns="0" bIns="0" anchor="t">
            <a:spAutoFit/>
          </a:bodyPr>
          <a:lstStyle/>
          <a:p>
            <a:pPr algn="l">
              <a:lnSpc>
                <a:spcPct val="100000"/>
              </a:lnSpc>
              <a:spcBef>
                <a:spcPts val="0"/>
              </a:spcBef>
              <a:spcAft>
                <a:spcPts val="0"/>
              </a:spcAft>
            </a:pPr>
            <a:r>
              <a:rPr sz="1660" b="1">
                <a:solidFill>
                  <a:srgbClr val="040E3D"/>
                </a:solidFill>
                <a:latin typeface="Source Sans 3"/>
              </a:rPr>
              <a:t>Make work ready.</a:t>
            </a:r>
          </a:p>
        </p:txBody>
      </p:sp>
      <p:sp>
        <p:nvSpPr>
          <p:cNvPr id="24" name="TextBox 23"/>
          <p:cNvSpPr txBox="1"/>
          <p:nvPr/>
        </p:nvSpPr>
        <p:spPr>
          <a:xfrm>
            <a:off x="4572000" y="4608575"/>
            <a:ext cx="3054096" cy="164592"/>
          </a:xfrm>
          <a:prstGeom prst="rect">
            <a:avLst/>
          </a:prstGeom>
          <a:noFill/>
        </p:spPr>
        <p:txBody>
          <a:bodyPr wrap="square" lIns="0" tIns="0" rIns="0" bIns="0" anchor="t">
            <a:spAutoFit/>
          </a:bodyPr>
          <a:lstStyle/>
          <a:p>
            <a:pPr algn="l">
              <a:lnSpc>
                <a:spcPct val="103000"/>
              </a:lnSpc>
              <a:spcBef>
                <a:spcPts val="0"/>
              </a:spcBef>
              <a:spcAft>
                <a:spcPts val="0"/>
              </a:spcAft>
            </a:pPr>
            <a:r>
              <a:rPr sz="950" b="1">
                <a:solidFill>
                  <a:srgbClr val="2CB0CD"/>
                </a:solidFill>
                <a:latin typeface="Source Sans 3"/>
              </a:rPr>
              <a:t>BACKLOG PRIORITISATION</a:t>
            </a:r>
          </a:p>
        </p:txBody>
      </p:sp>
      <p:sp>
        <p:nvSpPr>
          <p:cNvPr id="25" name="TextBox 24"/>
          <p:cNvSpPr txBox="1"/>
          <p:nvPr/>
        </p:nvSpPr>
        <p:spPr>
          <a:xfrm>
            <a:off x="4572000" y="4828031"/>
            <a:ext cx="3063239" cy="548640"/>
          </a:xfrm>
          <a:prstGeom prst="rect">
            <a:avLst/>
          </a:prstGeom>
          <a:noFill/>
        </p:spPr>
        <p:txBody>
          <a:bodyPr wrap="square" lIns="0" tIns="0" rIns="0" bIns="0" anchor="t">
            <a:spAutoFit/>
          </a:bodyPr>
          <a:lstStyle/>
          <a:p>
            <a:pPr algn="l">
              <a:lnSpc>
                <a:spcPct val="102000"/>
              </a:lnSpc>
              <a:spcBef>
                <a:spcPts val="0"/>
              </a:spcBef>
              <a:spcAft>
                <a:spcPts val="0"/>
              </a:spcAft>
            </a:pPr>
            <a:r>
              <a:rPr sz="1100" b="0">
                <a:solidFill>
                  <a:srgbClr val="55657C"/>
                </a:solidFill>
                <a:latin typeface="Source Sans 3"/>
              </a:rPr>
              <a:t>Bring together new opportunities and existing requests; refine and sequence stories for approval.</a:t>
            </a:r>
          </a:p>
        </p:txBody>
      </p:sp>
      <p:sp>
        <p:nvSpPr>
          <p:cNvPr id="26" name="TextBox 25"/>
          <p:cNvSpPr txBox="1"/>
          <p:nvPr/>
        </p:nvSpPr>
        <p:spPr>
          <a:xfrm>
            <a:off x="4572000" y="5422392"/>
            <a:ext cx="3054096" cy="155448"/>
          </a:xfrm>
          <a:prstGeom prst="rect">
            <a:avLst/>
          </a:prstGeom>
          <a:noFill/>
        </p:spPr>
        <p:txBody>
          <a:bodyPr wrap="square" lIns="0" tIns="0" rIns="0" bIns="0" anchor="t">
            <a:spAutoFit/>
          </a:bodyPr>
          <a:lstStyle/>
          <a:p>
            <a:pPr algn="l">
              <a:lnSpc>
                <a:spcPct val="103000"/>
              </a:lnSpc>
              <a:spcBef>
                <a:spcPts val="0"/>
              </a:spcBef>
              <a:spcAft>
                <a:spcPts val="0"/>
              </a:spcAft>
            </a:pPr>
            <a:r>
              <a:rPr sz="900" b="1">
                <a:solidFill>
                  <a:srgbClr val="040E3D"/>
                </a:solidFill>
                <a:latin typeface="Source Sans 3"/>
              </a:rPr>
              <a:t>Up to four backlog cycles</a:t>
            </a:r>
          </a:p>
        </p:txBody>
      </p:sp>
      <p:sp>
        <p:nvSpPr>
          <p:cNvPr id="27" name="Rounded Rectangle 26"/>
          <p:cNvSpPr/>
          <p:nvPr/>
        </p:nvSpPr>
        <p:spPr>
          <a:xfrm>
            <a:off x="8101583" y="3675887"/>
            <a:ext cx="3456432" cy="1947672"/>
          </a:xfrm>
          <a:prstGeom prst="roundRect">
            <a:avLst>
              <a:gd name="adj" fmla="val 8000"/>
            </a:avLst>
          </a:prstGeom>
          <a:solidFill>
            <a:srgbClr val="F5F8FA"/>
          </a:solidFill>
          <a:ln w="10160">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138159" y="3703320"/>
            <a:ext cx="3383279" cy="47548"/>
          </a:xfrm>
          <a:prstGeom prst="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275319" y="3895344"/>
            <a:ext cx="457200" cy="466344"/>
          </a:xfrm>
          <a:prstGeom prst="roundRect">
            <a:avLst>
              <a:gd name="adj" fmla="val 8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75319" y="4023359"/>
            <a:ext cx="457200" cy="164592"/>
          </a:xfrm>
          <a:prstGeom prst="rect">
            <a:avLst/>
          </a:prstGeom>
          <a:noFill/>
        </p:spPr>
        <p:txBody>
          <a:bodyPr wrap="square" lIns="0" tIns="0" rIns="0" bIns="0" anchor="t">
            <a:spAutoFit/>
          </a:bodyPr>
          <a:lstStyle/>
          <a:p>
            <a:pPr algn="ctr">
              <a:lnSpc>
                <a:spcPct val="103000"/>
              </a:lnSpc>
              <a:spcBef>
                <a:spcPts val="0"/>
              </a:spcBef>
              <a:spcAft>
                <a:spcPts val="0"/>
              </a:spcAft>
            </a:pPr>
            <a:r>
              <a:rPr sz="1000" b="1">
                <a:solidFill>
                  <a:srgbClr val="C0A6FF"/>
                </a:solidFill>
                <a:latin typeface="Source Sans 3"/>
              </a:rPr>
              <a:t>03</a:t>
            </a:r>
          </a:p>
        </p:txBody>
      </p:sp>
      <p:sp>
        <p:nvSpPr>
          <p:cNvPr id="31" name="TextBox 30"/>
          <p:cNvSpPr txBox="1"/>
          <p:nvPr/>
        </p:nvSpPr>
        <p:spPr>
          <a:xfrm>
            <a:off x="8851392" y="3913631"/>
            <a:ext cx="2523744" cy="640080"/>
          </a:xfrm>
          <a:prstGeom prst="rect">
            <a:avLst/>
          </a:prstGeom>
          <a:noFill/>
        </p:spPr>
        <p:txBody>
          <a:bodyPr wrap="square" lIns="0" tIns="0" rIns="0" bIns="0" anchor="t">
            <a:spAutoFit/>
          </a:bodyPr>
          <a:lstStyle/>
          <a:p>
            <a:pPr algn="l">
              <a:lnSpc>
                <a:spcPct val="100000"/>
              </a:lnSpc>
              <a:spcBef>
                <a:spcPts val="0"/>
              </a:spcBef>
              <a:spcAft>
                <a:spcPts val="0"/>
              </a:spcAft>
            </a:pPr>
            <a:r>
              <a:rPr sz="1660" b="1">
                <a:solidFill>
                  <a:srgbClr val="040E3D"/>
                </a:solidFill>
                <a:latin typeface="Source Sans 3"/>
              </a:rPr>
              <a:t>Get approved work moving.</a:t>
            </a:r>
          </a:p>
        </p:txBody>
      </p:sp>
      <p:sp>
        <p:nvSpPr>
          <p:cNvPr id="32" name="TextBox 31"/>
          <p:cNvSpPr txBox="1"/>
          <p:nvPr/>
        </p:nvSpPr>
        <p:spPr>
          <a:xfrm>
            <a:off x="8302752" y="4608575"/>
            <a:ext cx="3054096" cy="164592"/>
          </a:xfrm>
          <a:prstGeom prst="rect">
            <a:avLst/>
          </a:prstGeom>
          <a:noFill/>
        </p:spPr>
        <p:txBody>
          <a:bodyPr wrap="square" lIns="0" tIns="0" rIns="0" bIns="0" anchor="t">
            <a:spAutoFit/>
          </a:bodyPr>
          <a:lstStyle/>
          <a:p>
            <a:pPr algn="l">
              <a:lnSpc>
                <a:spcPct val="103000"/>
              </a:lnSpc>
              <a:spcBef>
                <a:spcPts val="0"/>
              </a:spcBef>
              <a:spcAft>
                <a:spcPts val="0"/>
              </a:spcAft>
            </a:pPr>
            <a:r>
              <a:rPr sz="950" b="1">
                <a:solidFill>
                  <a:srgbClr val="040E3D"/>
                </a:solidFill>
                <a:latin typeface="Source Sans 3"/>
              </a:rPr>
              <a:t>EXTEND SERVICES</a:t>
            </a:r>
          </a:p>
        </p:txBody>
      </p:sp>
      <p:sp>
        <p:nvSpPr>
          <p:cNvPr id="33" name="TextBox 32"/>
          <p:cNvSpPr txBox="1"/>
          <p:nvPr/>
        </p:nvSpPr>
        <p:spPr>
          <a:xfrm>
            <a:off x="8302752" y="4828031"/>
            <a:ext cx="3063239" cy="548640"/>
          </a:xfrm>
          <a:prstGeom prst="rect">
            <a:avLst/>
          </a:prstGeom>
          <a:noFill/>
        </p:spPr>
        <p:txBody>
          <a:bodyPr wrap="square" lIns="0" tIns="0" rIns="0" bIns="0" anchor="t">
            <a:spAutoFit/>
          </a:bodyPr>
          <a:lstStyle/>
          <a:p>
            <a:pPr algn="l">
              <a:lnSpc>
                <a:spcPct val="102000"/>
              </a:lnSpc>
              <a:spcBef>
                <a:spcPts val="0"/>
              </a:spcBef>
              <a:spcAft>
                <a:spcPts val="0"/>
              </a:spcAft>
            </a:pPr>
            <a:r>
              <a:rPr sz="1100" b="0">
                <a:solidFill>
                  <a:srgbClr val="55657C"/>
                </a:solidFill>
                <a:latin typeface="Source Sans 3"/>
              </a:rPr>
              <a:t>Configure and test eligible ServiceNow enhancements, administration, defect fixes and support.</a:t>
            </a:r>
          </a:p>
        </p:txBody>
      </p:sp>
      <p:sp>
        <p:nvSpPr>
          <p:cNvPr id="34" name="TextBox 33"/>
          <p:cNvSpPr txBox="1"/>
          <p:nvPr/>
        </p:nvSpPr>
        <p:spPr>
          <a:xfrm>
            <a:off x="8302752" y="5422392"/>
            <a:ext cx="3054096" cy="155448"/>
          </a:xfrm>
          <a:prstGeom prst="rect">
            <a:avLst/>
          </a:prstGeom>
          <a:noFill/>
        </p:spPr>
        <p:txBody>
          <a:bodyPr wrap="square" lIns="0" tIns="0" rIns="0" bIns="0" anchor="t">
            <a:spAutoFit/>
          </a:bodyPr>
          <a:lstStyle/>
          <a:p>
            <a:pPr algn="l">
              <a:lnSpc>
                <a:spcPct val="103000"/>
              </a:lnSpc>
              <a:spcBef>
                <a:spcPts val="0"/>
              </a:spcBef>
              <a:spcAft>
                <a:spcPts val="0"/>
              </a:spcAft>
            </a:pPr>
            <a:r>
              <a:rPr sz="900" b="1">
                <a:solidFill>
                  <a:srgbClr val="040E3D"/>
                </a:solidFill>
                <a:latin typeface="Source Sans 3"/>
              </a:rPr>
              <a:t>80 hours/month × 9 months</a:t>
            </a:r>
          </a:p>
        </p:txBody>
      </p:sp>
      <p:sp>
        <p:nvSpPr>
          <p:cNvPr id="35" name="Rounded Rectangle 34"/>
          <p:cNvSpPr/>
          <p:nvPr/>
        </p:nvSpPr>
        <p:spPr>
          <a:xfrm>
            <a:off x="640080" y="5779008"/>
            <a:ext cx="10917936" cy="502920"/>
          </a:xfrm>
          <a:prstGeom prst="roundRect">
            <a:avLst>
              <a:gd name="adj" fmla="val 8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9536" y="5925312"/>
            <a:ext cx="2103120" cy="164592"/>
          </a:xfrm>
          <a:prstGeom prst="rect">
            <a:avLst/>
          </a:prstGeom>
          <a:noFill/>
        </p:spPr>
        <p:txBody>
          <a:bodyPr wrap="square" lIns="0" tIns="0" rIns="0" bIns="0" anchor="t">
            <a:spAutoFit/>
          </a:bodyPr>
          <a:lstStyle/>
          <a:p>
            <a:pPr algn="l">
              <a:lnSpc>
                <a:spcPct val="103000"/>
              </a:lnSpc>
              <a:spcBef>
                <a:spcPts val="0"/>
              </a:spcBef>
              <a:spcAft>
                <a:spcPts val="0"/>
              </a:spcAft>
            </a:pPr>
            <a:r>
              <a:rPr sz="980" b="1">
                <a:solidFill>
                  <a:srgbClr val="8FFFDB"/>
                </a:solidFill>
                <a:latin typeface="Source Sans 3"/>
              </a:rPr>
              <a:t>YOU STAY IN CONTROL</a:t>
            </a:r>
          </a:p>
        </p:txBody>
      </p:sp>
      <p:sp>
        <p:nvSpPr>
          <p:cNvPr id="37" name="TextBox 36"/>
          <p:cNvSpPr txBox="1"/>
          <p:nvPr/>
        </p:nvSpPr>
        <p:spPr>
          <a:xfrm>
            <a:off x="2761488" y="5888736"/>
            <a:ext cx="8412480" cy="237744"/>
          </a:xfrm>
          <a:prstGeom prst="rect">
            <a:avLst/>
          </a:prstGeom>
          <a:noFill/>
        </p:spPr>
        <p:txBody>
          <a:bodyPr wrap="square" lIns="0" tIns="0" rIns="0" bIns="0" anchor="t">
            <a:spAutoFit/>
          </a:bodyPr>
          <a:lstStyle/>
          <a:p>
            <a:pPr algn="l">
              <a:lnSpc>
                <a:spcPct val="103000"/>
              </a:lnSpc>
              <a:spcBef>
                <a:spcPts val="0"/>
              </a:spcBef>
              <a:spcAft>
                <a:spcPts val="0"/>
              </a:spcAft>
            </a:pPr>
            <a:r>
              <a:rPr sz="1300" b="0">
                <a:solidFill>
                  <a:srgbClr val="FFFFFF"/>
                </a:solidFill>
                <a:latin typeface="Source Sans 3"/>
              </a:rPr>
              <a:t>You set the priorities and approve the work. Crossfuze helps prepare, configure and test it.</a:t>
            </a:r>
          </a:p>
        </p:txBody>
      </p:sp>
      <p:pic>
        <p:nvPicPr>
          <p:cNvPr id="38" name="Picture 37" descr="logo_navy.png"/>
          <p:cNvPicPr>
            <a:picLocks noChangeAspect="1"/>
          </p:cNvPicPr>
          <p:nvPr/>
        </p:nvPicPr>
        <p:blipFill>
          <a:blip r:embed="rId4"/>
          <a:stretch>
            <a:fillRect/>
          </a:stretch>
        </p:blipFill>
        <p:spPr>
          <a:xfrm>
            <a:off x="640080" y="6419088"/>
            <a:ext cx="1143000" cy="195803"/>
          </a:xfrm>
          <a:prstGeom prst="rect">
            <a:avLst/>
          </a:prstGeom>
        </p:spPr>
      </p:pic>
      <p:sp>
        <p:nvSpPr>
          <p:cNvPr id="39" name="TextBox 38"/>
          <p:cNvSpPr txBox="1"/>
          <p:nvPr/>
        </p:nvSpPr>
        <p:spPr>
          <a:xfrm>
            <a:off x="2788920" y="6464808"/>
            <a:ext cx="8741664" cy="155448"/>
          </a:xfrm>
          <a:prstGeom prst="rect">
            <a:avLst/>
          </a:prstGeom>
          <a:noFill/>
        </p:spPr>
        <p:txBody>
          <a:bodyPr wrap="square" lIns="0" tIns="0" rIns="0" bIns="0" anchor="t">
            <a:spAutoFit/>
          </a:bodyPr>
          <a:lstStyle/>
          <a:p>
            <a:pPr algn="r">
              <a:lnSpc>
                <a:spcPct val="103000"/>
              </a:lnSpc>
              <a:spcBef>
                <a:spcPts val="0"/>
              </a:spcBef>
              <a:spcAft>
                <a:spcPts val="0"/>
              </a:spcAft>
            </a:pPr>
            <a:r>
              <a:rPr sz="800" b="1">
                <a:solidFill>
                  <a:srgbClr val="55657C"/>
                </a:solidFill>
                <a:latin typeface="Source Sans 3"/>
              </a:rPr>
              <a:t>START WITH THE FREE 90-MINUTE ASSESSMENT  ·  AI RUNSTATE IS A SEPARATE PAID ENGAGEMENT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3D6A-F57B-2DBC-96FA-F7394CFC786F}"/>
            </a:ext>
          </a:extLst>
        </p:cNvPr>
        <p:cNvGrpSpPr/>
        <p:nvPr/>
      </p:nvGrpSpPr>
      <p:grpSpPr>
        <a:xfrm>
          <a:off x="0" y="0"/>
          <a:ext cx="0" cy="0"/>
          <a:chOff x="0" y="0"/>
          <a:chExt cx="0" cy="0"/>
        </a:xfrm>
      </p:grpSpPr>
      <p:pic>
        <p:nvPicPr>
          <p:cNvPr id="2" name="Picture 1"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3" name="Rectangle 2"/>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CROSSFUZE  /  AI RUNSTATE</a:t>
            </a:r>
          </a:p>
        </p:txBody>
      </p:sp>
      <p:sp>
        <p:nvSpPr>
          <p:cNvPr id="5" name="TextBox 4"/>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A 12-month delivery rhythm.</a:t>
            </a:r>
          </a:p>
        </p:txBody>
      </p:sp>
      <p:sp>
        <p:nvSpPr>
          <p:cNvPr id="6" name="TextBox 5"/>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Advisory sets direction. Backlog Cycles prepare customer-approved work. Extend delivers within monthly capacity.</a:t>
            </a:r>
          </a:p>
        </p:txBody>
      </p:sp>
      <p:sp>
        <p:nvSpPr>
          <p:cNvPr id="7" name="Rectangle 6"/>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9" name="TextBox 8"/>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10</a:t>
            </a:r>
          </a:p>
        </p:txBody>
      </p:sp>
      <p:sp>
        <p:nvSpPr>
          <p:cNvPr id="10" name="TextBox 9"/>
          <p:cNvSpPr txBox="1"/>
          <p:nvPr/>
        </p:nvSpPr>
        <p:spPr>
          <a:xfrm>
            <a:off x="2670048"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a:t>
            </a:r>
          </a:p>
        </p:txBody>
      </p:sp>
      <p:sp>
        <p:nvSpPr>
          <p:cNvPr id="11" name="TextBox 10"/>
          <p:cNvSpPr txBox="1"/>
          <p:nvPr/>
        </p:nvSpPr>
        <p:spPr>
          <a:xfrm>
            <a:off x="3364991"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M2</a:t>
            </a:r>
          </a:p>
        </p:txBody>
      </p:sp>
      <p:sp>
        <p:nvSpPr>
          <p:cNvPr id="12" name="TextBox 11"/>
          <p:cNvSpPr txBox="1"/>
          <p:nvPr/>
        </p:nvSpPr>
        <p:spPr>
          <a:xfrm>
            <a:off x="4059935"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M3</a:t>
            </a:r>
          </a:p>
        </p:txBody>
      </p:sp>
      <p:sp>
        <p:nvSpPr>
          <p:cNvPr id="13" name="TextBox 12"/>
          <p:cNvSpPr txBox="1"/>
          <p:nvPr/>
        </p:nvSpPr>
        <p:spPr>
          <a:xfrm>
            <a:off x="4754880"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M4</a:t>
            </a:r>
          </a:p>
        </p:txBody>
      </p:sp>
      <p:sp>
        <p:nvSpPr>
          <p:cNvPr id="14" name="TextBox 13"/>
          <p:cNvSpPr txBox="1"/>
          <p:nvPr/>
        </p:nvSpPr>
        <p:spPr>
          <a:xfrm>
            <a:off x="5449824"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M5</a:t>
            </a:r>
          </a:p>
        </p:txBody>
      </p:sp>
      <p:sp>
        <p:nvSpPr>
          <p:cNvPr id="15" name="TextBox 14"/>
          <p:cNvSpPr txBox="1"/>
          <p:nvPr/>
        </p:nvSpPr>
        <p:spPr>
          <a:xfrm>
            <a:off x="6144768"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M6</a:t>
            </a:r>
          </a:p>
        </p:txBody>
      </p:sp>
      <p:sp>
        <p:nvSpPr>
          <p:cNvPr id="16" name="TextBox 15"/>
          <p:cNvSpPr txBox="1"/>
          <p:nvPr/>
        </p:nvSpPr>
        <p:spPr>
          <a:xfrm>
            <a:off x="6839712"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M7</a:t>
            </a:r>
          </a:p>
        </p:txBody>
      </p:sp>
      <p:sp>
        <p:nvSpPr>
          <p:cNvPr id="17" name="TextBox 16"/>
          <p:cNvSpPr txBox="1"/>
          <p:nvPr/>
        </p:nvSpPr>
        <p:spPr>
          <a:xfrm>
            <a:off x="7534656"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M8</a:t>
            </a:r>
          </a:p>
        </p:txBody>
      </p:sp>
      <p:sp>
        <p:nvSpPr>
          <p:cNvPr id="18" name="TextBox 17"/>
          <p:cNvSpPr txBox="1"/>
          <p:nvPr/>
        </p:nvSpPr>
        <p:spPr>
          <a:xfrm>
            <a:off x="8229600"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M9</a:t>
            </a:r>
          </a:p>
        </p:txBody>
      </p:sp>
      <p:sp>
        <p:nvSpPr>
          <p:cNvPr id="19" name="TextBox 18"/>
          <p:cNvSpPr txBox="1"/>
          <p:nvPr/>
        </p:nvSpPr>
        <p:spPr>
          <a:xfrm>
            <a:off x="8924544"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M10</a:t>
            </a:r>
          </a:p>
        </p:txBody>
      </p:sp>
      <p:sp>
        <p:nvSpPr>
          <p:cNvPr id="20" name="TextBox 19"/>
          <p:cNvSpPr txBox="1"/>
          <p:nvPr/>
        </p:nvSpPr>
        <p:spPr>
          <a:xfrm>
            <a:off x="9619488"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M11</a:t>
            </a:r>
          </a:p>
        </p:txBody>
      </p:sp>
      <p:sp>
        <p:nvSpPr>
          <p:cNvPr id="21" name="TextBox 20"/>
          <p:cNvSpPr txBox="1"/>
          <p:nvPr/>
        </p:nvSpPr>
        <p:spPr>
          <a:xfrm>
            <a:off x="10314432" y="2011680"/>
            <a:ext cx="640080" cy="228600"/>
          </a:xfrm>
          <a:prstGeom prst="rect">
            <a:avLst/>
          </a:prstGeom>
          <a:noFill/>
        </p:spPr>
        <p:txBody>
          <a:bodyPr wrap="square" lIns="0" tIns="0" rIns="0" bIns="0" anchor="ctr">
            <a:spAutoFit/>
          </a:bodyPr>
          <a:lstStyle/>
          <a:p>
            <a:pPr algn="ctr">
              <a:spcAft>
                <a:spcPts val="0"/>
              </a:spcAft>
            </a:pPr>
            <a:r>
              <a:rPr sz="900" b="1" i="0">
                <a:solidFill>
                  <a:srgbClr val="F2F2F4"/>
                </a:solidFill>
                <a:latin typeface="Source Sans 3"/>
              </a:rPr>
              <a:t>M12</a:t>
            </a:r>
          </a:p>
        </p:txBody>
      </p:sp>
      <p:sp>
        <p:nvSpPr>
          <p:cNvPr id="22" name="TextBox 21"/>
          <p:cNvSpPr txBox="1"/>
          <p:nvPr/>
        </p:nvSpPr>
        <p:spPr>
          <a:xfrm>
            <a:off x="594360" y="2432304"/>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ADVISORY</a:t>
            </a:r>
          </a:p>
        </p:txBody>
      </p:sp>
      <p:sp>
        <p:nvSpPr>
          <p:cNvPr id="23" name="Rounded Rectangle 22"/>
          <p:cNvSpPr/>
          <p:nvPr/>
        </p:nvSpPr>
        <p:spPr>
          <a:xfrm>
            <a:off x="2670048"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364991"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059935"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4754880"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449824"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44768"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839712"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534656"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229600"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924544"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619488"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314432" y="24140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3118104"/>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BACKLOG CYCLES</a:t>
            </a:r>
          </a:p>
        </p:txBody>
      </p:sp>
      <p:sp>
        <p:nvSpPr>
          <p:cNvPr id="36" name="Rounded Rectangle 35"/>
          <p:cNvSpPr/>
          <p:nvPr/>
        </p:nvSpPr>
        <p:spPr>
          <a:xfrm>
            <a:off x="2670048"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3364991"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4059935"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4754880"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449824"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144768"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839712"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7534656"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8229600"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924544"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9619488"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10314432" y="30998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4360" y="3803903"/>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ONBOARDING</a:t>
            </a:r>
          </a:p>
        </p:txBody>
      </p:sp>
      <p:sp>
        <p:nvSpPr>
          <p:cNvPr id="49" name="Rounded Rectangle 48"/>
          <p:cNvSpPr/>
          <p:nvPr/>
        </p:nvSpPr>
        <p:spPr>
          <a:xfrm>
            <a:off x="2670048"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3364991"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4059935"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4754880"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449824"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144768"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839712"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7534656"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8229600"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8924544"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9619488"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10314432" y="3785615"/>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4360" y="4489703"/>
            <a:ext cx="1993392" cy="292608"/>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EXTEND DELIVERY</a:t>
            </a:r>
          </a:p>
        </p:txBody>
      </p:sp>
      <p:sp>
        <p:nvSpPr>
          <p:cNvPr id="62" name="Rounded Rectangle 61"/>
          <p:cNvSpPr/>
          <p:nvPr/>
        </p:nvSpPr>
        <p:spPr>
          <a:xfrm>
            <a:off x="2670048"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3364991"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ounded Rectangle 63"/>
          <p:cNvSpPr/>
          <p:nvPr/>
        </p:nvSpPr>
        <p:spPr>
          <a:xfrm>
            <a:off x="4059935"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4754880"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449824"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6144768"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6839712"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7534656"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8229600"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8924544"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9619488"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10314432" y="4471416"/>
            <a:ext cx="640080" cy="338328"/>
          </a:xfrm>
          <a:prstGeom prst="roundRect">
            <a:avLst/>
          </a:prstGeom>
          <a:solidFill>
            <a:srgbClr val="040E3D"/>
          </a:solidFill>
          <a:ln w="10160">
            <a:solidFill>
              <a:srgbClr val="040E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p:cNvSpPr/>
          <p:nvPr/>
        </p:nvSpPr>
        <p:spPr>
          <a:xfrm>
            <a:off x="2670048" y="2414016"/>
            <a:ext cx="1335024" cy="33832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670048" y="24140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PLAN</a:t>
            </a:r>
          </a:p>
        </p:txBody>
      </p:sp>
      <p:sp>
        <p:nvSpPr>
          <p:cNvPr id="76" name="Rounded Rectangle 75"/>
          <p:cNvSpPr/>
          <p:nvPr/>
        </p:nvSpPr>
        <p:spPr>
          <a:xfrm>
            <a:off x="6839712" y="2414016"/>
            <a:ext cx="1335024" cy="33832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839712" y="24140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REFRESH</a:t>
            </a:r>
          </a:p>
        </p:txBody>
      </p:sp>
      <p:sp>
        <p:nvSpPr>
          <p:cNvPr id="78" name="Rounded Rectangle 77"/>
          <p:cNvSpPr/>
          <p:nvPr/>
        </p:nvSpPr>
        <p:spPr>
          <a:xfrm>
            <a:off x="4059935" y="3099816"/>
            <a:ext cx="1335024"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059935" y="30998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CYCLE 1</a:t>
            </a:r>
          </a:p>
        </p:txBody>
      </p:sp>
      <p:sp>
        <p:nvSpPr>
          <p:cNvPr id="80" name="Rounded Rectangle 79"/>
          <p:cNvSpPr/>
          <p:nvPr/>
        </p:nvSpPr>
        <p:spPr>
          <a:xfrm>
            <a:off x="6144768" y="3099816"/>
            <a:ext cx="1335024"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6144768" y="30998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CYCLE 2</a:t>
            </a:r>
          </a:p>
        </p:txBody>
      </p:sp>
      <p:sp>
        <p:nvSpPr>
          <p:cNvPr id="82" name="Rounded Rectangle 81"/>
          <p:cNvSpPr/>
          <p:nvPr/>
        </p:nvSpPr>
        <p:spPr>
          <a:xfrm>
            <a:off x="8229600" y="3099816"/>
            <a:ext cx="1335024"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229600" y="3099816"/>
            <a:ext cx="1335024"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CYCLE 3</a:t>
            </a:r>
          </a:p>
        </p:txBody>
      </p:sp>
      <p:sp>
        <p:nvSpPr>
          <p:cNvPr id="84" name="Rounded Rectangle 83"/>
          <p:cNvSpPr/>
          <p:nvPr/>
        </p:nvSpPr>
        <p:spPr>
          <a:xfrm>
            <a:off x="10314432" y="3099816"/>
            <a:ext cx="640080" cy="338328"/>
          </a:xfrm>
          <a:prstGeom prst="roundRect">
            <a:avLst/>
          </a:prstGeom>
          <a:solidFill>
            <a:srgbClr val="C0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314432" y="3099816"/>
            <a:ext cx="640080"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C4</a:t>
            </a:r>
          </a:p>
        </p:txBody>
      </p:sp>
      <p:sp>
        <p:nvSpPr>
          <p:cNvPr id="86" name="Rounded Rectangle 85"/>
          <p:cNvSpPr/>
          <p:nvPr/>
        </p:nvSpPr>
        <p:spPr>
          <a:xfrm>
            <a:off x="4059935" y="3785615"/>
            <a:ext cx="640080" cy="338328"/>
          </a:xfrm>
          <a:prstGeom prst="round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059935" y="3785615"/>
            <a:ext cx="640080"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M3</a:t>
            </a:r>
          </a:p>
        </p:txBody>
      </p:sp>
      <p:sp>
        <p:nvSpPr>
          <p:cNvPr id="88" name="Rounded Rectangle 87"/>
          <p:cNvSpPr/>
          <p:nvPr/>
        </p:nvSpPr>
        <p:spPr>
          <a:xfrm>
            <a:off x="4754880" y="4471416"/>
            <a:ext cx="6199632" cy="338328"/>
          </a:xfrm>
          <a:prstGeom prst="round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754880" y="4471416"/>
            <a:ext cx="6199632" cy="338328"/>
          </a:xfrm>
          <a:prstGeom prst="rect">
            <a:avLst/>
          </a:prstGeom>
          <a:noFill/>
        </p:spPr>
        <p:txBody>
          <a:bodyPr wrap="square" lIns="0" tIns="0" rIns="0" bIns="0" anchor="ctr">
            <a:spAutoFit/>
          </a:bodyPr>
          <a:lstStyle/>
          <a:p>
            <a:pPr algn="ctr">
              <a:spcAft>
                <a:spcPts val="0"/>
              </a:spcAft>
            </a:pPr>
            <a:r>
              <a:rPr sz="800" b="1" i="0">
                <a:solidFill>
                  <a:srgbClr val="040E3D"/>
                </a:solidFill>
                <a:latin typeface="Source Sans 3"/>
              </a:rPr>
              <a:t>80 HOURS / MONTH  ·  NINE MONTHS</a:t>
            </a:r>
          </a:p>
        </p:txBody>
      </p:sp>
      <p:sp>
        <p:nvSpPr>
          <p:cNvPr id="90" name="Rounded Rectangle 89"/>
          <p:cNvSpPr/>
          <p:nvPr/>
        </p:nvSpPr>
        <p:spPr>
          <a:xfrm>
            <a:off x="649224" y="5120640"/>
            <a:ext cx="10863072" cy="749808"/>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50392" y="5212080"/>
            <a:ext cx="10305288" cy="265176"/>
          </a:xfrm>
          <a:prstGeom prst="rect">
            <a:avLst/>
          </a:prstGeom>
          <a:noFill/>
        </p:spPr>
        <p:txBody>
          <a:bodyPr wrap="square" lIns="0" tIns="0" rIns="0" bIns="0" anchor="ctr">
            <a:spAutoFit/>
          </a:bodyPr>
          <a:lstStyle/>
          <a:p>
            <a:pPr algn="l">
              <a:spcAft>
                <a:spcPts val="0"/>
              </a:spcAft>
            </a:pPr>
            <a:r>
              <a:rPr sz="1300" b="1" i="0">
                <a:solidFill>
                  <a:srgbClr val="F2F2F4"/>
                </a:solidFill>
                <a:latin typeface="Source Sans 3"/>
              </a:rPr>
              <a:t>MONTH 3 IS ONBOARDING — EXTEND SPRINTS START IN MONTH 4</a:t>
            </a:r>
          </a:p>
        </p:txBody>
      </p:sp>
      <p:sp>
        <p:nvSpPr>
          <p:cNvPr id="92" name="TextBox 91"/>
          <p:cNvSpPr txBox="1"/>
          <p:nvPr/>
        </p:nvSpPr>
        <p:spPr>
          <a:xfrm>
            <a:off x="850392" y="5522976"/>
            <a:ext cx="10259568" cy="228600"/>
          </a:xfrm>
          <a:prstGeom prst="rect">
            <a:avLst/>
          </a:prstGeom>
          <a:noFill/>
        </p:spPr>
        <p:txBody>
          <a:bodyPr wrap="square" lIns="0" tIns="0" rIns="0" bIns="0" anchor="ctr">
            <a:spAutoFit/>
          </a:bodyPr>
          <a:lstStyle/>
          <a:p>
            <a:pPr algn="l">
              <a:spcAft>
                <a:spcPts val="0"/>
              </a:spcAft>
            </a:pPr>
            <a:r>
              <a:rPr sz="1100" b="0" i="0">
                <a:solidFill>
                  <a:srgbClr val="F2F2F4"/>
                </a:solidFill>
                <a:latin typeface="Source Sans 3"/>
              </a:rPr>
              <a:t>Delivery depends on approved sprint-ready stories, access, technical acceptance and customer testing.</a:t>
            </a:r>
          </a:p>
        </p:txBody>
      </p:sp>
    </p:spTree>
    <p:extLst>
      <p:ext uri="{BB962C8B-B14F-4D97-AF65-F5344CB8AC3E}">
        <p14:creationId xmlns:p14="http://schemas.microsoft.com/office/powerpoint/2010/main" val="1704194744"/>
      </p:ext>
    </p:extLst>
  </p:cSld>
  <p:clrMapOvr>
    <a:masterClrMapping/>
  </p:clrMapOvr>
  <p:transition spd="slow">
    <p:strips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ai-runstate-closing-bg.png"/>
          <p:cNvPicPr>
            <a:picLocks noChangeAspect="1"/>
          </p:cNvPicPr>
          <p:nvPr/>
        </p:nvPicPr>
        <p:blipFill>
          <a:blip r:embed="rId3"/>
          <a:stretch>
            <a:fillRect/>
          </a:stretch>
        </p:blipFill>
        <p:spPr>
          <a:xfrm>
            <a:off x="-1" y="893"/>
            <a:ext cx="12188825" cy="6856214"/>
          </a:xfrm>
          <a:prstGeom prst="rect">
            <a:avLst/>
          </a:prstGeom>
        </p:spPr>
      </p:pic>
      <p:sp>
        <p:nvSpPr>
          <p:cNvPr id="3" name="Shape 0"/>
          <p:cNvSpPr/>
          <p:nvPr/>
        </p:nvSpPr>
        <p:spPr>
          <a:xfrm>
            <a:off x="566780" y="357416"/>
            <a:ext cx="255965" cy="24683"/>
          </a:xfrm>
          <a:prstGeom prst="rect">
            <a:avLst/>
          </a:prstGeom>
          <a:solidFill>
            <a:srgbClr val="8FFFDB"/>
          </a:solidFill>
          <a:ln w="12700">
            <a:solidFill>
              <a:srgbClr val="8FFFDB">
                <a:alpha val="0"/>
              </a:srgbClr>
            </a:solidFill>
            <a:prstDash val="solid"/>
          </a:ln>
        </p:spPr>
        <p:txBody>
          <a:bodyPr/>
          <a:lstStyle/>
          <a:p>
            <a:endParaRPr lang="en-US" sz="1798"/>
          </a:p>
        </p:txBody>
      </p:sp>
      <p:sp>
        <p:nvSpPr>
          <p:cNvPr id="4" name="Text 1"/>
          <p:cNvSpPr/>
          <p:nvPr/>
        </p:nvSpPr>
        <p:spPr>
          <a:xfrm>
            <a:off x="932444" y="243146"/>
            <a:ext cx="3656648" cy="283390"/>
          </a:xfrm>
          <a:prstGeom prst="rect">
            <a:avLst/>
          </a:prstGeom>
          <a:noFill/>
          <a:ln/>
        </p:spPr>
        <p:txBody>
          <a:bodyPr wrap="square" lIns="0" tIns="0" rIns="0" bIns="0" rtlCol="0" anchor="ctr"/>
          <a:lstStyle/>
          <a:p>
            <a:r>
              <a:rPr lang="en-US" sz="1100" b="1" kern="0" spc="240" dirty="0">
                <a:solidFill>
                  <a:srgbClr val="8FFFDB"/>
                </a:solidFill>
                <a:latin typeface="Source Sans 3" pitchFamily="34" charset="0"/>
                <a:ea typeface="Source Sans 3" pitchFamily="34" charset="-122"/>
                <a:cs typeface="Source Sans 3" pitchFamily="34" charset="-120"/>
              </a:rPr>
              <a:t>WHAT’S OUR NEXT STEP?</a:t>
            </a:r>
            <a:endParaRPr lang="en-US" sz="1100" dirty="0"/>
          </a:p>
        </p:txBody>
      </p:sp>
      <p:sp>
        <p:nvSpPr>
          <p:cNvPr id="5" name="Text 2"/>
          <p:cNvSpPr/>
          <p:nvPr/>
        </p:nvSpPr>
        <p:spPr>
          <a:xfrm>
            <a:off x="566780" y="713939"/>
            <a:ext cx="9690116" cy="548497"/>
          </a:xfrm>
          <a:prstGeom prst="rect">
            <a:avLst/>
          </a:prstGeom>
          <a:noFill/>
          <a:ln/>
        </p:spPr>
        <p:txBody>
          <a:bodyPr wrap="square" lIns="0" tIns="0" rIns="0" bIns="0" rtlCol="0" anchor="ctr"/>
          <a:lstStyle/>
          <a:p>
            <a:r>
              <a:rPr lang="en-US" sz="3849" b="1" kern="0" spc="-55" dirty="0">
                <a:solidFill>
                  <a:srgbClr val="FFFFFF"/>
                </a:solidFill>
                <a:latin typeface="Source Sans 3" pitchFamily="34" charset="0"/>
                <a:ea typeface="Source Sans 3" pitchFamily="34" charset="-122"/>
                <a:cs typeface="Source Sans 3" pitchFamily="34" charset="-120"/>
              </a:rPr>
              <a:t>Start with 90 minutes.</a:t>
            </a:r>
            <a:endParaRPr lang="en-US" sz="3849" dirty="0"/>
          </a:p>
        </p:txBody>
      </p:sp>
      <p:sp>
        <p:nvSpPr>
          <p:cNvPr id="6" name="Text 3"/>
          <p:cNvSpPr/>
          <p:nvPr/>
        </p:nvSpPr>
        <p:spPr>
          <a:xfrm>
            <a:off x="566780" y="1235011"/>
            <a:ext cx="9690116" cy="557639"/>
          </a:xfrm>
          <a:prstGeom prst="rect">
            <a:avLst/>
          </a:prstGeom>
          <a:noFill/>
          <a:ln/>
        </p:spPr>
        <p:txBody>
          <a:bodyPr wrap="square" lIns="0" tIns="0" rIns="0" bIns="0" rtlCol="0" anchor="ctr"/>
          <a:lstStyle/>
          <a:p>
            <a:r>
              <a:rPr lang="en-US" sz="3849" b="1" kern="0" spc="-55" dirty="0">
                <a:solidFill>
                  <a:srgbClr val="8FFFDB"/>
                </a:solidFill>
                <a:latin typeface="Source Sans 3" pitchFamily="34" charset="0"/>
                <a:ea typeface="Source Sans 3" pitchFamily="34" charset="-122"/>
                <a:cs typeface="Source Sans 3" pitchFamily="34" charset="-120"/>
              </a:rPr>
              <a:t>Leave with a decision.</a:t>
            </a:r>
            <a:endParaRPr lang="en-US" sz="3849" dirty="0"/>
          </a:p>
        </p:txBody>
      </p:sp>
      <p:sp>
        <p:nvSpPr>
          <p:cNvPr id="7" name="Text 4"/>
          <p:cNvSpPr/>
          <p:nvPr/>
        </p:nvSpPr>
        <p:spPr>
          <a:xfrm>
            <a:off x="585063" y="1920633"/>
            <a:ext cx="10055781" cy="310815"/>
          </a:xfrm>
          <a:prstGeom prst="rect">
            <a:avLst/>
          </a:prstGeom>
          <a:noFill/>
          <a:ln/>
        </p:spPr>
        <p:txBody>
          <a:bodyPr wrap="square" lIns="0" tIns="0" rIns="0" bIns="0" rtlCol="0" anchor="ctr"/>
          <a:lstStyle/>
          <a:p>
            <a:r>
              <a:rPr lang="en-US" sz="1210" b="1" kern="0" spc="110" dirty="0">
                <a:solidFill>
                  <a:srgbClr val="D9E7F3"/>
                </a:solidFill>
                <a:latin typeface="Source Sans 3" pitchFamily="34" charset="0"/>
                <a:ea typeface="Source Sans 3" pitchFamily="34" charset="-122"/>
                <a:cs typeface="Source Sans 3" pitchFamily="34" charset="-120"/>
              </a:rPr>
              <a:t>FREE AI READINESS ASSESSMENT   /   THE START OF YOUR ROAD TO ZERO</a:t>
            </a:r>
            <a:endParaRPr lang="en-US" sz="1210" dirty="0"/>
          </a:p>
        </p:txBody>
      </p:sp>
      <p:sp>
        <p:nvSpPr>
          <p:cNvPr id="8" name="Shape 5"/>
          <p:cNvSpPr/>
          <p:nvPr/>
        </p:nvSpPr>
        <p:spPr>
          <a:xfrm>
            <a:off x="566780" y="2469130"/>
            <a:ext cx="6673382" cy="3226991"/>
          </a:xfrm>
          <a:prstGeom prst="roundRect">
            <a:avLst>
              <a:gd name="adj" fmla="val 4816"/>
            </a:avLst>
          </a:prstGeom>
          <a:solidFill>
            <a:srgbClr val="111D50">
              <a:alpha val="80000"/>
            </a:srgbClr>
          </a:solidFill>
          <a:ln w="11430">
            <a:solidFill>
              <a:srgbClr val="466184">
                <a:alpha val="56000"/>
              </a:srgbClr>
            </a:solidFill>
            <a:prstDash val="solid"/>
          </a:ln>
        </p:spPr>
        <p:txBody>
          <a:bodyPr/>
          <a:lstStyle/>
          <a:p>
            <a:endParaRPr lang="en-US" sz="1798"/>
          </a:p>
        </p:txBody>
      </p:sp>
      <p:sp>
        <p:nvSpPr>
          <p:cNvPr id="9" name="Text 6"/>
          <p:cNvSpPr/>
          <p:nvPr/>
        </p:nvSpPr>
        <p:spPr>
          <a:xfrm>
            <a:off x="813604" y="2734237"/>
            <a:ext cx="5942052" cy="274249"/>
          </a:xfrm>
          <a:prstGeom prst="rect">
            <a:avLst/>
          </a:prstGeom>
          <a:noFill/>
          <a:ln/>
        </p:spPr>
        <p:txBody>
          <a:bodyPr wrap="square" lIns="0" tIns="0" rIns="0" bIns="0" rtlCol="0" anchor="ctr"/>
          <a:lstStyle/>
          <a:p>
            <a:r>
              <a:rPr lang="en-US" sz="1100" b="1" kern="0" spc="170" dirty="0">
                <a:solidFill>
                  <a:srgbClr val="71F1F7"/>
                </a:solidFill>
                <a:latin typeface="Source Sans 3" pitchFamily="34" charset="0"/>
                <a:ea typeface="Source Sans 3" pitchFamily="34" charset="-122"/>
                <a:cs typeface="Source Sans 3" pitchFamily="34" charset="-120"/>
              </a:rPr>
              <a:t>WHAT WE DO TOGETHER</a:t>
            </a:r>
            <a:endParaRPr lang="en-US" sz="1100" dirty="0"/>
          </a:p>
        </p:txBody>
      </p:sp>
      <p:sp>
        <p:nvSpPr>
          <p:cNvPr id="10" name="Text 7"/>
          <p:cNvSpPr/>
          <p:nvPr/>
        </p:nvSpPr>
        <p:spPr>
          <a:xfrm>
            <a:off x="822745" y="3227884"/>
            <a:ext cx="484506" cy="292532"/>
          </a:xfrm>
          <a:prstGeom prst="rect">
            <a:avLst/>
          </a:prstGeom>
          <a:noFill/>
          <a:ln/>
        </p:spPr>
        <p:txBody>
          <a:bodyPr wrap="square" lIns="0" tIns="0" rIns="0" bIns="0" rtlCol="0" anchor="ctr"/>
          <a:lstStyle/>
          <a:p>
            <a:r>
              <a:rPr lang="en-US" sz="1500" b="1" dirty="0">
                <a:solidFill>
                  <a:srgbClr val="8FFFDB"/>
                </a:solidFill>
                <a:latin typeface="Source Sans 3" pitchFamily="34" charset="0"/>
                <a:ea typeface="Source Sans 3" pitchFamily="34" charset="-122"/>
                <a:cs typeface="Source Sans 3" pitchFamily="34" charset="-120"/>
              </a:rPr>
              <a:t>01</a:t>
            </a:r>
            <a:endParaRPr lang="en-US" sz="1500" dirty="0"/>
          </a:p>
        </p:txBody>
      </p:sp>
      <p:sp>
        <p:nvSpPr>
          <p:cNvPr id="11" name="Text 8"/>
          <p:cNvSpPr/>
          <p:nvPr/>
        </p:nvSpPr>
        <p:spPr>
          <a:xfrm>
            <a:off x="1380384" y="3182176"/>
            <a:ext cx="5521538" cy="319957"/>
          </a:xfrm>
          <a:prstGeom prst="rect">
            <a:avLst/>
          </a:prstGeom>
          <a:noFill/>
          <a:ln/>
        </p:spPr>
        <p:txBody>
          <a:bodyPr wrap="square" lIns="0" tIns="0" rIns="0" bIns="0" rtlCol="0" anchor="ctr"/>
          <a:lstStyle/>
          <a:p>
            <a:r>
              <a:rPr lang="en-US" b="1" dirty="0">
                <a:solidFill>
                  <a:srgbClr val="FFFFFF"/>
                </a:solidFill>
                <a:latin typeface="Source Sans 3" pitchFamily="34" charset="0"/>
                <a:ea typeface="Source Sans 3" pitchFamily="34" charset="-122"/>
                <a:cs typeface="Source Sans 3" pitchFamily="34" charset="-120"/>
              </a:rPr>
              <a:t>Choose the first outcome</a:t>
            </a:r>
            <a:endParaRPr lang="en-US" dirty="0"/>
          </a:p>
        </p:txBody>
      </p:sp>
      <p:sp>
        <p:nvSpPr>
          <p:cNvPr id="12" name="Text 9"/>
          <p:cNvSpPr/>
          <p:nvPr/>
        </p:nvSpPr>
        <p:spPr>
          <a:xfrm>
            <a:off x="1380384" y="3538699"/>
            <a:ext cx="5475830" cy="246824"/>
          </a:xfrm>
          <a:prstGeom prst="rect">
            <a:avLst/>
          </a:prstGeom>
          <a:noFill/>
          <a:ln/>
        </p:spPr>
        <p:txBody>
          <a:bodyPr wrap="square" lIns="0" tIns="0" rIns="0" bIns="0" rtlCol="0" anchor="ctr"/>
          <a:lstStyle/>
          <a:p>
            <a:r>
              <a:rPr lang="en-US" sz="1240" dirty="0">
                <a:solidFill>
                  <a:srgbClr val="CAD7EA"/>
                </a:solidFill>
                <a:latin typeface="Source Sans 3" pitchFamily="34" charset="0"/>
                <a:ea typeface="Source Sans 3" pitchFamily="34" charset="-122"/>
                <a:cs typeface="Source Sans 3" pitchFamily="34" charset="-120"/>
              </a:rPr>
              <a:t>Prioritise where business value and readiness meet.</a:t>
            </a:r>
            <a:endParaRPr lang="en-US" sz="1240" dirty="0"/>
          </a:p>
        </p:txBody>
      </p:sp>
      <p:sp>
        <p:nvSpPr>
          <p:cNvPr id="13" name="Shape 10"/>
          <p:cNvSpPr/>
          <p:nvPr/>
        </p:nvSpPr>
        <p:spPr>
          <a:xfrm>
            <a:off x="1380384" y="3867798"/>
            <a:ext cx="5430122" cy="0"/>
          </a:xfrm>
          <a:prstGeom prst="line">
            <a:avLst/>
          </a:prstGeom>
          <a:noFill/>
          <a:ln w="8255">
            <a:solidFill>
              <a:srgbClr val="36537D"/>
            </a:solidFill>
            <a:prstDash val="solid"/>
          </a:ln>
        </p:spPr>
        <p:txBody>
          <a:bodyPr/>
          <a:lstStyle/>
          <a:p>
            <a:endParaRPr lang="en-US" sz="1798"/>
          </a:p>
        </p:txBody>
      </p:sp>
      <p:sp>
        <p:nvSpPr>
          <p:cNvPr id="14" name="Text 11"/>
          <p:cNvSpPr/>
          <p:nvPr/>
        </p:nvSpPr>
        <p:spPr>
          <a:xfrm>
            <a:off x="822745" y="3959214"/>
            <a:ext cx="484506" cy="292532"/>
          </a:xfrm>
          <a:prstGeom prst="rect">
            <a:avLst/>
          </a:prstGeom>
          <a:noFill/>
          <a:ln/>
        </p:spPr>
        <p:txBody>
          <a:bodyPr wrap="square" lIns="0" tIns="0" rIns="0" bIns="0" rtlCol="0" anchor="ctr"/>
          <a:lstStyle/>
          <a:p>
            <a:r>
              <a:rPr lang="en-US" sz="1500" b="1" dirty="0">
                <a:solidFill>
                  <a:srgbClr val="8FFFDB"/>
                </a:solidFill>
                <a:latin typeface="Source Sans 3" pitchFamily="34" charset="0"/>
                <a:ea typeface="Source Sans 3" pitchFamily="34" charset="-122"/>
                <a:cs typeface="Source Sans 3" pitchFamily="34" charset="-120"/>
              </a:rPr>
              <a:t>02</a:t>
            </a:r>
            <a:endParaRPr lang="en-US" sz="1500" dirty="0"/>
          </a:p>
        </p:txBody>
      </p:sp>
      <p:sp>
        <p:nvSpPr>
          <p:cNvPr id="15" name="Text 12"/>
          <p:cNvSpPr/>
          <p:nvPr/>
        </p:nvSpPr>
        <p:spPr>
          <a:xfrm>
            <a:off x="1380384" y="3913506"/>
            <a:ext cx="5521538" cy="319957"/>
          </a:xfrm>
          <a:prstGeom prst="rect">
            <a:avLst/>
          </a:prstGeom>
          <a:noFill/>
          <a:ln/>
        </p:spPr>
        <p:txBody>
          <a:bodyPr wrap="square" lIns="0" tIns="0" rIns="0" bIns="0" rtlCol="0" anchor="ctr"/>
          <a:lstStyle/>
          <a:p>
            <a:r>
              <a:rPr lang="en-US" b="1" dirty="0">
                <a:solidFill>
                  <a:srgbClr val="FFFFFF"/>
                </a:solidFill>
                <a:latin typeface="Source Sans 3" pitchFamily="34" charset="0"/>
                <a:ea typeface="Source Sans 3" pitchFamily="34" charset="-122"/>
                <a:cs typeface="Source Sans 3" pitchFamily="34" charset="-120"/>
              </a:rPr>
              <a:t>Review readiness and controls</a:t>
            </a:r>
            <a:endParaRPr lang="en-US" dirty="0"/>
          </a:p>
        </p:txBody>
      </p:sp>
      <p:sp>
        <p:nvSpPr>
          <p:cNvPr id="16" name="Text 13"/>
          <p:cNvSpPr/>
          <p:nvPr/>
        </p:nvSpPr>
        <p:spPr>
          <a:xfrm>
            <a:off x="1380384" y="4270029"/>
            <a:ext cx="5475830" cy="246824"/>
          </a:xfrm>
          <a:prstGeom prst="rect">
            <a:avLst/>
          </a:prstGeom>
          <a:noFill/>
          <a:ln/>
        </p:spPr>
        <p:txBody>
          <a:bodyPr wrap="square" lIns="0" tIns="0" rIns="0" bIns="0" rtlCol="0" anchor="ctr"/>
          <a:lstStyle/>
          <a:p>
            <a:r>
              <a:rPr lang="en-US" sz="1240" dirty="0">
                <a:solidFill>
                  <a:srgbClr val="CAD7EA"/>
                </a:solidFill>
                <a:latin typeface="Source Sans 3" pitchFamily="34" charset="0"/>
                <a:ea typeface="Source Sans 3" pitchFamily="34" charset="-122"/>
                <a:cs typeface="Source Sans 3" pitchFamily="34" charset="-120"/>
              </a:rPr>
              <a:t>Examine the seven dimensions, evidence and gaps.</a:t>
            </a:r>
            <a:endParaRPr lang="en-US" sz="1240" dirty="0"/>
          </a:p>
        </p:txBody>
      </p:sp>
      <p:sp>
        <p:nvSpPr>
          <p:cNvPr id="17" name="Shape 14"/>
          <p:cNvSpPr/>
          <p:nvPr/>
        </p:nvSpPr>
        <p:spPr>
          <a:xfrm>
            <a:off x="1380384" y="4599127"/>
            <a:ext cx="5430122" cy="0"/>
          </a:xfrm>
          <a:prstGeom prst="line">
            <a:avLst/>
          </a:prstGeom>
          <a:noFill/>
          <a:ln w="8255">
            <a:solidFill>
              <a:srgbClr val="36537D"/>
            </a:solidFill>
            <a:prstDash val="solid"/>
          </a:ln>
        </p:spPr>
        <p:txBody>
          <a:bodyPr/>
          <a:lstStyle/>
          <a:p>
            <a:endParaRPr lang="en-US" sz="1798"/>
          </a:p>
        </p:txBody>
      </p:sp>
      <p:sp>
        <p:nvSpPr>
          <p:cNvPr id="18" name="Text 15"/>
          <p:cNvSpPr/>
          <p:nvPr/>
        </p:nvSpPr>
        <p:spPr>
          <a:xfrm>
            <a:off x="822745" y="4690543"/>
            <a:ext cx="484506" cy="292532"/>
          </a:xfrm>
          <a:prstGeom prst="rect">
            <a:avLst/>
          </a:prstGeom>
          <a:noFill/>
          <a:ln/>
        </p:spPr>
        <p:txBody>
          <a:bodyPr wrap="square" lIns="0" tIns="0" rIns="0" bIns="0" rtlCol="0" anchor="ctr"/>
          <a:lstStyle/>
          <a:p>
            <a:r>
              <a:rPr lang="en-US" sz="1500" b="1" dirty="0">
                <a:solidFill>
                  <a:srgbClr val="8FFFDB"/>
                </a:solidFill>
                <a:latin typeface="Source Sans 3" pitchFamily="34" charset="0"/>
                <a:ea typeface="Source Sans 3" pitchFamily="34" charset="-122"/>
                <a:cs typeface="Source Sans 3" pitchFamily="34" charset="-120"/>
              </a:rPr>
              <a:t>03</a:t>
            </a:r>
            <a:endParaRPr lang="en-US" sz="1500" dirty="0"/>
          </a:p>
        </p:txBody>
      </p:sp>
      <p:sp>
        <p:nvSpPr>
          <p:cNvPr id="19" name="Text 16"/>
          <p:cNvSpPr/>
          <p:nvPr/>
        </p:nvSpPr>
        <p:spPr>
          <a:xfrm>
            <a:off x="1380384" y="4644835"/>
            <a:ext cx="5521538" cy="319957"/>
          </a:xfrm>
          <a:prstGeom prst="rect">
            <a:avLst/>
          </a:prstGeom>
          <a:noFill/>
          <a:ln/>
        </p:spPr>
        <p:txBody>
          <a:bodyPr wrap="square" lIns="0" tIns="0" rIns="0" bIns="0" rtlCol="0" anchor="ctr"/>
          <a:lstStyle/>
          <a:p>
            <a:r>
              <a:rPr lang="en-US" b="1" dirty="0">
                <a:solidFill>
                  <a:srgbClr val="FFFFFF"/>
                </a:solidFill>
                <a:latin typeface="Source Sans 3" pitchFamily="34" charset="0"/>
                <a:ea typeface="Source Sans 3" pitchFamily="34" charset="-122"/>
                <a:cs typeface="Source Sans 3" pitchFamily="34" charset="-120"/>
              </a:rPr>
              <a:t>Model likely AI consumption</a:t>
            </a:r>
            <a:endParaRPr lang="en-US" dirty="0"/>
          </a:p>
        </p:txBody>
      </p:sp>
      <p:sp>
        <p:nvSpPr>
          <p:cNvPr id="20" name="Text 17"/>
          <p:cNvSpPr/>
          <p:nvPr/>
        </p:nvSpPr>
        <p:spPr>
          <a:xfrm>
            <a:off x="1380384" y="5001358"/>
            <a:ext cx="5475830" cy="246824"/>
          </a:xfrm>
          <a:prstGeom prst="rect">
            <a:avLst/>
          </a:prstGeom>
          <a:noFill/>
          <a:ln/>
        </p:spPr>
        <p:txBody>
          <a:bodyPr wrap="square" lIns="0" tIns="0" rIns="0" bIns="0" rtlCol="0" anchor="ctr"/>
          <a:lstStyle/>
          <a:p>
            <a:r>
              <a:rPr lang="en-US" sz="1240" dirty="0">
                <a:solidFill>
                  <a:srgbClr val="CAD7EA"/>
                </a:solidFill>
                <a:latin typeface="Source Sans 3" pitchFamily="34" charset="0"/>
                <a:ea typeface="Source Sans 3" pitchFamily="34" charset="-122"/>
                <a:cs typeface="Source Sans 3" pitchFamily="34" charset="-120"/>
              </a:rPr>
              <a:t>Estimate Assist demand and indicative tier fit.</a:t>
            </a:r>
            <a:endParaRPr lang="en-US" sz="1240" dirty="0"/>
          </a:p>
        </p:txBody>
      </p:sp>
      <p:sp>
        <p:nvSpPr>
          <p:cNvPr id="21" name="Shape 18"/>
          <p:cNvSpPr/>
          <p:nvPr/>
        </p:nvSpPr>
        <p:spPr>
          <a:xfrm>
            <a:off x="7468702" y="2469130"/>
            <a:ext cx="4159437" cy="3226991"/>
          </a:xfrm>
          <a:prstGeom prst="roundRect">
            <a:avLst>
              <a:gd name="adj" fmla="val 4816"/>
            </a:avLst>
          </a:prstGeom>
          <a:solidFill>
            <a:srgbClr val="182652">
              <a:alpha val="93000"/>
            </a:srgbClr>
          </a:solidFill>
          <a:ln w="14605">
            <a:solidFill>
              <a:srgbClr val="71F1F7">
                <a:alpha val="89000"/>
              </a:srgbClr>
            </a:solidFill>
            <a:prstDash val="solid"/>
          </a:ln>
        </p:spPr>
        <p:txBody>
          <a:bodyPr/>
          <a:lstStyle/>
          <a:p>
            <a:endParaRPr lang="en-US" sz="1798"/>
          </a:p>
        </p:txBody>
      </p:sp>
      <p:sp>
        <p:nvSpPr>
          <p:cNvPr id="22" name="Text 19"/>
          <p:cNvSpPr/>
          <p:nvPr/>
        </p:nvSpPr>
        <p:spPr>
          <a:xfrm>
            <a:off x="7724668" y="2734237"/>
            <a:ext cx="3565231" cy="274249"/>
          </a:xfrm>
          <a:prstGeom prst="rect">
            <a:avLst/>
          </a:prstGeom>
          <a:noFill/>
          <a:ln/>
        </p:spPr>
        <p:txBody>
          <a:bodyPr wrap="square" lIns="0" tIns="0" rIns="0" bIns="0" rtlCol="0" anchor="ctr"/>
          <a:lstStyle/>
          <a:p>
            <a:r>
              <a:rPr lang="en-US" sz="1100" b="1" kern="0" spc="170" dirty="0">
                <a:solidFill>
                  <a:srgbClr val="8FFFDB"/>
                </a:solidFill>
                <a:latin typeface="Source Sans 3" pitchFamily="34" charset="0"/>
                <a:ea typeface="Source Sans 3" pitchFamily="34" charset="-122"/>
                <a:cs typeface="Source Sans 3" pitchFamily="34" charset="-120"/>
              </a:rPr>
              <a:t>YOU LEAVE WITH</a:t>
            </a:r>
            <a:endParaRPr lang="en-US" sz="1100" dirty="0"/>
          </a:p>
        </p:txBody>
      </p:sp>
      <p:sp>
        <p:nvSpPr>
          <p:cNvPr id="23" name="Text 20"/>
          <p:cNvSpPr/>
          <p:nvPr/>
        </p:nvSpPr>
        <p:spPr>
          <a:xfrm>
            <a:off x="7715526" y="3090760"/>
            <a:ext cx="3565231" cy="767896"/>
          </a:xfrm>
          <a:prstGeom prst="rect">
            <a:avLst/>
          </a:prstGeom>
          <a:noFill/>
          <a:ln/>
        </p:spPr>
        <p:txBody>
          <a:bodyPr wrap="square" lIns="0" tIns="0" rIns="0" bIns="0" rtlCol="0" anchor="t"/>
          <a:lstStyle/>
          <a:p>
            <a:r>
              <a:rPr lang="en-US" sz="2099" b="1" dirty="0">
                <a:solidFill>
                  <a:srgbClr val="FFFFFF"/>
                </a:solidFill>
                <a:latin typeface="Source Sans 3" pitchFamily="34" charset="0"/>
                <a:ea typeface="Source Sans 3" pitchFamily="34" charset="-122"/>
                <a:cs typeface="Source Sans 3" pitchFamily="34" charset="-120"/>
              </a:rPr>
              <a:t>Your AI Readiness</a:t>
            </a:r>
            <a:endParaRPr lang="en-US" sz="2099" dirty="0"/>
          </a:p>
          <a:p>
            <a:r>
              <a:rPr lang="en-US" sz="2099" b="1" dirty="0">
                <a:solidFill>
                  <a:srgbClr val="FFFFFF"/>
                </a:solidFill>
                <a:latin typeface="Source Sans 3" pitchFamily="34" charset="0"/>
                <a:ea typeface="Source Sans 3" pitchFamily="34" charset="-122"/>
                <a:cs typeface="Source Sans 3" pitchFamily="34" charset="-120"/>
              </a:rPr>
              <a:t>Decision Brief</a:t>
            </a:r>
            <a:endParaRPr lang="en-US" sz="2099" dirty="0"/>
          </a:p>
        </p:txBody>
      </p:sp>
      <p:sp>
        <p:nvSpPr>
          <p:cNvPr id="24" name="Shape 21"/>
          <p:cNvSpPr/>
          <p:nvPr/>
        </p:nvSpPr>
        <p:spPr>
          <a:xfrm>
            <a:off x="7724667" y="3986639"/>
            <a:ext cx="3592656" cy="0"/>
          </a:xfrm>
          <a:prstGeom prst="line">
            <a:avLst/>
          </a:prstGeom>
          <a:noFill/>
          <a:ln w="10795">
            <a:solidFill>
              <a:srgbClr val="557A93"/>
            </a:solidFill>
            <a:prstDash val="solid"/>
          </a:ln>
        </p:spPr>
        <p:txBody>
          <a:bodyPr/>
          <a:lstStyle/>
          <a:p>
            <a:endParaRPr lang="en-US" sz="1798"/>
          </a:p>
        </p:txBody>
      </p:sp>
      <p:sp>
        <p:nvSpPr>
          <p:cNvPr id="25" name="Shape 22"/>
          <p:cNvSpPr/>
          <p:nvPr/>
        </p:nvSpPr>
        <p:spPr>
          <a:xfrm>
            <a:off x="7752092" y="4218836"/>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26" name="Text 23"/>
          <p:cNvSpPr/>
          <p:nvPr/>
        </p:nvSpPr>
        <p:spPr>
          <a:xfrm>
            <a:off x="7916642" y="4142046"/>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Initial readiness and autonomy ceiling</a:t>
            </a:r>
            <a:endParaRPr lang="en-US" sz="1165" dirty="0"/>
          </a:p>
        </p:txBody>
      </p:sp>
      <p:sp>
        <p:nvSpPr>
          <p:cNvPr id="27" name="Shape 24"/>
          <p:cNvSpPr/>
          <p:nvPr/>
        </p:nvSpPr>
        <p:spPr>
          <a:xfrm>
            <a:off x="7752092" y="4547935"/>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28" name="Text 25"/>
          <p:cNvSpPr/>
          <p:nvPr/>
        </p:nvSpPr>
        <p:spPr>
          <a:xfrm>
            <a:off x="7916642" y="4471145"/>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First candidate outcome</a:t>
            </a:r>
            <a:endParaRPr lang="en-US" sz="1165" dirty="0"/>
          </a:p>
        </p:txBody>
      </p:sp>
      <p:sp>
        <p:nvSpPr>
          <p:cNvPr id="29" name="Shape 26"/>
          <p:cNvSpPr/>
          <p:nvPr/>
        </p:nvSpPr>
        <p:spPr>
          <a:xfrm>
            <a:off x="7752092" y="4877033"/>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30" name="Text 27"/>
          <p:cNvSpPr/>
          <p:nvPr/>
        </p:nvSpPr>
        <p:spPr>
          <a:xfrm>
            <a:off x="7916642" y="4800243"/>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Indicative Assist and tier assumptions</a:t>
            </a:r>
            <a:endParaRPr lang="en-US" sz="1165" dirty="0"/>
          </a:p>
        </p:txBody>
      </p:sp>
      <p:sp>
        <p:nvSpPr>
          <p:cNvPr id="31" name="Shape 28"/>
          <p:cNvSpPr/>
          <p:nvPr/>
        </p:nvSpPr>
        <p:spPr>
          <a:xfrm>
            <a:off x="7752092" y="5206131"/>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32" name="Text 29"/>
          <p:cNvSpPr/>
          <p:nvPr/>
        </p:nvSpPr>
        <p:spPr>
          <a:xfrm>
            <a:off x="7916642" y="5129341"/>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90-day priorities, owners and dependencies</a:t>
            </a:r>
            <a:endParaRPr lang="en-US" sz="1165" dirty="0"/>
          </a:p>
        </p:txBody>
      </p:sp>
      <p:sp>
        <p:nvSpPr>
          <p:cNvPr id="33" name="Shape 30"/>
          <p:cNvSpPr/>
          <p:nvPr/>
        </p:nvSpPr>
        <p:spPr>
          <a:xfrm>
            <a:off x="594205" y="5933804"/>
            <a:ext cx="10997367" cy="0"/>
          </a:xfrm>
          <a:prstGeom prst="line">
            <a:avLst/>
          </a:prstGeom>
          <a:noFill/>
          <a:ln w="8890">
            <a:solidFill>
              <a:srgbClr val="3B567A"/>
            </a:solidFill>
            <a:prstDash val="solid"/>
          </a:ln>
        </p:spPr>
        <p:txBody>
          <a:bodyPr/>
          <a:lstStyle/>
          <a:p>
            <a:endParaRPr lang="en-US" sz="1798"/>
          </a:p>
        </p:txBody>
      </p:sp>
      <p:pic>
        <p:nvPicPr>
          <p:cNvPr id="34" name="Image 1" descr="/mnt/data/road-to-zero-crossfuze-logo.png"/>
          <p:cNvPicPr>
            <a:picLocks noChangeAspect="1"/>
          </p:cNvPicPr>
          <p:nvPr/>
        </p:nvPicPr>
        <p:blipFill>
          <a:blip r:embed="rId4"/>
          <a:stretch>
            <a:fillRect/>
          </a:stretch>
        </p:blipFill>
        <p:spPr>
          <a:xfrm>
            <a:off x="585063" y="6317752"/>
            <a:ext cx="1261543" cy="216657"/>
          </a:xfrm>
          <a:prstGeom prst="rect">
            <a:avLst/>
          </a:prstGeom>
        </p:spPr>
      </p:pic>
      <p:sp>
        <p:nvSpPr>
          <p:cNvPr id="35" name="Text 31"/>
          <p:cNvSpPr/>
          <p:nvPr/>
        </p:nvSpPr>
        <p:spPr>
          <a:xfrm>
            <a:off x="2084289" y="6326893"/>
            <a:ext cx="2925318" cy="228540"/>
          </a:xfrm>
          <a:prstGeom prst="rect">
            <a:avLst/>
          </a:prstGeom>
          <a:noFill/>
          <a:ln/>
        </p:spPr>
        <p:txBody>
          <a:bodyPr wrap="square" lIns="0" tIns="0" rIns="0" bIns="0" rtlCol="0" anchor="ctr"/>
          <a:lstStyle/>
          <a:p>
            <a:r>
              <a:rPr lang="en-US" sz="1140" b="1" dirty="0">
                <a:solidFill>
                  <a:srgbClr val="FFFFFF"/>
                </a:solidFill>
                <a:latin typeface="Source Sans 3" pitchFamily="34" charset="0"/>
                <a:ea typeface="Source Sans 3" pitchFamily="34" charset="-122"/>
                <a:cs typeface="Source Sans 3" pitchFamily="34" charset="-120"/>
              </a:rPr>
              <a:t>Autonomy Is Earned.</a:t>
            </a:r>
            <a:endParaRPr lang="en-US" sz="1140" dirty="0"/>
          </a:p>
        </p:txBody>
      </p:sp>
      <p:sp>
        <p:nvSpPr>
          <p:cNvPr id="36" name="Shape 32"/>
          <p:cNvSpPr/>
          <p:nvPr/>
        </p:nvSpPr>
        <p:spPr>
          <a:xfrm>
            <a:off x="7468702" y="6089211"/>
            <a:ext cx="4159437" cy="511931"/>
          </a:xfrm>
          <a:prstGeom prst="roundRect">
            <a:avLst>
              <a:gd name="adj" fmla="val 48214"/>
            </a:avLst>
          </a:prstGeom>
          <a:solidFill>
            <a:srgbClr val="8FFFDB"/>
          </a:solidFill>
          <a:ln w="12700">
            <a:solidFill>
              <a:srgbClr val="8FFFDB">
                <a:alpha val="0"/>
              </a:srgbClr>
            </a:solidFill>
            <a:prstDash val="solid"/>
          </a:ln>
        </p:spPr>
        <p:txBody>
          <a:bodyPr/>
          <a:lstStyle/>
          <a:p>
            <a:endParaRPr lang="en-US" sz="1798"/>
          </a:p>
        </p:txBody>
      </p:sp>
      <p:sp>
        <p:nvSpPr>
          <p:cNvPr id="37" name="Text 33"/>
          <p:cNvSpPr/>
          <p:nvPr/>
        </p:nvSpPr>
        <p:spPr>
          <a:xfrm>
            <a:off x="7770375" y="6235477"/>
            <a:ext cx="3236133" cy="228540"/>
          </a:xfrm>
          <a:prstGeom prst="rect">
            <a:avLst/>
          </a:prstGeom>
          <a:noFill/>
          <a:ln/>
        </p:spPr>
        <p:txBody>
          <a:bodyPr wrap="square" lIns="0" tIns="0" rIns="0" bIns="0" rtlCol="0" anchor="ctr"/>
          <a:lstStyle/>
          <a:p>
            <a:r>
              <a:rPr lang="en-US" sz="1400" b="1" dirty="0">
                <a:solidFill>
                  <a:srgbClr val="040E3D"/>
                </a:solidFill>
                <a:latin typeface="Source Sans 3" pitchFamily="34" charset="0"/>
                <a:ea typeface="Source Sans 3" pitchFamily="34" charset="-122"/>
                <a:cs typeface="Source Sans 3" pitchFamily="34" charset="-120"/>
              </a:rPr>
              <a:t>Book your 90-minute session</a:t>
            </a:r>
            <a:endParaRPr lang="en-US" sz="1400" dirty="0"/>
          </a:p>
        </p:txBody>
      </p:sp>
      <p:sp>
        <p:nvSpPr>
          <p:cNvPr id="38" name="Shape 34"/>
          <p:cNvSpPr/>
          <p:nvPr/>
        </p:nvSpPr>
        <p:spPr>
          <a:xfrm>
            <a:off x="11152775" y="6326893"/>
            <a:ext cx="182832" cy="0"/>
          </a:xfrm>
          <a:prstGeom prst="line">
            <a:avLst/>
          </a:prstGeom>
          <a:noFill/>
          <a:ln w="26670">
            <a:solidFill>
              <a:srgbClr val="040E3D"/>
            </a:solidFill>
            <a:prstDash val="solid"/>
            <a:headEnd type="none"/>
            <a:tailEnd type="triangle"/>
          </a:ln>
        </p:spPr>
        <p:txBody>
          <a:bodyPr/>
          <a:lstStyle/>
          <a:p>
            <a:endParaRPr lang="en-US" sz="1798"/>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stage02-dark-bg.png"/>
          <p:cNvPicPr>
            <a:picLocks noChangeAspect="1"/>
          </p:cNvPicPr>
          <p:nvPr/>
        </p:nvPicPr>
        <p:blipFill>
          <a:blip r:embed="rId3"/>
          <a:stretch>
            <a:fillRect/>
          </a:stretch>
        </p:blipFill>
        <p:spPr>
          <a:xfrm>
            <a:off x="0" y="0"/>
            <a:ext cx="12188825" cy="6858000"/>
          </a:xfrm>
          <a:prstGeom prst="rect">
            <a:avLst/>
          </a:prstGeom>
        </p:spPr>
      </p:pic>
      <p:sp>
        <p:nvSpPr>
          <p:cNvPr id="3" name="Rectangle 2"/>
          <p:cNvSpPr/>
          <p:nvPr/>
        </p:nvSpPr>
        <p:spPr>
          <a:xfrm>
            <a:off x="566928" y="466344"/>
            <a:ext cx="64008" cy="246888"/>
          </a:xfrm>
          <a:prstGeom prst="rect">
            <a:avLst/>
          </a:prstGeom>
          <a:solidFill>
            <a:srgbClr val="8FFF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4" name="TextBox 3"/>
          <p:cNvSpPr txBox="1"/>
          <p:nvPr/>
        </p:nvSpPr>
        <p:spPr>
          <a:xfrm>
            <a:off x="740664" y="475488"/>
            <a:ext cx="7315200" cy="182880"/>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50" b="1">
                <a:solidFill>
                  <a:srgbClr val="8FFFDB"/>
                </a:solidFill>
                <a:latin typeface="Source Sans 3"/>
              </a:defRPr>
            </a:pPr>
            <a:r>
              <a:rPr kumimoji="0" sz="1050" b="1" i="0" u="none" strike="noStrike" kern="1200" cap="none" spc="0" normalizeH="0" baseline="0" noProof="0">
                <a:ln>
                  <a:noFill/>
                </a:ln>
                <a:solidFill>
                  <a:srgbClr val="8FFFDB"/>
                </a:solidFill>
                <a:effectLst/>
                <a:uLnTx/>
                <a:uFillTx/>
                <a:latin typeface="Source Sans 3"/>
                <a:ea typeface="+mn-ea"/>
                <a:cs typeface="+mn-cs"/>
              </a:rPr>
              <a:t>STAGE 02   /   THE AI READINESS ASSESSMENT</a:t>
            </a:r>
          </a:p>
        </p:txBody>
      </p:sp>
      <p:sp>
        <p:nvSpPr>
          <p:cNvPr id="5" name="TextBox 4"/>
          <p:cNvSpPr txBox="1"/>
          <p:nvPr/>
        </p:nvSpPr>
        <p:spPr>
          <a:xfrm>
            <a:off x="594360" y="896112"/>
            <a:ext cx="11018520" cy="594360"/>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3150" b="1">
                <a:solidFill>
                  <a:srgbClr val="FFFFFF"/>
                </a:solidFill>
                <a:latin typeface="Source Sans 3"/>
              </a:defRPr>
            </a:pPr>
            <a:r>
              <a:rPr kumimoji="0" sz="3150" b="1" i="0" u="none" strike="noStrike" kern="1200" cap="none" spc="0" normalizeH="0" baseline="0" noProof="0">
                <a:ln>
                  <a:noFill/>
                </a:ln>
                <a:solidFill>
                  <a:srgbClr val="FFFFFF"/>
                </a:solidFill>
                <a:effectLst/>
                <a:uLnTx/>
                <a:uFillTx/>
                <a:latin typeface="Source Sans 3"/>
                <a:ea typeface="+mn-ea"/>
                <a:cs typeface="+mn-cs"/>
              </a:rPr>
              <a:t>What did we learn from your assessment?</a:t>
            </a:r>
          </a:p>
        </p:txBody>
      </p:sp>
      <p:sp>
        <p:nvSpPr>
          <p:cNvPr id="6" name="TextBox 5"/>
          <p:cNvSpPr txBox="1"/>
          <p:nvPr/>
        </p:nvSpPr>
        <p:spPr>
          <a:xfrm>
            <a:off x="603504" y="1572768"/>
            <a:ext cx="10515600" cy="365760"/>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550" b="0">
                <a:solidFill>
                  <a:srgbClr val="C7D9E5"/>
                </a:solidFill>
                <a:latin typeface="Source Sans 3"/>
              </a:defRPr>
            </a:pPr>
            <a:r>
              <a:rPr kumimoji="0" sz="1550" b="0" i="0" u="none" strike="noStrike" kern="1200" cap="none" spc="0" normalizeH="0" baseline="0" noProof="0">
                <a:ln>
                  <a:noFill/>
                </a:ln>
                <a:solidFill>
                  <a:srgbClr val="C7D9E5"/>
                </a:solidFill>
                <a:effectLst/>
                <a:uLnTx/>
                <a:uFillTx/>
                <a:latin typeface="Source Sans 3"/>
                <a:ea typeface="+mn-ea"/>
                <a:cs typeface="+mn-cs"/>
              </a:rPr>
              <a:t>Four findings turn a 90-minute working session into a defensible first decision.</a:t>
            </a:r>
          </a:p>
        </p:txBody>
      </p:sp>
      <p:sp>
        <p:nvSpPr>
          <p:cNvPr id="7" name="Rounded Rectangle 6"/>
          <p:cNvSpPr/>
          <p:nvPr/>
        </p:nvSpPr>
        <p:spPr>
          <a:xfrm>
            <a:off x="58521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8" name="Rounded Rectangle 7"/>
          <p:cNvSpPr/>
          <p:nvPr/>
        </p:nvSpPr>
        <p:spPr>
          <a:xfrm>
            <a:off x="75895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9" name="TextBox 8"/>
          <p:cNvSpPr txBox="1"/>
          <p:nvPr/>
        </p:nvSpPr>
        <p:spPr>
          <a:xfrm>
            <a:off x="758952" y="2479852"/>
            <a:ext cx="420624" cy="128016"/>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1000" b="1">
                <a:solidFill>
                  <a:srgbClr val="71F1F7"/>
                </a:solidFill>
                <a:latin typeface="Source Sans 3"/>
              </a:defRPr>
            </a:pPr>
            <a:r>
              <a:rPr kumimoji="0" sz="1000" b="1" i="0" u="none" strike="noStrike" kern="1200" cap="none" spc="0" normalizeH="0" baseline="0" noProof="0">
                <a:ln>
                  <a:noFill/>
                </a:ln>
                <a:solidFill>
                  <a:srgbClr val="71F1F7"/>
                </a:solidFill>
                <a:effectLst/>
                <a:uLnTx/>
                <a:uFillTx/>
                <a:latin typeface="Source Sans 3"/>
                <a:ea typeface="+mn-ea"/>
                <a:cs typeface="+mn-cs"/>
              </a:rPr>
              <a:t>01</a:t>
            </a:r>
          </a:p>
        </p:txBody>
      </p:sp>
      <p:sp>
        <p:nvSpPr>
          <p:cNvPr id="10" name="TextBox 9"/>
          <p:cNvSpPr txBox="1"/>
          <p:nvPr/>
        </p:nvSpPr>
        <p:spPr>
          <a:xfrm>
            <a:off x="758952" y="2926080"/>
            <a:ext cx="2286000" cy="21031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8FFFDB"/>
                </a:solidFill>
                <a:latin typeface="Source Sans 3"/>
              </a:defRPr>
            </a:pPr>
            <a:r>
              <a:rPr kumimoji="0" sz="1000" b="1" i="0" u="none" strike="noStrike" kern="1200" cap="none" spc="0" normalizeH="0" baseline="0" noProof="0">
                <a:ln>
                  <a:noFill/>
                </a:ln>
                <a:solidFill>
                  <a:srgbClr val="8FFFDB"/>
                </a:solidFill>
                <a:effectLst/>
                <a:uLnTx/>
                <a:uFillTx/>
                <a:latin typeface="Source Sans 3"/>
                <a:ea typeface="+mn-ea"/>
                <a:cs typeface="+mn-cs"/>
              </a:rPr>
              <a:t>READINESS</a:t>
            </a:r>
          </a:p>
        </p:txBody>
      </p:sp>
      <p:sp>
        <p:nvSpPr>
          <p:cNvPr id="11" name="TextBox 10"/>
          <p:cNvSpPr txBox="1"/>
          <p:nvPr/>
        </p:nvSpPr>
        <p:spPr>
          <a:xfrm>
            <a:off x="758952" y="3273552"/>
            <a:ext cx="2386584" cy="676656"/>
          </a:xfrm>
          <a:prstGeom prst="rect">
            <a:avLst/>
          </a:prstGeom>
          <a:noFill/>
        </p:spPr>
        <p:txBody>
          <a:bodyPr wrap="square" lIns="0" tIns="0" rIns="0" bIns="0" anchor="t">
            <a:spAutoFit/>
          </a:bodyPr>
          <a:lstStyle/>
          <a:p>
            <a:pPr marL="0" marR="0" lvl="0" indent="0" algn="l" defTabSz="457040" rtl="0" eaLnBrk="1" fontAlgn="auto" latinLnBrk="0" hangingPunct="1">
              <a:lnSpc>
                <a:spcPct val="100000"/>
              </a:lnSpc>
              <a:spcBef>
                <a:spcPts val="0"/>
              </a:spcBef>
              <a:spcAft>
                <a:spcPts val="0"/>
              </a:spcAft>
              <a:buClrTx/>
              <a:buSzTx/>
              <a:buFontTx/>
              <a:buNone/>
              <a:tabLst/>
              <a:defRPr sz="2050" b="1">
                <a:solidFill>
                  <a:srgbClr val="FFFFFF"/>
                </a:solidFill>
                <a:latin typeface="Source Sans 3"/>
              </a:defRPr>
            </a:pPr>
            <a:r>
              <a:rPr kumimoji="0" sz="2050" b="1" i="0" u="none" strike="noStrike" kern="1200" cap="none" spc="0" normalizeH="0" baseline="0" noProof="0">
                <a:ln>
                  <a:noFill/>
                </a:ln>
                <a:solidFill>
                  <a:srgbClr val="FFFFFF"/>
                </a:solidFill>
                <a:effectLst/>
                <a:uLnTx/>
                <a:uFillTx/>
                <a:latin typeface="Source Sans 3"/>
                <a:ea typeface="+mn-ea"/>
                <a:cs typeface="+mn-cs"/>
              </a:rPr>
              <a:t>Where you stand</a:t>
            </a:r>
          </a:p>
        </p:txBody>
      </p:sp>
      <p:sp>
        <p:nvSpPr>
          <p:cNvPr id="12" name="Rectangle 11"/>
          <p:cNvSpPr/>
          <p:nvPr/>
        </p:nvSpPr>
        <p:spPr>
          <a:xfrm>
            <a:off x="75895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3" name="TextBox 12"/>
          <p:cNvSpPr txBox="1"/>
          <p:nvPr/>
        </p:nvSpPr>
        <p:spPr>
          <a:xfrm>
            <a:off x="758952" y="4224528"/>
            <a:ext cx="2377440" cy="34747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320" b="1">
                <a:solidFill>
                  <a:srgbClr val="F7CD7B"/>
                </a:solidFill>
                <a:latin typeface="Source Sans 3"/>
              </a:defRPr>
            </a:pPr>
            <a:r>
              <a:rPr kumimoji="0" sz="1320" b="1" i="0" u="none" strike="noStrike" kern="1200" cap="none" spc="0" normalizeH="0" baseline="0" noProof="0">
                <a:ln>
                  <a:noFill/>
                </a:ln>
                <a:solidFill>
                  <a:srgbClr val="F7CD7B"/>
                </a:solidFill>
                <a:effectLst/>
                <a:uLnTx/>
                <a:uFillTx/>
                <a:latin typeface="Source Sans 3"/>
                <a:ea typeface="+mn-ea"/>
                <a:cs typeface="+mn-cs"/>
              </a:rPr>
              <a:t>[Readiness finding]</a:t>
            </a:r>
          </a:p>
        </p:txBody>
      </p:sp>
      <p:sp>
        <p:nvSpPr>
          <p:cNvPr id="14" name="TextBox 13"/>
          <p:cNvSpPr txBox="1"/>
          <p:nvPr/>
        </p:nvSpPr>
        <p:spPr>
          <a:xfrm>
            <a:off x="758952" y="4672584"/>
            <a:ext cx="2368296" cy="585216"/>
          </a:xfrm>
          <a:prstGeom prst="rect">
            <a:avLst/>
          </a:prstGeom>
          <a:noFill/>
        </p:spPr>
        <p:txBody>
          <a:bodyPr wrap="square" lIns="0" tIns="0" rIns="0" bIns="0" anchor="t">
            <a:spAutoFit/>
          </a:bodyPr>
          <a:lstStyle/>
          <a:p>
            <a:pPr marL="0" marR="0" lvl="0" indent="0" algn="l" defTabSz="457040" rtl="0" eaLnBrk="1" fontAlgn="auto" latinLnBrk="0" hangingPunct="1">
              <a:lnSpc>
                <a:spcPct val="110000"/>
              </a:lnSpc>
              <a:spcBef>
                <a:spcPts val="0"/>
              </a:spcBef>
              <a:spcAft>
                <a:spcPts val="0"/>
              </a:spcAft>
              <a:buClrTx/>
              <a:buSzTx/>
              <a:buFontTx/>
              <a:buNone/>
              <a:tabLst/>
              <a:defRPr sz="1180" b="0">
                <a:solidFill>
                  <a:srgbClr val="D2DEEC"/>
                </a:solidFill>
                <a:latin typeface="Source Sans 3"/>
              </a:defRPr>
            </a:pPr>
            <a:r>
              <a:rPr kumimoji="0" sz="1180" b="0" i="0" u="none" strike="noStrike" kern="1200" cap="none" spc="0" normalizeH="0" baseline="0" noProof="0">
                <a:ln>
                  <a:noFill/>
                </a:ln>
                <a:solidFill>
                  <a:srgbClr val="D2DEEC"/>
                </a:solidFill>
                <a:effectLst/>
                <a:uLnTx/>
                <a:uFillTx/>
                <a:latin typeface="Source Sans 3"/>
                <a:ea typeface="+mn-ea"/>
                <a:cs typeface="+mn-cs"/>
              </a:rPr>
              <a:t>Score status, limiting foundation and evidence confidence.</a:t>
            </a:r>
          </a:p>
        </p:txBody>
      </p:sp>
      <p:sp>
        <p:nvSpPr>
          <p:cNvPr id="15" name="Rounded Rectangle 14"/>
          <p:cNvSpPr/>
          <p:nvPr/>
        </p:nvSpPr>
        <p:spPr>
          <a:xfrm>
            <a:off x="351129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6" name="Rounded Rectangle 15"/>
          <p:cNvSpPr/>
          <p:nvPr/>
        </p:nvSpPr>
        <p:spPr>
          <a:xfrm>
            <a:off x="368503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7" name="TextBox 16"/>
          <p:cNvSpPr txBox="1"/>
          <p:nvPr/>
        </p:nvSpPr>
        <p:spPr>
          <a:xfrm>
            <a:off x="3685032" y="2479852"/>
            <a:ext cx="420624" cy="128016"/>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1000" b="1">
                <a:solidFill>
                  <a:srgbClr val="71F1F7"/>
                </a:solidFill>
                <a:latin typeface="Source Sans 3"/>
              </a:defRPr>
            </a:pPr>
            <a:r>
              <a:rPr kumimoji="0" sz="1000" b="1" i="0" u="none" strike="noStrike" kern="1200" cap="none" spc="0" normalizeH="0" baseline="0" noProof="0">
                <a:ln>
                  <a:noFill/>
                </a:ln>
                <a:solidFill>
                  <a:srgbClr val="71F1F7"/>
                </a:solidFill>
                <a:effectLst/>
                <a:uLnTx/>
                <a:uFillTx/>
                <a:latin typeface="Source Sans 3"/>
                <a:ea typeface="+mn-ea"/>
                <a:cs typeface="+mn-cs"/>
              </a:rPr>
              <a:t>02</a:t>
            </a:r>
          </a:p>
        </p:txBody>
      </p:sp>
      <p:sp>
        <p:nvSpPr>
          <p:cNvPr id="18" name="TextBox 17"/>
          <p:cNvSpPr txBox="1"/>
          <p:nvPr/>
        </p:nvSpPr>
        <p:spPr>
          <a:xfrm>
            <a:off x="3685032" y="2926080"/>
            <a:ext cx="2286000" cy="21031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8FFFDB"/>
                </a:solidFill>
                <a:latin typeface="Source Sans 3"/>
              </a:defRPr>
            </a:pPr>
            <a:r>
              <a:rPr kumimoji="0" sz="1000" b="1" i="0" u="none" strike="noStrike" kern="1200" cap="none" spc="0" normalizeH="0" baseline="0" noProof="0">
                <a:ln>
                  <a:noFill/>
                </a:ln>
                <a:solidFill>
                  <a:srgbClr val="8FFFDB"/>
                </a:solidFill>
                <a:effectLst/>
                <a:uLnTx/>
                <a:uFillTx/>
                <a:latin typeface="Source Sans 3"/>
                <a:ea typeface="+mn-ea"/>
                <a:cs typeface="+mn-cs"/>
              </a:rPr>
              <a:t>OPPORTUNITY</a:t>
            </a:r>
          </a:p>
        </p:txBody>
      </p:sp>
      <p:sp>
        <p:nvSpPr>
          <p:cNvPr id="19" name="TextBox 18"/>
          <p:cNvSpPr txBox="1"/>
          <p:nvPr/>
        </p:nvSpPr>
        <p:spPr>
          <a:xfrm>
            <a:off x="3685032" y="3273552"/>
            <a:ext cx="2386584" cy="676656"/>
          </a:xfrm>
          <a:prstGeom prst="rect">
            <a:avLst/>
          </a:prstGeom>
          <a:noFill/>
        </p:spPr>
        <p:txBody>
          <a:bodyPr wrap="square" lIns="0" tIns="0" rIns="0" bIns="0" anchor="t">
            <a:spAutoFit/>
          </a:bodyPr>
          <a:lstStyle/>
          <a:p>
            <a:pPr marL="0" marR="0" lvl="0" indent="0" algn="l" defTabSz="457040" rtl="0" eaLnBrk="1" fontAlgn="auto" latinLnBrk="0" hangingPunct="1">
              <a:lnSpc>
                <a:spcPct val="100000"/>
              </a:lnSpc>
              <a:spcBef>
                <a:spcPts val="0"/>
              </a:spcBef>
              <a:spcAft>
                <a:spcPts val="0"/>
              </a:spcAft>
              <a:buClrTx/>
              <a:buSzTx/>
              <a:buFontTx/>
              <a:buNone/>
              <a:tabLst/>
              <a:defRPr sz="2050" b="1">
                <a:solidFill>
                  <a:srgbClr val="FFFFFF"/>
                </a:solidFill>
                <a:latin typeface="Source Sans 3"/>
              </a:defRPr>
            </a:pPr>
            <a:r>
              <a:rPr kumimoji="0" sz="2050" b="1" i="0" u="none" strike="noStrike" kern="1200" cap="none" spc="0" normalizeH="0" baseline="0" noProof="0">
                <a:ln>
                  <a:noFill/>
                </a:ln>
                <a:solidFill>
                  <a:srgbClr val="FFFFFF"/>
                </a:solidFill>
                <a:effectLst/>
                <a:uLnTx/>
                <a:uFillTx/>
                <a:latin typeface="Source Sans 3"/>
                <a:ea typeface="+mn-ea"/>
                <a:cs typeface="+mn-cs"/>
              </a:rPr>
              <a:t>Where AI can help</a:t>
            </a:r>
          </a:p>
        </p:txBody>
      </p:sp>
      <p:sp>
        <p:nvSpPr>
          <p:cNvPr id="20" name="Rectangle 19"/>
          <p:cNvSpPr/>
          <p:nvPr/>
        </p:nvSpPr>
        <p:spPr>
          <a:xfrm>
            <a:off x="368503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1" name="TextBox 20"/>
          <p:cNvSpPr txBox="1"/>
          <p:nvPr/>
        </p:nvSpPr>
        <p:spPr>
          <a:xfrm>
            <a:off x="3685032" y="4224528"/>
            <a:ext cx="2377440" cy="34747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320" b="1">
                <a:solidFill>
                  <a:srgbClr val="F7CD7B"/>
                </a:solidFill>
                <a:latin typeface="Source Sans 3"/>
              </a:defRPr>
            </a:pPr>
            <a:r>
              <a:rPr kumimoji="0" sz="1320" b="1" i="0" u="none" strike="noStrike" kern="1200" cap="none" spc="0" normalizeH="0" baseline="0" noProof="0">
                <a:ln>
                  <a:noFill/>
                </a:ln>
                <a:solidFill>
                  <a:srgbClr val="F7CD7B"/>
                </a:solidFill>
                <a:effectLst/>
                <a:uLnTx/>
                <a:uFillTx/>
                <a:latin typeface="Source Sans 3"/>
                <a:ea typeface="+mn-ea"/>
                <a:cs typeface="+mn-cs"/>
              </a:rPr>
              <a:t>[Candidate first Zero]</a:t>
            </a:r>
          </a:p>
        </p:txBody>
      </p:sp>
      <p:sp>
        <p:nvSpPr>
          <p:cNvPr id="22" name="TextBox 21"/>
          <p:cNvSpPr txBox="1"/>
          <p:nvPr/>
        </p:nvSpPr>
        <p:spPr>
          <a:xfrm>
            <a:off x="3685032" y="4672584"/>
            <a:ext cx="2368296" cy="585216"/>
          </a:xfrm>
          <a:prstGeom prst="rect">
            <a:avLst/>
          </a:prstGeom>
          <a:noFill/>
        </p:spPr>
        <p:txBody>
          <a:bodyPr wrap="square" lIns="0" tIns="0" rIns="0" bIns="0" anchor="t">
            <a:spAutoFit/>
          </a:bodyPr>
          <a:lstStyle/>
          <a:p>
            <a:pPr marL="0" marR="0" lvl="0" indent="0" algn="l" defTabSz="457040" rtl="0" eaLnBrk="1" fontAlgn="auto" latinLnBrk="0" hangingPunct="1">
              <a:lnSpc>
                <a:spcPct val="110000"/>
              </a:lnSpc>
              <a:spcBef>
                <a:spcPts val="0"/>
              </a:spcBef>
              <a:spcAft>
                <a:spcPts val="0"/>
              </a:spcAft>
              <a:buClrTx/>
              <a:buSzTx/>
              <a:buFontTx/>
              <a:buNone/>
              <a:tabLst/>
              <a:defRPr sz="1180" b="0">
                <a:solidFill>
                  <a:srgbClr val="D2DEEC"/>
                </a:solidFill>
                <a:latin typeface="Source Sans 3"/>
              </a:defRPr>
            </a:pPr>
            <a:r>
              <a:rPr kumimoji="0" sz="1180" b="0" i="0" u="none" strike="noStrike" kern="1200" cap="none" spc="0" normalizeH="0" baseline="0" noProof="0">
                <a:ln>
                  <a:noFill/>
                </a:ln>
                <a:solidFill>
                  <a:srgbClr val="D2DEEC"/>
                </a:solidFill>
                <a:effectLst/>
                <a:uLnTx/>
                <a:uFillTx/>
                <a:latin typeface="Source Sans 3"/>
                <a:ea typeface="+mn-ea"/>
                <a:cs typeface="+mn-cs"/>
              </a:rPr>
              <a:t>Priority workflow, business pressure and potential value.</a:t>
            </a:r>
          </a:p>
        </p:txBody>
      </p:sp>
      <p:sp>
        <p:nvSpPr>
          <p:cNvPr id="23" name="Rounded Rectangle 22"/>
          <p:cNvSpPr/>
          <p:nvPr/>
        </p:nvSpPr>
        <p:spPr>
          <a:xfrm>
            <a:off x="643737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4" name="Rounded Rectangle 23"/>
          <p:cNvSpPr/>
          <p:nvPr/>
        </p:nvSpPr>
        <p:spPr>
          <a:xfrm>
            <a:off x="661111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5" name="TextBox 24"/>
          <p:cNvSpPr txBox="1"/>
          <p:nvPr/>
        </p:nvSpPr>
        <p:spPr>
          <a:xfrm>
            <a:off x="6611112" y="2479852"/>
            <a:ext cx="420624" cy="128016"/>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1000" b="1">
                <a:solidFill>
                  <a:srgbClr val="71F1F7"/>
                </a:solidFill>
                <a:latin typeface="Source Sans 3"/>
              </a:defRPr>
            </a:pPr>
            <a:r>
              <a:rPr kumimoji="0" sz="1000" b="1" i="0" u="none" strike="noStrike" kern="1200" cap="none" spc="0" normalizeH="0" baseline="0" noProof="0">
                <a:ln>
                  <a:noFill/>
                </a:ln>
                <a:solidFill>
                  <a:srgbClr val="71F1F7"/>
                </a:solidFill>
                <a:effectLst/>
                <a:uLnTx/>
                <a:uFillTx/>
                <a:latin typeface="Source Sans 3"/>
                <a:ea typeface="+mn-ea"/>
                <a:cs typeface="+mn-cs"/>
              </a:rPr>
              <a:t>03</a:t>
            </a:r>
          </a:p>
        </p:txBody>
      </p:sp>
      <p:sp>
        <p:nvSpPr>
          <p:cNvPr id="26" name="TextBox 25"/>
          <p:cNvSpPr txBox="1"/>
          <p:nvPr/>
        </p:nvSpPr>
        <p:spPr>
          <a:xfrm>
            <a:off x="6611112" y="2926080"/>
            <a:ext cx="2286000" cy="21031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8FFFDB"/>
                </a:solidFill>
                <a:latin typeface="Source Sans 3"/>
              </a:defRPr>
            </a:pPr>
            <a:r>
              <a:rPr kumimoji="0" sz="1000" b="1" i="0" u="none" strike="noStrike" kern="1200" cap="none" spc="0" normalizeH="0" baseline="0" noProof="0">
                <a:ln>
                  <a:noFill/>
                </a:ln>
                <a:solidFill>
                  <a:srgbClr val="8FFFDB"/>
                </a:solidFill>
                <a:effectLst/>
                <a:uLnTx/>
                <a:uFillTx/>
                <a:latin typeface="Source Sans 3"/>
                <a:ea typeface="+mn-ea"/>
                <a:cs typeface="+mn-cs"/>
              </a:rPr>
              <a:t>CONSUMPTION</a:t>
            </a:r>
          </a:p>
        </p:txBody>
      </p:sp>
      <p:sp>
        <p:nvSpPr>
          <p:cNvPr id="27" name="TextBox 26"/>
          <p:cNvSpPr txBox="1"/>
          <p:nvPr/>
        </p:nvSpPr>
        <p:spPr>
          <a:xfrm>
            <a:off x="6611112" y="3273552"/>
            <a:ext cx="2386584" cy="676656"/>
          </a:xfrm>
          <a:prstGeom prst="rect">
            <a:avLst/>
          </a:prstGeom>
          <a:noFill/>
        </p:spPr>
        <p:txBody>
          <a:bodyPr wrap="square" lIns="0" tIns="0" rIns="0" bIns="0" anchor="t">
            <a:spAutoFit/>
          </a:bodyPr>
          <a:lstStyle/>
          <a:p>
            <a:pPr marL="0" marR="0" lvl="0" indent="0" algn="l" defTabSz="457040" rtl="0" eaLnBrk="1" fontAlgn="auto" latinLnBrk="0" hangingPunct="1">
              <a:lnSpc>
                <a:spcPct val="100000"/>
              </a:lnSpc>
              <a:spcBef>
                <a:spcPts val="0"/>
              </a:spcBef>
              <a:spcAft>
                <a:spcPts val="0"/>
              </a:spcAft>
              <a:buClrTx/>
              <a:buSzTx/>
              <a:buFontTx/>
              <a:buNone/>
              <a:tabLst/>
              <a:defRPr sz="2050" b="1">
                <a:solidFill>
                  <a:srgbClr val="FFFFFF"/>
                </a:solidFill>
                <a:latin typeface="Source Sans 3"/>
              </a:defRPr>
            </a:pPr>
            <a:r>
              <a:rPr kumimoji="0" sz="2050" b="1" i="0" u="none" strike="noStrike" kern="1200" cap="none" spc="0" normalizeH="0" baseline="0" noProof="0">
                <a:ln>
                  <a:noFill/>
                </a:ln>
                <a:solidFill>
                  <a:srgbClr val="FFFFFF"/>
                </a:solidFill>
                <a:effectLst/>
                <a:uLnTx/>
                <a:uFillTx/>
                <a:latin typeface="Source Sans 3"/>
                <a:ea typeface="+mn-ea"/>
                <a:cs typeface="+mn-cs"/>
              </a:rPr>
              <a:t>What it may use</a:t>
            </a:r>
          </a:p>
        </p:txBody>
      </p:sp>
      <p:sp>
        <p:nvSpPr>
          <p:cNvPr id="28" name="Rectangle 27"/>
          <p:cNvSpPr/>
          <p:nvPr/>
        </p:nvSpPr>
        <p:spPr>
          <a:xfrm>
            <a:off x="661111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9" name="TextBox 28"/>
          <p:cNvSpPr txBox="1"/>
          <p:nvPr/>
        </p:nvSpPr>
        <p:spPr>
          <a:xfrm>
            <a:off x="6611112" y="4224528"/>
            <a:ext cx="2377440" cy="34747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320" b="1">
                <a:solidFill>
                  <a:srgbClr val="F7CD7B"/>
                </a:solidFill>
                <a:latin typeface="Source Sans 3"/>
              </a:defRPr>
            </a:pPr>
            <a:r>
              <a:rPr kumimoji="0" sz="1320" b="1" i="0" u="none" strike="noStrike" kern="1200" cap="none" spc="0" normalizeH="0" baseline="0" noProof="0">
                <a:ln>
                  <a:noFill/>
                </a:ln>
                <a:solidFill>
                  <a:srgbClr val="F7CD7B"/>
                </a:solidFill>
                <a:effectLst/>
                <a:uLnTx/>
                <a:uFillTx/>
                <a:latin typeface="Source Sans 3"/>
                <a:ea typeface="+mn-ea"/>
                <a:cs typeface="+mn-cs"/>
              </a:rPr>
              <a:t>[Assist / tier finding]</a:t>
            </a:r>
          </a:p>
        </p:txBody>
      </p:sp>
      <p:sp>
        <p:nvSpPr>
          <p:cNvPr id="30" name="TextBox 29"/>
          <p:cNvSpPr txBox="1"/>
          <p:nvPr/>
        </p:nvSpPr>
        <p:spPr>
          <a:xfrm>
            <a:off x="6611112" y="4672584"/>
            <a:ext cx="2368296" cy="585216"/>
          </a:xfrm>
          <a:prstGeom prst="rect">
            <a:avLst/>
          </a:prstGeom>
          <a:noFill/>
        </p:spPr>
        <p:txBody>
          <a:bodyPr wrap="square" lIns="0" tIns="0" rIns="0" bIns="0" anchor="t">
            <a:spAutoFit/>
          </a:bodyPr>
          <a:lstStyle/>
          <a:p>
            <a:pPr marL="0" marR="0" lvl="0" indent="0" algn="l" defTabSz="457040" rtl="0" eaLnBrk="1" fontAlgn="auto" latinLnBrk="0" hangingPunct="1">
              <a:lnSpc>
                <a:spcPct val="110000"/>
              </a:lnSpc>
              <a:spcBef>
                <a:spcPts val="0"/>
              </a:spcBef>
              <a:spcAft>
                <a:spcPts val="0"/>
              </a:spcAft>
              <a:buClrTx/>
              <a:buSzTx/>
              <a:buFontTx/>
              <a:buNone/>
              <a:tabLst/>
              <a:defRPr sz="1180" b="0">
                <a:solidFill>
                  <a:srgbClr val="D2DEEC"/>
                </a:solidFill>
                <a:latin typeface="Source Sans 3"/>
              </a:defRPr>
            </a:pPr>
            <a:r>
              <a:rPr kumimoji="0" sz="1180" b="0" i="0" u="none" strike="noStrike" kern="1200" cap="none" spc="0" normalizeH="0" baseline="0" noProof="0">
                <a:ln>
                  <a:noFill/>
                </a:ln>
                <a:solidFill>
                  <a:srgbClr val="D2DEEC"/>
                </a:solidFill>
                <a:effectLst/>
                <a:uLnTx/>
                <a:uFillTx/>
                <a:latin typeface="Source Sans 3"/>
                <a:ea typeface="+mn-ea"/>
                <a:cs typeface="+mn-cs"/>
              </a:rPr>
              <a:t>Run volumes, complexity and entitlement assumptions.</a:t>
            </a:r>
          </a:p>
        </p:txBody>
      </p:sp>
      <p:sp>
        <p:nvSpPr>
          <p:cNvPr id="31" name="Rounded Rectangle 30"/>
          <p:cNvSpPr/>
          <p:nvPr/>
        </p:nvSpPr>
        <p:spPr>
          <a:xfrm>
            <a:off x="9363456" y="2221992"/>
            <a:ext cx="2734056" cy="3236976"/>
          </a:xfrm>
          <a:prstGeom prst="roundRect">
            <a:avLst>
              <a:gd name="adj" fmla="val 11000"/>
            </a:avLst>
          </a:prstGeom>
          <a:solidFill>
            <a:srgbClr val="10254B"/>
          </a:solidFill>
          <a:ln w="11430">
            <a:solidFill>
              <a:srgbClr val="345777"/>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32" name="Rounded Rectangle 31"/>
          <p:cNvSpPr/>
          <p:nvPr/>
        </p:nvSpPr>
        <p:spPr>
          <a:xfrm>
            <a:off x="9537192" y="2404872"/>
            <a:ext cx="420624" cy="365760"/>
          </a:xfrm>
          <a:prstGeom prst="roundRect">
            <a:avLst>
              <a:gd name="adj" fmla="val 11000"/>
            </a:avLst>
          </a:prstGeom>
          <a:solidFill>
            <a:srgbClr val="1D52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33" name="TextBox 32"/>
          <p:cNvSpPr txBox="1"/>
          <p:nvPr/>
        </p:nvSpPr>
        <p:spPr>
          <a:xfrm>
            <a:off x="9537192" y="2479852"/>
            <a:ext cx="420624" cy="128016"/>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1000" b="1">
                <a:solidFill>
                  <a:srgbClr val="71F1F7"/>
                </a:solidFill>
                <a:latin typeface="Source Sans 3"/>
              </a:defRPr>
            </a:pPr>
            <a:r>
              <a:rPr kumimoji="0" sz="1000" b="1" i="0" u="none" strike="noStrike" kern="1200" cap="none" spc="0" normalizeH="0" baseline="0" noProof="0">
                <a:ln>
                  <a:noFill/>
                </a:ln>
                <a:solidFill>
                  <a:srgbClr val="71F1F7"/>
                </a:solidFill>
                <a:effectLst/>
                <a:uLnTx/>
                <a:uFillTx/>
                <a:latin typeface="Source Sans 3"/>
                <a:ea typeface="+mn-ea"/>
                <a:cs typeface="+mn-cs"/>
              </a:rPr>
              <a:t>04</a:t>
            </a:r>
          </a:p>
        </p:txBody>
      </p:sp>
      <p:sp>
        <p:nvSpPr>
          <p:cNvPr id="34" name="TextBox 33"/>
          <p:cNvSpPr txBox="1"/>
          <p:nvPr/>
        </p:nvSpPr>
        <p:spPr>
          <a:xfrm>
            <a:off x="9537192" y="2926080"/>
            <a:ext cx="2286000" cy="21031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8FFFDB"/>
                </a:solidFill>
                <a:latin typeface="Source Sans 3"/>
              </a:defRPr>
            </a:pPr>
            <a:r>
              <a:rPr kumimoji="0" sz="1000" b="1" i="0" u="none" strike="noStrike" kern="1200" cap="none" spc="0" normalizeH="0" baseline="0" noProof="0">
                <a:ln>
                  <a:noFill/>
                </a:ln>
                <a:solidFill>
                  <a:srgbClr val="8FFFDB"/>
                </a:solidFill>
                <a:effectLst/>
                <a:uLnTx/>
                <a:uFillTx/>
                <a:latin typeface="Source Sans 3"/>
                <a:ea typeface="+mn-ea"/>
                <a:cs typeface="+mn-cs"/>
              </a:rPr>
              <a:t>CONTROL</a:t>
            </a:r>
          </a:p>
        </p:txBody>
      </p:sp>
      <p:sp>
        <p:nvSpPr>
          <p:cNvPr id="35" name="TextBox 34"/>
          <p:cNvSpPr txBox="1"/>
          <p:nvPr/>
        </p:nvSpPr>
        <p:spPr>
          <a:xfrm>
            <a:off x="9537192" y="3273552"/>
            <a:ext cx="2386584" cy="676656"/>
          </a:xfrm>
          <a:prstGeom prst="rect">
            <a:avLst/>
          </a:prstGeom>
          <a:noFill/>
        </p:spPr>
        <p:txBody>
          <a:bodyPr wrap="square" lIns="0" tIns="0" rIns="0" bIns="0" anchor="t">
            <a:spAutoFit/>
          </a:bodyPr>
          <a:lstStyle/>
          <a:p>
            <a:pPr marL="0" marR="0" lvl="0" indent="0" algn="l" defTabSz="457040" rtl="0" eaLnBrk="1" fontAlgn="auto" latinLnBrk="0" hangingPunct="1">
              <a:lnSpc>
                <a:spcPct val="100000"/>
              </a:lnSpc>
              <a:spcBef>
                <a:spcPts val="0"/>
              </a:spcBef>
              <a:spcAft>
                <a:spcPts val="0"/>
              </a:spcAft>
              <a:buClrTx/>
              <a:buSzTx/>
              <a:buFontTx/>
              <a:buNone/>
              <a:tabLst/>
              <a:defRPr sz="2050" b="1">
                <a:solidFill>
                  <a:srgbClr val="FFFFFF"/>
                </a:solidFill>
                <a:latin typeface="Source Sans 3"/>
              </a:defRPr>
            </a:pPr>
            <a:r>
              <a:rPr kumimoji="0" sz="2050" b="1" i="0" u="none" strike="noStrike" kern="1200" cap="none" spc="0" normalizeH="0" baseline="0" noProof="0">
                <a:ln>
                  <a:noFill/>
                </a:ln>
                <a:solidFill>
                  <a:srgbClr val="FFFFFF"/>
                </a:solidFill>
                <a:effectLst/>
                <a:uLnTx/>
                <a:uFillTx/>
                <a:latin typeface="Source Sans 3"/>
                <a:ea typeface="+mn-ea"/>
                <a:cs typeface="+mn-cs"/>
              </a:rPr>
              <a:t>What must be true</a:t>
            </a:r>
          </a:p>
        </p:txBody>
      </p:sp>
      <p:sp>
        <p:nvSpPr>
          <p:cNvPr id="36" name="Rectangle 35"/>
          <p:cNvSpPr/>
          <p:nvPr/>
        </p:nvSpPr>
        <p:spPr>
          <a:xfrm>
            <a:off x="9537192" y="4069080"/>
            <a:ext cx="2359152" cy="9144"/>
          </a:xfrm>
          <a:prstGeom prst="rect">
            <a:avLst/>
          </a:prstGeom>
          <a:solidFill>
            <a:srgbClr val="355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37" name="TextBox 36"/>
          <p:cNvSpPr txBox="1"/>
          <p:nvPr/>
        </p:nvSpPr>
        <p:spPr>
          <a:xfrm>
            <a:off x="9537192" y="4224528"/>
            <a:ext cx="2377440" cy="34747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320" b="1">
                <a:solidFill>
                  <a:srgbClr val="F7CD7B"/>
                </a:solidFill>
                <a:latin typeface="Source Sans 3"/>
              </a:defRPr>
            </a:pPr>
            <a:r>
              <a:rPr kumimoji="0" sz="1320" b="1" i="0" u="none" strike="noStrike" kern="1200" cap="none" spc="0" normalizeH="0" baseline="0" noProof="0">
                <a:ln>
                  <a:noFill/>
                </a:ln>
                <a:solidFill>
                  <a:srgbClr val="F7CD7B"/>
                </a:solidFill>
                <a:effectLst/>
                <a:uLnTx/>
                <a:uFillTx/>
                <a:latin typeface="Source Sans 3"/>
                <a:ea typeface="+mn-ea"/>
                <a:cs typeface="+mn-cs"/>
              </a:rPr>
              <a:t>[Permission and owner]</a:t>
            </a:r>
          </a:p>
        </p:txBody>
      </p:sp>
      <p:sp>
        <p:nvSpPr>
          <p:cNvPr id="38" name="TextBox 37"/>
          <p:cNvSpPr txBox="1"/>
          <p:nvPr/>
        </p:nvSpPr>
        <p:spPr>
          <a:xfrm>
            <a:off x="9537192" y="4672584"/>
            <a:ext cx="2368296" cy="585216"/>
          </a:xfrm>
          <a:prstGeom prst="rect">
            <a:avLst/>
          </a:prstGeom>
          <a:noFill/>
        </p:spPr>
        <p:txBody>
          <a:bodyPr wrap="square" lIns="0" tIns="0" rIns="0" bIns="0" anchor="t">
            <a:spAutoFit/>
          </a:bodyPr>
          <a:lstStyle/>
          <a:p>
            <a:pPr marL="0" marR="0" lvl="0" indent="0" algn="l" defTabSz="457040" rtl="0" eaLnBrk="1" fontAlgn="auto" latinLnBrk="0" hangingPunct="1">
              <a:lnSpc>
                <a:spcPct val="110000"/>
              </a:lnSpc>
              <a:spcBef>
                <a:spcPts val="0"/>
              </a:spcBef>
              <a:spcAft>
                <a:spcPts val="0"/>
              </a:spcAft>
              <a:buClrTx/>
              <a:buSzTx/>
              <a:buFontTx/>
              <a:buNone/>
              <a:tabLst/>
              <a:defRPr sz="1180" b="0">
                <a:solidFill>
                  <a:srgbClr val="D2DEEC"/>
                </a:solidFill>
                <a:latin typeface="Source Sans 3"/>
              </a:defRPr>
            </a:pPr>
            <a:r>
              <a:rPr kumimoji="0" sz="1180" b="0" i="0" u="none" strike="noStrike" kern="1200" cap="none" spc="0" normalizeH="0" baseline="0" noProof="0">
                <a:ln>
                  <a:noFill/>
                </a:ln>
                <a:solidFill>
                  <a:srgbClr val="D2DEEC"/>
                </a:solidFill>
                <a:effectLst/>
                <a:uLnTx/>
                <a:uFillTx/>
                <a:latin typeface="Source Sans 3"/>
                <a:ea typeface="+mn-ea"/>
                <a:cs typeface="+mn-cs"/>
              </a:rPr>
              <a:t>Approval boundaries, exceptions and accountable ownership.</a:t>
            </a:r>
          </a:p>
        </p:txBody>
      </p:sp>
      <p:sp>
        <p:nvSpPr>
          <p:cNvPr id="39" name="Rounded Rectangle 38"/>
          <p:cNvSpPr/>
          <p:nvPr/>
        </p:nvSpPr>
        <p:spPr>
          <a:xfrm>
            <a:off x="594360" y="5687568"/>
            <a:ext cx="11000232" cy="502920"/>
          </a:xfrm>
          <a:prstGeom prst="roundRect">
            <a:avLst>
              <a:gd name="adj" fmla="val 11000"/>
            </a:avLst>
          </a:prstGeom>
          <a:solidFill>
            <a:srgbClr val="14345B"/>
          </a:solidFill>
          <a:ln w="8890">
            <a:solidFill>
              <a:srgbClr val="35698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40" name="TextBox 39"/>
          <p:cNvSpPr txBox="1"/>
          <p:nvPr/>
        </p:nvSpPr>
        <p:spPr>
          <a:xfrm>
            <a:off x="795528" y="5843016"/>
            <a:ext cx="1335024" cy="182880"/>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950" b="1">
                <a:solidFill>
                  <a:srgbClr val="8FFFDB"/>
                </a:solidFill>
                <a:latin typeface="Source Sans 3"/>
              </a:defRPr>
            </a:pPr>
            <a:r>
              <a:rPr kumimoji="0" sz="950" b="1" i="0" u="none" strike="noStrike" kern="1200" cap="none" spc="0" normalizeH="0" baseline="0" noProof="0">
                <a:ln>
                  <a:noFill/>
                </a:ln>
                <a:solidFill>
                  <a:srgbClr val="8FFFDB"/>
                </a:solidFill>
                <a:effectLst/>
                <a:uLnTx/>
                <a:uFillTx/>
                <a:latin typeface="Source Sans 3"/>
                <a:ea typeface="+mn-ea"/>
                <a:cs typeface="+mn-cs"/>
              </a:rPr>
              <a:t>ASSESSMENT OUTPUT</a:t>
            </a:r>
          </a:p>
        </p:txBody>
      </p:sp>
      <p:sp>
        <p:nvSpPr>
          <p:cNvPr id="41" name="TextBox 40"/>
          <p:cNvSpPr txBox="1"/>
          <p:nvPr/>
        </p:nvSpPr>
        <p:spPr>
          <a:xfrm>
            <a:off x="2441448" y="5815584"/>
            <a:ext cx="8869680" cy="246888"/>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280" b="0">
                <a:solidFill>
                  <a:srgbClr val="FFFFFF"/>
                </a:solidFill>
                <a:latin typeface="Source Sans 3"/>
              </a:defRPr>
            </a:pPr>
            <a:r>
              <a:rPr kumimoji="0" sz="1280" b="0" i="0" u="none" strike="noStrike" kern="1200" cap="none" spc="0" normalizeH="0" baseline="0" noProof="0">
                <a:ln>
                  <a:noFill/>
                </a:ln>
                <a:solidFill>
                  <a:srgbClr val="FFFFFF"/>
                </a:solidFill>
                <a:effectLst/>
                <a:uLnTx/>
                <a:uFillTx/>
                <a:latin typeface="Source Sans 3"/>
                <a:ea typeface="+mn-ea"/>
                <a:cs typeface="+mn-cs"/>
              </a:rPr>
              <a:t>AI Readiness Decision Brief  →  Proposed first outcome, with unknowns clearly identified.</a:t>
            </a:r>
          </a:p>
        </p:txBody>
      </p:sp>
      <p:sp>
        <p:nvSpPr>
          <p:cNvPr id="42" name="Rectangle 41"/>
          <p:cNvSpPr/>
          <p:nvPr/>
        </p:nvSpPr>
        <p:spPr>
          <a:xfrm>
            <a:off x="566928" y="6473952"/>
            <a:ext cx="11036808" cy="10972"/>
          </a:xfrm>
          <a:prstGeom prst="rect">
            <a:avLst/>
          </a:prstGeom>
          <a:solidFill>
            <a:srgbClr val="294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pic>
        <p:nvPicPr>
          <p:cNvPr id="43" name="Picture 42" descr="road-to-zero-crossfuze-logo.png"/>
          <p:cNvPicPr>
            <a:picLocks noChangeAspect="1"/>
          </p:cNvPicPr>
          <p:nvPr/>
        </p:nvPicPr>
        <p:blipFill>
          <a:blip r:embed="rId4"/>
          <a:stretch>
            <a:fillRect/>
          </a:stretch>
        </p:blipFill>
        <p:spPr>
          <a:xfrm>
            <a:off x="585216" y="6547104"/>
            <a:ext cx="1024128" cy="175439"/>
          </a:xfrm>
          <a:prstGeom prst="rect">
            <a:avLst/>
          </a:prstGeom>
        </p:spPr>
      </p:pic>
      <p:sp>
        <p:nvSpPr>
          <p:cNvPr id="44" name="TextBox 43"/>
          <p:cNvSpPr txBox="1"/>
          <p:nvPr/>
        </p:nvSpPr>
        <p:spPr>
          <a:xfrm>
            <a:off x="7040880" y="6565392"/>
            <a:ext cx="4059936" cy="155448"/>
          </a:xfrm>
          <a:prstGeom prst="rect">
            <a:avLst/>
          </a:prstGeom>
          <a:noFill/>
        </p:spPr>
        <p:txBody>
          <a:bodyPr wrap="square" lIns="0" tIns="0" rIns="0" bIns="0" anchor="t">
            <a:spAutoFit/>
          </a:bodyPr>
          <a:lstStyle/>
          <a:p>
            <a:pPr marL="0" marR="0" lvl="0" indent="0" algn="r" defTabSz="457040" rtl="0" eaLnBrk="1" fontAlgn="auto" latinLnBrk="0" hangingPunct="1">
              <a:lnSpc>
                <a:spcPct val="104000"/>
              </a:lnSpc>
              <a:spcBef>
                <a:spcPts val="0"/>
              </a:spcBef>
              <a:spcAft>
                <a:spcPts val="0"/>
              </a:spcAft>
              <a:buClrTx/>
              <a:buSzTx/>
              <a:buFontTx/>
              <a:buNone/>
              <a:tabLst/>
              <a:defRPr sz="800" b="0">
                <a:solidFill>
                  <a:srgbClr val="9FB4CF"/>
                </a:solidFill>
                <a:latin typeface="Source Sans 3"/>
              </a:defRPr>
            </a:pPr>
            <a:r>
              <a:rPr kumimoji="0" sz="800" b="0" i="0" u="none" strike="noStrike" kern="1200" cap="none" spc="0" normalizeH="0" baseline="0" noProof="0">
                <a:ln>
                  <a:noFill/>
                </a:ln>
                <a:solidFill>
                  <a:srgbClr val="9FB4CF"/>
                </a:solidFill>
                <a:effectLst/>
                <a:uLnTx/>
                <a:uFillTx/>
                <a:latin typeface="Source Sans 3"/>
                <a:ea typeface="+mn-ea"/>
                <a:cs typeface="+mn-cs"/>
              </a:rPr>
              <a:t>CROSSFUZE  /  AUTONOMOUS IT  ·  ROAD TO ZERO</a:t>
            </a:r>
          </a:p>
        </p:txBody>
      </p:sp>
      <p:sp>
        <p:nvSpPr>
          <p:cNvPr id="45" name="TextBox 44"/>
          <p:cNvSpPr txBox="1"/>
          <p:nvPr/>
        </p:nvSpPr>
        <p:spPr>
          <a:xfrm>
            <a:off x="11301984" y="6547104"/>
            <a:ext cx="310896" cy="164592"/>
          </a:xfrm>
          <a:prstGeom prst="rect">
            <a:avLst/>
          </a:prstGeom>
          <a:noFill/>
        </p:spPr>
        <p:txBody>
          <a:bodyPr wrap="square" lIns="0" tIns="0" rIns="0" bIns="0" anchor="t">
            <a:spAutoFit/>
          </a:bodyPr>
          <a:lstStyle/>
          <a:p>
            <a:pPr marL="0" marR="0" lvl="0" indent="0" algn="r" defTabSz="457040" rtl="0" eaLnBrk="1" fontAlgn="auto" latinLnBrk="0" hangingPunct="1">
              <a:lnSpc>
                <a:spcPct val="104000"/>
              </a:lnSpc>
              <a:spcBef>
                <a:spcPts val="0"/>
              </a:spcBef>
              <a:spcAft>
                <a:spcPts val="0"/>
              </a:spcAft>
              <a:buClrTx/>
              <a:buSzTx/>
              <a:buFontTx/>
              <a:buNone/>
              <a:tabLst/>
              <a:defRPr sz="900" b="1">
                <a:solidFill>
                  <a:srgbClr val="9FB4CF"/>
                </a:solidFill>
                <a:latin typeface="Source Sans 3"/>
              </a:defRPr>
            </a:pPr>
            <a:r>
              <a:rPr kumimoji="0" sz="900" b="1" i="0" u="none" strike="noStrike" kern="1200" cap="none" spc="0" normalizeH="0" baseline="0" noProof="0">
                <a:ln>
                  <a:noFill/>
                </a:ln>
                <a:solidFill>
                  <a:srgbClr val="9FB4CF"/>
                </a:solidFill>
                <a:effectLst/>
                <a:uLnTx/>
                <a:uFillTx/>
                <a:latin typeface="Source Sans 3"/>
                <a:ea typeface="+mn-ea"/>
                <a:cs typeface="+mn-cs"/>
              </a:rPr>
              <a:t>03</a:t>
            </a:r>
          </a:p>
        </p:txBody>
      </p:sp>
    </p:spTree>
    <p:extLst>
      <p:ext uri="{BB962C8B-B14F-4D97-AF65-F5344CB8AC3E}">
        <p14:creationId xmlns:p14="http://schemas.microsoft.com/office/powerpoint/2010/main" val="158821115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88824"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3" name="Rectangle 2"/>
          <p:cNvSpPr/>
          <p:nvPr/>
        </p:nvSpPr>
        <p:spPr>
          <a:xfrm>
            <a:off x="0" y="0"/>
            <a:ext cx="12188952" cy="91440"/>
          </a:xfrm>
          <a:prstGeom prst="rect">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4" name="Rectangle 3"/>
          <p:cNvSpPr/>
          <p:nvPr/>
        </p:nvSpPr>
        <p:spPr>
          <a:xfrm>
            <a:off x="594360" y="493776"/>
            <a:ext cx="50292" cy="237744"/>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5" name="TextBox 4"/>
          <p:cNvSpPr txBox="1"/>
          <p:nvPr/>
        </p:nvSpPr>
        <p:spPr>
          <a:xfrm>
            <a:off x="758952" y="502920"/>
            <a:ext cx="6858000" cy="201168"/>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19" b="1">
                <a:solidFill>
                  <a:srgbClr val="217E94"/>
                </a:solidFill>
                <a:latin typeface="Source Sans 3"/>
              </a:defRPr>
            </a:pPr>
            <a:r>
              <a:rPr kumimoji="0" sz="1019" b="1" i="0" u="none" strike="noStrike" kern="1200" cap="none" spc="0" normalizeH="0" baseline="0" noProof="0">
                <a:ln>
                  <a:noFill/>
                </a:ln>
                <a:solidFill>
                  <a:srgbClr val="217E94"/>
                </a:solidFill>
                <a:effectLst/>
                <a:uLnTx/>
                <a:uFillTx/>
                <a:latin typeface="Source Sans 3"/>
                <a:ea typeface="+mn-ea"/>
                <a:cs typeface="+mn-cs"/>
              </a:rPr>
              <a:t>STAGE 02   /   OUTCOME RECOMMENDATION</a:t>
            </a:r>
          </a:p>
        </p:txBody>
      </p:sp>
      <p:sp>
        <p:nvSpPr>
          <p:cNvPr id="6" name="TextBox 5"/>
          <p:cNvSpPr txBox="1"/>
          <p:nvPr/>
        </p:nvSpPr>
        <p:spPr>
          <a:xfrm>
            <a:off x="594360" y="877824"/>
            <a:ext cx="10881360" cy="53035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3250" b="1">
                <a:solidFill>
                  <a:srgbClr val="040E3D"/>
                </a:solidFill>
                <a:latin typeface="Source Sans 3"/>
              </a:defRPr>
            </a:pPr>
            <a:r>
              <a:rPr kumimoji="0" sz="3250" b="1" i="0" u="none" strike="noStrike" kern="1200" cap="none" spc="0" normalizeH="0" baseline="0" noProof="0">
                <a:ln>
                  <a:noFill/>
                </a:ln>
                <a:solidFill>
                  <a:srgbClr val="040E3D"/>
                </a:solidFill>
                <a:effectLst/>
                <a:uLnTx/>
                <a:uFillTx/>
                <a:latin typeface="Source Sans 3"/>
                <a:ea typeface="+mn-ea"/>
                <a:cs typeface="+mn-cs"/>
              </a:rPr>
              <a:t>Which Zero should we pursue first?</a:t>
            </a:r>
          </a:p>
        </p:txBody>
      </p:sp>
      <p:sp>
        <p:nvSpPr>
          <p:cNvPr id="7" name="TextBox 6"/>
          <p:cNvSpPr txBox="1"/>
          <p:nvPr/>
        </p:nvSpPr>
        <p:spPr>
          <a:xfrm>
            <a:off x="594360" y="1508760"/>
            <a:ext cx="10881360" cy="475488"/>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500" b="0">
                <a:solidFill>
                  <a:srgbClr val="586985"/>
                </a:solidFill>
                <a:latin typeface="Source Sans 3"/>
              </a:defRPr>
            </a:pPr>
            <a:r>
              <a:rPr kumimoji="0" sz="1500" b="0" i="0" u="none" strike="noStrike" kern="1200" cap="none" spc="0" normalizeH="0" baseline="0" noProof="0">
                <a:ln>
                  <a:noFill/>
                </a:ln>
                <a:solidFill>
                  <a:srgbClr val="586985"/>
                </a:solidFill>
                <a:effectLst/>
                <a:uLnTx/>
                <a:uFillTx/>
                <a:latin typeface="Source Sans 3"/>
                <a:ea typeface="+mn-ea"/>
                <a:cs typeface="+mn-cs"/>
              </a:rPr>
              <a:t>Choose the first controlled workflow where business value, readiness and deliverability intersect.</a:t>
            </a:r>
          </a:p>
        </p:txBody>
      </p:sp>
      <p:sp>
        <p:nvSpPr>
          <p:cNvPr id="8" name="Rounded Rectangle 7"/>
          <p:cNvSpPr/>
          <p:nvPr/>
        </p:nvSpPr>
        <p:spPr>
          <a:xfrm>
            <a:off x="594360" y="2194560"/>
            <a:ext cx="5614416" cy="3337560"/>
          </a:xfrm>
          <a:prstGeom prst="roundRect">
            <a:avLst>
              <a:gd name="adj" fmla="val 11000"/>
            </a:avLst>
          </a:prstGeom>
          <a:solidFill>
            <a:srgbClr val="EEF8F9"/>
          </a:solidFill>
          <a:ln w="12700">
            <a:solidFill>
              <a:srgbClr val="CCE6E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9" name="Rectangle 8"/>
          <p:cNvSpPr/>
          <p:nvPr/>
        </p:nvSpPr>
        <p:spPr>
          <a:xfrm>
            <a:off x="594360" y="2194560"/>
            <a:ext cx="82296" cy="3337560"/>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0" name="TextBox 9"/>
          <p:cNvSpPr txBox="1"/>
          <p:nvPr/>
        </p:nvSpPr>
        <p:spPr>
          <a:xfrm>
            <a:off x="896112" y="2514600"/>
            <a:ext cx="4754880" cy="228600"/>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50" b="1">
                <a:solidFill>
                  <a:srgbClr val="147B8E"/>
                </a:solidFill>
                <a:latin typeface="Source Sans 3"/>
              </a:defRPr>
            </a:pPr>
            <a:r>
              <a:rPr kumimoji="0" sz="1050" b="1" i="0" u="none" strike="noStrike" kern="1200" cap="none" spc="0" normalizeH="0" baseline="0" noProof="0">
                <a:ln>
                  <a:noFill/>
                </a:ln>
                <a:solidFill>
                  <a:srgbClr val="147B8E"/>
                </a:solidFill>
                <a:effectLst/>
                <a:uLnTx/>
                <a:uFillTx/>
                <a:latin typeface="Source Sans 3"/>
                <a:ea typeface="+mn-ea"/>
                <a:cs typeface="+mn-cs"/>
              </a:rPr>
              <a:t>RECOMMENDED FIRST ZERO</a:t>
            </a:r>
          </a:p>
        </p:txBody>
      </p:sp>
      <p:sp>
        <p:nvSpPr>
          <p:cNvPr id="11" name="TextBox 10"/>
          <p:cNvSpPr txBox="1"/>
          <p:nvPr/>
        </p:nvSpPr>
        <p:spPr>
          <a:xfrm>
            <a:off x="896112" y="2953512"/>
            <a:ext cx="5001768" cy="502920"/>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3000" b="1">
                <a:solidFill>
                  <a:srgbClr val="040E3D"/>
                </a:solidFill>
                <a:latin typeface="Source Sans 3"/>
              </a:defRPr>
            </a:pPr>
            <a:r>
              <a:rPr kumimoji="0" sz="3000" b="1" i="0" u="none" strike="noStrike" kern="1200" cap="none" spc="0" normalizeH="0" baseline="0" noProof="0">
                <a:ln>
                  <a:noFill/>
                </a:ln>
                <a:solidFill>
                  <a:srgbClr val="040E3D"/>
                </a:solidFill>
                <a:effectLst/>
                <a:uLnTx/>
                <a:uFillTx/>
                <a:latin typeface="Source Sans 3"/>
                <a:ea typeface="+mn-ea"/>
                <a:cs typeface="+mn-cs"/>
              </a:rPr>
              <a:t>[Selected Zero]</a:t>
            </a:r>
          </a:p>
        </p:txBody>
      </p:sp>
      <p:sp>
        <p:nvSpPr>
          <p:cNvPr id="12" name="TextBox 11"/>
          <p:cNvSpPr txBox="1"/>
          <p:nvPr/>
        </p:nvSpPr>
        <p:spPr>
          <a:xfrm>
            <a:off x="896112" y="3666744"/>
            <a:ext cx="4553712" cy="283464"/>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73839A"/>
                </a:solidFill>
                <a:latin typeface="Source Sans 3"/>
              </a:defRPr>
            </a:pPr>
            <a:r>
              <a:rPr kumimoji="0" sz="1000" b="1" i="0" u="none" strike="noStrike" kern="1200" cap="none" spc="0" normalizeH="0" baseline="0" noProof="0">
                <a:ln>
                  <a:noFill/>
                </a:ln>
                <a:solidFill>
                  <a:srgbClr val="73839A"/>
                </a:solidFill>
                <a:effectLst/>
                <a:uLnTx/>
                <a:uFillTx/>
                <a:latin typeface="Source Sans 3"/>
                <a:ea typeface="+mn-ea"/>
                <a:cs typeface="+mn-cs"/>
              </a:rPr>
              <a:t>FIRST WORKFLOW</a:t>
            </a:r>
          </a:p>
        </p:txBody>
      </p:sp>
      <p:sp>
        <p:nvSpPr>
          <p:cNvPr id="13" name="TextBox 12"/>
          <p:cNvSpPr txBox="1"/>
          <p:nvPr/>
        </p:nvSpPr>
        <p:spPr>
          <a:xfrm>
            <a:off x="896112" y="3986784"/>
            <a:ext cx="4828032" cy="34747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750" b="1">
                <a:solidFill>
                  <a:srgbClr val="1A344E"/>
                </a:solidFill>
                <a:latin typeface="Source Sans 3"/>
              </a:defRPr>
            </a:pPr>
            <a:r>
              <a:rPr kumimoji="0" sz="1750" b="1" i="0" u="none" strike="noStrike" kern="1200" cap="none" spc="0" normalizeH="0" baseline="0" noProof="0">
                <a:ln>
                  <a:noFill/>
                </a:ln>
                <a:solidFill>
                  <a:srgbClr val="1A344E"/>
                </a:solidFill>
                <a:effectLst/>
                <a:uLnTx/>
                <a:uFillTx/>
                <a:latin typeface="Source Sans 3"/>
                <a:ea typeface="+mn-ea"/>
                <a:cs typeface="+mn-cs"/>
              </a:rPr>
              <a:t>[Selected service / workflow]</a:t>
            </a:r>
          </a:p>
        </p:txBody>
      </p:sp>
      <p:sp>
        <p:nvSpPr>
          <p:cNvPr id="14" name="Rectangle 13"/>
          <p:cNvSpPr/>
          <p:nvPr/>
        </p:nvSpPr>
        <p:spPr>
          <a:xfrm>
            <a:off x="896112" y="4572000"/>
            <a:ext cx="4919472" cy="14630"/>
          </a:xfrm>
          <a:prstGeom prst="rect">
            <a:avLst/>
          </a:prstGeom>
          <a:solidFill>
            <a:srgbClr val="C7DD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5" name="TextBox 14"/>
          <p:cNvSpPr txBox="1"/>
          <p:nvPr/>
        </p:nvSpPr>
        <p:spPr>
          <a:xfrm>
            <a:off x="896112" y="4727448"/>
            <a:ext cx="4818888" cy="521207"/>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140" b="0">
                <a:solidFill>
                  <a:srgbClr val="586C82"/>
                </a:solidFill>
                <a:latin typeface="Source Sans 3"/>
              </a:defRPr>
            </a:pPr>
            <a:r>
              <a:rPr kumimoji="0" sz="1140" b="0" i="0" u="none" strike="noStrike" kern="1200" cap="none" spc="0" normalizeH="0" baseline="0" noProof="0">
                <a:ln>
                  <a:noFill/>
                </a:ln>
                <a:solidFill>
                  <a:srgbClr val="586C82"/>
                </a:solidFill>
                <a:effectLst/>
                <a:uLnTx/>
                <a:uFillTx/>
                <a:latin typeface="Source Sans 3"/>
                <a:ea typeface="+mn-ea"/>
                <a:cs typeface="+mn-cs"/>
              </a:rPr>
              <a:t>Provisional recommendation — confirm the evidence and agree the outcome with the customer.</a:t>
            </a:r>
          </a:p>
        </p:txBody>
      </p:sp>
      <p:sp>
        <p:nvSpPr>
          <p:cNvPr id="16" name="Rounded Rectangle 15"/>
          <p:cNvSpPr/>
          <p:nvPr/>
        </p:nvSpPr>
        <p:spPr>
          <a:xfrm>
            <a:off x="6446520" y="2194560"/>
            <a:ext cx="5138928" cy="1033271"/>
          </a:xfrm>
          <a:prstGeom prst="roundRect">
            <a:avLst>
              <a:gd name="adj" fmla="val 11000"/>
            </a:avLst>
          </a:prstGeom>
          <a:solidFill>
            <a:srgbClr val="FFFFFF"/>
          </a:solidFill>
          <a:ln w="11430">
            <a:solidFill>
              <a:srgbClr val="DCE7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7" name="Rounded Rectangle 16"/>
          <p:cNvSpPr/>
          <p:nvPr/>
        </p:nvSpPr>
        <p:spPr>
          <a:xfrm>
            <a:off x="6611112" y="2395728"/>
            <a:ext cx="393192" cy="393192"/>
          </a:xfrm>
          <a:prstGeom prst="roundRect">
            <a:avLst>
              <a:gd name="adj" fmla="val 11000"/>
            </a:avLst>
          </a:prstGeom>
          <a:solidFill>
            <a:srgbClr val="E4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18" name="TextBox 17"/>
          <p:cNvSpPr txBox="1"/>
          <p:nvPr/>
        </p:nvSpPr>
        <p:spPr>
          <a:xfrm>
            <a:off x="6611112" y="2511856"/>
            <a:ext cx="393192" cy="146304"/>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960" b="1">
                <a:solidFill>
                  <a:srgbClr val="167B85"/>
                </a:solidFill>
                <a:latin typeface="Source Sans 3"/>
              </a:defRPr>
            </a:pPr>
            <a:r>
              <a:rPr kumimoji="0" sz="960" b="1" i="0" u="none" strike="noStrike" kern="1200" cap="none" spc="0" normalizeH="0" baseline="0" noProof="0">
                <a:ln>
                  <a:noFill/>
                </a:ln>
                <a:solidFill>
                  <a:srgbClr val="167B85"/>
                </a:solidFill>
                <a:effectLst/>
                <a:uLnTx/>
                <a:uFillTx/>
                <a:latin typeface="Source Sans 3"/>
                <a:ea typeface="+mn-ea"/>
                <a:cs typeface="+mn-cs"/>
              </a:rPr>
              <a:t>01</a:t>
            </a:r>
          </a:p>
        </p:txBody>
      </p:sp>
      <p:sp>
        <p:nvSpPr>
          <p:cNvPr id="19" name="TextBox 18"/>
          <p:cNvSpPr txBox="1"/>
          <p:nvPr/>
        </p:nvSpPr>
        <p:spPr>
          <a:xfrm>
            <a:off x="7150608" y="2340864"/>
            <a:ext cx="4041648" cy="219456"/>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258397"/>
                </a:solidFill>
                <a:latin typeface="Source Sans 3"/>
              </a:defRPr>
            </a:pPr>
            <a:r>
              <a:rPr kumimoji="0" sz="1000" b="1" i="0" u="none" strike="noStrike" kern="1200" cap="none" spc="0" normalizeH="0" baseline="0" noProof="0">
                <a:ln>
                  <a:noFill/>
                </a:ln>
                <a:solidFill>
                  <a:srgbClr val="258397"/>
                </a:solidFill>
                <a:effectLst/>
                <a:uLnTx/>
                <a:uFillTx/>
                <a:latin typeface="Source Sans 3"/>
                <a:ea typeface="+mn-ea"/>
                <a:cs typeface="+mn-cs"/>
              </a:rPr>
              <a:t>BUSINESS VALUE</a:t>
            </a:r>
          </a:p>
        </p:txBody>
      </p:sp>
      <p:sp>
        <p:nvSpPr>
          <p:cNvPr id="20" name="TextBox 19"/>
          <p:cNvSpPr txBox="1"/>
          <p:nvPr/>
        </p:nvSpPr>
        <p:spPr>
          <a:xfrm>
            <a:off x="7150608" y="2624328"/>
            <a:ext cx="4114800" cy="265176"/>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620" b="1">
                <a:solidFill>
                  <a:srgbClr val="101B42"/>
                </a:solidFill>
                <a:latin typeface="Source Sans 3"/>
              </a:defRPr>
            </a:pPr>
            <a:r>
              <a:rPr kumimoji="0" sz="1620" b="1" i="0" u="none" strike="noStrike" kern="1200" cap="none" spc="0" normalizeH="0" baseline="0" noProof="0">
                <a:ln>
                  <a:noFill/>
                </a:ln>
                <a:solidFill>
                  <a:srgbClr val="101B42"/>
                </a:solidFill>
                <a:effectLst/>
                <a:uLnTx/>
                <a:uFillTx/>
                <a:latin typeface="Source Sans 3"/>
                <a:ea typeface="+mn-ea"/>
                <a:cs typeface="+mn-cs"/>
              </a:rPr>
              <a:t>[Why this outcome matters]</a:t>
            </a:r>
          </a:p>
        </p:txBody>
      </p:sp>
      <p:sp>
        <p:nvSpPr>
          <p:cNvPr id="21" name="TextBox 20"/>
          <p:cNvSpPr txBox="1"/>
          <p:nvPr/>
        </p:nvSpPr>
        <p:spPr>
          <a:xfrm>
            <a:off x="7150608" y="2953512"/>
            <a:ext cx="4087368" cy="192024"/>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110" b="0">
                <a:solidFill>
                  <a:srgbClr val="6F7F94"/>
                </a:solidFill>
                <a:latin typeface="Source Sans 3"/>
              </a:defRPr>
            </a:pPr>
            <a:r>
              <a:rPr kumimoji="0" sz="1110" b="0" i="0" u="none" strike="noStrike" kern="1200" cap="none" spc="0" normalizeH="0" baseline="0" noProof="0">
                <a:ln>
                  <a:noFill/>
                </a:ln>
                <a:solidFill>
                  <a:srgbClr val="6F7F94"/>
                </a:solidFill>
                <a:effectLst/>
                <a:uLnTx/>
                <a:uFillTx/>
                <a:latin typeface="Source Sans 3"/>
                <a:ea typeface="+mn-ea"/>
                <a:cs typeface="+mn-cs"/>
              </a:rPr>
              <a:t>Baseline, demand, cost or risk to improve.</a:t>
            </a:r>
          </a:p>
        </p:txBody>
      </p:sp>
      <p:sp>
        <p:nvSpPr>
          <p:cNvPr id="22" name="Rounded Rectangle 21"/>
          <p:cNvSpPr/>
          <p:nvPr/>
        </p:nvSpPr>
        <p:spPr>
          <a:xfrm>
            <a:off x="6446520" y="3328415"/>
            <a:ext cx="5138928" cy="1033271"/>
          </a:xfrm>
          <a:prstGeom prst="roundRect">
            <a:avLst>
              <a:gd name="adj" fmla="val 11000"/>
            </a:avLst>
          </a:prstGeom>
          <a:solidFill>
            <a:srgbClr val="FFFFFF"/>
          </a:solidFill>
          <a:ln w="11430">
            <a:solidFill>
              <a:srgbClr val="DCE7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3" name="Rounded Rectangle 22"/>
          <p:cNvSpPr/>
          <p:nvPr/>
        </p:nvSpPr>
        <p:spPr>
          <a:xfrm>
            <a:off x="6611112" y="3529584"/>
            <a:ext cx="393192" cy="393192"/>
          </a:xfrm>
          <a:prstGeom prst="roundRect">
            <a:avLst>
              <a:gd name="adj" fmla="val 11000"/>
            </a:avLst>
          </a:prstGeom>
          <a:solidFill>
            <a:srgbClr val="E4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4" name="TextBox 23"/>
          <p:cNvSpPr txBox="1"/>
          <p:nvPr/>
        </p:nvSpPr>
        <p:spPr>
          <a:xfrm>
            <a:off x="6611112" y="3645712"/>
            <a:ext cx="393192" cy="146304"/>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960" b="1">
                <a:solidFill>
                  <a:srgbClr val="167B85"/>
                </a:solidFill>
                <a:latin typeface="Source Sans 3"/>
              </a:defRPr>
            </a:pPr>
            <a:r>
              <a:rPr kumimoji="0" sz="960" b="1" i="0" u="none" strike="noStrike" kern="1200" cap="none" spc="0" normalizeH="0" baseline="0" noProof="0">
                <a:ln>
                  <a:noFill/>
                </a:ln>
                <a:solidFill>
                  <a:srgbClr val="167B85"/>
                </a:solidFill>
                <a:effectLst/>
                <a:uLnTx/>
                <a:uFillTx/>
                <a:latin typeface="Source Sans 3"/>
                <a:ea typeface="+mn-ea"/>
                <a:cs typeface="+mn-cs"/>
              </a:rPr>
              <a:t>02</a:t>
            </a:r>
          </a:p>
        </p:txBody>
      </p:sp>
      <p:sp>
        <p:nvSpPr>
          <p:cNvPr id="25" name="TextBox 24"/>
          <p:cNvSpPr txBox="1"/>
          <p:nvPr/>
        </p:nvSpPr>
        <p:spPr>
          <a:xfrm>
            <a:off x="7150608" y="3474720"/>
            <a:ext cx="4041648" cy="219456"/>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258397"/>
                </a:solidFill>
                <a:latin typeface="Source Sans 3"/>
              </a:defRPr>
            </a:pPr>
            <a:r>
              <a:rPr kumimoji="0" sz="1000" b="1" i="0" u="none" strike="noStrike" kern="1200" cap="none" spc="0" normalizeH="0" baseline="0" noProof="0">
                <a:ln>
                  <a:noFill/>
                </a:ln>
                <a:solidFill>
                  <a:srgbClr val="258397"/>
                </a:solidFill>
                <a:effectLst/>
                <a:uLnTx/>
                <a:uFillTx/>
                <a:latin typeface="Source Sans 3"/>
                <a:ea typeface="+mn-ea"/>
                <a:cs typeface="+mn-cs"/>
              </a:rPr>
              <a:t>READINESS FIT</a:t>
            </a:r>
          </a:p>
        </p:txBody>
      </p:sp>
      <p:sp>
        <p:nvSpPr>
          <p:cNvPr id="26" name="TextBox 25"/>
          <p:cNvSpPr txBox="1"/>
          <p:nvPr/>
        </p:nvSpPr>
        <p:spPr>
          <a:xfrm>
            <a:off x="7150608" y="3758183"/>
            <a:ext cx="4114800" cy="265176"/>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620" b="1">
                <a:solidFill>
                  <a:srgbClr val="101B42"/>
                </a:solidFill>
                <a:latin typeface="Source Sans 3"/>
              </a:defRPr>
            </a:pPr>
            <a:r>
              <a:rPr kumimoji="0" sz="1620" b="1" i="0" u="none" strike="noStrike" kern="1200" cap="none" spc="0" normalizeH="0" baseline="0" noProof="0">
                <a:ln>
                  <a:noFill/>
                </a:ln>
                <a:solidFill>
                  <a:srgbClr val="101B42"/>
                </a:solidFill>
                <a:effectLst/>
                <a:uLnTx/>
                <a:uFillTx/>
                <a:latin typeface="Source Sans 3"/>
                <a:ea typeface="+mn-ea"/>
                <a:cs typeface="+mn-cs"/>
              </a:rPr>
              <a:t>[What the assessment supports]</a:t>
            </a:r>
          </a:p>
        </p:txBody>
      </p:sp>
      <p:sp>
        <p:nvSpPr>
          <p:cNvPr id="27" name="TextBox 26"/>
          <p:cNvSpPr txBox="1"/>
          <p:nvPr/>
        </p:nvSpPr>
        <p:spPr>
          <a:xfrm>
            <a:off x="7150608" y="4087368"/>
            <a:ext cx="4087368" cy="192024"/>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110" b="0">
                <a:solidFill>
                  <a:srgbClr val="6F7F94"/>
                </a:solidFill>
                <a:latin typeface="Source Sans 3"/>
              </a:defRPr>
            </a:pPr>
            <a:r>
              <a:rPr kumimoji="0" sz="1110" b="0" i="0" u="none" strike="noStrike" kern="1200" cap="none" spc="0" normalizeH="0" baseline="0" noProof="0">
                <a:ln>
                  <a:noFill/>
                </a:ln>
                <a:solidFill>
                  <a:srgbClr val="6F7F94"/>
                </a:solidFill>
                <a:effectLst/>
                <a:uLnTx/>
                <a:uFillTx/>
                <a:latin typeface="Source Sans 3"/>
                <a:ea typeface="+mn-ea"/>
                <a:cs typeface="+mn-cs"/>
              </a:rPr>
              <a:t>Evidence available; dependencies still to validate.</a:t>
            </a:r>
          </a:p>
        </p:txBody>
      </p:sp>
      <p:sp>
        <p:nvSpPr>
          <p:cNvPr id="28" name="Rounded Rectangle 27"/>
          <p:cNvSpPr/>
          <p:nvPr/>
        </p:nvSpPr>
        <p:spPr>
          <a:xfrm>
            <a:off x="6446520" y="4462272"/>
            <a:ext cx="5138928" cy="1033271"/>
          </a:xfrm>
          <a:prstGeom prst="roundRect">
            <a:avLst>
              <a:gd name="adj" fmla="val 11000"/>
            </a:avLst>
          </a:prstGeom>
          <a:solidFill>
            <a:srgbClr val="FFFFFF"/>
          </a:solidFill>
          <a:ln w="11430">
            <a:solidFill>
              <a:srgbClr val="DCE7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29" name="Rounded Rectangle 28"/>
          <p:cNvSpPr/>
          <p:nvPr/>
        </p:nvSpPr>
        <p:spPr>
          <a:xfrm>
            <a:off x="6611112" y="4663440"/>
            <a:ext cx="393192" cy="393192"/>
          </a:xfrm>
          <a:prstGeom prst="roundRect">
            <a:avLst>
              <a:gd name="adj" fmla="val 11000"/>
            </a:avLst>
          </a:prstGeom>
          <a:solidFill>
            <a:srgbClr val="E4F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30" name="TextBox 29"/>
          <p:cNvSpPr txBox="1"/>
          <p:nvPr/>
        </p:nvSpPr>
        <p:spPr>
          <a:xfrm>
            <a:off x="6611112" y="4779568"/>
            <a:ext cx="393192" cy="146304"/>
          </a:xfrm>
          <a:prstGeom prst="rect">
            <a:avLst/>
          </a:prstGeom>
          <a:noFill/>
        </p:spPr>
        <p:txBody>
          <a:bodyPr wrap="square" lIns="0" tIns="0" rIns="0" bIns="0" anchor="t">
            <a:spAutoFit/>
          </a:bodyPr>
          <a:lstStyle/>
          <a:p>
            <a:pPr marL="0" marR="0" lvl="0" indent="0" algn="ctr" defTabSz="457040" rtl="0" eaLnBrk="1" fontAlgn="auto" latinLnBrk="0" hangingPunct="1">
              <a:lnSpc>
                <a:spcPct val="104000"/>
              </a:lnSpc>
              <a:spcBef>
                <a:spcPts val="0"/>
              </a:spcBef>
              <a:spcAft>
                <a:spcPts val="0"/>
              </a:spcAft>
              <a:buClrTx/>
              <a:buSzTx/>
              <a:buFontTx/>
              <a:buNone/>
              <a:tabLst/>
              <a:defRPr sz="960" b="1">
                <a:solidFill>
                  <a:srgbClr val="167B85"/>
                </a:solidFill>
                <a:latin typeface="Source Sans 3"/>
              </a:defRPr>
            </a:pPr>
            <a:r>
              <a:rPr kumimoji="0" sz="960" b="1" i="0" u="none" strike="noStrike" kern="1200" cap="none" spc="0" normalizeH="0" baseline="0" noProof="0">
                <a:ln>
                  <a:noFill/>
                </a:ln>
                <a:solidFill>
                  <a:srgbClr val="167B85"/>
                </a:solidFill>
                <a:effectLst/>
                <a:uLnTx/>
                <a:uFillTx/>
                <a:latin typeface="Source Sans 3"/>
                <a:ea typeface="+mn-ea"/>
                <a:cs typeface="+mn-cs"/>
              </a:rPr>
              <a:t>03</a:t>
            </a:r>
          </a:p>
        </p:txBody>
      </p:sp>
      <p:sp>
        <p:nvSpPr>
          <p:cNvPr id="31" name="TextBox 30"/>
          <p:cNvSpPr txBox="1"/>
          <p:nvPr/>
        </p:nvSpPr>
        <p:spPr>
          <a:xfrm>
            <a:off x="7150608" y="4608576"/>
            <a:ext cx="4041648" cy="219456"/>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000" b="1">
                <a:solidFill>
                  <a:srgbClr val="258397"/>
                </a:solidFill>
                <a:latin typeface="Source Sans 3"/>
              </a:defRPr>
            </a:pPr>
            <a:r>
              <a:rPr kumimoji="0" sz="1000" b="1" i="0" u="none" strike="noStrike" kern="1200" cap="none" spc="0" normalizeH="0" baseline="0" noProof="0">
                <a:ln>
                  <a:noFill/>
                </a:ln>
                <a:solidFill>
                  <a:srgbClr val="258397"/>
                </a:solidFill>
                <a:effectLst/>
                <a:uLnTx/>
                <a:uFillTx/>
                <a:latin typeface="Source Sans 3"/>
                <a:ea typeface="+mn-ea"/>
                <a:cs typeface="+mn-cs"/>
              </a:rPr>
              <a:t>FIRST PROOF</a:t>
            </a:r>
          </a:p>
        </p:txBody>
      </p:sp>
      <p:sp>
        <p:nvSpPr>
          <p:cNvPr id="32" name="TextBox 31"/>
          <p:cNvSpPr txBox="1"/>
          <p:nvPr/>
        </p:nvSpPr>
        <p:spPr>
          <a:xfrm>
            <a:off x="7150608" y="4892040"/>
            <a:ext cx="4114800" cy="265176"/>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620" b="1">
                <a:solidFill>
                  <a:srgbClr val="101B42"/>
                </a:solidFill>
                <a:latin typeface="Source Sans 3"/>
              </a:defRPr>
            </a:pPr>
            <a:r>
              <a:rPr kumimoji="0" sz="1620" b="1" i="0" u="none" strike="noStrike" kern="1200" cap="none" spc="0" normalizeH="0" baseline="0" noProof="0">
                <a:ln>
                  <a:noFill/>
                </a:ln>
                <a:solidFill>
                  <a:srgbClr val="101B42"/>
                </a:solidFill>
                <a:effectLst/>
                <a:uLnTx/>
                <a:uFillTx/>
                <a:latin typeface="Source Sans 3"/>
                <a:ea typeface="+mn-ea"/>
                <a:cs typeface="+mn-cs"/>
              </a:rPr>
              <a:t>[How success will be measured]</a:t>
            </a:r>
          </a:p>
        </p:txBody>
      </p:sp>
      <p:sp>
        <p:nvSpPr>
          <p:cNvPr id="33" name="TextBox 32"/>
          <p:cNvSpPr txBox="1"/>
          <p:nvPr/>
        </p:nvSpPr>
        <p:spPr>
          <a:xfrm>
            <a:off x="7150608" y="5221224"/>
            <a:ext cx="4087368" cy="192024"/>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110" b="0">
                <a:solidFill>
                  <a:srgbClr val="6F7F94"/>
                </a:solidFill>
                <a:latin typeface="Source Sans 3"/>
              </a:defRPr>
            </a:pPr>
            <a:r>
              <a:rPr kumimoji="0" sz="1110" b="0" i="0" u="none" strike="noStrike" kern="1200" cap="none" spc="0" normalizeH="0" baseline="0" noProof="0">
                <a:ln>
                  <a:noFill/>
                </a:ln>
                <a:solidFill>
                  <a:srgbClr val="6F7F94"/>
                </a:solidFill>
                <a:effectLst/>
                <a:uLnTx/>
                <a:uFillTx/>
                <a:latin typeface="Source Sans 3"/>
                <a:ea typeface="+mn-ea"/>
                <a:cs typeface="+mn-cs"/>
              </a:rPr>
              <a:t>Metric, accountable owner and review point.</a:t>
            </a:r>
          </a:p>
        </p:txBody>
      </p:sp>
      <p:sp>
        <p:nvSpPr>
          <p:cNvPr id="34" name="Rounded Rectangle 33"/>
          <p:cNvSpPr/>
          <p:nvPr/>
        </p:nvSpPr>
        <p:spPr>
          <a:xfrm>
            <a:off x="594360" y="5806440"/>
            <a:ext cx="10991088" cy="438912"/>
          </a:xfrm>
          <a:prstGeom prst="roundRect">
            <a:avLst>
              <a:gd name="adj" fmla="val 11000"/>
            </a:avLst>
          </a:prstGeom>
          <a:solidFill>
            <a:srgbClr val="040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sp>
        <p:nvSpPr>
          <p:cNvPr id="35" name="TextBox 34"/>
          <p:cNvSpPr txBox="1"/>
          <p:nvPr/>
        </p:nvSpPr>
        <p:spPr>
          <a:xfrm>
            <a:off x="832104" y="5934456"/>
            <a:ext cx="1572768" cy="164592"/>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960" b="1">
                <a:solidFill>
                  <a:srgbClr val="8FFFDB"/>
                </a:solidFill>
                <a:latin typeface="Source Sans 3"/>
              </a:defRPr>
            </a:pPr>
            <a:r>
              <a:rPr kumimoji="0" sz="960" b="1" i="0" u="none" strike="noStrike" kern="1200" cap="none" spc="0" normalizeH="0" baseline="0" noProof="0">
                <a:ln>
                  <a:noFill/>
                </a:ln>
                <a:solidFill>
                  <a:srgbClr val="8FFFDB"/>
                </a:solidFill>
                <a:effectLst/>
                <a:uLnTx/>
                <a:uFillTx/>
                <a:latin typeface="Source Sans 3"/>
                <a:ea typeface="+mn-ea"/>
                <a:cs typeface="+mn-cs"/>
              </a:rPr>
              <a:t>DECISION REQUIRED</a:t>
            </a:r>
          </a:p>
        </p:txBody>
      </p:sp>
      <p:sp>
        <p:nvSpPr>
          <p:cNvPr id="36" name="TextBox 35"/>
          <p:cNvSpPr txBox="1"/>
          <p:nvPr/>
        </p:nvSpPr>
        <p:spPr>
          <a:xfrm>
            <a:off x="2496312" y="5911596"/>
            <a:ext cx="8714232" cy="201168"/>
          </a:xfrm>
          <a:prstGeom prst="rect">
            <a:avLst/>
          </a:prstGeom>
          <a:noFill/>
        </p:spPr>
        <p:txBody>
          <a:bodyPr wrap="square" lIns="0" tIns="0" rIns="0" bIns="0" anchor="t">
            <a:spAutoFit/>
          </a:bodyPr>
          <a:lstStyle/>
          <a:p>
            <a:pPr marL="0" marR="0" lvl="0" indent="0" algn="l" defTabSz="457040" rtl="0" eaLnBrk="1" fontAlgn="auto" latinLnBrk="0" hangingPunct="1">
              <a:lnSpc>
                <a:spcPct val="104000"/>
              </a:lnSpc>
              <a:spcBef>
                <a:spcPts val="0"/>
              </a:spcBef>
              <a:spcAft>
                <a:spcPts val="0"/>
              </a:spcAft>
              <a:buClrTx/>
              <a:buSzTx/>
              <a:buFontTx/>
              <a:buNone/>
              <a:tabLst/>
              <a:defRPr sz="1290" b="1">
                <a:solidFill>
                  <a:srgbClr val="FFFFFF"/>
                </a:solidFill>
                <a:latin typeface="Source Sans 3"/>
              </a:defRPr>
            </a:pPr>
            <a:r>
              <a:rPr kumimoji="0" sz="1290" b="1" i="0" u="none" strike="noStrike" kern="1200" cap="none" spc="0" normalizeH="0" baseline="0" noProof="0">
                <a:ln>
                  <a:noFill/>
                </a:ln>
                <a:solidFill>
                  <a:srgbClr val="FFFFFF"/>
                </a:solidFill>
                <a:effectLst/>
                <a:uLnTx/>
                <a:uFillTx/>
                <a:latin typeface="Source Sans 3"/>
                <a:ea typeface="+mn-ea"/>
                <a:cs typeface="+mn-cs"/>
              </a:rPr>
              <a:t>Confirm the first-Zero hypothesis, workflow, owner and proof measures.</a:t>
            </a:r>
          </a:p>
        </p:txBody>
      </p:sp>
      <p:sp>
        <p:nvSpPr>
          <p:cNvPr id="37" name="Rectangle 36"/>
          <p:cNvSpPr/>
          <p:nvPr/>
        </p:nvSpPr>
        <p:spPr>
          <a:xfrm>
            <a:off x="566928" y="6473952"/>
            <a:ext cx="11036808" cy="10972"/>
          </a:xfrm>
          <a:prstGeom prst="rect">
            <a:avLst/>
          </a:prstGeom>
          <a:solidFill>
            <a:srgbClr val="E2E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040"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srgbClr val="FFFFFF"/>
              </a:solidFill>
              <a:effectLst/>
              <a:uLnTx/>
              <a:uFillTx/>
              <a:latin typeface="Source Sans 3"/>
              <a:ea typeface="+mn-ea"/>
              <a:cs typeface="+mn-cs"/>
            </a:endParaRPr>
          </a:p>
        </p:txBody>
      </p:sp>
      <p:pic>
        <p:nvPicPr>
          <p:cNvPr id="38" name="Picture 37" descr="logo-dark-ink.png"/>
          <p:cNvPicPr>
            <a:picLocks noChangeAspect="1"/>
          </p:cNvPicPr>
          <p:nvPr/>
        </p:nvPicPr>
        <p:blipFill>
          <a:blip r:embed="rId3"/>
          <a:stretch>
            <a:fillRect/>
          </a:stretch>
        </p:blipFill>
        <p:spPr>
          <a:xfrm>
            <a:off x="585216" y="6547104"/>
            <a:ext cx="1024128" cy="175439"/>
          </a:xfrm>
          <a:prstGeom prst="rect">
            <a:avLst/>
          </a:prstGeom>
        </p:spPr>
      </p:pic>
      <p:sp>
        <p:nvSpPr>
          <p:cNvPr id="39" name="TextBox 38"/>
          <p:cNvSpPr txBox="1"/>
          <p:nvPr/>
        </p:nvSpPr>
        <p:spPr>
          <a:xfrm>
            <a:off x="7040880" y="6565392"/>
            <a:ext cx="4059936" cy="155448"/>
          </a:xfrm>
          <a:prstGeom prst="rect">
            <a:avLst/>
          </a:prstGeom>
          <a:noFill/>
        </p:spPr>
        <p:txBody>
          <a:bodyPr wrap="square" lIns="0" tIns="0" rIns="0" bIns="0" anchor="t">
            <a:spAutoFit/>
          </a:bodyPr>
          <a:lstStyle/>
          <a:p>
            <a:pPr marL="0" marR="0" lvl="0" indent="0" algn="r" defTabSz="457040" rtl="0" eaLnBrk="1" fontAlgn="auto" latinLnBrk="0" hangingPunct="1">
              <a:lnSpc>
                <a:spcPct val="104000"/>
              </a:lnSpc>
              <a:spcBef>
                <a:spcPts val="0"/>
              </a:spcBef>
              <a:spcAft>
                <a:spcPts val="0"/>
              </a:spcAft>
              <a:buClrTx/>
              <a:buSzTx/>
              <a:buFontTx/>
              <a:buNone/>
              <a:tabLst/>
              <a:defRPr sz="800" b="0">
                <a:solidFill>
                  <a:srgbClr val="73839B"/>
                </a:solidFill>
                <a:latin typeface="Source Sans 3"/>
              </a:defRPr>
            </a:pPr>
            <a:r>
              <a:rPr kumimoji="0" sz="800" b="0" i="0" u="none" strike="noStrike" kern="1200" cap="none" spc="0" normalizeH="0" baseline="0" noProof="0">
                <a:ln>
                  <a:noFill/>
                </a:ln>
                <a:solidFill>
                  <a:srgbClr val="73839B"/>
                </a:solidFill>
                <a:effectLst/>
                <a:uLnTx/>
                <a:uFillTx/>
                <a:latin typeface="Source Sans 3"/>
                <a:ea typeface="+mn-ea"/>
                <a:cs typeface="+mn-cs"/>
              </a:rPr>
              <a:t>CROSSFUZE  /  AUTONOMOUS IT  ·  ROAD TO ZERO</a:t>
            </a:r>
          </a:p>
        </p:txBody>
      </p:sp>
      <p:sp>
        <p:nvSpPr>
          <p:cNvPr id="40" name="TextBox 39"/>
          <p:cNvSpPr txBox="1"/>
          <p:nvPr/>
        </p:nvSpPr>
        <p:spPr>
          <a:xfrm>
            <a:off x="11301984" y="6547104"/>
            <a:ext cx="310896" cy="164592"/>
          </a:xfrm>
          <a:prstGeom prst="rect">
            <a:avLst/>
          </a:prstGeom>
          <a:noFill/>
        </p:spPr>
        <p:txBody>
          <a:bodyPr wrap="square" lIns="0" tIns="0" rIns="0" bIns="0" anchor="t">
            <a:spAutoFit/>
          </a:bodyPr>
          <a:lstStyle/>
          <a:p>
            <a:pPr marL="0" marR="0" lvl="0" indent="0" algn="r" defTabSz="457040" rtl="0" eaLnBrk="1" fontAlgn="auto" latinLnBrk="0" hangingPunct="1">
              <a:lnSpc>
                <a:spcPct val="104000"/>
              </a:lnSpc>
              <a:spcBef>
                <a:spcPts val="0"/>
              </a:spcBef>
              <a:spcAft>
                <a:spcPts val="0"/>
              </a:spcAft>
              <a:buClrTx/>
              <a:buSzTx/>
              <a:buFontTx/>
              <a:buNone/>
              <a:tabLst/>
              <a:defRPr sz="900" b="1">
                <a:solidFill>
                  <a:srgbClr val="73839B"/>
                </a:solidFill>
                <a:latin typeface="Source Sans 3"/>
              </a:defRPr>
            </a:pPr>
            <a:r>
              <a:rPr kumimoji="0" sz="900" b="1" i="0" u="none" strike="noStrike" kern="1200" cap="none" spc="0" normalizeH="0" baseline="0" noProof="0">
                <a:ln>
                  <a:noFill/>
                </a:ln>
                <a:solidFill>
                  <a:srgbClr val="73839B"/>
                </a:solidFill>
                <a:effectLst/>
                <a:uLnTx/>
                <a:uFillTx/>
                <a:latin typeface="Source Sans 3"/>
                <a:ea typeface="+mn-ea"/>
                <a:cs typeface="+mn-cs"/>
              </a:rPr>
              <a:t>04</a:t>
            </a:r>
          </a:p>
        </p:txBody>
      </p:sp>
    </p:spTree>
    <p:extLst>
      <p:ext uri="{BB962C8B-B14F-4D97-AF65-F5344CB8AC3E}">
        <p14:creationId xmlns:p14="http://schemas.microsoft.com/office/powerpoint/2010/main" val="3316712756"/>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8F22DF4-052E-442B-04CC-5B92F666EDCD}"/>
            </a:ext>
          </a:extLst>
        </p:cNvPr>
        <p:cNvGrpSpPr/>
        <p:nvPr/>
      </p:nvGrpSpPr>
      <p:grpSpPr>
        <a:xfrm>
          <a:off x="0" y="0"/>
          <a:ext cx="0" cy="0"/>
          <a:chOff x="0" y="0"/>
          <a:chExt cx="0" cy="0"/>
        </a:xfrm>
      </p:grpSpPr>
      <p:pic>
        <p:nvPicPr>
          <p:cNvPr id="4" name="Picture 3" descr="A blue and purple background&#10;&#10;AI-generated content may be incorrect.">
            <a:extLst>
              <a:ext uri="{FF2B5EF4-FFF2-40B4-BE49-F238E27FC236}">
                <a16:creationId xmlns:a16="http://schemas.microsoft.com/office/drawing/2014/main" id="{27B40146-C392-DC86-8BF1-88C26C6EB3C9}"/>
              </a:ext>
            </a:extLst>
          </p:cNvPr>
          <p:cNvPicPr>
            <a:picLocks/>
          </p:cNvPicPr>
          <p:nvPr/>
        </p:nvPicPr>
        <p:blipFill>
          <a:blip r:embed="rId3"/>
          <a:stretch>
            <a:fillRect/>
          </a:stretch>
        </p:blipFill>
        <p:spPr>
          <a:xfrm>
            <a:off x="133622" y="0"/>
            <a:ext cx="12180889" cy="6859991"/>
          </a:xfrm>
          <a:prstGeom prst="rect">
            <a:avLst/>
          </a:prstGeom>
        </p:spPr>
      </p:pic>
      <p:pic>
        <p:nvPicPr>
          <p:cNvPr id="6" name="Picture 15">
            <a:extLst>
              <a:ext uri="{FF2B5EF4-FFF2-40B4-BE49-F238E27FC236}">
                <a16:creationId xmlns:a16="http://schemas.microsoft.com/office/drawing/2014/main" id="{5436CD70-C401-8432-A27E-338087DFB36E}"/>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82764" y="6352389"/>
            <a:ext cx="979823" cy="279876"/>
          </a:xfrm>
          <a:prstGeom prst="rect">
            <a:avLst/>
          </a:prstGeom>
        </p:spPr>
      </p:pic>
      <p:sp>
        <p:nvSpPr>
          <p:cNvPr id="3" name="Footer Placeholder 4">
            <a:extLst>
              <a:ext uri="{FF2B5EF4-FFF2-40B4-BE49-F238E27FC236}">
                <a16:creationId xmlns:a16="http://schemas.microsoft.com/office/drawing/2014/main" id="{432058D2-E065-90D3-092A-94C2EF976923}"/>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7" name="AI RunState title">
            <a:extLst>
              <a:ext uri="{FF2B5EF4-FFF2-40B4-BE49-F238E27FC236}">
                <a16:creationId xmlns:a16="http://schemas.microsoft.com/office/drawing/2014/main" id="{6C920EE5-ED75-2AB0-CB7F-81EEDF980100}"/>
              </a:ext>
            </a:extLst>
          </p:cNvPr>
          <p:cNvSpPr txBox="1"/>
          <p:nvPr/>
        </p:nvSpPr>
        <p:spPr>
          <a:xfrm>
            <a:off x="862947" y="698174"/>
            <a:ext cx="11192256" cy="1077218"/>
          </a:xfrm>
          <a:prstGeom prst="rect">
            <a:avLst/>
          </a:prstGeom>
          <a:noFill/>
        </p:spPr>
        <p:txBody>
          <a:bodyPr wrap="square" lIns="36576" tIns="0" rIns="36576" bIns="0" anchor="ctr">
            <a:spAutoFit/>
          </a:bodyPr>
          <a:lstStyle/>
          <a:p>
            <a:pPr algn="l"/>
            <a:r>
              <a:rPr sz="3500" b="1" dirty="0">
                <a:solidFill>
                  <a:schemeClr val="bg1"/>
                </a:solidFill>
                <a:latin typeface="Source Sans 3"/>
              </a:rPr>
              <a:t>Plan it. Priori</a:t>
            </a:r>
            <a:r>
              <a:rPr lang="en-GB" sz="3500" b="1" dirty="0" err="1">
                <a:solidFill>
                  <a:schemeClr val="bg1"/>
                </a:solidFill>
                <a:latin typeface="Source Sans 3"/>
              </a:rPr>
              <a:t>tise</a:t>
            </a:r>
            <a:r>
              <a:rPr sz="3500" b="1" dirty="0">
                <a:solidFill>
                  <a:schemeClr val="bg1"/>
                </a:solidFill>
                <a:latin typeface="Source Sans 3"/>
              </a:rPr>
              <a:t> it. </a:t>
            </a:r>
            <a:endParaRPr lang="en-GB" sz="3500" b="1" dirty="0">
              <a:solidFill>
                <a:schemeClr val="bg1"/>
              </a:solidFill>
              <a:latin typeface="Source Sans 3"/>
            </a:endParaRPr>
          </a:p>
          <a:p>
            <a:pPr algn="l"/>
            <a:r>
              <a:rPr sz="3500" b="1" dirty="0">
                <a:solidFill>
                  <a:srgbClr val="B6FFDB"/>
                </a:solidFill>
                <a:latin typeface="Source Sans 3"/>
              </a:rPr>
              <a:t>Ship it</a:t>
            </a:r>
            <a:r>
              <a:rPr lang="en-GB" sz="3500" b="1" dirty="0">
                <a:solidFill>
                  <a:srgbClr val="B6FFDB"/>
                </a:solidFill>
                <a:latin typeface="Source Sans 3"/>
              </a:rPr>
              <a:t>, every quarter.</a:t>
            </a:r>
            <a:endParaRPr sz="3500" b="1" dirty="0">
              <a:solidFill>
                <a:srgbClr val="B6FFDB"/>
              </a:solidFill>
              <a:latin typeface="Source Sans 3"/>
            </a:endParaRPr>
          </a:p>
        </p:txBody>
      </p:sp>
      <p:pic>
        <p:nvPicPr>
          <p:cNvPr id="5" name="Picture 4">
            <a:extLst>
              <a:ext uri="{FF2B5EF4-FFF2-40B4-BE49-F238E27FC236}">
                <a16:creationId xmlns:a16="http://schemas.microsoft.com/office/drawing/2014/main" id="{122D4573-7955-D33A-C88E-4538CB51B19C}"/>
              </a:ext>
            </a:extLst>
          </p:cNvPr>
          <p:cNvPicPr>
            <a:picLocks noChangeAspect="1"/>
          </p:cNvPicPr>
          <p:nvPr/>
        </p:nvPicPr>
        <p:blipFill>
          <a:blip r:embed="rId5"/>
          <a:stretch>
            <a:fillRect/>
          </a:stretch>
        </p:blipFill>
        <p:spPr>
          <a:xfrm>
            <a:off x="743023" y="1863997"/>
            <a:ext cx="10478521" cy="4399787"/>
          </a:xfrm>
          <a:prstGeom prst="rect">
            <a:avLst/>
          </a:prstGeom>
        </p:spPr>
      </p:pic>
      <p:sp>
        <p:nvSpPr>
          <p:cNvPr id="31" name="TextBox 30">
            <a:extLst>
              <a:ext uri="{FF2B5EF4-FFF2-40B4-BE49-F238E27FC236}">
                <a16:creationId xmlns:a16="http://schemas.microsoft.com/office/drawing/2014/main" id="{18409852-5760-70D5-1120-2A21F6DD0EA9}"/>
              </a:ext>
            </a:extLst>
          </p:cNvPr>
          <p:cNvSpPr txBox="1"/>
          <p:nvPr/>
        </p:nvSpPr>
        <p:spPr>
          <a:xfrm>
            <a:off x="972675" y="449861"/>
            <a:ext cx="5486400" cy="169277"/>
          </a:xfrm>
          <a:prstGeom prst="rect">
            <a:avLst/>
          </a:prstGeom>
          <a:noFill/>
        </p:spPr>
        <p:txBody>
          <a:bodyPr wrap="square" lIns="0" tIns="0" rIns="0" bIns="0" anchor="ctr">
            <a:spAutoFit/>
          </a:bodyPr>
          <a:lstStyle/>
          <a:p>
            <a:pPr algn="l">
              <a:spcBef>
                <a:spcPts val="0"/>
              </a:spcBef>
              <a:spcAft>
                <a:spcPts val="0"/>
              </a:spcAft>
            </a:pPr>
            <a:r>
              <a:rPr lang="en-GB" sz="1100" b="1" dirty="0">
                <a:solidFill>
                  <a:srgbClr val="71F1F7"/>
                </a:solidFill>
                <a:latin typeface="Source Sans 3"/>
              </a:rPr>
              <a:t>CROSSFUZE </a:t>
            </a:r>
            <a:r>
              <a:rPr sz="1100" b="1" dirty="0">
                <a:solidFill>
                  <a:srgbClr val="71F1F7"/>
                </a:solidFill>
                <a:latin typeface="Source Sans 3"/>
              </a:rPr>
              <a:t>AI RUNSTATE</a:t>
            </a:r>
            <a:r>
              <a:rPr lang="en-GB" sz="1100" b="1" dirty="0">
                <a:solidFill>
                  <a:srgbClr val="71F1F7"/>
                </a:solidFill>
                <a:latin typeface="Source Sans 3"/>
              </a:rPr>
              <a:t> (CARS)</a:t>
            </a:r>
            <a:endParaRPr sz="1100" b="1" dirty="0">
              <a:solidFill>
                <a:srgbClr val="71F1F7"/>
              </a:solidFill>
              <a:latin typeface="Source Sans 3"/>
            </a:endParaRPr>
          </a:p>
        </p:txBody>
      </p:sp>
    </p:spTree>
    <p:extLst>
      <p:ext uri="{BB962C8B-B14F-4D97-AF65-F5344CB8AC3E}">
        <p14:creationId xmlns:p14="http://schemas.microsoft.com/office/powerpoint/2010/main" val="3283950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 Placeholder 3"/>
          <p:cNvSpPr>
            <a:spLocks noGrp="1"/>
          </p:cNvSpPr>
          <p:nvPr>
            <p:ph type="body" sz="quarter" idx="11"/>
          </p:nvPr>
        </p:nvSpPr>
        <p:spPr/>
        <p:txBody>
          <a:bodyPr/>
          <a:lstStyle/>
          <a:p>
            <a:endParaRPr/>
          </a:p>
        </p:txBody>
      </p:sp>
      <p:pic>
        <p:nvPicPr>
          <p:cNvPr id="5" name="Picture 4" descr="_runstate_deep_blue_gradient.png"/>
          <p:cNvPicPr>
            <a:picLocks noChangeAspect="1"/>
          </p:cNvPicPr>
          <p:nvPr/>
        </p:nvPicPr>
        <p:blipFill>
          <a:blip r:embed="rId3"/>
          <a:stretch>
            <a:fillRect/>
          </a:stretch>
        </p:blipFill>
        <p:spPr>
          <a:xfrm>
            <a:off x="0" y="0"/>
            <a:ext cx="12188825" cy="6858000"/>
          </a:xfrm>
          <a:prstGeom prst="rect">
            <a:avLst/>
          </a:prstGeom>
        </p:spPr>
      </p:pic>
      <p:sp>
        <p:nvSpPr>
          <p:cNvPr id="6" name="Rectangle 5"/>
          <p:cNvSpPr/>
          <p:nvPr/>
        </p:nvSpPr>
        <p:spPr>
          <a:xfrm>
            <a:off x="493776" y="1453896"/>
            <a:ext cx="11201400"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4592"/>
            <a:ext cx="9144000" cy="265176"/>
          </a:xfrm>
          <a:prstGeom prst="rect">
            <a:avLst/>
          </a:prstGeom>
          <a:noFill/>
        </p:spPr>
        <p:txBody>
          <a:bodyPr wrap="square" lIns="0" tIns="0" rIns="0" bIns="0" anchor="ctr">
            <a:spAutoFit/>
          </a:bodyPr>
          <a:lstStyle/>
          <a:p>
            <a:pPr algn="l">
              <a:spcAft>
                <a:spcPts val="0"/>
              </a:spcAft>
            </a:pPr>
            <a:r>
              <a:rPr sz="1000" b="1" i="0">
                <a:solidFill>
                  <a:srgbClr val="8FFFDB"/>
                </a:solidFill>
                <a:latin typeface="Source Sans 3"/>
              </a:rPr>
              <a:t>INTERNAL ONLY  /  HIDE DURING PRESENTATION</a:t>
            </a:r>
          </a:p>
        </p:txBody>
      </p:sp>
      <p:sp>
        <p:nvSpPr>
          <p:cNvPr id="8" name="TextBox 7"/>
          <p:cNvSpPr txBox="1"/>
          <p:nvPr/>
        </p:nvSpPr>
        <p:spPr>
          <a:xfrm>
            <a:off x="585216" y="566928"/>
            <a:ext cx="11045952" cy="722376"/>
          </a:xfrm>
          <a:prstGeom prst="rect">
            <a:avLst/>
          </a:prstGeom>
          <a:noFill/>
        </p:spPr>
        <p:txBody>
          <a:bodyPr wrap="square" lIns="0" tIns="0" rIns="0" bIns="0" anchor="ctr">
            <a:spAutoFit/>
          </a:bodyPr>
          <a:lstStyle/>
          <a:p>
            <a:pPr algn="l">
              <a:spcAft>
                <a:spcPts val="0"/>
              </a:spcAft>
            </a:pPr>
            <a:r>
              <a:rPr sz="2900" b="1" i="0">
                <a:solidFill>
                  <a:srgbClr val="8FFFDB"/>
                </a:solidFill>
                <a:latin typeface="Source Sans 3"/>
              </a:rPr>
              <a:t>Commercial reference — US draft SOW.</a:t>
            </a:r>
          </a:p>
        </p:txBody>
      </p:sp>
      <p:sp>
        <p:nvSpPr>
          <p:cNvPr id="9" name="TextBox 8"/>
          <p:cNvSpPr txBox="1"/>
          <p:nvPr/>
        </p:nvSpPr>
        <p:spPr>
          <a:xfrm>
            <a:off x="603504" y="1463040"/>
            <a:ext cx="10789920" cy="320040"/>
          </a:xfrm>
          <a:prstGeom prst="rect">
            <a:avLst/>
          </a:prstGeom>
          <a:noFill/>
        </p:spPr>
        <p:txBody>
          <a:bodyPr wrap="square" lIns="0" tIns="0" rIns="0" bIns="0" anchor="ctr">
            <a:spAutoFit/>
          </a:bodyPr>
          <a:lstStyle/>
          <a:p>
            <a:pPr algn="l">
              <a:spcAft>
                <a:spcPts val="0"/>
              </a:spcAft>
            </a:pPr>
            <a:r>
              <a:rPr sz="1200" b="0" i="0">
                <a:solidFill>
                  <a:srgbClr val="F2F2F4"/>
                </a:solidFill>
                <a:latin typeface="Source Sans 3"/>
              </a:rPr>
              <a:t>Confirm regional pricing and executed terms before presenting a customer quotation.</a:t>
            </a:r>
          </a:p>
        </p:txBody>
      </p:sp>
      <p:sp>
        <p:nvSpPr>
          <p:cNvPr id="10" name="Rectangle 9"/>
          <p:cNvSpPr/>
          <p:nvPr/>
        </p:nvSpPr>
        <p:spPr>
          <a:xfrm>
            <a:off x="566928" y="6473952"/>
            <a:ext cx="10917936" cy="10972"/>
          </a:xfrm>
          <a:prstGeom prst="rect">
            <a:avLst/>
          </a:prstGeom>
          <a:solidFill>
            <a:srgbClr val="2CB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 y="6519672"/>
            <a:ext cx="4572000" cy="164592"/>
          </a:xfrm>
          <a:prstGeom prst="rect">
            <a:avLst/>
          </a:prstGeom>
          <a:noFill/>
        </p:spPr>
        <p:txBody>
          <a:bodyPr wrap="square" lIns="0" tIns="0" rIns="0" bIns="0" anchor="ctr">
            <a:spAutoFit/>
          </a:bodyPr>
          <a:lstStyle/>
          <a:p>
            <a:pPr algn="l">
              <a:spcAft>
                <a:spcPts val="0"/>
              </a:spcAft>
            </a:pPr>
            <a:r>
              <a:rPr sz="800" b="0" i="0">
                <a:solidFill>
                  <a:srgbClr val="F2F2F4"/>
                </a:solidFill>
                <a:latin typeface="Source Sans 3"/>
              </a:rPr>
              <a:t>CROSSFUZE  ·  AI RUNSTATE</a:t>
            </a:r>
          </a:p>
        </p:txBody>
      </p:sp>
      <p:sp>
        <p:nvSpPr>
          <p:cNvPr id="12" name="TextBox 11"/>
          <p:cNvSpPr txBox="1"/>
          <p:nvPr/>
        </p:nvSpPr>
        <p:spPr>
          <a:xfrm>
            <a:off x="11064240" y="6510528"/>
            <a:ext cx="411480" cy="173736"/>
          </a:xfrm>
          <a:prstGeom prst="rect">
            <a:avLst/>
          </a:prstGeom>
          <a:noFill/>
        </p:spPr>
        <p:txBody>
          <a:bodyPr wrap="square" lIns="0" tIns="0" rIns="0" bIns="0" anchor="ctr">
            <a:spAutoFit/>
          </a:bodyPr>
          <a:lstStyle/>
          <a:p>
            <a:pPr algn="r">
              <a:spcAft>
                <a:spcPts val="0"/>
              </a:spcAft>
            </a:pPr>
            <a:r>
              <a:rPr sz="800" b="0" i="0">
                <a:solidFill>
                  <a:srgbClr val="F2F2F4"/>
                </a:solidFill>
                <a:latin typeface="Source Sans 3"/>
              </a:rPr>
              <a:t>20</a:t>
            </a:r>
          </a:p>
        </p:txBody>
      </p:sp>
      <p:sp>
        <p:nvSpPr>
          <p:cNvPr id="13" name="Rounded Rectangle 12"/>
          <p:cNvSpPr/>
          <p:nvPr/>
        </p:nvSpPr>
        <p:spPr>
          <a:xfrm>
            <a:off x="758952" y="2130552"/>
            <a:ext cx="5230368" cy="213969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0704" y="2395728"/>
            <a:ext cx="4572000" cy="914400"/>
          </a:xfrm>
          <a:prstGeom prst="rect">
            <a:avLst/>
          </a:prstGeom>
          <a:noFill/>
        </p:spPr>
        <p:txBody>
          <a:bodyPr wrap="square" lIns="0" tIns="0" rIns="0" bIns="0" anchor="ctr">
            <a:spAutoFit/>
          </a:bodyPr>
          <a:lstStyle/>
          <a:p>
            <a:pPr algn="l">
              <a:spcAft>
                <a:spcPts val="0"/>
              </a:spcAft>
            </a:pPr>
            <a:r>
              <a:rPr sz="4200" b="1" i="0">
                <a:solidFill>
                  <a:srgbClr val="8FFFDB"/>
                </a:solidFill>
                <a:latin typeface="Source Sans 3"/>
              </a:rPr>
              <a:t>$15,500</a:t>
            </a:r>
          </a:p>
        </p:txBody>
      </p:sp>
      <p:sp>
        <p:nvSpPr>
          <p:cNvPr id="15" name="TextBox 14"/>
          <p:cNvSpPr txBox="1"/>
          <p:nvPr/>
        </p:nvSpPr>
        <p:spPr>
          <a:xfrm>
            <a:off x="1088136" y="3429000"/>
            <a:ext cx="4471416" cy="384048"/>
          </a:xfrm>
          <a:prstGeom prst="rect">
            <a:avLst/>
          </a:prstGeom>
          <a:noFill/>
        </p:spPr>
        <p:txBody>
          <a:bodyPr wrap="square" lIns="0" tIns="0" rIns="0" bIns="0" anchor="ctr">
            <a:spAutoFit/>
          </a:bodyPr>
          <a:lstStyle/>
          <a:p>
            <a:pPr algn="l">
              <a:spcAft>
                <a:spcPts val="0"/>
              </a:spcAft>
            </a:pPr>
            <a:r>
              <a:rPr sz="1600" b="0" i="0">
                <a:solidFill>
                  <a:srgbClr val="F2F2F4"/>
                </a:solidFill>
                <a:latin typeface="Source Sans 3"/>
              </a:rPr>
              <a:t>USD per month · 12-month term</a:t>
            </a:r>
          </a:p>
        </p:txBody>
      </p:sp>
      <p:sp>
        <p:nvSpPr>
          <p:cNvPr id="16" name="Rounded Rectangle 15"/>
          <p:cNvSpPr/>
          <p:nvPr/>
        </p:nvSpPr>
        <p:spPr>
          <a:xfrm>
            <a:off x="6217920" y="2130552"/>
            <a:ext cx="5212080" cy="2139696"/>
          </a:xfrm>
          <a:prstGeom prst="roundRect">
            <a:avLst/>
          </a:prstGeom>
          <a:solidFill>
            <a:srgbClr val="040E3D"/>
          </a:solidFill>
          <a:ln w="1016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83096" y="2395728"/>
            <a:ext cx="4572000" cy="914400"/>
          </a:xfrm>
          <a:prstGeom prst="rect">
            <a:avLst/>
          </a:prstGeom>
          <a:noFill/>
        </p:spPr>
        <p:txBody>
          <a:bodyPr wrap="square" lIns="0" tIns="0" rIns="0" bIns="0" anchor="ctr">
            <a:spAutoFit/>
          </a:bodyPr>
          <a:lstStyle/>
          <a:p>
            <a:pPr algn="l">
              <a:spcAft>
                <a:spcPts val="0"/>
              </a:spcAft>
            </a:pPr>
            <a:r>
              <a:rPr sz="4200" b="1" i="0">
                <a:solidFill>
                  <a:srgbClr val="2CB0CD"/>
                </a:solidFill>
                <a:latin typeface="Source Sans 3"/>
              </a:rPr>
              <a:t>$186,000</a:t>
            </a:r>
          </a:p>
        </p:txBody>
      </p:sp>
      <p:sp>
        <p:nvSpPr>
          <p:cNvPr id="18" name="TextBox 17"/>
          <p:cNvSpPr txBox="1"/>
          <p:nvPr/>
        </p:nvSpPr>
        <p:spPr>
          <a:xfrm>
            <a:off x="6483096" y="3429000"/>
            <a:ext cx="4471416" cy="384048"/>
          </a:xfrm>
          <a:prstGeom prst="rect">
            <a:avLst/>
          </a:prstGeom>
          <a:noFill/>
        </p:spPr>
        <p:txBody>
          <a:bodyPr wrap="square" lIns="0" tIns="0" rIns="0" bIns="0" anchor="ctr">
            <a:spAutoFit/>
          </a:bodyPr>
          <a:lstStyle/>
          <a:p>
            <a:pPr algn="l">
              <a:spcAft>
                <a:spcPts val="0"/>
              </a:spcAft>
            </a:pPr>
            <a:r>
              <a:rPr sz="1600" b="0" i="0">
                <a:solidFill>
                  <a:srgbClr val="F2F2F4"/>
                </a:solidFill>
                <a:latin typeface="Source Sans 3"/>
              </a:rPr>
              <a:t>Total fees in US draft SOW</a:t>
            </a:r>
          </a:p>
        </p:txBody>
      </p:sp>
      <p:sp>
        <p:nvSpPr>
          <p:cNvPr id="19" name="TextBox 18"/>
          <p:cNvSpPr txBox="1"/>
          <p:nvPr/>
        </p:nvSpPr>
        <p:spPr>
          <a:xfrm>
            <a:off x="868680" y="4718304"/>
            <a:ext cx="10424160" cy="795528"/>
          </a:xfrm>
          <a:prstGeom prst="rect">
            <a:avLst/>
          </a:prstGeom>
          <a:noFill/>
        </p:spPr>
        <p:txBody>
          <a:bodyPr wrap="square" lIns="0" tIns="0" rIns="0" bIns="0" anchor="ctr">
            <a:spAutoFit/>
          </a:bodyPr>
          <a:lstStyle/>
          <a:p>
            <a:pPr algn="l">
              <a:spcAft>
                <a:spcPts val="0"/>
              </a:spcAft>
            </a:pPr>
            <a:r>
              <a:rPr sz="1400" b="0" i="0">
                <a:solidFill>
                  <a:srgbClr val="F2F2F4"/>
                </a:solidFill>
                <a:latin typeface="Source Sans 3"/>
              </a:rPr>
              <a:t>Pricing excludes taxes, travel and additional third-party licensing / Assist consumption. Contract is non-cancellable for convenience; changes and renewal require signed agreement.</a:t>
            </a:r>
          </a:p>
        </p:txBody>
      </p:sp>
      <p:sp>
        <p:nvSpPr>
          <p:cNvPr id="20" name="TextBox 19"/>
          <p:cNvSpPr txBox="1"/>
          <p:nvPr/>
        </p:nvSpPr>
        <p:spPr>
          <a:xfrm>
            <a:off x="932688" y="5843016"/>
            <a:ext cx="10424160" cy="256032"/>
          </a:xfrm>
          <a:prstGeom prst="rect">
            <a:avLst/>
          </a:prstGeom>
          <a:noFill/>
        </p:spPr>
        <p:txBody>
          <a:bodyPr wrap="square" lIns="0" tIns="0" rIns="0" bIns="0" anchor="ctr">
            <a:spAutoFit/>
          </a:bodyPr>
          <a:lstStyle/>
          <a:p>
            <a:pPr algn="l">
              <a:spcAft>
                <a:spcPts val="0"/>
              </a:spcAft>
            </a:pPr>
            <a:r>
              <a:rPr sz="1200" b="1" i="0">
                <a:solidFill>
                  <a:srgbClr val="C0A6FF"/>
                </a:solidFill>
                <a:latin typeface="Source Sans 3"/>
              </a:rPr>
              <a:t>INTERNAL REFERENCE ONLY   ·   NOT AN APPROVED CUSTOMER QUOTE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ai-runstate-closing-bg.png"/>
          <p:cNvPicPr>
            <a:picLocks noChangeAspect="1"/>
          </p:cNvPicPr>
          <p:nvPr/>
        </p:nvPicPr>
        <p:blipFill>
          <a:blip r:embed="rId3"/>
          <a:stretch>
            <a:fillRect/>
          </a:stretch>
        </p:blipFill>
        <p:spPr>
          <a:xfrm>
            <a:off x="-1" y="893"/>
            <a:ext cx="12188825" cy="6856214"/>
          </a:xfrm>
          <a:prstGeom prst="rect">
            <a:avLst/>
          </a:prstGeom>
        </p:spPr>
      </p:pic>
      <p:sp>
        <p:nvSpPr>
          <p:cNvPr id="3" name="Shape 0"/>
          <p:cNvSpPr/>
          <p:nvPr/>
        </p:nvSpPr>
        <p:spPr>
          <a:xfrm>
            <a:off x="566780" y="357416"/>
            <a:ext cx="255965" cy="24683"/>
          </a:xfrm>
          <a:prstGeom prst="rect">
            <a:avLst/>
          </a:prstGeom>
          <a:solidFill>
            <a:srgbClr val="8FFFDB"/>
          </a:solidFill>
          <a:ln w="12700">
            <a:solidFill>
              <a:srgbClr val="8FFFDB">
                <a:alpha val="0"/>
              </a:srgbClr>
            </a:solidFill>
            <a:prstDash val="solid"/>
          </a:ln>
        </p:spPr>
        <p:txBody>
          <a:bodyPr/>
          <a:lstStyle/>
          <a:p>
            <a:endParaRPr lang="en-US" sz="1798"/>
          </a:p>
        </p:txBody>
      </p:sp>
      <p:sp>
        <p:nvSpPr>
          <p:cNvPr id="4" name="Text 1"/>
          <p:cNvSpPr/>
          <p:nvPr/>
        </p:nvSpPr>
        <p:spPr>
          <a:xfrm>
            <a:off x="932444" y="243146"/>
            <a:ext cx="3656648" cy="283390"/>
          </a:xfrm>
          <a:prstGeom prst="rect">
            <a:avLst/>
          </a:prstGeom>
          <a:noFill/>
          <a:ln/>
        </p:spPr>
        <p:txBody>
          <a:bodyPr wrap="square" lIns="0" tIns="0" rIns="0" bIns="0" rtlCol="0" anchor="ctr"/>
          <a:lstStyle/>
          <a:p>
            <a:r>
              <a:rPr lang="en-US" sz="1100" b="1" kern="0" spc="240" dirty="0">
                <a:solidFill>
                  <a:srgbClr val="8FFFDB"/>
                </a:solidFill>
                <a:latin typeface="Source Sans 3" pitchFamily="34" charset="0"/>
                <a:ea typeface="Source Sans 3" pitchFamily="34" charset="-122"/>
                <a:cs typeface="Source Sans 3" pitchFamily="34" charset="-120"/>
              </a:rPr>
              <a:t>THE NEXT STEP</a:t>
            </a:r>
            <a:endParaRPr lang="en-US" sz="1100" dirty="0"/>
          </a:p>
        </p:txBody>
      </p:sp>
      <p:sp>
        <p:nvSpPr>
          <p:cNvPr id="5" name="Text 2"/>
          <p:cNvSpPr/>
          <p:nvPr/>
        </p:nvSpPr>
        <p:spPr>
          <a:xfrm>
            <a:off x="566780" y="713939"/>
            <a:ext cx="9690116" cy="548497"/>
          </a:xfrm>
          <a:prstGeom prst="rect">
            <a:avLst/>
          </a:prstGeom>
          <a:noFill/>
          <a:ln/>
        </p:spPr>
        <p:txBody>
          <a:bodyPr wrap="square" lIns="0" tIns="0" rIns="0" bIns="0" rtlCol="0" anchor="ctr"/>
          <a:lstStyle/>
          <a:p>
            <a:r>
              <a:rPr lang="en-US" sz="3849" b="1" kern="0" spc="-55" dirty="0">
                <a:solidFill>
                  <a:srgbClr val="FFFFFF"/>
                </a:solidFill>
                <a:latin typeface="Source Sans 3" pitchFamily="34" charset="0"/>
                <a:ea typeface="Source Sans 3" pitchFamily="34" charset="-122"/>
                <a:cs typeface="Source Sans 3" pitchFamily="34" charset="-120"/>
              </a:rPr>
              <a:t>Start with 90 minutes.</a:t>
            </a:r>
            <a:endParaRPr lang="en-US" sz="3849" dirty="0"/>
          </a:p>
        </p:txBody>
      </p:sp>
      <p:sp>
        <p:nvSpPr>
          <p:cNvPr id="6" name="Text 3"/>
          <p:cNvSpPr/>
          <p:nvPr/>
        </p:nvSpPr>
        <p:spPr>
          <a:xfrm>
            <a:off x="566780" y="1235011"/>
            <a:ext cx="9690116" cy="557639"/>
          </a:xfrm>
          <a:prstGeom prst="rect">
            <a:avLst/>
          </a:prstGeom>
          <a:noFill/>
          <a:ln/>
        </p:spPr>
        <p:txBody>
          <a:bodyPr wrap="square" lIns="0" tIns="0" rIns="0" bIns="0" rtlCol="0" anchor="ctr"/>
          <a:lstStyle/>
          <a:p>
            <a:r>
              <a:rPr lang="en-US" sz="3849" b="1" kern="0" spc="-55" dirty="0">
                <a:solidFill>
                  <a:srgbClr val="8FFFDB"/>
                </a:solidFill>
                <a:latin typeface="Source Sans 3" pitchFamily="34" charset="0"/>
                <a:ea typeface="Source Sans 3" pitchFamily="34" charset="-122"/>
                <a:cs typeface="Source Sans 3" pitchFamily="34" charset="-120"/>
              </a:rPr>
              <a:t>Leave with a decision.</a:t>
            </a:r>
            <a:endParaRPr lang="en-US" sz="3849" dirty="0"/>
          </a:p>
        </p:txBody>
      </p:sp>
      <p:sp>
        <p:nvSpPr>
          <p:cNvPr id="7" name="Text 4"/>
          <p:cNvSpPr/>
          <p:nvPr/>
        </p:nvSpPr>
        <p:spPr>
          <a:xfrm>
            <a:off x="585063" y="1920633"/>
            <a:ext cx="10055781" cy="310815"/>
          </a:xfrm>
          <a:prstGeom prst="rect">
            <a:avLst/>
          </a:prstGeom>
          <a:noFill/>
          <a:ln/>
        </p:spPr>
        <p:txBody>
          <a:bodyPr wrap="square" lIns="0" tIns="0" rIns="0" bIns="0" rtlCol="0" anchor="ctr"/>
          <a:lstStyle/>
          <a:p>
            <a:r>
              <a:rPr lang="en-US" sz="1210" b="1" kern="0" spc="110" dirty="0">
                <a:solidFill>
                  <a:srgbClr val="D9E7F3"/>
                </a:solidFill>
                <a:latin typeface="Source Sans 3" pitchFamily="34" charset="0"/>
                <a:ea typeface="Source Sans 3" pitchFamily="34" charset="-122"/>
                <a:cs typeface="Source Sans 3" pitchFamily="34" charset="-120"/>
              </a:rPr>
              <a:t>FREE AI READINESS ASSESSMENT   /   THE START OF YOUR ROAD TO ZERO</a:t>
            </a:r>
            <a:endParaRPr lang="en-US" sz="1210" dirty="0"/>
          </a:p>
        </p:txBody>
      </p:sp>
      <p:sp>
        <p:nvSpPr>
          <p:cNvPr id="8" name="Shape 5"/>
          <p:cNvSpPr/>
          <p:nvPr/>
        </p:nvSpPr>
        <p:spPr>
          <a:xfrm>
            <a:off x="566780" y="2469130"/>
            <a:ext cx="6673382" cy="3226991"/>
          </a:xfrm>
          <a:prstGeom prst="roundRect">
            <a:avLst>
              <a:gd name="adj" fmla="val 4816"/>
            </a:avLst>
          </a:prstGeom>
          <a:solidFill>
            <a:srgbClr val="111D50">
              <a:alpha val="80000"/>
            </a:srgbClr>
          </a:solidFill>
          <a:ln w="11430">
            <a:solidFill>
              <a:srgbClr val="466184">
                <a:alpha val="56000"/>
              </a:srgbClr>
            </a:solidFill>
            <a:prstDash val="solid"/>
          </a:ln>
        </p:spPr>
        <p:txBody>
          <a:bodyPr/>
          <a:lstStyle/>
          <a:p>
            <a:endParaRPr lang="en-US" sz="1798"/>
          </a:p>
        </p:txBody>
      </p:sp>
      <p:sp>
        <p:nvSpPr>
          <p:cNvPr id="9" name="Text 6"/>
          <p:cNvSpPr/>
          <p:nvPr/>
        </p:nvSpPr>
        <p:spPr>
          <a:xfrm>
            <a:off x="813604" y="2734237"/>
            <a:ext cx="5942052" cy="274249"/>
          </a:xfrm>
          <a:prstGeom prst="rect">
            <a:avLst/>
          </a:prstGeom>
          <a:noFill/>
          <a:ln/>
        </p:spPr>
        <p:txBody>
          <a:bodyPr wrap="square" lIns="0" tIns="0" rIns="0" bIns="0" rtlCol="0" anchor="ctr"/>
          <a:lstStyle/>
          <a:p>
            <a:r>
              <a:rPr lang="en-US" sz="1100" b="1" kern="0" spc="170" dirty="0">
                <a:solidFill>
                  <a:srgbClr val="71F1F7"/>
                </a:solidFill>
                <a:latin typeface="Source Sans 3" pitchFamily="34" charset="0"/>
                <a:ea typeface="Source Sans 3" pitchFamily="34" charset="-122"/>
                <a:cs typeface="Source Sans 3" pitchFamily="34" charset="-120"/>
              </a:rPr>
              <a:t>WHAT WE DO TOGETHER</a:t>
            </a:r>
            <a:endParaRPr lang="en-US" sz="1100" dirty="0"/>
          </a:p>
        </p:txBody>
      </p:sp>
      <p:sp>
        <p:nvSpPr>
          <p:cNvPr id="10" name="Text 7"/>
          <p:cNvSpPr/>
          <p:nvPr/>
        </p:nvSpPr>
        <p:spPr>
          <a:xfrm>
            <a:off x="822745" y="3227884"/>
            <a:ext cx="484506" cy="292532"/>
          </a:xfrm>
          <a:prstGeom prst="rect">
            <a:avLst/>
          </a:prstGeom>
          <a:noFill/>
          <a:ln/>
        </p:spPr>
        <p:txBody>
          <a:bodyPr wrap="square" lIns="0" tIns="0" rIns="0" bIns="0" rtlCol="0" anchor="ctr"/>
          <a:lstStyle/>
          <a:p>
            <a:r>
              <a:rPr lang="en-US" sz="1500" b="1" dirty="0">
                <a:solidFill>
                  <a:srgbClr val="8FFFDB"/>
                </a:solidFill>
                <a:latin typeface="Source Sans 3" pitchFamily="34" charset="0"/>
                <a:ea typeface="Source Sans 3" pitchFamily="34" charset="-122"/>
                <a:cs typeface="Source Sans 3" pitchFamily="34" charset="-120"/>
              </a:rPr>
              <a:t>01</a:t>
            </a:r>
            <a:endParaRPr lang="en-US" sz="1500" dirty="0"/>
          </a:p>
        </p:txBody>
      </p:sp>
      <p:sp>
        <p:nvSpPr>
          <p:cNvPr id="11" name="Text 8"/>
          <p:cNvSpPr/>
          <p:nvPr/>
        </p:nvSpPr>
        <p:spPr>
          <a:xfrm>
            <a:off x="1380384" y="3182176"/>
            <a:ext cx="5521538" cy="319957"/>
          </a:xfrm>
          <a:prstGeom prst="rect">
            <a:avLst/>
          </a:prstGeom>
          <a:noFill/>
          <a:ln/>
        </p:spPr>
        <p:txBody>
          <a:bodyPr wrap="square" lIns="0" tIns="0" rIns="0" bIns="0" rtlCol="0" anchor="ctr"/>
          <a:lstStyle/>
          <a:p>
            <a:r>
              <a:rPr lang="en-US" b="1" dirty="0">
                <a:solidFill>
                  <a:srgbClr val="FFFFFF"/>
                </a:solidFill>
                <a:latin typeface="Source Sans 3" pitchFamily="34" charset="0"/>
                <a:ea typeface="Source Sans 3" pitchFamily="34" charset="-122"/>
                <a:cs typeface="Source Sans 3" pitchFamily="34" charset="-120"/>
              </a:rPr>
              <a:t>Choose the first outcome</a:t>
            </a:r>
            <a:endParaRPr lang="en-US" dirty="0"/>
          </a:p>
        </p:txBody>
      </p:sp>
      <p:sp>
        <p:nvSpPr>
          <p:cNvPr id="12" name="Text 9"/>
          <p:cNvSpPr/>
          <p:nvPr/>
        </p:nvSpPr>
        <p:spPr>
          <a:xfrm>
            <a:off x="1380384" y="3538699"/>
            <a:ext cx="5475830" cy="246824"/>
          </a:xfrm>
          <a:prstGeom prst="rect">
            <a:avLst/>
          </a:prstGeom>
          <a:noFill/>
          <a:ln/>
        </p:spPr>
        <p:txBody>
          <a:bodyPr wrap="square" lIns="0" tIns="0" rIns="0" bIns="0" rtlCol="0" anchor="ctr"/>
          <a:lstStyle/>
          <a:p>
            <a:r>
              <a:rPr lang="en-US" sz="1240" dirty="0">
                <a:solidFill>
                  <a:srgbClr val="CAD7EA"/>
                </a:solidFill>
                <a:latin typeface="Source Sans 3" pitchFamily="34" charset="0"/>
                <a:ea typeface="Source Sans 3" pitchFamily="34" charset="-122"/>
                <a:cs typeface="Source Sans 3" pitchFamily="34" charset="-120"/>
              </a:rPr>
              <a:t>Prioritise where business value and readiness meet.</a:t>
            </a:r>
            <a:endParaRPr lang="en-US" sz="1240" dirty="0"/>
          </a:p>
        </p:txBody>
      </p:sp>
      <p:sp>
        <p:nvSpPr>
          <p:cNvPr id="13" name="Shape 10"/>
          <p:cNvSpPr/>
          <p:nvPr/>
        </p:nvSpPr>
        <p:spPr>
          <a:xfrm>
            <a:off x="1380384" y="3867798"/>
            <a:ext cx="5430122" cy="0"/>
          </a:xfrm>
          <a:prstGeom prst="line">
            <a:avLst/>
          </a:prstGeom>
          <a:noFill/>
          <a:ln w="8255">
            <a:solidFill>
              <a:srgbClr val="36537D"/>
            </a:solidFill>
            <a:prstDash val="solid"/>
          </a:ln>
        </p:spPr>
        <p:txBody>
          <a:bodyPr/>
          <a:lstStyle/>
          <a:p>
            <a:endParaRPr lang="en-US" sz="1798"/>
          </a:p>
        </p:txBody>
      </p:sp>
      <p:sp>
        <p:nvSpPr>
          <p:cNvPr id="14" name="Text 11"/>
          <p:cNvSpPr/>
          <p:nvPr/>
        </p:nvSpPr>
        <p:spPr>
          <a:xfrm>
            <a:off x="822745" y="3959214"/>
            <a:ext cx="484506" cy="292532"/>
          </a:xfrm>
          <a:prstGeom prst="rect">
            <a:avLst/>
          </a:prstGeom>
          <a:noFill/>
          <a:ln/>
        </p:spPr>
        <p:txBody>
          <a:bodyPr wrap="square" lIns="0" tIns="0" rIns="0" bIns="0" rtlCol="0" anchor="ctr"/>
          <a:lstStyle/>
          <a:p>
            <a:r>
              <a:rPr lang="en-US" sz="1500" b="1" dirty="0">
                <a:solidFill>
                  <a:srgbClr val="8FFFDB"/>
                </a:solidFill>
                <a:latin typeface="Source Sans 3" pitchFamily="34" charset="0"/>
                <a:ea typeface="Source Sans 3" pitchFamily="34" charset="-122"/>
                <a:cs typeface="Source Sans 3" pitchFamily="34" charset="-120"/>
              </a:rPr>
              <a:t>02</a:t>
            </a:r>
            <a:endParaRPr lang="en-US" sz="1500" dirty="0"/>
          </a:p>
        </p:txBody>
      </p:sp>
      <p:sp>
        <p:nvSpPr>
          <p:cNvPr id="15" name="Text 12"/>
          <p:cNvSpPr/>
          <p:nvPr/>
        </p:nvSpPr>
        <p:spPr>
          <a:xfrm>
            <a:off x="1380384" y="3913506"/>
            <a:ext cx="5521538" cy="319957"/>
          </a:xfrm>
          <a:prstGeom prst="rect">
            <a:avLst/>
          </a:prstGeom>
          <a:noFill/>
          <a:ln/>
        </p:spPr>
        <p:txBody>
          <a:bodyPr wrap="square" lIns="0" tIns="0" rIns="0" bIns="0" rtlCol="0" anchor="ctr"/>
          <a:lstStyle/>
          <a:p>
            <a:r>
              <a:rPr lang="en-US" b="1" dirty="0">
                <a:solidFill>
                  <a:srgbClr val="FFFFFF"/>
                </a:solidFill>
                <a:latin typeface="Source Sans 3" pitchFamily="34" charset="0"/>
                <a:ea typeface="Source Sans 3" pitchFamily="34" charset="-122"/>
                <a:cs typeface="Source Sans 3" pitchFamily="34" charset="-120"/>
              </a:rPr>
              <a:t>Review readiness and controls</a:t>
            </a:r>
            <a:endParaRPr lang="en-US" dirty="0"/>
          </a:p>
        </p:txBody>
      </p:sp>
      <p:sp>
        <p:nvSpPr>
          <p:cNvPr id="16" name="Text 13"/>
          <p:cNvSpPr/>
          <p:nvPr/>
        </p:nvSpPr>
        <p:spPr>
          <a:xfrm>
            <a:off x="1380384" y="4270029"/>
            <a:ext cx="5475830" cy="246824"/>
          </a:xfrm>
          <a:prstGeom prst="rect">
            <a:avLst/>
          </a:prstGeom>
          <a:noFill/>
          <a:ln/>
        </p:spPr>
        <p:txBody>
          <a:bodyPr wrap="square" lIns="0" tIns="0" rIns="0" bIns="0" rtlCol="0" anchor="ctr"/>
          <a:lstStyle/>
          <a:p>
            <a:r>
              <a:rPr lang="en-US" sz="1240" dirty="0">
                <a:solidFill>
                  <a:srgbClr val="CAD7EA"/>
                </a:solidFill>
                <a:latin typeface="Source Sans 3" pitchFamily="34" charset="0"/>
                <a:ea typeface="Source Sans 3" pitchFamily="34" charset="-122"/>
                <a:cs typeface="Source Sans 3" pitchFamily="34" charset="-120"/>
              </a:rPr>
              <a:t>Examine the seven dimensions, evidence and gaps.</a:t>
            </a:r>
            <a:endParaRPr lang="en-US" sz="1240" dirty="0"/>
          </a:p>
        </p:txBody>
      </p:sp>
      <p:sp>
        <p:nvSpPr>
          <p:cNvPr id="17" name="Shape 14"/>
          <p:cNvSpPr/>
          <p:nvPr/>
        </p:nvSpPr>
        <p:spPr>
          <a:xfrm>
            <a:off x="1380384" y="4599127"/>
            <a:ext cx="5430122" cy="0"/>
          </a:xfrm>
          <a:prstGeom prst="line">
            <a:avLst/>
          </a:prstGeom>
          <a:noFill/>
          <a:ln w="8255">
            <a:solidFill>
              <a:srgbClr val="36537D"/>
            </a:solidFill>
            <a:prstDash val="solid"/>
          </a:ln>
        </p:spPr>
        <p:txBody>
          <a:bodyPr/>
          <a:lstStyle/>
          <a:p>
            <a:endParaRPr lang="en-US" sz="1798"/>
          </a:p>
        </p:txBody>
      </p:sp>
      <p:sp>
        <p:nvSpPr>
          <p:cNvPr id="18" name="Text 15"/>
          <p:cNvSpPr/>
          <p:nvPr/>
        </p:nvSpPr>
        <p:spPr>
          <a:xfrm>
            <a:off x="822745" y="4690543"/>
            <a:ext cx="484506" cy="292532"/>
          </a:xfrm>
          <a:prstGeom prst="rect">
            <a:avLst/>
          </a:prstGeom>
          <a:noFill/>
          <a:ln/>
        </p:spPr>
        <p:txBody>
          <a:bodyPr wrap="square" lIns="0" tIns="0" rIns="0" bIns="0" rtlCol="0" anchor="ctr"/>
          <a:lstStyle/>
          <a:p>
            <a:r>
              <a:rPr lang="en-US" sz="1500" b="1" dirty="0">
                <a:solidFill>
                  <a:srgbClr val="8FFFDB"/>
                </a:solidFill>
                <a:latin typeface="Source Sans 3" pitchFamily="34" charset="0"/>
                <a:ea typeface="Source Sans 3" pitchFamily="34" charset="-122"/>
                <a:cs typeface="Source Sans 3" pitchFamily="34" charset="-120"/>
              </a:rPr>
              <a:t>03</a:t>
            </a:r>
            <a:endParaRPr lang="en-US" sz="1500" dirty="0"/>
          </a:p>
        </p:txBody>
      </p:sp>
      <p:sp>
        <p:nvSpPr>
          <p:cNvPr id="19" name="Text 16"/>
          <p:cNvSpPr/>
          <p:nvPr/>
        </p:nvSpPr>
        <p:spPr>
          <a:xfrm>
            <a:off x="1380384" y="4644835"/>
            <a:ext cx="5521538" cy="319957"/>
          </a:xfrm>
          <a:prstGeom prst="rect">
            <a:avLst/>
          </a:prstGeom>
          <a:noFill/>
          <a:ln/>
        </p:spPr>
        <p:txBody>
          <a:bodyPr wrap="square" lIns="0" tIns="0" rIns="0" bIns="0" rtlCol="0" anchor="ctr"/>
          <a:lstStyle/>
          <a:p>
            <a:r>
              <a:rPr lang="en-US" b="1" dirty="0">
                <a:solidFill>
                  <a:srgbClr val="FFFFFF"/>
                </a:solidFill>
                <a:latin typeface="Source Sans 3" pitchFamily="34" charset="0"/>
                <a:ea typeface="Source Sans 3" pitchFamily="34" charset="-122"/>
                <a:cs typeface="Source Sans 3" pitchFamily="34" charset="-120"/>
              </a:rPr>
              <a:t>Model likely AI consumption</a:t>
            </a:r>
            <a:endParaRPr lang="en-US" dirty="0"/>
          </a:p>
        </p:txBody>
      </p:sp>
      <p:sp>
        <p:nvSpPr>
          <p:cNvPr id="20" name="Text 17"/>
          <p:cNvSpPr/>
          <p:nvPr/>
        </p:nvSpPr>
        <p:spPr>
          <a:xfrm>
            <a:off x="1380384" y="5001358"/>
            <a:ext cx="5475830" cy="246824"/>
          </a:xfrm>
          <a:prstGeom prst="rect">
            <a:avLst/>
          </a:prstGeom>
          <a:noFill/>
          <a:ln/>
        </p:spPr>
        <p:txBody>
          <a:bodyPr wrap="square" lIns="0" tIns="0" rIns="0" bIns="0" rtlCol="0" anchor="ctr"/>
          <a:lstStyle/>
          <a:p>
            <a:r>
              <a:rPr lang="en-US" sz="1240" dirty="0">
                <a:solidFill>
                  <a:srgbClr val="CAD7EA"/>
                </a:solidFill>
                <a:latin typeface="Source Sans 3" pitchFamily="34" charset="0"/>
                <a:ea typeface="Source Sans 3" pitchFamily="34" charset="-122"/>
                <a:cs typeface="Source Sans 3" pitchFamily="34" charset="-120"/>
              </a:rPr>
              <a:t>Estimate Assist demand and indicative tier fit.</a:t>
            </a:r>
            <a:endParaRPr lang="en-US" sz="1240" dirty="0"/>
          </a:p>
        </p:txBody>
      </p:sp>
      <p:sp>
        <p:nvSpPr>
          <p:cNvPr id="21" name="Shape 18"/>
          <p:cNvSpPr/>
          <p:nvPr/>
        </p:nvSpPr>
        <p:spPr>
          <a:xfrm>
            <a:off x="7468702" y="2469130"/>
            <a:ext cx="4159437" cy="3226991"/>
          </a:xfrm>
          <a:prstGeom prst="roundRect">
            <a:avLst>
              <a:gd name="adj" fmla="val 4816"/>
            </a:avLst>
          </a:prstGeom>
          <a:solidFill>
            <a:srgbClr val="182652">
              <a:alpha val="93000"/>
            </a:srgbClr>
          </a:solidFill>
          <a:ln w="14605">
            <a:solidFill>
              <a:srgbClr val="71F1F7">
                <a:alpha val="89000"/>
              </a:srgbClr>
            </a:solidFill>
            <a:prstDash val="solid"/>
          </a:ln>
        </p:spPr>
        <p:txBody>
          <a:bodyPr/>
          <a:lstStyle/>
          <a:p>
            <a:endParaRPr lang="en-US" sz="1798"/>
          </a:p>
        </p:txBody>
      </p:sp>
      <p:sp>
        <p:nvSpPr>
          <p:cNvPr id="22" name="Text 19"/>
          <p:cNvSpPr/>
          <p:nvPr/>
        </p:nvSpPr>
        <p:spPr>
          <a:xfrm>
            <a:off x="7724668" y="2734237"/>
            <a:ext cx="3565231" cy="274249"/>
          </a:xfrm>
          <a:prstGeom prst="rect">
            <a:avLst/>
          </a:prstGeom>
          <a:noFill/>
          <a:ln/>
        </p:spPr>
        <p:txBody>
          <a:bodyPr wrap="square" lIns="0" tIns="0" rIns="0" bIns="0" rtlCol="0" anchor="ctr"/>
          <a:lstStyle/>
          <a:p>
            <a:r>
              <a:rPr lang="en-US" sz="1100" b="1" kern="0" spc="170" dirty="0">
                <a:solidFill>
                  <a:srgbClr val="8FFFDB"/>
                </a:solidFill>
                <a:latin typeface="Source Sans 3" pitchFamily="34" charset="0"/>
                <a:ea typeface="Source Sans 3" pitchFamily="34" charset="-122"/>
                <a:cs typeface="Source Sans 3" pitchFamily="34" charset="-120"/>
              </a:rPr>
              <a:t>YOU LEAVE WITH</a:t>
            </a:r>
            <a:endParaRPr lang="en-US" sz="1100" dirty="0"/>
          </a:p>
        </p:txBody>
      </p:sp>
      <p:sp>
        <p:nvSpPr>
          <p:cNvPr id="23" name="Text 20"/>
          <p:cNvSpPr/>
          <p:nvPr/>
        </p:nvSpPr>
        <p:spPr>
          <a:xfrm>
            <a:off x="7715526" y="3090760"/>
            <a:ext cx="3565231" cy="767896"/>
          </a:xfrm>
          <a:prstGeom prst="rect">
            <a:avLst/>
          </a:prstGeom>
          <a:noFill/>
          <a:ln/>
        </p:spPr>
        <p:txBody>
          <a:bodyPr wrap="square" lIns="0" tIns="0" rIns="0" bIns="0" rtlCol="0" anchor="t"/>
          <a:lstStyle/>
          <a:p>
            <a:r>
              <a:rPr lang="en-US" sz="2099" b="1" dirty="0">
                <a:solidFill>
                  <a:srgbClr val="FFFFFF"/>
                </a:solidFill>
                <a:latin typeface="Source Sans 3" pitchFamily="34" charset="0"/>
                <a:ea typeface="Source Sans 3" pitchFamily="34" charset="-122"/>
                <a:cs typeface="Source Sans 3" pitchFamily="34" charset="-120"/>
              </a:rPr>
              <a:t>Your AI Readiness</a:t>
            </a:r>
            <a:endParaRPr lang="en-US" sz="2099" dirty="0"/>
          </a:p>
          <a:p>
            <a:r>
              <a:rPr lang="en-US" sz="2099" b="1" dirty="0">
                <a:solidFill>
                  <a:srgbClr val="FFFFFF"/>
                </a:solidFill>
                <a:latin typeface="Source Sans 3" pitchFamily="34" charset="0"/>
                <a:ea typeface="Source Sans 3" pitchFamily="34" charset="-122"/>
                <a:cs typeface="Source Sans 3" pitchFamily="34" charset="-120"/>
              </a:rPr>
              <a:t>Decision Brief</a:t>
            </a:r>
            <a:endParaRPr lang="en-US" sz="2099" dirty="0"/>
          </a:p>
        </p:txBody>
      </p:sp>
      <p:sp>
        <p:nvSpPr>
          <p:cNvPr id="24" name="Shape 21"/>
          <p:cNvSpPr/>
          <p:nvPr/>
        </p:nvSpPr>
        <p:spPr>
          <a:xfrm>
            <a:off x="7724667" y="3986639"/>
            <a:ext cx="3592656" cy="0"/>
          </a:xfrm>
          <a:prstGeom prst="line">
            <a:avLst/>
          </a:prstGeom>
          <a:noFill/>
          <a:ln w="10795">
            <a:solidFill>
              <a:srgbClr val="557A93"/>
            </a:solidFill>
            <a:prstDash val="solid"/>
          </a:ln>
        </p:spPr>
        <p:txBody>
          <a:bodyPr/>
          <a:lstStyle/>
          <a:p>
            <a:endParaRPr lang="en-US" sz="1798"/>
          </a:p>
        </p:txBody>
      </p:sp>
      <p:sp>
        <p:nvSpPr>
          <p:cNvPr id="25" name="Shape 22"/>
          <p:cNvSpPr/>
          <p:nvPr/>
        </p:nvSpPr>
        <p:spPr>
          <a:xfrm>
            <a:off x="7752092" y="4218836"/>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26" name="Text 23"/>
          <p:cNvSpPr/>
          <p:nvPr/>
        </p:nvSpPr>
        <p:spPr>
          <a:xfrm>
            <a:off x="7916642" y="4142046"/>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Initial readiness and autonomy ceiling</a:t>
            </a:r>
            <a:endParaRPr lang="en-US" sz="1165" dirty="0"/>
          </a:p>
        </p:txBody>
      </p:sp>
      <p:sp>
        <p:nvSpPr>
          <p:cNvPr id="27" name="Shape 24"/>
          <p:cNvSpPr/>
          <p:nvPr/>
        </p:nvSpPr>
        <p:spPr>
          <a:xfrm>
            <a:off x="7752092" y="4547935"/>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28" name="Text 25"/>
          <p:cNvSpPr/>
          <p:nvPr/>
        </p:nvSpPr>
        <p:spPr>
          <a:xfrm>
            <a:off x="7916642" y="4471145"/>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First candidate outcome</a:t>
            </a:r>
            <a:endParaRPr lang="en-US" sz="1165" dirty="0"/>
          </a:p>
        </p:txBody>
      </p:sp>
      <p:sp>
        <p:nvSpPr>
          <p:cNvPr id="29" name="Shape 26"/>
          <p:cNvSpPr/>
          <p:nvPr/>
        </p:nvSpPr>
        <p:spPr>
          <a:xfrm>
            <a:off x="7752092" y="4877033"/>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30" name="Text 27"/>
          <p:cNvSpPr/>
          <p:nvPr/>
        </p:nvSpPr>
        <p:spPr>
          <a:xfrm>
            <a:off x="7916642" y="4800243"/>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Indicative Assist and tier assumptions</a:t>
            </a:r>
            <a:endParaRPr lang="en-US" sz="1165" dirty="0"/>
          </a:p>
        </p:txBody>
      </p:sp>
      <p:sp>
        <p:nvSpPr>
          <p:cNvPr id="31" name="Shape 28"/>
          <p:cNvSpPr/>
          <p:nvPr/>
        </p:nvSpPr>
        <p:spPr>
          <a:xfrm>
            <a:off x="7752092" y="5206131"/>
            <a:ext cx="60334" cy="60334"/>
          </a:xfrm>
          <a:prstGeom prst="ellipse">
            <a:avLst/>
          </a:prstGeom>
          <a:solidFill>
            <a:srgbClr val="8FFFDB"/>
          </a:solidFill>
          <a:ln w="12700">
            <a:solidFill>
              <a:srgbClr val="8FFFDB">
                <a:alpha val="0"/>
              </a:srgbClr>
            </a:solidFill>
            <a:prstDash val="solid"/>
          </a:ln>
        </p:spPr>
        <p:txBody>
          <a:bodyPr/>
          <a:lstStyle/>
          <a:p>
            <a:endParaRPr lang="en-US" sz="1798"/>
          </a:p>
        </p:txBody>
      </p:sp>
      <p:sp>
        <p:nvSpPr>
          <p:cNvPr id="32" name="Text 29"/>
          <p:cNvSpPr/>
          <p:nvPr/>
        </p:nvSpPr>
        <p:spPr>
          <a:xfrm>
            <a:off x="7916642" y="5129341"/>
            <a:ext cx="3345832" cy="210257"/>
          </a:xfrm>
          <a:prstGeom prst="rect">
            <a:avLst/>
          </a:prstGeom>
          <a:noFill/>
          <a:ln/>
        </p:spPr>
        <p:txBody>
          <a:bodyPr wrap="square" lIns="0" tIns="0" rIns="0" bIns="0" rtlCol="0" anchor="ctr"/>
          <a:lstStyle/>
          <a:p>
            <a:r>
              <a:rPr lang="en-US" sz="1165" dirty="0">
                <a:solidFill>
                  <a:srgbClr val="E8F2FB"/>
                </a:solidFill>
                <a:latin typeface="Source Sans 3" pitchFamily="34" charset="0"/>
                <a:ea typeface="Source Sans 3" pitchFamily="34" charset="-122"/>
                <a:cs typeface="Source Sans 3" pitchFamily="34" charset="-120"/>
              </a:rPr>
              <a:t>90-day priorities, owners and dependencies</a:t>
            </a:r>
            <a:endParaRPr lang="en-US" sz="1165" dirty="0"/>
          </a:p>
        </p:txBody>
      </p:sp>
      <p:sp>
        <p:nvSpPr>
          <p:cNvPr id="33" name="Shape 30"/>
          <p:cNvSpPr/>
          <p:nvPr/>
        </p:nvSpPr>
        <p:spPr>
          <a:xfrm>
            <a:off x="594205" y="5933804"/>
            <a:ext cx="10997367" cy="0"/>
          </a:xfrm>
          <a:prstGeom prst="line">
            <a:avLst/>
          </a:prstGeom>
          <a:noFill/>
          <a:ln w="8890">
            <a:solidFill>
              <a:srgbClr val="3B567A"/>
            </a:solidFill>
            <a:prstDash val="solid"/>
          </a:ln>
        </p:spPr>
        <p:txBody>
          <a:bodyPr/>
          <a:lstStyle/>
          <a:p>
            <a:endParaRPr lang="en-US" sz="1798"/>
          </a:p>
        </p:txBody>
      </p:sp>
      <p:pic>
        <p:nvPicPr>
          <p:cNvPr id="34" name="Image 1" descr="/mnt/data/road-to-zero-crossfuze-logo.png"/>
          <p:cNvPicPr>
            <a:picLocks noChangeAspect="1"/>
          </p:cNvPicPr>
          <p:nvPr/>
        </p:nvPicPr>
        <p:blipFill>
          <a:blip r:embed="rId4"/>
          <a:stretch>
            <a:fillRect/>
          </a:stretch>
        </p:blipFill>
        <p:spPr>
          <a:xfrm>
            <a:off x="585063" y="6317752"/>
            <a:ext cx="1261543" cy="216657"/>
          </a:xfrm>
          <a:prstGeom prst="rect">
            <a:avLst/>
          </a:prstGeom>
        </p:spPr>
      </p:pic>
      <p:sp>
        <p:nvSpPr>
          <p:cNvPr id="35" name="Text 31"/>
          <p:cNvSpPr/>
          <p:nvPr/>
        </p:nvSpPr>
        <p:spPr>
          <a:xfrm>
            <a:off x="2084289" y="6326893"/>
            <a:ext cx="2925318" cy="228540"/>
          </a:xfrm>
          <a:prstGeom prst="rect">
            <a:avLst/>
          </a:prstGeom>
          <a:noFill/>
          <a:ln/>
        </p:spPr>
        <p:txBody>
          <a:bodyPr wrap="square" lIns="0" tIns="0" rIns="0" bIns="0" rtlCol="0" anchor="ctr"/>
          <a:lstStyle/>
          <a:p>
            <a:r>
              <a:rPr lang="en-US" sz="1140" b="1" dirty="0">
                <a:solidFill>
                  <a:srgbClr val="FFFFFF"/>
                </a:solidFill>
                <a:latin typeface="Source Sans 3" pitchFamily="34" charset="0"/>
                <a:ea typeface="Source Sans 3" pitchFamily="34" charset="-122"/>
                <a:cs typeface="Source Sans 3" pitchFamily="34" charset="-120"/>
              </a:rPr>
              <a:t>Autonomy Is Earned.</a:t>
            </a:r>
            <a:endParaRPr lang="en-US" sz="1140" dirty="0"/>
          </a:p>
        </p:txBody>
      </p:sp>
      <p:sp>
        <p:nvSpPr>
          <p:cNvPr id="36" name="Shape 32"/>
          <p:cNvSpPr/>
          <p:nvPr/>
        </p:nvSpPr>
        <p:spPr>
          <a:xfrm>
            <a:off x="7468702" y="6089211"/>
            <a:ext cx="4159437" cy="511931"/>
          </a:xfrm>
          <a:prstGeom prst="roundRect">
            <a:avLst>
              <a:gd name="adj" fmla="val 48214"/>
            </a:avLst>
          </a:prstGeom>
          <a:solidFill>
            <a:srgbClr val="8FFFDB"/>
          </a:solidFill>
          <a:ln w="12700">
            <a:solidFill>
              <a:srgbClr val="8FFFDB">
                <a:alpha val="0"/>
              </a:srgbClr>
            </a:solidFill>
            <a:prstDash val="solid"/>
          </a:ln>
        </p:spPr>
        <p:txBody>
          <a:bodyPr/>
          <a:lstStyle/>
          <a:p>
            <a:endParaRPr lang="en-US" sz="1798"/>
          </a:p>
        </p:txBody>
      </p:sp>
      <p:sp>
        <p:nvSpPr>
          <p:cNvPr id="37" name="Text 33"/>
          <p:cNvSpPr/>
          <p:nvPr/>
        </p:nvSpPr>
        <p:spPr>
          <a:xfrm>
            <a:off x="7770375" y="6235477"/>
            <a:ext cx="3236133" cy="228540"/>
          </a:xfrm>
          <a:prstGeom prst="rect">
            <a:avLst/>
          </a:prstGeom>
          <a:noFill/>
          <a:ln/>
        </p:spPr>
        <p:txBody>
          <a:bodyPr wrap="square" lIns="0" tIns="0" rIns="0" bIns="0" rtlCol="0" anchor="ctr"/>
          <a:lstStyle/>
          <a:p>
            <a:r>
              <a:rPr lang="en-US" sz="1400" b="1" dirty="0">
                <a:solidFill>
                  <a:srgbClr val="040E3D"/>
                </a:solidFill>
                <a:latin typeface="Source Sans 3" pitchFamily="34" charset="0"/>
                <a:ea typeface="Source Sans 3" pitchFamily="34" charset="-122"/>
                <a:cs typeface="Source Sans 3" pitchFamily="34" charset="-120"/>
              </a:rPr>
              <a:t>Book your 90-minute session</a:t>
            </a:r>
            <a:endParaRPr lang="en-US" sz="1400" dirty="0"/>
          </a:p>
        </p:txBody>
      </p:sp>
      <p:sp>
        <p:nvSpPr>
          <p:cNvPr id="38" name="Shape 34"/>
          <p:cNvSpPr/>
          <p:nvPr/>
        </p:nvSpPr>
        <p:spPr>
          <a:xfrm>
            <a:off x="11152775" y="6326893"/>
            <a:ext cx="182832" cy="0"/>
          </a:xfrm>
          <a:prstGeom prst="line">
            <a:avLst/>
          </a:prstGeom>
          <a:noFill/>
          <a:ln w="26670">
            <a:solidFill>
              <a:srgbClr val="040E3D"/>
            </a:solidFill>
            <a:prstDash val="solid"/>
            <a:headEnd type="none"/>
            <a:tailEnd type="triangle"/>
          </a:ln>
        </p:spPr>
        <p:txBody>
          <a:bodyPr/>
          <a:lstStyle/>
          <a:p>
            <a:endParaRPr lang="en-US" sz="1798"/>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rossfuze road background" descr="Glowing road leading to a zero"/>
          <p:cNvPicPr>
            <a:picLocks noChangeAspect="1"/>
          </p:cNvPicPr>
          <p:nvPr/>
        </p:nvPicPr>
        <p:blipFill>
          <a:blip r:embed="rId3"/>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D85DD65D-07A4-1924-C165-42331D5F1DF4}"/>
              </a:ext>
            </a:extLst>
          </p:cNvPr>
          <p:cNvSpPr/>
          <p:nvPr/>
        </p:nvSpPr>
        <p:spPr>
          <a:xfrm rot="10800000" flipH="1">
            <a:off x="2209224" y="893"/>
            <a:ext cx="7602607" cy="6856214"/>
          </a:xfrm>
          <a:prstGeom prst="rect">
            <a:avLst/>
          </a:prstGeom>
          <a:gradFill>
            <a:gsLst>
              <a:gs pos="61000">
                <a:srgbClr val="040E3D">
                  <a:alpha val="67020"/>
                </a:srgbClr>
              </a:gs>
              <a:gs pos="23000">
                <a:schemeClr val="tx2"/>
              </a:gs>
              <a:gs pos="93000">
                <a:schemeClr val="tx2">
                  <a:alpha val="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12" name="Rectangle 11">
            <a:extLst>
              <a:ext uri="{FF2B5EF4-FFF2-40B4-BE49-F238E27FC236}">
                <a16:creationId xmlns:a16="http://schemas.microsoft.com/office/drawing/2014/main" id="{2725703B-06E3-C756-9B25-35C992E5E40A}"/>
              </a:ext>
            </a:extLst>
          </p:cNvPr>
          <p:cNvSpPr/>
          <p:nvPr/>
        </p:nvSpPr>
        <p:spPr>
          <a:xfrm rot="10800000" flipH="1">
            <a:off x="476" y="893"/>
            <a:ext cx="7602607" cy="6856214"/>
          </a:xfrm>
          <a:prstGeom prst="rect">
            <a:avLst/>
          </a:prstGeom>
          <a:gradFill>
            <a:gsLst>
              <a:gs pos="61000">
                <a:srgbClr val="040E3D">
                  <a:alpha val="67020"/>
                </a:srgbClr>
              </a:gs>
              <a:gs pos="23000">
                <a:schemeClr val="tx2"/>
              </a:gs>
              <a:gs pos="93000">
                <a:schemeClr val="tx2">
                  <a:alpha val="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a:extLst>
              <a:ext uri="{FF2B5EF4-FFF2-40B4-BE49-F238E27FC236}">
                <a16:creationId xmlns:a16="http://schemas.microsoft.com/office/drawing/2014/main" id="{26E61470-3056-CD1F-107A-ABE493CCB73C}"/>
              </a:ext>
            </a:extLst>
          </p:cNvPr>
          <p:cNvSpPr txBox="1"/>
          <p:nvPr/>
        </p:nvSpPr>
        <p:spPr>
          <a:xfrm>
            <a:off x="512064" y="1700784"/>
            <a:ext cx="4114800" cy="1024128"/>
          </a:xfrm>
          <a:prstGeom prst="rect">
            <a:avLst/>
          </a:prstGeom>
          <a:noFill/>
        </p:spPr>
        <p:txBody>
          <a:bodyPr wrap="square" lIns="0" tIns="0" rIns="0" bIns="0" rtlCol="0" anchor="b">
            <a:spAutoFit/>
          </a:bodyPr>
          <a:lstStyle/>
          <a:p>
            <a:pPr>
              <a:lnSpc>
                <a:spcPct val="80000"/>
              </a:lnSpc>
            </a:pPr>
            <a:r>
              <a:rPr lang="en-US" sz="7000" b="1">
                <a:solidFill>
                  <a:srgbClr val="8FFFDB"/>
                </a:solidFill>
                <a:latin typeface="+mj-lt"/>
              </a:rPr>
              <a:t>The</a:t>
            </a:r>
          </a:p>
        </p:txBody>
      </p:sp>
      <p:sp>
        <p:nvSpPr>
          <p:cNvPr id="9" name="TextBox 8">
            <a:extLst>
              <a:ext uri="{FF2B5EF4-FFF2-40B4-BE49-F238E27FC236}">
                <a16:creationId xmlns:a16="http://schemas.microsoft.com/office/drawing/2014/main" id="{3C6DAE01-EFC8-2FAD-84FB-7951678513E5}"/>
              </a:ext>
            </a:extLst>
          </p:cNvPr>
          <p:cNvSpPr txBox="1"/>
          <p:nvPr/>
        </p:nvSpPr>
        <p:spPr>
          <a:xfrm>
            <a:off x="512064" y="2697480"/>
            <a:ext cx="6336792" cy="1069848"/>
          </a:xfrm>
          <a:prstGeom prst="rect">
            <a:avLst/>
          </a:prstGeom>
          <a:noFill/>
        </p:spPr>
        <p:txBody>
          <a:bodyPr wrap="square" lIns="0" tIns="0" rIns="0" bIns="0" rtlCol="0" anchor="b">
            <a:spAutoFit/>
          </a:bodyPr>
          <a:lstStyle/>
          <a:p>
            <a:pPr>
              <a:lnSpc>
                <a:spcPct val="80000"/>
              </a:lnSpc>
            </a:pPr>
            <a:r>
              <a:rPr lang="en-US" sz="6200" b="1">
                <a:solidFill>
                  <a:srgbClr val="8FFFDB"/>
                </a:solidFill>
                <a:latin typeface="+mj-lt"/>
              </a:rPr>
              <a:t>Confidence</a:t>
            </a:r>
          </a:p>
        </p:txBody>
      </p:sp>
      <p:sp>
        <p:nvSpPr>
          <p:cNvPr id="13" name="TextBox 12">
            <a:extLst>
              <a:ext uri="{FF2B5EF4-FFF2-40B4-BE49-F238E27FC236}">
                <a16:creationId xmlns:a16="http://schemas.microsoft.com/office/drawing/2014/main" id="{BC8547D4-CBF2-A8DF-CD9B-4AD66E469535}"/>
              </a:ext>
            </a:extLst>
          </p:cNvPr>
          <p:cNvSpPr txBox="1"/>
          <p:nvPr/>
        </p:nvSpPr>
        <p:spPr>
          <a:xfrm>
            <a:off x="512064" y="3739896"/>
            <a:ext cx="6629400" cy="1097280"/>
          </a:xfrm>
          <a:prstGeom prst="rect">
            <a:avLst/>
          </a:prstGeom>
          <a:noFill/>
        </p:spPr>
        <p:txBody>
          <a:bodyPr wrap="square" lIns="0" tIns="0" rIns="0" bIns="0" rtlCol="0" anchor="b">
            <a:spAutoFit/>
          </a:bodyPr>
          <a:lstStyle/>
          <a:p>
            <a:pPr>
              <a:lnSpc>
                <a:spcPct val="80000"/>
              </a:lnSpc>
            </a:pPr>
            <a:r>
              <a:rPr lang="en-US" sz="4600" b="1">
                <a:solidFill>
                  <a:srgbClr val="FFFFFF"/>
                </a:solidFill>
                <a:latin typeface="+mj-lt"/>
              </a:rPr>
              <a:t>to Keep Evolving.</a:t>
            </a:r>
          </a:p>
        </p:txBody>
      </p:sp>
      <p:sp>
        <p:nvSpPr>
          <p:cNvPr id="16" name="Closing principle"/>
          <p:cNvSpPr txBox="1"/>
          <p:nvPr/>
        </p:nvSpPr>
        <p:spPr>
          <a:xfrm>
            <a:off x="557784" y="5138928"/>
            <a:ext cx="5248656" cy="338328"/>
          </a:xfrm>
          <a:prstGeom prst="rect">
            <a:avLst/>
          </a:prstGeom>
          <a:noFill/>
        </p:spPr>
        <p:txBody>
          <a:bodyPr wrap="square" lIns="36576" tIns="0" rIns="36576" bIns="0" anchor="ctr">
            <a:spAutoFit/>
          </a:bodyPr>
          <a:lstStyle/>
          <a:p>
            <a:pPr algn="l"/>
            <a:r>
              <a:rPr sz="1900" b="1">
                <a:solidFill>
                  <a:srgbClr val="FFFFFF"/>
                </a:solidFill>
                <a:latin typeface="Source Sans 3"/>
              </a:rPr>
              <a:t>Autonomy Is Earned.</a:t>
            </a:r>
          </a:p>
        </p:txBody>
      </p:sp>
      <p:sp>
        <p:nvSpPr>
          <p:cNvPr id="17" name="Closing outcome"/>
          <p:cNvSpPr txBox="1"/>
          <p:nvPr/>
        </p:nvSpPr>
        <p:spPr>
          <a:xfrm>
            <a:off x="548640" y="5605272"/>
            <a:ext cx="5888736" cy="265176"/>
          </a:xfrm>
          <a:prstGeom prst="rect">
            <a:avLst/>
          </a:prstGeom>
          <a:noFill/>
        </p:spPr>
        <p:txBody>
          <a:bodyPr wrap="square" lIns="36576" tIns="0" rIns="36576" bIns="0" anchor="ctr">
            <a:spAutoFit/>
          </a:bodyPr>
          <a:lstStyle/>
          <a:p>
            <a:pPr algn="l"/>
            <a:r>
              <a:rPr sz="1350" b="0">
                <a:solidFill>
                  <a:srgbClr val="FFFFFF"/>
                </a:solidFill>
                <a:latin typeface="Source Sans 3"/>
              </a:rPr>
              <a:t>Start with evidence. Keep delivering through AI RunState.</a:t>
            </a:r>
          </a:p>
        </p:txBody>
      </p:sp>
      <p:sp>
        <p:nvSpPr>
          <p:cNvPr id="18" name="Closing CTA"/>
          <p:cNvSpPr txBox="1"/>
          <p:nvPr/>
        </p:nvSpPr>
        <p:spPr>
          <a:xfrm>
            <a:off x="548640" y="6007608"/>
            <a:ext cx="5998464" cy="283464"/>
          </a:xfrm>
          <a:prstGeom prst="rect">
            <a:avLst/>
          </a:prstGeom>
          <a:noFill/>
        </p:spPr>
        <p:txBody>
          <a:bodyPr wrap="square" lIns="36576" tIns="0" rIns="36576" bIns="0" anchor="ctr">
            <a:spAutoFit/>
          </a:bodyPr>
          <a:lstStyle/>
          <a:p>
            <a:pPr algn="l"/>
            <a:r>
              <a:rPr sz="1450" b="1">
                <a:solidFill>
                  <a:srgbClr val="8FFFDB"/>
                </a:solidFill>
                <a:latin typeface="Source Sans 3"/>
              </a:rPr>
              <a:t>Book your 90-minute AI Readiness Assessment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393FBB1-A887-AC66-328F-063D3F71434E}"/>
            </a:ext>
          </a:extLst>
        </p:cNvPr>
        <p:cNvGrpSpPr/>
        <p:nvPr/>
      </p:nvGrpSpPr>
      <p:grpSpPr>
        <a:xfrm>
          <a:off x="0" y="0"/>
          <a:ext cx="0" cy="0"/>
          <a:chOff x="0" y="0"/>
          <a:chExt cx="0" cy="0"/>
        </a:xfrm>
      </p:grpSpPr>
      <p:pic>
        <p:nvPicPr>
          <p:cNvPr id="19" name="Crossfuze road background" descr="Glowing road leading to a zero">
            <a:extLst>
              <a:ext uri="{FF2B5EF4-FFF2-40B4-BE49-F238E27FC236}">
                <a16:creationId xmlns:a16="http://schemas.microsoft.com/office/drawing/2014/main" id="{80E28913-78F3-9090-8896-72AC442DEA56}"/>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54D45F6A-A7B0-8369-74F6-8E2C0D3F1ABC}"/>
              </a:ext>
            </a:extLst>
          </p:cNvPr>
          <p:cNvSpPr/>
          <p:nvPr/>
        </p:nvSpPr>
        <p:spPr>
          <a:xfrm rot="10800000" flipH="1">
            <a:off x="2209224" y="893"/>
            <a:ext cx="7602607" cy="6856214"/>
          </a:xfrm>
          <a:prstGeom prst="rect">
            <a:avLst/>
          </a:prstGeom>
          <a:gradFill>
            <a:gsLst>
              <a:gs pos="61000">
                <a:srgbClr val="040E3D">
                  <a:alpha val="67020"/>
                </a:srgbClr>
              </a:gs>
              <a:gs pos="23000">
                <a:schemeClr val="tx2"/>
              </a:gs>
              <a:gs pos="93000">
                <a:schemeClr val="tx2">
                  <a:alpha val="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err="1">
              <a:solidFill>
                <a:schemeClr val="tx1"/>
              </a:solidFill>
            </a:endParaRPr>
          </a:p>
        </p:txBody>
      </p:sp>
      <p:sp>
        <p:nvSpPr>
          <p:cNvPr id="7" name="TextBox 6">
            <a:extLst>
              <a:ext uri="{FF2B5EF4-FFF2-40B4-BE49-F238E27FC236}">
                <a16:creationId xmlns:a16="http://schemas.microsoft.com/office/drawing/2014/main" id="{C587EB77-1EF8-A952-708A-96A00CDF2F22}"/>
              </a:ext>
            </a:extLst>
          </p:cNvPr>
          <p:cNvSpPr txBox="1"/>
          <p:nvPr/>
        </p:nvSpPr>
        <p:spPr>
          <a:xfrm>
            <a:off x="633068" y="1681374"/>
            <a:ext cx="5377459" cy="2606867"/>
          </a:xfrm>
          <a:prstGeom prst="rect">
            <a:avLst/>
          </a:prstGeom>
          <a:noFill/>
        </p:spPr>
        <p:txBody>
          <a:bodyPr wrap="square" lIns="0" tIns="0" rIns="0" bIns="0" rtlCol="0" anchor="b">
            <a:spAutoFit/>
          </a:bodyPr>
          <a:lstStyle/>
          <a:p>
            <a:pPr>
              <a:lnSpc>
                <a:spcPct val="80000"/>
              </a:lnSpc>
            </a:pPr>
            <a:r>
              <a:rPr lang="en-US" sz="7000" b="1" dirty="0">
                <a:solidFill>
                  <a:srgbClr val="8FFFDB"/>
                </a:solidFill>
                <a:latin typeface="+mj-lt"/>
              </a:rPr>
              <a:t>Appendix Working Slides/Draft</a:t>
            </a:r>
          </a:p>
        </p:txBody>
      </p:sp>
    </p:spTree>
    <p:extLst>
      <p:ext uri="{BB962C8B-B14F-4D97-AF65-F5344CB8AC3E}">
        <p14:creationId xmlns:p14="http://schemas.microsoft.com/office/powerpoint/2010/main" val="37095093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7B5674-C9D1-3F1A-602F-0B4CD8DA5AD1}"/>
            </a:ext>
          </a:extLst>
        </p:cNvPr>
        <p:cNvGrpSpPr/>
        <p:nvPr/>
      </p:nvGrpSpPr>
      <p:grpSpPr>
        <a:xfrm>
          <a:off x="0" y="0"/>
          <a:ext cx="0" cy="0"/>
          <a:chOff x="0" y="0"/>
          <a:chExt cx="0" cy="0"/>
        </a:xfrm>
      </p:grpSpPr>
      <p:grpSp>
        <p:nvGrpSpPr>
          <p:cNvPr id="89" name="!!g1">
            <a:extLst>
              <a:ext uri="{FF2B5EF4-FFF2-40B4-BE49-F238E27FC236}">
                <a16:creationId xmlns:a16="http://schemas.microsoft.com/office/drawing/2014/main" id="{FBFA46F2-B520-6E09-6C05-0F150126AA27}"/>
              </a:ext>
            </a:extLst>
          </p:cNvPr>
          <p:cNvGrpSpPr/>
          <p:nvPr/>
        </p:nvGrpSpPr>
        <p:grpSpPr>
          <a:xfrm>
            <a:off x="1069042" y="2399467"/>
            <a:ext cx="1908684" cy="2379708"/>
            <a:chOff x="1010048" y="3048396"/>
            <a:chExt cx="1908684" cy="2379708"/>
          </a:xfrm>
        </p:grpSpPr>
        <p:sp>
          <p:nvSpPr>
            <p:cNvPr id="81" name="Rounded Rectangle 80">
              <a:extLst>
                <a:ext uri="{FF2B5EF4-FFF2-40B4-BE49-F238E27FC236}">
                  <a16:creationId xmlns:a16="http://schemas.microsoft.com/office/drawing/2014/main" id="{655B875A-28CC-214C-1DD9-EDA0B75460C6}"/>
                </a:ext>
              </a:extLst>
            </p:cNvPr>
            <p:cNvSpPr/>
            <p:nvPr/>
          </p:nvSpPr>
          <p:spPr>
            <a:xfrm>
              <a:off x="1010048"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37" name="Rounded Rectangle 36">
              <a:extLst>
                <a:ext uri="{FF2B5EF4-FFF2-40B4-BE49-F238E27FC236}">
                  <a16:creationId xmlns:a16="http://schemas.microsoft.com/office/drawing/2014/main" id="{7C323C43-49E0-4F99-7AD4-099A8BBC828D}"/>
                </a:ext>
              </a:extLst>
            </p:cNvPr>
            <p:cNvSpPr/>
            <p:nvPr/>
          </p:nvSpPr>
          <p:spPr>
            <a:xfrm>
              <a:off x="1012369"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19" name="TextBox 18">
              <a:extLst>
                <a:ext uri="{FF2B5EF4-FFF2-40B4-BE49-F238E27FC236}">
                  <a16:creationId xmlns:a16="http://schemas.microsoft.com/office/drawing/2014/main" id="{2C75C9DF-9444-3E15-CDA7-CC15A59A009F}"/>
                </a:ext>
              </a:extLst>
            </p:cNvPr>
            <p:cNvSpPr txBox="1">
              <a:spLocks/>
            </p:cNvSpPr>
            <p:nvPr/>
          </p:nvSpPr>
          <p:spPr>
            <a:xfrm>
              <a:off x="1375640" y="4650613"/>
              <a:ext cx="1179823" cy="645906"/>
            </a:xfrm>
            <a:prstGeom prst="rect">
              <a:avLst/>
            </a:prstGeom>
            <a:noFill/>
          </p:spPr>
          <p:txBody>
            <a:bodyPr wrap="none" rtlCol="0">
              <a:spAutoFit/>
            </a:bodyPr>
            <a:lstStyle/>
            <a:p>
              <a:pPr lvl="0" algn="ctr">
                <a:lnSpc>
                  <a:spcPct val="90000"/>
                </a:lnSpc>
                <a:defRPr/>
              </a:pPr>
              <a:r>
                <a:rPr lang="en-US" sz="2100" b="1">
                  <a:solidFill>
                    <a:srgbClr val="8FFFDB"/>
                  </a:solidFill>
                  <a:latin typeface="Source Sans 3" panose="020B0504040101010104" pitchFamily="34" charset="77"/>
                </a:rPr>
                <a:t>AI in
production</a:t>
              </a:r>
              <a:br>
                <a:rPr lang="en-US" sz="1998" b="1">
                  <a:solidFill>
                    <a:srgbClr val="8FFFDB"/>
                  </a:solidFill>
                  <a:latin typeface="Source Sans 3" panose="020B0504040101010104" pitchFamily="34" charset="77"/>
                </a:rPr>
              </a:br>
              <a:endParaRPr lang="en-US" sz="1998" b="1">
                <a:solidFill>
                  <a:srgbClr val="8FFFDB"/>
                </a:solidFill>
                <a:latin typeface="Source Sans 3" panose="020B0504040101010104" pitchFamily="34" charset="77"/>
              </a:endParaRPr>
            </a:p>
          </p:txBody>
        </p:sp>
        <p:cxnSp>
          <p:nvCxnSpPr>
            <p:cNvPr id="21" name="Straight Connector 20">
              <a:extLst>
                <a:ext uri="{FF2B5EF4-FFF2-40B4-BE49-F238E27FC236}">
                  <a16:creationId xmlns:a16="http://schemas.microsoft.com/office/drawing/2014/main" id="{E89032C2-8D8E-9EE5-A4DD-1A811C73EC28}"/>
                </a:ext>
              </a:extLst>
            </p:cNvPr>
            <p:cNvCxnSpPr>
              <a:cxnSpLocks/>
            </p:cNvCxnSpPr>
            <p:nvPr/>
          </p:nvCxnSpPr>
          <p:spPr>
            <a:xfrm>
              <a:off x="1196293"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58F0491-FABB-A52C-C9DC-4E832D2D6CFE}"/>
                </a:ext>
              </a:extLst>
            </p:cNvPr>
            <p:cNvSpPr txBox="1">
              <a:spLocks/>
            </p:cNvSpPr>
            <p:nvPr/>
          </p:nvSpPr>
          <p:spPr>
            <a:xfrm>
              <a:off x="1575445" y="3183884"/>
              <a:ext cx="780216" cy="1445796"/>
            </a:xfrm>
            <a:prstGeom prst="rect">
              <a:avLst/>
            </a:prstGeom>
            <a:noFill/>
          </p:spPr>
          <p:txBody>
            <a:bodyPr wrap="square" rtlCol="0">
              <a:spAutoFit/>
            </a:bodyPr>
            <a:lstStyle/>
            <a:p>
              <a:pPr algn="ctr" defTabSz="913578">
                <a:defRPr/>
              </a:pPr>
              <a:r>
                <a:rPr lang="en-US" sz="7000" b="1">
                  <a:solidFill>
                    <a:srgbClr val="FFFFFF"/>
                  </a:solidFill>
                  <a:latin typeface="Source Sans 3" panose="020B0504040101010104" pitchFamily="34" charset="77"/>
                  <a:cs typeface="Source Sans 3" panose="020B0604040101010104" pitchFamily="34" charset="0"/>
                </a:rPr>
                <a:t>?</a:t>
              </a:r>
            </a:p>
          </p:txBody>
        </p:sp>
        <p:sp>
          <p:nvSpPr>
            <p:cNvPr id="57" name="Rounded Rectangle 20">
              <a:extLst>
                <a:ext uri="{FF2B5EF4-FFF2-40B4-BE49-F238E27FC236}">
                  <a16:creationId xmlns:a16="http://schemas.microsoft.com/office/drawing/2014/main" id="{A7F146F6-8CAE-5451-9CE7-92B00F385E7F}"/>
                </a:ext>
                <a:ext uri="{C183D7F6-B498-43B3-948B-1728B52AA6E4}">
                  <adec:decorative xmlns:adec="http://schemas.microsoft.com/office/drawing/2017/decorative" val="1"/>
                </a:ext>
              </a:extLst>
            </p:cNvPr>
            <p:cNvSpPr>
              <a:spLocks/>
            </p:cNvSpPr>
            <p:nvPr/>
          </p:nvSpPr>
          <p:spPr>
            <a:xfrm>
              <a:off x="1086994"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850" b="1">
                  <a:solidFill>
                    <a:schemeClr val="tx2"/>
                  </a:solidFill>
                  <a:latin typeface="Source Sans 3" panose="020B0504040101010104" pitchFamily="34" charset="77"/>
                </a:rPr>
                <a:t>CIO / AI Lead</a:t>
              </a:r>
            </a:p>
          </p:txBody>
        </p:sp>
      </p:grpSp>
      <p:sp>
        <p:nvSpPr>
          <p:cNvPr id="29" name="Title 28">
            <a:extLst>
              <a:ext uri="{FF2B5EF4-FFF2-40B4-BE49-F238E27FC236}">
                <a16:creationId xmlns:a16="http://schemas.microsoft.com/office/drawing/2014/main" id="{E8B10B4A-333D-08A8-D088-929DAF46C847}"/>
              </a:ext>
            </a:extLst>
          </p:cNvPr>
          <p:cNvSpPr>
            <a:spLocks noGrp="1"/>
          </p:cNvSpPr>
          <p:nvPr>
            <p:ph type="title"/>
          </p:nvPr>
        </p:nvSpPr>
        <p:spPr>
          <a:xfrm>
            <a:off x="552925" y="530352"/>
            <a:ext cx="11082973" cy="594360"/>
          </a:xfrm>
        </p:spPr>
        <p:txBody>
          <a:bodyPr/>
          <a:lstStyle/>
          <a:p>
            <a:pPr algn="ctr"/>
            <a:r>
              <a:rPr lang="en-US" dirty="0">
                <a:solidFill>
                  <a:schemeClr val="accent1"/>
                </a:solidFill>
              </a:rPr>
              <a:t>Your AI readiness </a:t>
            </a:r>
            <a:r>
              <a:rPr lang="en-US" dirty="0"/>
              <a:t>scorecard</a:t>
            </a:r>
          </a:p>
        </p:txBody>
      </p:sp>
      <p:sp>
        <p:nvSpPr>
          <p:cNvPr id="33" name="Text Placeholder 32">
            <a:extLst>
              <a:ext uri="{FF2B5EF4-FFF2-40B4-BE49-F238E27FC236}">
                <a16:creationId xmlns:a16="http://schemas.microsoft.com/office/drawing/2014/main" id="{008D36D3-79F7-E36B-DDD6-290A808F1317}"/>
              </a:ext>
            </a:extLst>
          </p:cNvPr>
          <p:cNvSpPr>
            <a:spLocks noGrp="1"/>
          </p:cNvSpPr>
          <p:nvPr>
            <p:ph type="body" sz="quarter" idx="11"/>
          </p:nvPr>
        </p:nvSpPr>
        <p:spPr>
          <a:xfrm>
            <a:off x="1467643" y="6467293"/>
            <a:ext cx="9253538" cy="109728"/>
          </a:xfrm>
        </p:spPr>
        <p:txBody>
          <a:bodyPr/>
          <a:lstStyle/>
          <a:p>
            <a:pPr algn="ctr"/>
            <a:r>
              <a:rPr lang="en-US" sz="780" dirty="0"/>
              <a:t>Readiness not yet assessed. Every answer should be supported by evidence.</a:t>
            </a:r>
          </a:p>
        </p:txBody>
      </p:sp>
      <p:grpSp>
        <p:nvGrpSpPr>
          <p:cNvPr id="90" name="!!g2">
            <a:extLst>
              <a:ext uri="{FF2B5EF4-FFF2-40B4-BE49-F238E27FC236}">
                <a16:creationId xmlns:a16="http://schemas.microsoft.com/office/drawing/2014/main" id="{850FA2AA-F335-4E39-6FFA-2F876D998C59}"/>
              </a:ext>
            </a:extLst>
          </p:cNvPr>
          <p:cNvGrpSpPr/>
          <p:nvPr/>
        </p:nvGrpSpPr>
        <p:grpSpPr>
          <a:xfrm>
            <a:off x="3146905" y="2399467"/>
            <a:ext cx="1910518" cy="2379708"/>
            <a:chOff x="3087911" y="3048396"/>
            <a:chExt cx="1910518" cy="2379708"/>
          </a:xfrm>
        </p:grpSpPr>
        <p:sp>
          <p:nvSpPr>
            <p:cNvPr id="82" name="Rounded Rectangle 81">
              <a:extLst>
                <a:ext uri="{FF2B5EF4-FFF2-40B4-BE49-F238E27FC236}">
                  <a16:creationId xmlns:a16="http://schemas.microsoft.com/office/drawing/2014/main" id="{8A5235F5-E180-4AA6-78DB-62C311244D72}"/>
                </a:ext>
              </a:extLst>
            </p:cNvPr>
            <p:cNvSpPr/>
            <p:nvPr/>
          </p:nvSpPr>
          <p:spPr>
            <a:xfrm>
              <a:off x="3092066"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39" name="Rounded Rectangle 38">
              <a:extLst>
                <a:ext uri="{FF2B5EF4-FFF2-40B4-BE49-F238E27FC236}">
                  <a16:creationId xmlns:a16="http://schemas.microsoft.com/office/drawing/2014/main" id="{E89F768B-FB98-68FD-CE0B-F0783A802E42}"/>
                </a:ext>
              </a:extLst>
            </p:cNvPr>
            <p:cNvSpPr/>
            <p:nvPr/>
          </p:nvSpPr>
          <p:spPr>
            <a:xfrm>
              <a:off x="3087911"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23" name="TextBox 22">
              <a:extLst>
                <a:ext uri="{FF2B5EF4-FFF2-40B4-BE49-F238E27FC236}">
                  <a16:creationId xmlns:a16="http://schemas.microsoft.com/office/drawing/2014/main" id="{BC024472-C1A4-7D3F-9ACC-D1FF31031D37}"/>
                </a:ext>
              </a:extLst>
            </p:cNvPr>
            <p:cNvSpPr txBox="1">
              <a:spLocks/>
            </p:cNvSpPr>
            <p:nvPr/>
          </p:nvSpPr>
          <p:spPr>
            <a:xfrm>
              <a:off x="3412024" y="4650613"/>
              <a:ext cx="1235914"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1998" b="1">
                  <a:solidFill>
                    <a:srgbClr val="8FFFDB"/>
                  </a:solidFill>
                  <a:latin typeface="Source Sans 3" panose="020B0504040101010104" pitchFamily="34" charset="77"/>
                </a:rPr>
                <a:t>Trusted
data</a:t>
              </a:r>
            </a:p>
            <a:p>
              <a:pPr lvl="0">
                <a:lnSpc>
                  <a:spcPct val="90000"/>
                </a:lnSpc>
                <a:defRPr/>
              </a:pPr>
              <a:endParaRPr lang="en-US" sz="1998" b="1">
                <a:solidFill>
                  <a:srgbClr val="8FFFDB"/>
                </a:solidFill>
                <a:latin typeface="Source Sans 3" panose="020B0504040101010104" pitchFamily="34" charset="77"/>
              </a:endParaRPr>
            </a:p>
          </p:txBody>
        </p:sp>
        <p:sp>
          <p:nvSpPr>
            <p:cNvPr id="44" name="TextBox 43">
              <a:extLst>
                <a:ext uri="{FF2B5EF4-FFF2-40B4-BE49-F238E27FC236}">
                  <a16:creationId xmlns:a16="http://schemas.microsoft.com/office/drawing/2014/main" id="{55D5F1B7-7E0A-EFD6-9D92-6F3672037612}"/>
                </a:ext>
              </a:extLst>
            </p:cNvPr>
            <p:cNvSpPr txBox="1">
              <a:spLocks/>
            </p:cNvSpPr>
            <p:nvPr/>
          </p:nvSpPr>
          <p:spPr>
            <a:xfrm>
              <a:off x="3639875" y="3183884"/>
              <a:ext cx="780216" cy="1445796"/>
            </a:xfrm>
            <a:prstGeom prst="rect">
              <a:avLst/>
            </a:prstGeom>
            <a:noFill/>
          </p:spPr>
          <p:txBody>
            <a:bodyPr wrap="square" rtlCol="0">
              <a:spAutoFit/>
            </a:bodyPr>
            <a:lstStyle/>
            <a:p>
              <a:pPr algn="ctr" defTabSz="913578">
                <a:defRPr/>
              </a:pPr>
              <a:r>
                <a:rPr lang="en-US" sz="7000" b="1" dirty="0">
                  <a:solidFill>
                    <a:srgbClr val="FFFFFF"/>
                  </a:solidFill>
                  <a:latin typeface="Source Sans 3" panose="020B0504040101010104" pitchFamily="34" charset="77"/>
                  <a:cs typeface="Source Sans 3" panose="020B0604040101010104" pitchFamily="34" charset="0"/>
                </a:rPr>
                <a:t>?</a:t>
              </a:r>
            </a:p>
          </p:txBody>
        </p:sp>
        <p:sp>
          <p:nvSpPr>
            <p:cNvPr id="56" name="Rounded Rectangle 20">
              <a:extLst>
                <a:ext uri="{FF2B5EF4-FFF2-40B4-BE49-F238E27FC236}">
                  <a16:creationId xmlns:a16="http://schemas.microsoft.com/office/drawing/2014/main" id="{11489479-4BAA-0D32-2C29-7485855C21D6}"/>
                </a:ext>
                <a:ext uri="{C183D7F6-B498-43B3-948B-1728B52AA6E4}">
                  <adec:decorative xmlns:adec="http://schemas.microsoft.com/office/drawing/2017/decorative" val="1"/>
                </a:ext>
              </a:extLst>
            </p:cNvPr>
            <p:cNvSpPr>
              <a:spLocks/>
            </p:cNvSpPr>
            <p:nvPr/>
          </p:nvSpPr>
          <p:spPr>
            <a:xfrm>
              <a:off x="3158402"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850" b="1">
                  <a:solidFill>
                    <a:schemeClr val="tx2"/>
                  </a:solidFill>
                  <a:latin typeface="Source Sans 3" panose="020B0504040101010104" pitchFamily="34" charset="77"/>
                </a:rPr>
                <a:t>Data Owner</a:t>
              </a:r>
            </a:p>
          </p:txBody>
        </p:sp>
        <p:cxnSp>
          <p:nvCxnSpPr>
            <p:cNvPr id="65" name="Straight Connector 64">
              <a:extLst>
                <a:ext uri="{FF2B5EF4-FFF2-40B4-BE49-F238E27FC236}">
                  <a16:creationId xmlns:a16="http://schemas.microsoft.com/office/drawing/2014/main" id="{515E5E87-585E-318E-FD04-D1A7846BB209}"/>
                </a:ext>
              </a:extLst>
            </p:cNvPr>
            <p:cNvCxnSpPr>
              <a:cxnSpLocks/>
            </p:cNvCxnSpPr>
            <p:nvPr/>
          </p:nvCxnSpPr>
          <p:spPr>
            <a:xfrm>
              <a:off x="3271835"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91" name="!!g3">
            <a:extLst>
              <a:ext uri="{FF2B5EF4-FFF2-40B4-BE49-F238E27FC236}">
                <a16:creationId xmlns:a16="http://schemas.microsoft.com/office/drawing/2014/main" id="{D4F9B894-F47F-7960-1B55-F80BD13E3E13}"/>
              </a:ext>
            </a:extLst>
          </p:cNvPr>
          <p:cNvGrpSpPr/>
          <p:nvPr/>
        </p:nvGrpSpPr>
        <p:grpSpPr>
          <a:xfrm>
            <a:off x="5197909" y="2399467"/>
            <a:ext cx="1909130" cy="2379708"/>
            <a:chOff x="5138915" y="3048396"/>
            <a:chExt cx="1909130" cy="2379708"/>
          </a:xfrm>
        </p:grpSpPr>
        <p:sp>
          <p:nvSpPr>
            <p:cNvPr id="83" name="Rounded Rectangle 82">
              <a:extLst>
                <a:ext uri="{FF2B5EF4-FFF2-40B4-BE49-F238E27FC236}">
                  <a16:creationId xmlns:a16="http://schemas.microsoft.com/office/drawing/2014/main" id="{E1E70C08-48B8-85B0-6421-C62239DA1FB9}"/>
                </a:ext>
              </a:extLst>
            </p:cNvPr>
            <p:cNvSpPr/>
            <p:nvPr/>
          </p:nvSpPr>
          <p:spPr>
            <a:xfrm>
              <a:off x="5138915"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42" name="Rounded Rectangle 41">
              <a:extLst>
                <a:ext uri="{FF2B5EF4-FFF2-40B4-BE49-F238E27FC236}">
                  <a16:creationId xmlns:a16="http://schemas.microsoft.com/office/drawing/2014/main" id="{FCA801CB-0DA1-0925-1E0F-612FB1029985}"/>
                </a:ext>
              </a:extLst>
            </p:cNvPr>
            <p:cNvSpPr/>
            <p:nvPr/>
          </p:nvSpPr>
          <p:spPr>
            <a:xfrm>
              <a:off x="5141682"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30" name="TextBox 29">
              <a:extLst>
                <a:ext uri="{FF2B5EF4-FFF2-40B4-BE49-F238E27FC236}">
                  <a16:creationId xmlns:a16="http://schemas.microsoft.com/office/drawing/2014/main" id="{8CE57D37-50BF-F080-FEE4-3415E052607D}"/>
                </a:ext>
              </a:extLst>
            </p:cNvPr>
            <p:cNvSpPr txBox="1">
              <a:spLocks/>
            </p:cNvSpPr>
            <p:nvPr/>
          </p:nvSpPr>
          <p:spPr>
            <a:xfrm>
              <a:off x="5602258" y="4650613"/>
              <a:ext cx="984309"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2100" b="1">
                  <a:solidFill>
                    <a:srgbClr val="8FFFDB"/>
                  </a:solidFill>
                  <a:latin typeface="Source Sans 3" panose="020B0504040101010104" pitchFamily="34" charset="77"/>
                </a:rPr>
                <a:t>Governed
agents</a:t>
              </a:r>
              <a:br>
                <a:rPr lang="en-US" sz="1998" b="1">
                  <a:latin typeface="Source Sans 3" panose="020B0504040101010104" pitchFamily="34" charset="77"/>
                </a:rPr>
              </a:br>
              <a:endParaRPr lang="en-US" sz="1998" b="1">
                <a:latin typeface="Source Sans 3" panose="020B0504040101010104" pitchFamily="34" charset="77"/>
              </a:endParaRPr>
            </a:p>
          </p:txBody>
        </p:sp>
        <p:sp>
          <p:nvSpPr>
            <p:cNvPr id="45" name="TextBox 44">
              <a:extLst>
                <a:ext uri="{FF2B5EF4-FFF2-40B4-BE49-F238E27FC236}">
                  <a16:creationId xmlns:a16="http://schemas.microsoft.com/office/drawing/2014/main" id="{0599504E-0324-E07E-6B7D-72A191A4F78D}"/>
                </a:ext>
              </a:extLst>
            </p:cNvPr>
            <p:cNvSpPr txBox="1">
              <a:spLocks/>
            </p:cNvSpPr>
            <p:nvPr/>
          </p:nvSpPr>
          <p:spPr>
            <a:xfrm>
              <a:off x="5704305" y="3183884"/>
              <a:ext cx="780216" cy="1445796"/>
            </a:xfrm>
            <a:prstGeom prst="rect">
              <a:avLst/>
            </a:prstGeom>
            <a:noFill/>
          </p:spPr>
          <p:txBody>
            <a:bodyPr wrap="square" rtlCol="0">
              <a:spAutoFit/>
            </a:bodyPr>
            <a:lstStyle/>
            <a:p>
              <a:pPr algn="ctr" defTabSz="913578">
                <a:defRPr/>
              </a:pPr>
              <a:r>
                <a:rPr lang="en-US" sz="7000" b="1">
                  <a:solidFill>
                    <a:srgbClr val="FFFFFF"/>
                  </a:solidFill>
                  <a:latin typeface="Source Sans 3" panose="020B0504040101010104" pitchFamily="34" charset="77"/>
                  <a:cs typeface="Source Sans 3" panose="020B0604040101010104" pitchFamily="34" charset="0"/>
                </a:rPr>
                <a:t>?</a:t>
              </a:r>
            </a:p>
          </p:txBody>
        </p:sp>
        <p:sp>
          <p:nvSpPr>
            <p:cNvPr id="55" name="Rounded Rectangle 20">
              <a:extLst>
                <a:ext uri="{FF2B5EF4-FFF2-40B4-BE49-F238E27FC236}">
                  <a16:creationId xmlns:a16="http://schemas.microsoft.com/office/drawing/2014/main" id="{505530FA-D604-B4B5-B736-3F42C6C057B0}"/>
                </a:ext>
                <a:ext uri="{C183D7F6-B498-43B3-948B-1728B52AA6E4}">
                  <adec:decorative xmlns:adec="http://schemas.microsoft.com/office/drawing/2017/decorative" val="1"/>
                </a:ext>
              </a:extLst>
            </p:cNvPr>
            <p:cNvSpPr>
              <a:spLocks/>
            </p:cNvSpPr>
            <p:nvPr/>
          </p:nvSpPr>
          <p:spPr>
            <a:xfrm>
              <a:off x="5225394"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850" b="1">
                  <a:solidFill>
                    <a:schemeClr val="tx2"/>
                  </a:solidFill>
                  <a:latin typeface="Source Sans 3" panose="020B0504040101010104" pitchFamily="34" charset="77"/>
                </a:rPr>
                <a:t>AI Governance</a:t>
              </a:r>
            </a:p>
          </p:txBody>
        </p:sp>
        <p:cxnSp>
          <p:nvCxnSpPr>
            <p:cNvPr id="66" name="Straight Connector 65">
              <a:extLst>
                <a:ext uri="{FF2B5EF4-FFF2-40B4-BE49-F238E27FC236}">
                  <a16:creationId xmlns:a16="http://schemas.microsoft.com/office/drawing/2014/main" id="{5A71DF9A-AE8F-93D8-B347-BE26F209EDA2}"/>
                </a:ext>
              </a:extLst>
            </p:cNvPr>
            <p:cNvCxnSpPr>
              <a:cxnSpLocks/>
            </p:cNvCxnSpPr>
            <p:nvPr/>
          </p:nvCxnSpPr>
          <p:spPr>
            <a:xfrm>
              <a:off x="5325606"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92" name="!!g4">
            <a:extLst>
              <a:ext uri="{FF2B5EF4-FFF2-40B4-BE49-F238E27FC236}">
                <a16:creationId xmlns:a16="http://schemas.microsoft.com/office/drawing/2014/main" id="{65D10972-76B3-8D52-7A96-6331EC35EFA4}"/>
              </a:ext>
            </a:extLst>
          </p:cNvPr>
          <p:cNvGrpSpPr/>
          <p:nvPr/>
        </p:nvGrpSpPr>
        <p:grpSpPr>
          <a:xfrm>
            <a:off x="7276219" y="2399467"/>
            <a:ext cx="1910071" cy="2379708"/>
            <a:chOff x="7217225" y="3048396"/>
            <a:chExt cx="1910071" cy="2379708"/>
          </a:xfrm>
        </p:grpSpPr>
        <p:sp>
          <p:nvSpPr>
            <p:cNvPr id="84" name="Rounded Rectangle 83">
              <a:extLst>
                <a:ext uri="{FF2B5EF4-FFF2-40B4-BE49-F238E27FC236}">
                  <a16:creationId xmlns:a16="http://schemas.microsoft.com/office/drawing/2014/main" id="{397F1DE8-DA45-A4D3-5349-14E4899549F3}"/>
                </a:ext>
              </a:extLst>
            </p:cNvPr>
            <p:cNvSpPr/>
            <p:nvPr/>
          </p:nvSpPr>
          <p:spPr>
            <a:xfrm>
              <a:off x="7220933"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53" name="Rounded Rectangle 52">
              <a:extLst>
                <a:ext uri="{FF2B5EF4-FFF2-40B4-BE49-F238E27FC236}">
                  <a16:creationId xmlns:a16="http://schemas.microsoft.com/office/drawing/2014/main" id="{8338F5A7-DD22-CD83-097A-B001987166B7}"/>
                </a:ext>
              </a:extLst>
            </p:cNvPr>
            <p:cNvSpPr/>
            <p:nvPr/>
          </p:nvSpPr>
          <p:spPr>
            <a:xfrm>
              <a:off x="7217225"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dirty="0">
                <a:solidFill>
                  <a:srgbClr val="000000"/>
                </a:solidFill>
                <a:latin typeface="Source Sans 3" panose="020B0504040101010104" pitchFamily="34" charset="77"/>
              </a:endParaRPr>
            </a:p>
          </p:txBody>
        </p:sp>
        <p:sp>
          <p:nvSpPr>
            <p:cNvPr id="36" name="TextBox 35">
              <a:extLst>
                <a:ext uri="{FF2B5EF4-FFF2-40B4-BE49-F238E27FC236}">
                  <a16:creationId xmlns:a16="http://schemas.microsoft.com/office/drawing/2014/main" id="{F1D6C88F-93E9-93A0-E9A5-E6E729E136FB}"/>
                </a:ext>
              </a:extLst>
            </p:cNvPr>
            <p:cNvSpPr txBox="1">
              <a:spLocks/>
            </p:cNvSpPr>
            <p:nvPr/>
          </p:nvSpPr>
          <p:spPr>
            <a:xfrm>
              <a:off x="7481589" y="4650613"/>
              <a:ext cx="1354505"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1998" b="1">
                  <a:solidFill>
                    <a:srgbClr val="8FFFDB"/>
                  </a:solidFill>
                  <a:latin typeface="Source Sans 3" panose="020B0504040101010104" pitchFamily="34" charset="77"/>
                </a:rPr>
                <a:t>Assist
consumption</a:t>
              </a:r>
            </a:p>
            <a:p>
              <a:pPr defTabSz="456903">
                <a:lnSpc>
                  <a:spcPct val="90000"/>
                </a:lnSpc>
                <a:defRPr/>
              </a:pPr>
              <a:endParaRPr lang="en-US" sz="1998" b="1">
                <a:solidFill>
                  <a:srgbClr val="8FFFDB"/>
                </a:solidFill>
                <a:latin typeface="Source Sans 3" panose="020B0504040101010104" pitchFamily="34" charset="77"/>
              </a:endParaRPr>
            </a:p>
          </p:txBody>
        </p:sp>
        <p:sp>
          <p:nvSpPr>
            <p:cNvPr id="46" name="TextBox 45">
              <a:extLst>
                <a:ext uri="{FF2B5EF4-FFF2-40B4-BE49-F238E27FC236}">
                  <a16:creationId xmlns:a16="http://schemas.microsoft.com/office/drawing/2014/main" id="{25613399-19DF-2F6A-005D-1FD997E85DF6}"/>
                </a:ext>
              </a:extLst>
            </p:cNvPr>
            <p:cNvSpPr txBox="1">
              <a:spLocks/>
            </p:cNvSpPr>
            <p:nvPr/>
          </p:nvSpPr>
          <p:spPr>
            <a:xfrm>
              <a:off x="7768735" y="3183884"/>
              <a:ext cx="780216" cy="1445796"/>
            </a:xfrm>
            <a:prstGeom prst="rect">
              <a:avLst/>
            </a:prstGeom>
            <a:noFill/>
          </p:spPr>
          <p:txBody>
            <a:bodyPr wrap="square" rtlCol="0">
              <a:spAutoFit/>
            </a:bodyPr>
            <a:lstStyle/>
            <a:p>
              <a:pPr algn="ctr" defTabSz="913578">
                <a:defRPr/>
              </a:pPr>
              <a:r>
                <a:rPr lang="en-US" sz="7000" b="1">
                  <a:solidFill>
                    <a:srgbClr val="FFFFFF"/>
                  </a:solidFill>
                  <a:latin typeface="Source Sans 3" panose="020B0504040101010104" pitchFamily="34" charset="77"/>
                  <a:cs typeface="Source Sans 3" panose="020B0604040101010104" pitchFamily="34" charset="0"/>
                </a:rPr>
                <a:t>?</a:t>
              </a:r>
            </a:p>
          </p:txBody>
        </p:sp>
        <p:sp>
          <p:nvSpPr>
            <p:cNvPr id="54" name="Rounded Rectangle 20">
              <a:extLst>
                <a:ext uri="{FF2B5EF4-FFF2-40B4-BE49-F238E27FC236}">
                  <a16:creationId xmlns:a16="http://schemas.microsoft.com/office/drawing/2014/main" id="{C5FB5A43-B045-97A8-C95D-6A664D48FC56}"/>
                </a:ext>
                <a:ext uri="{C183D7F6-B498-43B3-948B-1728B52AA6E4}">
                  <adec:decorative xmlns:adec="http://schemas.microsoft.com/office/drawing/2017/decorative" val="1"/>
                </a:ext>
              </a:extLst>
            </p:cNvPr>
            <p:cNvSpPr>
              <a:spLocks/>
            </p:cNvSpPr>
            <p:nvPr/>
          </p:nvSpPr>
          <p:spPr>
            <a:xfrm>
              <a:off x="7287263"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850" b="1">
                  <a:solidFill>
                    <a:schemeClr val="tx2"/>
                  </a:solidFill>
                  <a:latin typeface="Source Sans 3" panose="020B0504040101010104" pitchFamily="34" charset="77"/>
                </a:rPr>
                <a:t>Platform / Finance</a:t>
              </a:r>
            </a:p>
          </p:txBody>
        </p:sp>
        <p:cxnSp>
          <p:nvCxnSpPr>
            <p:cNvPr id="67" name="Straight Connector 66">
              <a:extLst>
                <a:ext uri="{FF2B5EF4-FFF2-40B4-BE49-F238E27FC236}">
                  <a16:creationId xmlns:a16="http://schemas.microsoft.com/office/drawing/2014/main" id="{73D08EE9-D27B-371E-CD1F-A52F9BD32FB6}"/>
                </a:ext>
              </a:extLst>
            </p:cNvPr>
            <p:cNvCxnSpPr>
              <a:cxnSpLocks/>
            </p:cNvCxnSpPr>
            <p:nvPr/>
          </p:nvCxnSpPr>
          <p:spPr>
            <a:xfrm>
              <a:off x="7401149"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93" name="!!g5">
            <a:extLst>
              <a:ext uri="{FF2B5EF4-FFF2-40B4-BE49-F238E27FC236}">
                <a16:creationId xmlns:a16="http://schemas.microsoft.com/office/drawing/2014/main" id="{D736A565-BC8C-5F67-B50B-3472E3507CE5}"/>
              </a:ext>
            </a:extLst>
          </p:cNvPr>
          <p:cNvGrpSpPr/>
          <p:nvPr/>
        </p:nvGrpSpPr>
        <p:grpSpPr>
          <a:xfrm>
            <a:off x="9333810" y="2399467"/>
            <a:ext cx="1909801" cy="2379708"/>
            <a:chOff x="9274816" y="3048396"/>
            <a:chExt cx="1909801" cy="2379708"/>
          </a:xfrm>
        </p:grpSpPr>
        <p:sp>
          <p:nvSpPr>
            <p:cNvPr id="85" name="Rounded Rectangle 84">
              <a:extLst>
                <a:ext uri="{FF2B5EF4-FFF2-40B4-BE49-F238E27FC236}">
                  <a16:creationId xmlns:a16="http://schemas.microsoft.com/office/drawing/2014/main" id="{2E60F95C-11DD-290B-AEBA-CCE684559447}"/>
                </a:ext>
              </a:extLst>
            </p:cNvPr>
            <p:cNvSpPr/>
            <p:nvPr/>
          </p:nvSpPr>
          <p:spPr>
            <a:xfrm>
              <a:off x="9274816" y="3127914"/>
              <a:ext cx="1906363" cy="2300190"/>
            </a:xfrm>
            <a:prstGeom prst="roundRect">
              <a:avLst>
                <a:gd name="adj" fmla="val 5910"/>
              </a:avLst>
            </a:prstGeom>
            <a:gradFill>
              <a:gsLst>
                <a:gs pos="0">
                  <a:schemeClr val="tx2">
                    <a:lumMod val="75000"/>
                    <a:lumOff val="25000"/>
                    <a:alpha val="34743"/>
                  </a:schemeClr>
                </a:gs>
                <a:gs pos="47000">
                  <a:schemeClr val="tx2">
                    <a:lumMod val="75000"/>
                    <a:lumOff val="25000"/>
                    <a:alpha val="50196"/>
                  </a:schemeClr>
                </a:gs>
                <a:gs pos="100000">
                  <a:schemeClr val="accent5">
                    <a:alpha val="64880"/>
                  </a:schemeClr>
                </a:gs>
              </a:gsLst>
              <a:lin ang="16200000" scaled="0"/>
            </a:gradFill>
            <a:ln w="6350" cap="flat">
              <a:noFill/>
              <a:prstDash val="solid"/>
              <a:miter/>
            </a:ln>
          </p:spPr>
          <p:txBody>
            <a:bodyPr/>
            <a:lstStyle/>
            <a:p>
              <a:endParaRPr lang="en-US"/>
            </a:p>
          </p:txBody>
        </p:sp>
        <p:sp>
          <p:nvSpPr>
            <p:cNvPr id="58" name="Rounded Rectangle 57">
              <a:extLst>
                <a:ext uri="{FF2B5EF4-FFF2-40B4-BE49-F238E27FC236}">
                  <a16:creationId xmlns:a16="http://schemas.microsoft.com/office/drawing/2014/main" id="{F0BDBD57-8171-FD8A-4455-B5D329D7F5F6}"/>
                </a:ext>
              </a:extLst>
            </p:cNvPr>
            <p:cNvSpPr/>
            <p:nvPr/>
          </p:nvSpPr>
          <p:spPr>
            <a:xfrm>
              <a:off x="9278254" y="3127914"/>
              <a:ext cx="1906363" cy="2300190"/>
            </a:xfrm>
            <a:prstGeom prst="roundRect">
              <a:avLst>
                <a:gd name="adj" fmla="val 5910"/>
              </a:avLst>
            </a:prstGeom>
            <a:gradFill>
              <a:gsLst>
                <a:gs pos="26000">
                  <a:schemeClr val="tx1"/>
                </a:gs>
                <a:gs pos="99000">
                  <a:schemeClr val="bg1"/>
                </a:gs>
              </a:gsLst>
              <a:lin ang="16200000" scaled="0"/>
            </a:gradFill>
            <a:ln w="12700">
              <a:gradFill>
                <a:gsLst>
                  <a:gs pos="0">
                    <a:schemeClr val="accent1">
                      <a:lumMod val="5000"/>
                      <a:lumOff val="95000"/>
                    </a:schemeClr>
                  </a:gs>
                  <a:gs pos="100000">
                    <a:srgbClr val="F2F2F4"/>
                  </a:gs>
                </a:gsLst>
                <a:lin ang="5400000" scaled="1"/>
              </a:gradFill>
            </a:ln>
            <a:effectLst/>
            <a:scene3d>
              <a:camera prst="orthographicFront"/>
              <a:lightRig rig="flat" dir="t">
                <a:rot lat="0" lon="0" rev="6000000"/>
              </a:lightRig>
            </a:scene3d>
            <a:sp3d extrusionH="38100" prstMaterial="clear">
              <a:bevelT h="635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defRPr/>
              </a:pPr>
              <a:endParaRPr lang="en-US" sz="1142">
                <a:solidFill>
                  <a:srgbClr val="000000"/>
                </a:solidFill>
                <a:latin typeface="Source Sans 3" panose="020B0504040101010104" pitchFamily="34" charset="77"/>
              </a:endParaRPr>
            </a:p>
          </p:txBody>
        </p:sp>
        <p:sp>
          <p:nvSpPr>
            <p:cNvPr id="40" name="TextBox 39">
              <a:extLst>
                <a:ext uri="{FF2B5EF4-FFF2-40B4-BE49-F238E27FC236}">
                  <a16:creationId xmlns:a16="http://schemas.microsoft.com/office/drawing/2014/main" id="{E62A7366-A491-11B1-3AF6-0BCBA26576D4}"/>
                </a:ext>
              </a:extLst>
            </p:cNvPr>
            <p:cNvSpPr txBox="1">
              <a:spLocks/>
            </p:cNvSpPr>
            <p:nvPr/>
          </p:nvSpPr>
          <p:spPr>
            <a:xfrm>
              <a:off x="9365730" y="4650613"/>
              <a:ext cx="1715086" cy="645906"/>
            </a:xfrm>
            <a:prstGeom prst="rect">
              <a:avLst/>
            </a:prstGeom>
            <a:noFill/>
          </p:spPr>
          <p:txBody>
            <a:bodyPr wrap="none" rtlCol="0">
              <a:spAutoFit/>
            </a:bodyPr>
            <a:lstStyle>
              <a:defPPr>
                <a:defRPr lang="en-US"/>
              </a:defPPr>
              <a:lvl1pPr algn="ctr">
                <a:lnSpc>
                  <a:spcPts val="2500"/>
                </a:lnSpc>
                <a:defRPr sz="2000">
                  <a:solidFill>
                    <a:schemeClr val="bg1"/>
                  </a:solidFill>
                  <a:latin typeface="Source Sans 3" panose="020B0504040101010104" pitchFamily="34" charset="77"/>
                </a:defRPr>
              </a:lvl1pPr>
            </a:lstStyle>
            <a:p>
              <a:pPr lvl="0">
                <a:lnSpc>
                  <a:spcPct val="90000"/>
                </a:lnSpc>
                <a:defRPr/>
              </a:pPr>
              <a:r>
                <a:rPr lang="en-US" sz="2100" b="1">
                  <a:solidFill>
                    <a:srgbClr val="8FFFDB"/>
                  </a:solidFill>
                  <a:latin typeface="Source Sans 3" panose="020B0504040101010104" pitchFamily="34" charset="77"/>
                </a:rPr>
                <a:t>Proven
outcomes</a:t>
              </a:r>
              <a:br>
                <a:rPr lang="en-US" sz="1998" b="1">
                  <a:solidFill>
                    <a:srgbClr val="8FFFDB"/>
                  </a:solidFill>
                  <a:latin typeface="Source Sans 3" panose="020B0504040101010104" pitchFamily="34" charset="77"/>
                </a:rPr>
              </a:br>
              <a:endParaRPr lang="en-US" sz="1998" b="1">
                <a:solidFill>
                  <a:srgbClr val="8FFFDB"/>
                </a:solidFill>
                <a:latin typeface="Source Sans 3" panose="020B0504040101010104" pitchFamily="34" charset="77"/>
              </a:endParaRPr>
            </a:p>
          </p:txBody>
        </p:sp>
        <p:sp>
          <p:nvSpPr>
            <p:cNvPr id="47" name="TextBox 46">
              <a:extLst>
                <a:ext uri="{FF2B5EF4-FFF2-40B4-BE49-F238E27FC236}">
                  <a16:creationId xmlns:a16="http://schemas.microsoft.com/office/drawing/2014/main" id="{7C5F4230-46F8-0260-ACDE-4CE015FEE392}"/>
                </a:ext>
              </a:extLst>
            </p:cNvPr>
            <p:cNvSpPr txBox="1">
              <a:spLocks/>
            </p:cNvSpPr>
            <p:nvPr/>
          </p:nvSpPr>
          <p:spPr>
            <a:xfrm>
              <a:off x="9833166" y="3183884"/>
              <a:ext cx="780216" cy="1445796"/>
            </a:xfrm>
            <a:prstGeom prst="rect">
              <a:avLst/>
            </a:prstGeom>
            <a:noFill/>
          </p:spPr>
          <p:txBody>
            <a:bodyPr wrap="square" rtlCol="0">
              <a:spAutoFit/>
            </a:bodyPr>
            <a:lstStyle/>
            <a:p>
              <a:pPr algn="ctr" defTabSz="913578">
                <a:defRPr/>
              </a:pPr>
              <a:r>
                <a:rPr lang="en-US" sz="7000" b="1">
                  <a:solidFill>
                    <a:srgbClr val="FFFFFF"/>
                  </a:solidFill>
                  <a:latin typeface="Source Sans 3" panose="020B0504040101010104" pitchFamily="34" charset="77"/>
                  <a:cs typeface="Source Sans 3" panose="020B0604040101010104" pitchFamily="34" charset="0"/>
                </a:rPr>
                <a:t>?</a:t>
              </a:r>
            </a:p>
          </p:txBody>
        </p:sp>
        <p:sp>
          <p:nvSpPr>
            <p:cNvPr id="5" name="Rounded Rectangle 20">
              <a:extLst>
                <a:ext uri="{FF2B5EF4-FFF2-40B4-BE49-F238E27FC236}">
                  <a16:creationId xmlns:a16="http://schemas.microsoft.com/office/drawing/2014/main" id="{C35DFEDB-E91C-537F-C1E0-CFB914179A4A}"/>
                </a:ext>
                <a:ext uri="{C183D7F6-B498-43B3-948B-1728B52AA6E4}">
                  <adec:decorative xmlns:adec="http://schemas.microsoft.com/office/drawing/2017/decorative" val="1"/>
                </a:ext>
              </a:extLst>
            </p:cNvPr>
            <p:cNvSpPr>
              <a:spLocks/>
            </p:cNvSpPr>
            <p:nvPr/>
          </p:nvSpPr>
          <p:spPr>
            <a:xfrm>
              <a:off x="9351694" y="3048396"/>
              <a:ext cx="1743159" cy="228480"/>
            </a:xfrm>
            <a:prstGeom prst="roundRect">
              <a:avLst>
                <a:gd name="adj" fmla="val 50000"/>
              </a:avLst>
            </a:prstGeom>
            <a:gradFill>
              <a:gsLst>
                <a:gs pos="0">
                  <a:schemeClr val="accent1">
                    <a:lumMod val="75000"/>
                  </a:schemeClr>
                </a:gs>
                <a:gs pos="100000">
                  <a:schemeClr val="accent1"/>
                </a:gs>
              </a:gsLst>
              <a:lin ang="9000000" scaled="0"/>
            </a:gradFill>
            <a:ln>
              <a:noFill/>
            </a:ln>
            <a:scene3d>
              <a:camera prst="orthographicFront"/>
              <a:lightRig rig="soft" dir="t"/>
            </a:scene3d>
            <a:sp3d>
              <a:bevelT w="12700" h="12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126"/>
              <a:r>
                <a:rPr lang="en-US" sz="850" b="1" spc="-20" dirty="0">
                  <a:solidFill>
                    <a:schemeClr val="tx2"/>
                  </a:solidFill>
                  <a:latin typeface="Source Sans 3" panose="020B0504040101010104" pitchFamily="34" charset="77"/>
                </a:rPr>
                <a:t>Business Owner</a:t>
              </a:r>
            </a:p>
          </p:txBody>
        </p:sp>
        <p:cxnSp>
          <p:nvCxnSpPr>
            <p:cNvPr id="68" name="Straight Connector 67">
              <a:extLst>
                <a:ext uri="{FF2B5EF4-FFF2-40B4-BE49-F238E27FC236}">
                  <a16:creationId xmlns:a16="http://schemas.microsoft.com/office/drawing/2014/main" id="{C6C8D833-458B-DA0B-5683-FF68803AE168}"/>
                </a:ext>
              </a:extLst>
            </p:cNvPr>
            <p:cNvCxnSpPr>
              <a:cxnSpLocks/>
            </p:cNvCxnSpPr>
            <p:nvPr/>
          </p:nvCxnSpPr>
          <p:spPr>
            <a:xfrm>
              <a:off x="9462178" y="4549001"/>
              <a:ext cx="1538514" cy="0"/>
            </a:xfrm>
            <a:prstGeom prst="line">
              <a:avLst/>
            </a:prstGeom>
            <a:ln>
              <a:solidFill>
                <a:schemeClr val="bg1">
                  <a:alpha val="24996"/>
                </a:schemeClr>
              </a:solidFill>
            </a:ln>
          </p:spPr>
          <p:style>
            <a:lnRef idx="1">
              <a:schemeClr val="accent1"/>
            </a:lnRef>
            <a:fillRef idx="0">
              <a:schemeClr val="accent1"/>
            </a:fillRef>
            <a:effectRef idx="0">
              <a:schemeClr val="accent1"/>
            </a:effectRef>
            <a:fontRef idx="minor">
              <a:schemeClr val="tx1"/>
            </a:fontRef>
          </p:style>
        </p:cxnSp>
      </p:grpSp>
      <p:grpSp>
        <p:nvGrpSpPr>
          <p:cNvPr id="4" name="power_glass_pill">
            <a:extLst>
              <a:ext uri="{FF2B5EF4-FFF2-40B4-BE49-F238E27FC236}">
                <a16:creationId xmlns:a16="http://schemas.microsoft.com/office/drawing/2014/main" id="{9894E4DF-4B55-7CC5-5742-F3D69F3ADC97}"/>
              </a:ext>
            </a:extLst>
          </p:cNvPr>
          <p:cNvGrpSpPr/>
          <p:nvPr/>
        </p:nvGrpSpPr>
        <p:grpSpPr>
          <a:xfrm>
            <a:off x="4223657" y="1321231"/>
            <a:ext cx="3960024" cy="468441"/>
            <a:chOff x="4223657" y="1528046"/>
            <a:chExt cx="3960024" cy="468441"/>
          </a:xfrm>
        </p:grpSpPr>
        <p:sp>
          <p:nvSpPr>
            <p:cNvPr id="6" name="Rounded Rectangle 5">
              <a:extLst>
                <a:ext uri="{FF2B5EF4-FFF2-40B4-BE49-F238E27FC236}">
                  <a16:creationId xmlns:a16="http://schemas.microsoft.com/office/drawing/2014/main" id="{63875DDB-7A90-A79E-B536-8B243C2D2635}"/>
                </a:ext>
              </a:extLst>
            </p:cNvPr>
            <p:cNvSpPr/>
            <p:nvPr/>
          </p:nvSpPr>
          <p:spPr>
            <a:xfrm rot="5400000">
              <a:off x="5969448" y="-217745"/>
              <a:ext cx="468441" cy="3960024"/>
            </a:xfrm>
            <a:prstGeom prst="roundRect">
              <a:avLst>
                <a:gd name="adj" fmla="val 50000"/>
              </a:avLst>
            </a:prstGeom>
            <a:gradFill flip="none" rotWithShape="1">
              <a:gsLst>
                <a:gs pos="0">
                  <a:srgbClr val="040E3D"/>
                </a:gs>
                <a:gs pos="99000">
                  <a:srgbClr val="040E3D"/>
                </a:gs>
              </a:gsLst>
              <a:path path="circle">
                <a:fillToRect l="100000" b="100000"/>
              </a:path>
              <a:tileRect t="-100000" r="-100000"/>
            </a:gradFill>
            <a:ln>
              <a:gradFill>
                <a:gsLst>
                  <a:gs pos="0">
                    <a:srgbClr val="C0A6FF">
                      <a:alpha val="49654"/>
                    </a:srgbClr>
                  </a:gs>
                  <a:gs pos="100000">
                    <a:srgbClr val="6400EC">
                      <a:alpha val="25000"/>
                    </a:srgbClr>
                  </a:gs>
                </a:gsLst>
                <a:lin ang="0" scaled="0"/>
              </a:gradFill>
            </a:ln>
            <a:effectLst>
              <a:glow rad="1467347">
                <a:schemeClr val="accent5">
                  <a:satMod val="175000"/>
                  <a:alpha val="13213"/>
                </a:schemeClr>
              </a:glow>
              <a:outerShdw blurRad="744542" dist="353637" dir="8580000" sx="94000" sy="94000" algn="t" rotWithShape="0">
                <a:prstClr val="black">
                  <a:alpha val="40000"/>
                </a:prstClr>
              </a:outerShdw>
            </a:effectLst>
            <a:scene3d>
              <a:camera prst="orthographicFront"/>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766"/>
              <a:endParaRPr lang="en-US" sz="1600" b="1">
                <a:solidFill>
                  <a:srgbClr val="000000"/>
                </a:solidFill>
                <a:latin typeface="Source Sans 3"/>
              </a:endParaRPr>
            </a:p>
          </p:txBody>
        </p:sp>
        <p:grpSp>
          <p:nvGrpSpPr>
            <p:cNvPr id="13" name="Group 12">
              <a:extLst>
                <a:ext uri="{FF2B5EF4-FFF2-40B4-BE49-F238E27FC236}">
                  <a16:creationId xmlns:a16="http://schemas.microsoft.com/office/drawing/2014/main" id="{28CC0B6A-043C-EB94-F651-65C95BF2F110}"/>
                </a:ext>
              </a:extLst>
            </p:cNvPr>
            <p:cNvGrpSpPr/>
            <p:nvPr/>
          </p:nvGrpSpPr>
          <p:grpSpPr>
            <a:xfrm>
              <a:off x="4427718" y="1613211"/>
              <a:ext cx="3551899" cy="274247"/>
              <a:chOff x="4322020" y="1354854"/>
              <a:chExt cx="3552824" cy="274318"/>
            </a:xfrm>
          </p:grpSpPr>
          <p:sp>
            <p:nvSpPr>
              <p:cNvPr id="15" name="Rounded Rectangle 20">
                <a:extLst>
                  <a:ext uri="{FF2B5EF4-FFF2-40B4-BE49-F238E27FC236}">
                    <a16:creationId xmlns:a16="http://schemas.microsoft.com/office/drawing/2014/main" id="{6F600603-3E7C-6E19-18E5-6C734C9DFADA}"/>
                  </a:ext>
                  <a:ext uri="{C183D7F6-B498-43B3-948B-1728B52AA6E4}">
                    <adec:decorative xmlns:adec="http://schemas.microsoft.com/office/drawing/2017/decorative" val="1"/>
                  </a:ext>
                </a:extLst>
              </p:cNvPr>
              <p:cNvSpPr>
                <a:spLocks/>
              </p:cNvSpPr>
              <p:nvPr/>
            </p:nvSpPr>
            <p:spPr>
              <a:xfrm>
                <a:off x="4322020" y="1354854"/>
                <a:ext cx="3552824" cy="274318"/>
              </a:xfrm>
              <a:prstGeom prst="roundRect">
                <a:avLst>
                  <a:gd name="adj" fmla="val 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6766"/>
                <a:r>
                  <a:rPr lang="en-US" sz="1600" b="1" dirty="0">
                    <a:solidFill>
                      <a:schemeClr val="bg1"/>
                    </a:solidFill>
                    <a:latin typeface="Source Sans 3" panose="020B0504040101010104" pitchFamily="34" charset="77"/>
                    <a:cs typeface="Source Sans 3" panose="020B0504040101010104" pitchFamily="34" charset="77"/>
                  </a:rPr>
                  <a:t>Strategy        Governance        Data</a:t>
                </a:r>
              </a:p>
            </p:txBody>
          </p:sp>
        </p:grpSp>
      </p:grpSp>
      <p:pic>
        <p:nvPicPr>
          <p:cNvPr id="3" name="Picture 15">
            <a:extLst>
              <a:ext uri="{FF2B5EF4-FFF2-40B4-BE49-F238E27FC236}">
                <a16:creationId xmlns:a16="http://schemas.microsoft.com/office/drawing/2014/main" id="{F0154E90-F8E4-4520-37C5-89F9F1982A89}"/>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79837" y="6353915"/>
            <a:ext cx="980334" cy="280022"/>
          </a:xfrm>
          <a:prstGeom prst="rect">
            <a:avLst/>
          </a:prstGeom>
        </p:spPr>
      </p:pic>
      <p:sp>
        <p:nvSpPr>
          <p:cNvPr id="9" name="Footer Placeholder 4">
            <a:extLst>
              <a:ext uri="{FF2B5EF4-FFF2-40B4-BE49-F238E27FC236}">
                <a16:creationId xmlns:a16="http://schemas.microsoft.com/office/drawing/2014/main" id="{1146D403-A12A-CE62-DDE1-1EF300FE465D}"/>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687093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3E6F2A-EA23-8048-BDB8-C01F8FE6985A}"/>
            </a:ext>
          </a:extLst>
        </p:cNvPr>
        <p:cNvGrpSpPr/>
        <p:nvPr/>
      </p:nvGrpSpPr>
      <p:grpSpPr>
        <a:xfrm>
          <a:off x="0" y="0"/>
          <a:ext cx="0" cy="0"/>
          <a:chOff x="0" y="0"/>
          <a:chExt cx="0" cy="0"/>
        </a:xfrm>
      </p:grpSpPr>
      <p:sp>
        <p:nvSpPr>
          <p:cNvPr id="42" name="Rounded Rectangle 16">
            <a:extLst>
              <a:ext uri="{FF2B5EF4-FFF2-40B4-BE49-F238E27FC236}">
                <a16:creationId xmlns:a16="http://schemas.microsoft.com/office/drawing/2014/main" id="{2C9AF761-4BA6-3F68-36C8-480EFB9242C3}"/>
              </a:ext>
              <a:ext uri="{C183D7F6-B498-43B3-948B-1728B52AA6E4}">
                <adec:decorative xmlns:adec="http://schemas.microsoft.com/office/drawing/2017/decorative" val="1"/>
              </a:ext>
            </a:extLst>
          </p:cNvPr>
          <p:cNvSpPr/>
          <p:nvPr/>
        </p:nvSpPr>
        <p:spPr>
          <a:xfrm>
            <a:off x="8052179" y="1835217"/>
            <a:ext cx="3862317" cy="4163992"/>
          </a:xfrm>
          <a:prstGeom prst="roundRect">
            <a:avLst>
              <a:gd name="adj" fmla="val 3836"/>
            </a:avLst>
          </a:prstGeom>
          <a:solidFill>
            <a:schemeClr val="tx2">
              <a:alpha val="5289"/>
            </a:schemeClr>
          </a:solidFill>
          <a:ln w="6350">
            <a:solidFill>
              <a:schemeClr val="accent1"/>
            </a:solidFill>
          </a:ln>
          <a:scene3d>
            <a:camera prst="orthographicFront"/>
            <a:lightRig rig="brightRoom" dir="t">
              <a:rot lat="0" lon="0" rev="0"/>
            </a:lightRig>
          </a:scene3d>
          <a:sp3d extrusionH="38100" prstMaterial="translucentPowder">
            <a:bevelT w="114300" h="11430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456903"/>
            <a:endParaRPr lang="en-US" b="1">
              <a:solidFill>
                <a:srgbClr val="FFFFFF"/>
              </a:solidFill>
              <a:latin typeface="Source Sans 3" panose="020B0504040101010104" pitchFamily="34" charset="77"/>
            </a:endParaRPr>
          </a:p>
        </p:txBody>
      </p:sp>
      <p:sp>
        <p:nvSpPr>
          <p:cNvPr id="2" name="Title 1">
            <a:extLst>
              <a:ext uri="{FF2B5EF4-FFF2-40B4-BE49-F238E27FC236}">
                <a16:creationId xmlns:a16="http://schemas.microsoft.com/office/drawing/2014/main" id="{3EE9782F-D75F-A737-A392-F2F48E98884D}"/>
              </a:ext>
            </a:extLst>
          </p:cNvPr>
          <p:cNvSpPr>
            <a:spLocks noGrp="1"/>
          </p:cNvSpPr>
          <p:nvPr>
            <p:ph type="title"/>
          </p:nvPr>
        </p:nvSpPr>
        <p:spPr/>
        <p:txBody>
          <a:bodyPr wrap="square" anchor="t"/>
          <a:lstStyle/>
          <a:p>
            <a:r>
              <a:rPr lang="en-US" sz="3400">
                <a:solidFill>
                  <a:schemeClr val="accent1"/>
                </a:solidFill>
              </a:rPr>
              <a:t>Together, we turn readiness into momentum.</a:t>
            </a:r>
            <a:br>
              <a:rPr lang="en-US">
                <a:solidFill>
                  <a:schemeClr val="accent1"/>
                </a:solidFill>
              </a:rPr>
            </a:br>
            <a:endParaRPr lang="en-US">
              <a:solidFill>
                <a:schemeClr val="accent1"/>
              </a:solidFill>
            </a:endParaRPr>
          </a:p>
        </p:txBody>
      </p:sp>
      <p:sp>
        <p:nvSpPr>
          <p:cNvPr id="4" name="TextBox 3">
            <a:extLst>
              <a:ext uri="{FF2B5EF4-FFF2-40B4-BE49-F238E27FC236}">
                <a16:creationId xmlns:a16="http://schemas.microsoft.com/office/drawing/2014/main" id="{297CAB83-2380-547A-5558-031F0FA98C9F}"/>
              </a:ext>
            </a:extLst>
          </p:cNvPr>
          <p:cNvSpPr txBox="1"/>
          <p:nvPr/>
        </p:nvSpPr>
        <p:spPr>
          <a:xfrm>
            <a:off x="8040138" y="4244655"/>
            <a:ext cx="3874358" cy="877163"/>
          </a:xfrm>
          <a:prstGeom prst="rect">
            <a:avLst/>
          </a:prstGeom>
          <a:noFill/>
        </p:spPr>
        <p:txBody>
          <a:bodyPr wrap="square" anchor="ctr">
            <a:spAutoFit/>
          </a:bodyPr>
          <a:lstStyle/>
          <a:p>
            <a:pPr algn="ctr" defTabSz="456766">
              <a:lnSpc>
                <a:spcPct val="85000"/>
              </a:lnSpc>
              <a:defRPr/>
            </a:pPr>
            <a:r>
              <a:rPr lang="en-US" sz="6200" b="1">
                <a:solidFill>
                  <a:srgbClr val="8FFFDB"/>
                </a:solidFill>
                <a:latin typeface="Source Sans 3"/>
                <a:cs typeface="Source Sans 3" panose="020B0404040101010104" pitchFamily="34" charset="77"/>
              </a:rPr>
              <a:t>12</a:t>
            </a:r>
            <a:endParaRPr lang="en-US" sz="6000" b="1" baseline="30000">
              <a:solidFill>
                <a:schemeClr val="accent1"/>
              </a:solidFill>
              <a:latin typeface="Source Sans 3"/>
              <a:cs typeface="Source Sans 3" panose="020B0404040101010104" pitchFamily="34" charset="77"/>
            </a:endParaRPr>
          </a:p>
        </p:txBody>
      </p:sp>
      <p:sp>
        <p:nvSpPr>
          <p:cNvPr id="17" name="TextBox 16">
            <a:extLst>
              <a:ext uri="{FF2B5EF4-FFF2-40B4-BE49-F238E27FC236}">
                <a16:creationId xmlns:a16="http://schemas.microsoft.com/office/drawing/2014/main" id="{42792CB2-C338-B465-BF2E-33142650747B}"/>
              </a:ext>
            </a:extLst>
          </p:cNvPr>
          <p:cNvSpPr txBox="1"/>
          <p:nvPr/>
        </p:nvSpPr>
        <p:spPr>
          <a:xfrm>
            <a:off x="8040138" y="5091330"/>
            <a:ext cx="3862317" cy="563231"/>
          </a:xfrm>
          <a:prstGeom prst="rect">
            <a:avLst/>
          </a:prstGeom>
          <a:noFill/>
        </p:spPr>
        <p:txBody>
          <a:bodyPr wrap="square">
            <a:spAutoFit/>
          </a:bodyPr>
          <a:lstStyle/>
          <a:p>
            <a:pPr algn="ctr" defTabSz="456766">
              <a:lnSpc>
                <a:spcPct val="85000"/>
              </a:lnSpc>
              <a:defRPr/>
            </a:pPr>
            <a:r>
              <a:rPr lang="en-US" sz="1800">
                <a:solidFill>
                  <a:srgbClr val="FFFFFF"/>
                </a:solidFill>
                <a:latin typeface="Source Sans 3" panose="020B0504040101010104" pitchFamily="34" charset="77"/>
                <a:cs typeface="Source Sans 3" panose="020B0404040101010104" pitchFamily="34" charset="77"/>
              </a:rPr>
              <a:t>months · one engagement
to keep delivering</a:t>
            </a:r>
            <a:endParaRPr lang="en-US" sz="1800" baseline="30000">
              <a:solidFill>
                <a:schemeClr val="bg2"/>
              </a:solidFill>
              <a:latin typeface="Source Sans 3" panose="020B0504040101010104" pitchFamily="34" charset="77"/>
              <a:cs typeface="Source Sans 3" panose="020B0404040101010104" pitchFamily="34" charset="77"/>
            </a:endParaRPr>
          </a:p>
        </p:txBody>
      </p:sp>
      <p:sp>
        <p:nvSpPr>
          <p:cNvPr id="29" name="TextBox 28">
            <a:extLst>
              <a:ext uri="{FF2B5EF4-FFF2-40B4-BE49-F238E27FC236}">
                <a16:creationId xmlns:a16="http://schemas.microsoft.com/office/drawing/2014/main" id="{EDF98D31-759A-7A94-516B-FB42A0079667}"/>
              </a:ext>
            </a:extLst>
          </p:cNvPr>
          <p:cNvSpPr txBox="1"/>
          <p:nvPr/>
        </p:nvSpPr>
        <p:spPr>
          <a:xfrm>
            <a:off x="739546" y="2059359"/>
            <a:ext cx="6717122" cy="800219"/>
          </a:xfrm>
          <a:prstGeom prst="rect">
            <a:avLst/>
          </a:prstGeom>
          <a:noFill/>
        </p:spPr>
        <p:txBody>
          <a:bodyPr wrap="square" lIns="0" tIns="0" rIns="0" bIns="0" rtlCol="0" anchor="ctr">
            <a:spAutoFit/>
          </a:bodyPr>
          <a:lstStyle/>
          <a:p>
            <a:pPr marL="0" marR="0" lvl="0" indent="0" algn="l" defTabSz="456903"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a:ln>
                  <a:noFill/>
                </a:ln>
                <a:solidFill>
                  <a:srgbClr val="FFFFFF"/>
                </a:solidFill>
                <a:effectLst/>
                <a:uLnTx/>
                <a:uFillTx/>
                <a:latin typeface="Source Sans 3" panose="020B0504040101010104" pitchFamily="34" charset="77"/>
                <a:ea typeface="+mn-ea"/>
                <a:cs typeface="+mn-cs"/>
              </a:rPr>
              <a:t>Start with evidence.
The Decision Brief shows where you stand, what limits safe action and what to do first.</a:t>
            </a:r>
          </a:p>
          <a:p>
            <a:pPr marL="0" marR="0" lvl="0" indent="0" algn="l" defTabSz="456903" rtl="0" eaLnBrk="1" fontAlgn="auto" latinLnBrk="0" hangingPunct="1">
              <a:lnSpc>
                <a:spcPct val="100000"/>
              </a:lnSpc>
              <a:spcBef>
                <a:spcPts val="0"/>
              </a:spcBef>
              <a:spcAft>
                <a:spcPts val="0"/>
              </a:spcAft>
              <a:buClrTx/>
              <a:buSzTx/>
              <a:buFontTx/>
              <a:buNone/>
              <a:tabLst/>
              <a:defRPr/>
            </a:pPr>
            <a:endParaRPr kumimoji="0" lang="en-US" sz="1900" b="1" i="0" u="none" strike="noStrike" kern="1200" cap="none" spc="0" normalizeH="0" baseline="0" noProof="0">
              <a:ln>
                <a:noFill/>
              </a:ln>
              <a:solidFill>
                <a:srgbClr val="FFFFFF"/>
              </a:solidFill>
              <a:effectLst/>
              <a:uLnTx/>
              <a:uFillTx/>
              <a:latin typeface="Source Sans 3" panose="020B0504040101010104" pitchFamily="34" charset="77"/>
              <a:ea typeface="+mn-ea"/>
              <a:cs typeface="+mn-cs"/>
            </a:endParaRPr>
          </a:p>
        </p:txBody>
      </p:sp>
      <p:sp>
        <p:nvSpPr>
          <p:cNvPr id="32" name="TextBox 31">
            <a:extLst>
              <a:ext uri="{FF2B5EF4-FFF2-40B4-BE49-F238E27FC236}">
                <a16:creationId xmlns:a16="http://schemas.microsoft.com/office/drawing/2014/main" id="{EB5B4098-4D53-BF63-39DB-991B2FBE170A}"/>
              </a:ext>
            </a:extLst>
          </p:cNvPr>
          <p:cNvSpPr txBox="1"/>
          <p:nvPr/>
        </p:nvSpPr>
        <p:spPr>
          <a:xfrm>
            <a:off x="739545" y="3380980"/>
            <a:ext cx="6717122" cy="800219"/>
          </a:xfrm>
          <a:prstGeom prst="rect">
            <a:avLst/>
          </a:prstGeom>
          <a:noFill/>
        </p:spPr>
        <p:txBody>
          <a:bodyPr wrap="square" lIns="0" tIns="0" rIns="0" bIns="0" rtlCol="0" anchor="ctr">
            <a:spAutoFit/>
          </a:bodyPr>
          <a:lstStyle/>
          <a:p>
            <a:pPr defTabSz="456903">
              <a:defRPr/>
            </a:pPr>
            <a:r>
              <a:rPr lang="en-US" sz="1900" b="1">
                <a:solidFill>
                  <a:srgbClr val="FFFFFF"/>
                </a:solidFill>
                <a:latin typeface="Source Sans 3" panose="020B0504040101010104" pitchFamily="34" charset="77"/>
              </a:rPr>
              <a:t>Plan around the outcome.
The AI Action Plan translates findings into the next 90 days of prioritised work.</a:t>
            </a:r>
          </a:p>
          <a:p>
            <a:pPr defTabSz="456903">
              <a:defRPr/>
            </a:pPr>
            <a:endParaRPr kumimoji="0" lang="en-US" sz="1600" b="0" i="0" u="none" strike="noStrike" kern="1200" cap="none" spc="0" normalizeH="0" baseline="0" noProof="0">
              <a:ln>
                <a:noFill/>
              </a:ln>
              <a:solidFill>
                <a:schemeClr val="bg1"/>
              </a:solidFill>
              <a:effectLst/>
              <a:uLnTx/>
              <a:uFillTx/>
              <a:latin typeface="Source Sans 3"/>
              <a:ea typeface="+mn-ea"/>
              <a:cs typeface="+mn-cs"/>
            </a:endParaRPr>
          </a:p>
        </p:txBody>
      </p:sp>
      <p:sp>
        <p:nvSpPr>
          <p:cNvPr id="33" name="TextBox 32">
            <a:extLst>
              <a:ext uri="{FF2B5EF4-FFF2-40B4-BE49-F238E27FC236}">
                <a16:creationId xmlns:a16="http://schemas.microsoft.com/office/drawing/2014/main" id="{BB5B8E4E-1882-B0F8-CEBF-620E4381256B}"/>
              </a:ext>
            </a:extLst>
          </p:cNvPr>
          <p:cNvSpPr txBox="1"/>
          <p:nvPr/>
        </p:nvSpPr>
        <p:spPr>
          <a:xfrm>
            <a:off x="751587" y="4702223"/>
            <a:ext cx="6525048" cy="800219"/>
          </a:xfrm>
          <a:prstGeom prst="rect">
            <a:avLst/>
          </a:prstGeom>
          <a:noFill/>
        </p:spPr>
        <p:txBody>
          <a:bodyPr wrap="square" lIns="0" tIns="0" rIns="0" bIns="0" rtlCol="0" anchor="ctr">
            <a:spAutoFit/>
          </a:bodyPr>
          <a:lstStyle/>
          <a:p>
            <a:pPr defTabSz="456903">
              <a:defRPr/>
            </a:pPr>
            <a:r>
              <a:rPr lang="en-US" sz="1900" b="1">
                <a:solidFill>
                  <a:srgbClr val="FFFFFF"/>
                </a:solidFill>
                <a:latin typeface="Source Sans 3" panose="020B0504040101010104" pitchFamily="34" charset="77"/>
              </a:rPr>
              <a:t>Deliver and learn.
Backlog cycles adapt the priorities; Extend provides capacity to ship approved changes.</a:t>
            </a:r>
            <a:br>
              <a:rPr lang="en-US" sz="2000" b="1">
                <a:solidFill>
                  <a:srgbClr val="FFFFFF"/>
                </a:solidFill>
                <a:latin typeface="Source Sans 3" panose="020B0504040101010104" pitchFamily="34" charset="77"/>
              </a:rPr>
            </a:br>
            <a:endParaRPr lang="en-US" sz="2000" b="1">
              <a:solidFill>
                <a:srgbClr val="FFFFFF"/>
              </a:solidFill>
              <a:latin typeface="Source Sans 3" panose="020B0504040101010104" pitchFamily="34" charset="77"/>
            </a:endParaRPr>
          </a:p>
        </p:txBody>
      </p:sp>
      <p:cxnSp>
        <p:nvCxnSpPr>
          <p:cNvPr id="43" name="Straight Connector 42">
            <a:extLst>
              <a:ext uri="{FF2B5EF4-FFF2-40B4-BE49-F238E27FC236}">
                <a16:creationId xmlns:a16="http://schemas.microsoft.com/office/drawing/2014/main" id="{1BEEC62B-79B9-9E9C-A6AC-2299F1BB71FF}"/>
              </a:ext>
              <a:ext uri="{C183D7F6-B498-43B3-948B-1728B52AA6E4}">
                <adec:decorative xmlns:adec="http://schemas.microsoft.com/office/drawing/2017/decorative" val="1"/>
              </a:ext>
            </a:extLst>
          </p:cNvPr>
          <p:cNvCxnSpPr>
            <a:cxnSpLocks/>
          </p:cNvCxnSpPr>
          <p:nvPr/>
        </p:nvCxnSpPr>
        <p:spPr>
          <a:xfrm flipH="1">
            <a:off x="739545" y="3120090"/>
            <a:ext cx="6525048" cy="758"/>
          </a:xfrm>
          <a:prstGeom prst="line">
            <a:avLst/>
          </a:prstGeom>
          <a:ln w="9525" cap="rnd">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4A52D5A-00B3-F03C-A5E0-7462AA95B0B2}"/>
              </a:ext>
              <a:ext uri="{C183D7F6-B498-43B3-948B-1728B52AA6E4}">
                <adec:decorative xmlns:adec="http://schemas.microsoft.com/office/drawing/2017/decorative" val="1"/>
              </a:ext>
            </a:extLst>
          </p:cNvPr>
          <p:cNvCxnSpPr>
            <a:cxnSpLocks/>
          </p:cNvCxnSpPr>
          <p:nvPr/>
        </p:nvCxnSpPr>
        <p:spPr>
          <a:xfrm flipH="1">
            <a:off x="739545" y="4441332"/>
            <a:ext cx="6525048" cy="758"/>
          </a:xfrm>
          <a:prstGeom prst="line">
            <a:avLst/>
          </a:prstGeom>
          <a:ln w="9525" cap="rnd">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C52CAA0-4216-EE78-63B6-7B02DA409151}"/>
              </a:ext>
              <a:ext uri="{C183D7F6-B498-43B3-948B-1728B52AA6E4}">
                <adec:decorative xmlns:adec="http://schemas.microsoft.com/office/drawing/2017/decorative" val="1"/>
              </a:ext>
            </a:extLst>
          </p:cNvPr>
          <p:cNvCxnSpPr>
            <a:cxnSpLocks/>
          </p:cNvCxnSpPr>
          <p:nvPr/>
        </p:nvCxnSpPr>
        <p:spPr>
          <a:xfrm flipH="1">
            <a:off x="8351360" y="3904717"/>
            <a:ext cx="3192459" cy="0"/>
          </a:xfrm>
          <a:prstGeom prst="line">
            <a:avLst/>
          </a:prstGeom>
          <a:ln w="9525" cap="rnd">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B6787D4-09E4-AC9A-F8A9-0FA3CD639F60}"/>
              </a:ext>
            </a:extLst>
          </p:cNvPr>
          <p:cNvSpPr txBox="1"/>
          <p:nvPr/>
        </p:nvSpPr>
        <p:spPr>
          <a:xfrm>
            <a:off x="8052179" y="2175154"/>
            <a:ext cx="3855928" cy="877163"/>
          </a:xfrm>
          <a:prstGeom prst="rect">
            <a:avLst/>
          </a:prstGeom>
          <a:noFill/>
        </p:spPr>
        <p:txBody>
          <a:bodyPr wrap="square" anchor="ctr">
            <a:spAutoFit/>
          </a:bodyPr>
          <a:lstStyle/>
          <a:p>
            <a:pPr algn="ctr" defTabSz="456766">
              <a:lnSpc>
                <a:spcPct val="85000"/>
              </a:lnSpc>
              <a:defRPr/>
            </a:pPr>
            <a:r>
              <a:rPr lang="en-US" sz="6200" b="1">
                <a:solidFill>
                  <a:srgbClr val="8FFFDB"/>
                </a:solidFill>
                <a:latin typeface="Source Sans 3"/>
                <a:cs typeface="Source Sans 3" panose="020B0404040101010104" pitchFamily="34" charset="77"/>
              </a:rPr>
              <a:t>90</a:t>
            </a:r>
            <a:endParaRPr lang="en-US" sz="6000" b="1" baseline="30000">
              <a:solidFill>
                <a:schemeClr val="accent1"/>
              </a:solidFill>
              <a:latin typeface="Source Sans 3"/>
              <a:cs typeface="Source Sans 3" panose="020B0404040101010104" pitchFamily="34" charset="77"/>
            </a:endParaRPr>
          </a:p>
        </p:txBody>
      </p:sp>
      <p:sp>
        <p:nvSpPr>
          <p:cNvPr id="11" name="TextBox 10">
            <a:extLst>
              <a:ext uri="{FF2B5EF4-FFF2-40B4-BE49-F238E27FC236}">
                <a16:creationId xmlns:a16="http://schemas.microsoft.com/office/drawing/2014/main" id="{77D73664-0EAC-5741-9138-50BB8BA4A38A}"/>
              </a:ext>
            </a:extLst>
          </p:cNvPr>
          <p:cNvSpPr txBox="1"/>
          <p:nvPr/>
        </p:nvSpPr>
        <p:spPr>
          <a:xfrm>
            <a:off x="8058568" y="3001549"/>
            <a:ext cx="3855928" cy="563231"/>
          </a:xfrm>
          <a:prstGeom prst="rect">
            <a:avLst/>
          </a:prstGeom>
          <a:noFill/>
        </p:spPr>
        <p:txBody>
          <a:bodyPr wrap="square">
            <a:spAutoFit/>
          </a:bodyPr>
          <a:lstStyle/>
          <a:p>
            <a:pPr algn="ctr" defTabSz="456766">
              <a:lnSpc>
                <a:spcPct val="85000"/>
              </a:lnSpc>
              <a:defRPr/>
            </a:pPr>
            <a:r>
              <a:rPr lang="en-US" sz="1800">
                <a:solidFill>
                  <a:srgbClr val="FFFFFF"/>
                </a:solidFill>
                <a:latin typeface="Source Sans 3" panose="020B0504040101010104" pitchFamily="34" charset="77"/>
                <a:cs typeface="Source Sans 3" panose="020B0404040101010104" pitchFamily="34" charset="77"/>
              </a:rPr>
              <a:t>days · an actionable
first roadmap</a:t>
            </a:r>
            <a:endParaRPr lang="en-US" sz="1800" baseline="30000">
              <a:solidFill>
                <a:schemeClr val="bg2"/>
              </a:solidFill>
              <a:latin typeface="Source Sans 3" panose="020B0504040101010104" pitchFamily="34" charset="77"/>
              <a:cs typeface="Source Sans 3" panose="020B0404040101010104" pitchFamily="34" charset="77"/>
            </a:endParaRPr>
          </a:p>
        </p:txBody>
      </p:sp>
      <p:sp>
        <p:nvSpPr>
          <p:cNvPr id="5" name="Footer Placeholder 4">
            <a:extLst>
              <a:ext uri="{FF2B5EF4-FFF2-40B4-BE49-F238E27FC236}">
                <a16:creationId xmlns:a16="http://schemas.microsoft.com/office/drawing/2014/main" id="{21B76FE1-A76E-0F59-9C4A-30575E31FBF6}"/>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415109037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D74B7F-FB5F-F7A5-5003-EFB6C514A64F}"/>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0C5CBE4D-424E-94CA-4302-845745DDFC92}"/>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8" name="Picture 7">
            <a:extLst>
              <a:ext uri="{FF2B5EF4-FFF2-40B4-BE49-F238E27FC236}">
                <a16:creationId xmlns:a16="http://schemas.microsoft.com/office/drawing/2014/main" id="{B03A3CC4-017B-EF22-3DC1-F3EF8D31CD50}"/>
              </a:ext>
            </a:extLst>
          </p:cNvPr>
          <p:cNvPicPr>
            <a:picLocks noChangeAspect="1"/>
          </p:cNvPicPr>
          <p:nvPr/>
        </p:nvPicPr>
        <p:blipFill>
          <a:blip r:embed="rId3"/>
          <a:stretch>
            <a:fillRect/>
          </a:stretch>
        </p:blipFill>
        <p:spPr>
          <a:xfrm>
            <a:off x="648751" y="1908995"/>
            <a:ext cx="11166175" cy="4187314"/>
          </a:xfrm>
          <a:prstGeom prst="rect">
            <a:avLst/>
          </a:prstGeom>
        </p:spPr>
      </p:pic>
      <p:sp>
        <p:nvSpPr>
          <p:cNvPr id="2" name="TextBox 1">
            <a:extLst>
              <a:ext uri="{FF2B5EF4-FFF2-40B4-BE49-F238E27FC236}">
                <a16:creationId xmlns:a16="http://schemas.microsoft.com/office/drawing/2014/main" id="{601EDF67-BB2C-0AD6-3B54-55DD3D095379}"/>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1C4A6734-DAC9-F3CF-C08E-79D163216582}"/>
              </a:ext>
            </a:extLst>
          </p:cNvPr>
          <p:cNvPicPr/>
          <p:nvPr/>
        </p:nvPicPr>
        <p:blipFill>
          <a:blip>
            <a:extLst>
              <a:ext uri="{96DAC541-7B7A-43D3-8B79-37D633B846F1}">
                <asvg:svgBlip xmlns:asvg="http://schemas.microsoft.com/office/drawing/2016/SVG/main" r:embed="rId4"/>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768D066F-DC56-CD04-5D7B-6EF721853ED3}"/>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272D2D52-D885-ADB7-C021-31CA3D29BC06}"/>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3223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6DCE53-3788-E0BD-A73E-2BF73E1CEB6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0BEB985-803B-AC66-1A7C-D20859B240B2}"/>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sp>
        <p:nvSpPr>
          <p:cNvPr id="2" name="TextBox 1">
            <a:extLst>
              <a:ext uri="{FF2B5EF4-FFF2-40B4-BE49-F238E27FC236}">
                <a16:creationId xmlns:a16="http://schemas.microsoft.com/office/drawing/2014/main" id="{7F9EA9E6-8CDD-0A98-C9B8-C616D6D820A8}"/>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8A2E573D-05EA-C1A2-E056-8250BA941E2B}"/>
              </a:ext>
            </a:extLst>
          </p:cNvPr>
          <p:cNvPicPr/>
          <p:nvPr/>
        </p:nvPicPr>
        <p:blipFill>
          <a:blip>
            <a:extLst>
              <a:ext uri="{96DAC541-7B7A-43D3-8B79-37D633B846F1}">
                <asvg:svgBlip xmlns:asvg="http://schemas.microsoft.com/office/drawing/2016/SVG/main" r:embed="rId3"/>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E26837CF-7238-B45C-22B6-E442C9DD2EBA}"/>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142BECCA-7445-792A-9458-AC59F293F423}"/>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4" name="Picture 3">
            <a:extLst>
              <a:ext uri="{FF2B5EF4-FFF2-40B4-BE49-F238E27FC236}">
                <a16:creationId xmlns:a16="http://schemas.microsoft.com/office/drawing/2014/main" id="{C2979F75-FE6B-AE71-0E8C-7CBA9C323059}"/>
              </a:ext>
            </a:extLst>
          </p:cNvPr>
          <p:cNvPicPr>
            <a:picLocks noChangeAspect="1"/>
          </p:cNvPicPr>
          <p:nvPr/>
        </p:nvPicPr>
        <p:blipFill>
          <a:blip r:embed="rId4"/>
          <a:stretch>
            <a:fillRect/>
          </a:stretch>
        </p:blipFill>
        <p:spPr>
          <a:xfrm>
            <a:off x="648751" y="1908995"/>
            <a:ext cx="11166175" cy="4187314"/>
          </a:xfrm>
          <a:prstGeom prst="rect">
            <a:avLst/>
          </a:prstGeom>
        </p:spPr>
      </p:pic>
    </p:spTree>
    <p:extLst>
      <p:ext uri="{BB962C8B-B14F-4D97-AF65-F5344CB8AC3E}">
        <p14:creationId xmlns:p14="http://schemas.microsoft.com/office/powerpoint/2010/main" val="1288304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22A5DC-957C-E2A1-61C5-88E311DF85ED}"/>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72AB305C-E5DE-0D04-077D-B0464046E66E}"/>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sp>
        <p:nvSpPr>
          <p:cNvPr id="2" name="TextBox 1">
            <a:extLst>
              <a:ext uri="{FF2B5EF4-FFF2-40B4-BE49-F238E27FC236}">
                <a16:creationId xmlns:a16="http://schemas.microsoft.com/office/drawing/2014/main" id="{2E024DA8-3D94-DD4F-3620-56E0174DF322}"/>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A4CD88E4-30F6-7F4B-9F4F-C4BEEE26C722}"/>
              </a:ext>
            </a:extLst>
          </p:cNvPr>
          <p:cNvPicPr/>
          <p:nvPr/>
        </p:nvPicPr>
        <p:blipFill>
          <a:blip>
            <a:extLst>
              <a:ext uri="{96DAC541-7B7A-43D3-8B79-37D633B846F1}">
                <asvg:svgBlip xmlns:asvg="http://schemas.microsoft.com/office/drawing/2016/SVG/main" r:embed="rId3"/>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CC300311-FD00-9E92-EC66-ED7536687085}"/>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C3B86028-E6A7-7F1C-9231-21BF66085556}"/>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pic>
        <p:nvPicPr>
          <p:cNvPr id="4" name="Picture 3">
            <a:extLst>
              <a:ext uri="{FF2B5EF4-FFF2-40B4-BE49-F238E27FC236}">
                <a16:creationId xmlns:a16="http://schemas.microsoft.com/office/drawing/2014/main" id="{C2678F36-2C52-3140-D607-1901E641AE7B}"/>
              </a:ext>
            </a:extLst>
          </p:cNvPr>
          <p:cNvPicPr>
            <a:picLocks noChangeAspect="1"/>
          </p:cNvPicPr>
          <p:nvPr/>
        </p:nvPicPr>
        <p:blipFill>
          <a:blip r:embed="rId4"/>
          <a:stretch>
            <a:fillRect/>
          </a:stretch>
        </p:blipFill>
        <p:spPr>
          <a:xfrm>
            <a:off x="648751" y="1908995"/>
            <a:ext cx="11166175" cy="4187314"/>
          </a:xfrm>
          <a:prstGeom prst="rect">
            <a:avLst/>
          </a:prstGeom>
        </p:spPr>
      </p:pic>
      <p:pic>
        <p:nvPicPr>
          <p:cNvPr id="6" name="Picture 5">
            <a:extLst>
              <a:ext uri="{FF2B5EF4-FFF2-40B4-BE49-F238E27FC236}">
                <a16:creationId xmlns:a16="http://schemas.microsoft.com/office/drawing/2014/main" id="{575724B0-53D6-3DCE-187C-4CA6EA95E254}"/>
              </a:ext>
            </a:extLst>
          </p:cNvPr>
          <p:cNvPicPr>
            <a:picLocks noChangeAspect="1"/>
          </p:cNvPicPr>
          <p:nvPr/>
        </p:nvPicPr>
        <p:blipFill>
          <a:blip r:embed="rId5"/>
          <a:stretch>
            <a:fillRect/>
          </a:stretch>
        </p:blipFill>
        <p:spPr>
          <a:xfrm>
            <a:off x="648753" y="1907651"/>
            <a:ext cx="11166173" cy="4187314"/>
          </a:xfrm>
          <a:prstGeom prst="rect">
            <a:avLst/>
          </a:prstGeom>
        </p:spPr>
      </p:pic>
    </p:spTree>
    <p:extLst>
      <p:ext uri="{BB962C8B-B14F-4D97-AF65-F5344CB8AC3E}">
        <p14:creationId xmlns:p14="http://schemas.microsoft.com/office/powerpoint/2010/main" val="239300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FF51CE-0EF2-B620-44F1-01A68ACB45E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D0BBCFA-DF44-523A-484B-A04626A54214}"/>
              </a:ext>
            </a:extLst>
          </p:cNvPr>
          <p:cNvSpPr/>
          <p:nvPr/>
        </p:nvSpPr>
        <p:spPr>
          <a:xfrm>
            <a:off x="0" y="0"/>
            <a:ext cx="12188826" cy="6879149"/>
          </a:xfrm>
          <a:prstGeom prst="rect">
            <a:avLst/>
          </a:prstGeom>
          <a:gradFill flip="none" rotWithShape="1">
            <a:gsLst>
              <a:gs pos="87000">
                <a:srgbClr val="040E3D">
                  <a:alpha val="49932"/>
                </a:srgbClr>
              </a:gs>
              <a:gs pos="13000">
                <a:srgbClr val="040E3D"/>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04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ource Sans 3"/>
              <a:ea typeface="+mn-ea"/>
              <a:cs typeface="+mn-cs"/>
            </a:endParaRPr>
          </a:p>
        </p:txBody>
      </p:sp>
      <p:pic>
        <p:nvPicPr>
          <p:cNvPr id="7" name="Picture 6">
            <a:extLst>
              <a:ext uri="{FF2B5EF4-FFF2-40B4-BE49-F238E27FC236}">
                <a16:creationId xmlns:a16="http://schemas.microsoft.com/office/drawing/2014/main" id="{8F50B913-D3ED-B627-BB66-16062621334B}"/>
              </a:ext>
            </a:extLst>
          </p:cNvPr>
          <p:cNvPicPr>
            <a:picLocks noChangeAspect="1"/>
          </p:cNvPicPr>
          <p:nvPr/>
        </p:nvPicPr>
        <p:blipFill>
          <a:blip r:embed="rId3"/>
          <a:stretch>
            <a:fillRect/>
          </a:stretch>
        </p:blipFill>
        <p:spPr>
          <a:xfrm>
            <a:off x="648751" y="1907651"/>
            <a:ext cx="11166175" cy="4187314"/>
          </a:xfrm>
          <a:prstGeom prst="rect">
            <a:avLst/>
          </a:prstGeom>
        </p:spPr>
      </p:pic>
      <p:sp>
        <p:nvSpPr>
          <p:cNvPr id="2" name="TextBox 1">
            <a:extLst>
              <a:ext uri="{FF2B5EF4-FFF2-40B4-BE49-F238E27FC236}">
                <a16:creationId xmlns:a16="http://schemas.microsoft.com/office/drawing/2014/main" id="{D0037925-4DFC-191E-58B0-CA945310C2A4}"/>
              </a:ext>
            </a:extLst>
          </p:cNvPr>
          <p:cNvSpPr txBox="1"/>
          <p:nvPr/>
        </p:nvSpPr>
        <p:spPr>
          <a:xfrm>
            <a:off x="455336" y="554842"/>
            <a:ext cx="11263091" cy="738664"/>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80000"/>
              </a:lnSpc>
              <a:spcBef>
                <a:spcPts val="0"/>
              </a:spcBef>
              <a:spcAft>
                <a:spcPts val="0"/>
              </a:spcAft>
              <a:buClrTx/>
              <a:buSzTx/>
              <a:buFontTx/>
              <a:buNone/>
              <a:tabLst/>
              <a:defRPr/>
            </a:pPr>
            <a:r>
              <a:rPr kumimoji="0" lang="en-US" sz="3800" b="1" u="none" strike="noStrike" kern="1200" cap="none" spc="0" normalizeH="0" baseline="0" noProof="0">
                <a:ln>
                  <a:noFill/>
                </a:ln>
                <a:solidFill>
                  <a:srgbClr val="2CB0CD"/>
                </a:solidFill>
                <a:effectLst/>
                <a:uLnTx/>
                <a:uFillTx/>
                <a:latin typeface="Source Sans 3" panose="020B0504040101010104" pitchFamily="34" charset="77"/>
                <a:cs typeface="Source Sans 3" panose="020B0504040101010104" pitchFamily="34" charset="77"/>
              </a:rPr>
              <a:t>Permission to Automate.</a:t>
            </a:r>
          </a:p>
        </p:txBody>
      </p:sp>
      <p:pic>
        <p:nvPicPr>
          <p:cNvPr id="14" name="Picture 4">
            <a:extLst>
              <a:ext uri="{FF2B5EF4-FFF2-40B4-BE49-F238E27FC236}">
                <a16:creationId xmlns:a16="http://schemas.microsoft.com/office/drawing/2014/main" id="{2E731F86-E940-ADEA-6208-FCA66133FF55}"/>
              </a:ext>
            </a:extLst>
          </p:cNvPr>
          <p:cNvPicPr/>
          <p:nvPr/>
        </p:nvPicPr>
        <p:blipFill>
          <a:blip>
            <a:extLst>
              <a:ext uri="{96DAC541-7B7A-43D3-8B79-37D633B846F1}">
                <asvg:svgBlip xmlns:asvg="http://schemas.microsoft.com/office/drawing/2016/SVG/main" r:embed="rId4"/>
              </a:ext>
            </a:extLst>
          </a:blip>
          <a:srcRect/>
          <a:stretch/>
        </p:blipFill>
        <p:spPr>
          <a:xfrm>
            <a:off x="479837" y="6354675"/>
            <a:ext cx="980334" cy="280095"/>
          </a:xfrm>
          <a:prstGeom prst="rect">
            <a:avLst/>
          </a:prstGeom>
        </p:spPr>
      </p:pic>
      <p:sp>
        <p:nvSpPr>
          <p:cNvPr id="5" name="TextBox 4">
            <a:extLst>
              <a:ext uri="{FF2B5EF4-FFF2-40B4-BE49-F238E27FC236}">
                <a16:creationId xmlns:a16="http://schemas.microsoft.com/office/drawing/2014/main" id="{05F1C554-E1D0-6E16-CB6F-D45A6D58C226}"/>
              </a:ext>
            </a:extLst>
          </p:cNvPr>
          <p:cNvSpPr txBox="1"/>
          <p:nvPr/>
        </p:nvSpPr>
        <p:spPr>
          <a:xfrm>
            <a:off x="2722607" y="985729"/>
            <a:ext cx="7018464" cy="615553"/>
          </a:xfrm>
          <a:prstGeom prst="rect">
            <a:avLst/>
          </a:prstGeom>
          <a:noFill/>
        </p:spPr>
        <p:txBody>
          <a:bodyPr wrap="square" lIns="0" tIns="0" rIns="0" bIns="0" rtlCol="0" anchor="b">
            <a:spAutoFit/>
          </a:bodyPr>
          <a:lstStyle/>
          <a:p>
            <a:pPr marL="0" marR="0" lvl="0" indent="0" algn="ctr" defTabSz="457040" rtl="0" eaLnBrk="1" fontAlgn="auto" latinLnBrk="0" hangingPunct="1">
              <a:lnSpc>
                <a:spcPct val="100000"/>
              </a:lnSpc>
              <a:spcBef>
                <a:spcPts val="0"/>
              </a:spcBef>
              <a:spcAft>
                <a:spcPts val="0"/>
              </a:spcAft>
              <a:buClrTx/>
              <a:buSzTx/>
              <a:buFontTx/>
              <a:buNone/>
              <a:tabLst/>
              <a:defRPr/>
            </a:pPr>
            <a:r>
              <a:rPr kumimoji="0" lang="en-US" sz="1500" b="1" u="none" strike="noStrike" kern="1200" cap="none" spc="0" normalizeH="0" baseline="0" noProof="0" dirty="0">
                <a:ln>
                  <a:noFill/>
                </a:ln>
                <a:solidFill>
                  <a:srgbClr val="FFFFFF"/>
                </a:solidFill>
                <a:effectLst/>
                <a:uLnTx/>
                <a:uFillTx/>
                <a:latin typeface="Source Sans 3"/>
                <a:ea typeface="+mn-ea"/>
                <a:cs typeface="Source Sans 3" panose="020B0504040101010104" pitchFamily="34" charset="77"/>
              </a:rPr>
              <a:t>Seven controls determine what an agent may do without a human in the loop.</a:t>
            </a:r>
            <a:endParaRPr kumimoji="0" lang="en-US" sz="2000" b="0" i="0" u="none" strike="noStrike" kern="1200" cap="none" spc="0" normalizeH="0" baseline="0" noProof="0" dirty="0">
              <a:ln>
                <a:noFill/>
              </a:ln>
              <a:solidFill>
                <a:srgbClr val="FFFFFF"/>
              </a:solidFill>
              <a:effectLst/>
              <a:uLnTx/>
              <a:uFillTx/>
              <a:latin typeface="Source Sans 3"/>
              <a:ea typeface="+mn-ea"/>
              <a:cs typeface="+mn-cs"/>
            </a:endParaRPr>
          </a:p>
        </p:txBody>
      </p:sp>
      <p:sp>
        <p:nvSpPr>
          <p:cNvPr id="3" name="Footer Placeholder 4">
            <a:extLst>
              <a:ext uri="{FF2B5EF4-FFF2-40B4-BE49-F238E27FC236}">
                <a16:creationId xmlns:a16="http://schemas.microsoft.com/office/drawing/2014/main" id="{1C7EAAAA-FD7C-969B-FC00-06C8FE3521A5}"/>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Tree>
    <p:extLst>
      <p:ext uri="{BB962C8B-B14F-4D97-AF65-F5344CB8AC3E}">
        <p14:creationId xmlns:p14="http://schemas.microsoft.com/office/powerpoint/2010/main" val="269965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Donut 2" hidden="1">
            <a:extLst>
              <a:ext uri="{FF2B5EF4-FFF2-40B4-BE49-F238E27FC236}">
                <a16:creationId xmlns:a16="http://schemas.microsoft.com/office/drawing/2014/main" id="{019D6D9A-91CB-B3BB-F5D2-0CA04822F181}"/>
              </a:ext>
            </a:extLst>
          </p:cNvPr>
          <p:cNvSpPr>
            <a:spLocks noChangeAspect="1"/>
          </p:cNvSpPr>
          <p:nvPr/>
        </p:nvSpPr>
        <p:spPr>
          <a:xfrm>
            <a:off x="2322513" y="1390565"/>
            <a:ext cx="7543800" cy="7543800"/>
          </a:xfrm>
          <a:prstGeom prst="donut">
            <a:avLst>
              <a:gd name="adj" fmla="val 19363"/>
            </a:avLst>
          </a:prstGeom>
          <a:gradFill>
            <a:gsLst>
              <a:gs pos="16000">
                <a:schemeClr val="tx2">
                  <a:lumMod val="90000"/>
                  <a:lumOff val="10000"/>
                </a:schemeClr>
              </a:gs>
              <a:gs pos="100000">
                <a:schemeClr val="accent1"/>
              </a:gs>
            </a:gsLst>
            <a:lin ang="16200000" scaled="0"/>
          </a:gradFill>
          <a:ln w="6350" cap="flat">
            <a:noFill/>
            <a:prstDash val="solid"/>
            <a:miter/>
          </a:ln>
        </p:spPr>
        <p:txBody>
          <a:bodyPr/>
          <a:lstStyle/>
          <a:p>
            <a:endParaRPr lang="en-US" dirty="0">
              <a:solidFill>
                <a:schemeClr val="tx1"/>
              </a:solidFill>
            </a:endParaRPr>
          </a:p>
        </p:txBody>
      </p:sp>
      <p:sp>
        <p:nvSpPr>
          <p:cNvPr id="152" name="Title 1">
            <a:extLst>
              <a:ext uri="{FF2B5EF4-FFF2-40B4-BE49-F238E27FC236}">
                <a16:creationId xmlns:a16="http://schemas.microsoft.com/office/drawing/2014/main" id="{0DC71C00-9851-0CE5-3189-E9AC1E034370}"/>
              </a:ext>
            </a:extLst>
          </p:cNvPr>
          <p:cNvSpPr>
            <a:spLocks noGrp="1"/>
          </p:cNvSpPr>
          <p:nvPr>
            <p:ph type="title"/>
          </p:nvPr>
        </p:nvSpPr>
        <p:spPr>
          <a:xfrm>
            <a:off x="860901" y="530352"/>
            <a:ext cx="10467023" cy="737654"/>
          </a:xfrm>
        </p:spPr>
        <p:txBody>
          <a:bodyPr wrap="square"/>
          <a:lstStyle/>
          <a:p>
            <a:pPr algn="ctr"/>
            <a:r>
              <a:rPr lang="en-US" sz="3400" dirty="0">
                <a:solidFill>
                  <a:srgbClr val="8FFFDB"/>
                </a:solidFill>
                <a:latin typeface="Source Sans 3" panose="020B0504040101010104" pitchFamily="34" charset="77"/>
              </a:rPr>
              <a:t>AI in every package. Usage that scales.</a:t>
            </a:r>
          </a:p>
        </p:txBody>
      </p:sp>
      <p:pic>
        <p:nvPicPr>
          <p:cNvPr id="11" name="Picture 10">
            <a:extLst>
              <a:ext uri="{FF2B5EF4-FFF2-40B4-BE49-F238E27FC236}">
                <a16:creationId xmlns:a16="http://schemas.microsoft.com/office/drawing/2014/main" id="{1241D1D7-058E-4D1F-CE72-9ABB4122D887}"/>
              </a:ext>
            </a:extLst>
          </p:cNvPr>
          <p:cNvPicPr>
            <a:picLocks noChangeAspect="1"/>
          </p:cNvPicPr>
          <p:nvPr/>
        </p:nvPicPr>
        <p:blipFill>
          <a:blip r:embed="rId3"/>
          <a:stretch>
            <a:fillRect/>
          </a:stretch>
        </p:blipFill>
        <p:spPr>
          <a:xfrm>
            <a:off x="1959896" y="1268006"/>
            <a:ext cx="8049342" cy="467474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15FBA-16ED-1E15-47A2-DF4821C67258}"/>
            </a:ext>
          </a:extLst>
        </p:cNvPr>
        <p:cNvGrpSpPr/>
        <p:nvPr/>
      </p:nvGrpSpPr>
      <p:grpSpPr>
        <a:xfrm>
          <a:off x="0" y="0"/>
          <a:ext cx="0" cy="0"/>
          <a:chOff x="0" y="0"/>
          <a:chExt cx="0" cy="0"/>
        </a:xfrm>
      </p:grpSpPr>
      <p:pic>
        <p:nvPicPr>
          <p:cNvPr id="4" name="Picture 3" descr="A blue and purple background&#10;&#10;AI-generated content may be incorrect.">
            <a:extLst>
              <a:ext uri="{FF2B5EF4-FFF2-40B4-BE49-F238E27FC236}">
                <a16:creationId xmlns:a16="http://schemas.microsoft.com/office/drawing/2014/main" id="{50FE5AB5-D3E2-22E9-F8F7-0C9AC74EB1D2}"/>
              </a:ext>
            </a:extLst>
          </p:cNvPr>
          <p:cNvPicPr>
            <a:picLocks/>
          </p:cNvPicPr>
          <p:nvPr/>
        </p:nvPicPr>
        <p:blipFill>
          <a:blip r:embed="rId3"/>
          <a:stretch>
            <a:fillRect/>
          </a:stretch>
        </p:blipFill>
        <p:spPr>
          <a:xfrm>
            <a:off x="-1254" y="1"/>
            <a:ext cx="12180889" cy="6859991"/>
          </a:xfrm>
          <a:prstGeom prst="rect">
            <a:avLst/>
          </a:prstGeom>
        </p:spPr>
      </p:pic>
      <p:pic>
        <p:nvPicPr>
          <p:cNvPr id="6" name="Picture 15">
            <a:extLst>
              <a:ext uri="{FF2B5EF4-FFF2-40B4-BE49-F238E27FC236}">
                <a16:creationId xmlns:a16="http://schemas.microsoft.com/office/drawing/2014/main" id="{67CB5013-0241-125E-BFD3-3D952C6262F0}"/>
              </a:ext>
              <a:ext uri="{C183D7F6-B498-43B3-948B-1728B52AA6E4}">
                <adec:decorative xmlns:adec="http://schemas.microsoft.com/office/drawing/2017/decorative" val="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482764" y="6352389"/>
            <a:ext cx="979823" cy="279876"/>
          </a:xfrm>
          <a:prstGeom prst="rect">
            <a:avLst/>
          </a:prstGeom>
        </p:spPr>
      </p:pic>
      <p:sp>
        <p:nvSpPr>
          <p:cNvPr id="3" name="Footer Placeholder 4">
            <a:extLst>
              <a:ext uri="{FF2B5EF4-FFF2-40B4-BE49-F238E27FC236}">
                <a16:creationId xmlns:a16="http://schemas.microsoft.com/office/drawing/2014/main" id="{5E883BFC-ED71-B8B7-23E6-E84B164C518B}"/>
              </a:ext>
            </a:extLst>
          </p:cNvPr>
          <p:cNvSpPr txBox="1">
            <a:spLocks/>
          </p:cNvSpPr>
          <p:nvPr/>
        </p:nvSpPr>
        <p:spPr>
          <a:xfrm>
            <a:off x="7937431" y="6406205"/>
            <a:ext cx="3090000" cy="214578"/>
          </a:xfrm>
          <a:prstGeom prst="rect">
            <a:avLst/>
          </a:prstGeom>
        </p:spPr>
        <p:txBody>
          <a:bodyPr vert="horz" lIns="91368" tIns="45684" rIns="91368" bIns="45684" rtlCol="0" anchor="ctr"/>
          <a:lstStyle>
            <a:defPPr>
              <a:defRPr lang="en-US"/>
            </a:defPPr>
            <a:lvl1pPr algn="r">
              <a:defRPr sz="600"/>
            </a:lvl1pPr>
            <a:lvl2pPr marL="457040" algn="l" defTabSz="457040" rtl="0" eaLnBrk="1" latinLnBrk="0" hangingPunct="1">
              <a:defRPr sz="1799" kern="1200">
                <a:solidFill>
                  <a:schemeClr val="tx1"/>
                </a:solidFill>
                <a:latin typeface="+mn-lt"/>
                <a:ea typeface="+mn-ea"/>
                <a:cs typeface="+mn-cs"/>
              </a:defRPr>
            </a:lvl2pPr>
            <a:lvl3pPr marL="914080" algn="l" defTabSz="457040" rtl="0" eaLnBrk="1" latinLnBrk="0" hangingPunct="1">
              <a:defRPr sz="1799" kern="1200">
                <a:solidFill>
                  <a:schemeClr val="tx1"/>
                </a:solidFill>
                <a:latin typeface="+mn-lt"/>
                <a:ea typeface="+mn-ea"/>
                <a:cs typeface="+mn-cs"/>
              </a:defRPr>
            </a:lvl3pPr>
            <a:lvl4pPr marL="1371120" algn="l" defTabSz="457040" rtl="0" eaLnBrk="1" latinLnBrk="0" hangingPunct="1">
              <a:defRPr sz="1799" kern="1200">
                <a:solidFill>
                  <a:schemeClr val="tx1"/>
                </a:solidFill>
                <a:latin typeface="+mn-lt"/>
                <a:ea typeface="+mn-ea"/>
                <a:cs typeface="+mn-cs"/>
              </a:defRPr>
            </a:lvl4pPr>
            <a:lvl5pPr marL="1828160" algn="l" defTabSz="457040" rtl="0" eaLnBrk="1" latinLnBrk="0" hangingPunct="1">
              <a:defRPr sz="1799" kern="1200">
                <a:solidFill>
                  <a:schemeClr val="tx1"/>
                </a:solidFill>
                <a:latin typeface="+mn-lt"/>
                <a:ea typeface="+mn-ea"/>
                <a:cs typeface="+mn-cs"/>
              </a:defRPr>
            </a:lvl5pPr>
            <a:lvl6pPr marL="2285200" algn="l" defTabSz="457040" rtl="0" eaLnBrk="1" latinLnBrk="0" hangingPunct="1">
              <a:defRPr sz="1799" kern="1200">
                <a:solidFill>
                  <a:schemeClr val="tx1"/>
                </a:solidFill>
                <a:latin typeface="+mn-lt"/>
                <a:ea typeface="+mn-ea"/>
                <a:cs typeface="+mn-cs"/>
              </a:defRPr>
            </a:lvl6pPr>
            <a:lvl7pPr marL="2742240" algn="l" defTabSz="457040" rtl="0" eaLnBrk="1" latinLnBrk="0" hangingPunct="1">
              <a:defRPr sz="1799" kern="1200">
                <a:solidFill>
                  <a:schemeClr val="tx1"/>
                </a:solidFill>
                <a:latin typeface="+mn-lt"/>
                <a:ea typeface="+mn-ea"/>
                <a:cs typeface="+mn-cs"/>
              </a:defRPr>
            </a:lvl7pPr>
            <a:lvl8pPr marL="3199280" algn="l" defTabSz="457040" rtl="0" eaLnBrk="1" latinLnBrk="0" hangingPunct="1">
              <a:defRPr sz="1799" kern="1200">
                <a:solidFill>
                  <a:schemeClr val="tx1"/>
                </a:solidFill>
                <a:latin typeface="+mn-lt"/>
                <a:ea typeface="+mn-ea"/>
                <a:cs typeface="+mn-cs"/>
              </a:defRPr>
            </a:lvl8pPr>
            <a:lvl9pPr marL="3656320" algn="l" defTabSz="457040" rtl="0" eaLnBrk="1" latinLnBrk="0" hangingPunct="1">
              <a:defRPr sz="1799" kern="1200">
                <a:solidFill>
                  <a:schemeClr val="tx1"/>
                </a:solidFill>
                <a:latin typeface="+mn-lt"/>
                <a:ea typeface="+mn-ea"/>
                <a:cs typeface="+mn-cs"/>
              </a:defRPr>
            </a:lvl9pPr>
          </a:lstStyle>
          <a:p>
            <a:pPr defTabSz="456766">
              <a:defRPr/>
            </a:pPr>
            <a:r>
              <a:rPr lang="en-US" sz="800" dirty="0">
                <a:solidFill>
                  <a:srgbClr val="FFFFFF"/>
                </a:solidFill>
                <a:latin typeface="Source Sans 3"/>
              </a:rPr>
              <a:t>© 2026 Crossfuze. All Rights Reserved.</a:t>
            </a:r>
          </a:p>
        </p:txBody>
      </p:sp>
      <p:sp>
        <p:nvSpPr>
          <p:cNvPr id="7" name="AI RunState title"/>
          <p:cNvSpPr txBox="1"/>
          <p:nvPr/>
        </p:nvSpPr>
        <p:spPr>
          <a:xfrm>
            <a:off x="448056" y="329184"/>
            <a:ext cx="11192256" cy="585216"/>
          </a:xfrm>
          <a:prstGeom prst="rect">
            <a:avLst/>
          </a:prstGeom>
          <a:noFill/>
        </p:spPr>
        <p:txBody>
          <a:bodyPr wrap="square" lIns="36576" tIns="0" rIns="36576" bIns="0" anchor="ctr">
            <a:spAutoFit/>
          </a:bodyPr>
          <a:lstStyle/>
          <a:p>
            <a:pPr algn="l"/>
            <a:r>
              <a:rPr sz="3500" b="1">
                <a:solidFill>
                  <a:srgbClr val="8FFFDB"/>
                </a:solidFill>
                <a:latin typeface="Source Sans 3"/>
              </a:rPr>
              <a:t>AI RunState. Plan it. Prioritise it. Ship it.</a:t>
            </a:r>
          </a:p>
        </p:txBody>
      </p:sp>
      <p:sp>
        <p:nvSpPr>
          <p:cNvPr id="8" name="AI RunState subtitle"/>
          <p:cNvSpPr txBox="1"/>
          <p:nvPr/>
        </p:nvSpPr>
        <p:spPr>
          <a:xfrm>
            <a:off x="493776" y="996696"/>
            <a:ext cx="11045952" cy="512064"/>
          </a:xfrm>
          <a:prstGeom prst="rect">
            <a:avLst/>
          </a:prstGeom>
          <a:noFill/>
        </p:spPr>
        <p:txBody>
          <a:bodyPr wrap="square" lIns="36576" tIns="0" rIns="36576" bIns="0" anchor="ctr">
            <a:spAutoFit/>
          </a:bodyPr>
          <a:lstStyle/>
          <a:p>
            <a:pPr algn="l"/>
            <a:r>
              <a:rPr sz="1700" b="0">
                <a:solidFill>
                  <a:srgbClr val="FFFFFF"/>
                </a:solidFill>
                <a:latin typeface="Source Sans 3"/>
              </a:rPr>
              <a:t>One 12-month engagement. Advisory sets direction, backlog adapts priorities, Extend delivers.</a:t>
            </a:r>
          </a:p>
        </p:txBody>
      </p:sp>
      <p:sp>
        <p:nvSpPr>
          <p:cNvPr id="9" name="Rounded Rectangle 8"/>
          <p:cNvSpPr/>
          <p:nvPr/>
        </p:nvSpPr>
        <p:spPr>
          <a:xfrm>
            <a:off x="493776" y="1719072"/>
            <a:ext cx="3557016" cy="4215384"/>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unState step 1"/>
          <p:cNvSpPr txBox="1"/>
          <p:nvPr/>
        </p:nvSpPr>
        <p:spPr>
          <a:xfrm>
            <a:off x="658368" y="1883664"/>
            <a:ext cx="548640" cy="329184"/>
          </a:xfrm>
          <a:prstGeom prst="rect">
            <a:avLst/>
          </a:prstGeom>
          <a:noFill/>
        </p:spPr>
        <p:txBody>
          <a:bodyPr wrap="square" lIns="36576" tIns="0" rIns="36576" bIns="0" anchor="ctr">
            <a:spAutoFit/>
          </a:bodyPr>
          <a:lstStyle/>
          <a:p>
            <a:pPr algn="l"/>
            <a:r>
              <a:rPr sz="1700" b="1">
                <a:solidFill>
                  <a:srgbClr val="8FFFDB"/>
                </a:solidFill>
                <a:latin typeface="Source Sans 3"/>
              </a:rPr>
              <a:t>01</a:t>
            </a:r>
          </a:p>
        </p:txBody>
      </p:sp>
      <p:sp>
        <p:nvSpPr>
          <p:cNvPr id="11" name="RunState action 1"/>
          <p:cNvSpPr txBox="1"/>
          <p:nvPr/>
        </p:nvSpPr>
        <p:spPr>
          <a:xfrm>
            <a:off x="1252728" y="1883664"/>
            <a:ext cx="2551176" cy="329184"/>
          </a:xfrm>
          <a:prstGeom prst="rect">
            <a:avLst/>
          </a:prstGeom>
          <a:noFill/>
        </p:spPr>
        <p:txBody>
          <a:bodyPr wrap="square" lIns="36576" tIns="0" rIns="36576" bIns="0" anchor="ctr">
            <a:spAutoFit/>
          </a:bodyPr>
          <a:lstStyle/>
          <a:p>
            <a:pPr algn="l"/>
            <a:r>
              <a:rPr sz="1500" b="1">
                <a:solidFill>
                  <a:srgbClr val="8FFFDB"/>
                </a:solidFill>
                <a:latin typeface="Source Sans 3"/>
              </a:rPr>
              <a:t>PLAN</a:t>
            </a:r>
          </a:p>
        </p:txBody>
      </p:sp>
      <p:sp>
        <p:nvSpPr>
          <p:cNvPr id="12" name="RunState service 1"/>
          <p:cNvSpPr txBox="1"/>
          <p:nvPr/>
        </p:nvSpPr>
        <p:spPr>
          <a:xfrm>
            <a:off x="676656" y="2395728"/>
            <a:ext cx="3182112" cy="594360"/>
          </a:xfrm>
          <a:prstGeom prst="rect">
            <a:avLst/>
          </a:prstGeom>
          <a:noFill/>
        </p:spPr>
        <p:txBody>
          <a:bodyPr wrap="square" lIns="36576" tIns="0" rIns="36576" bIns="0" anchor="ctr">
            <a:spAutoFit/>
          </a:bodyPr>
          <a:lstStyle/>
          <a:p>
            <a:pPr algn="l"/>
            <a:r>
              <a:rPr sz="2300" b="1">
                <a:solidFill>
                  <a:srgbClr val="FFFFFF"/>
                </a:solidFill>
                <a:latin typeface="Source Sans 3"/>
              </a:rPr>
              <a:t>AI Action Plan</a:t>
            </a:r>
          </a:p>
        </p:txBody>
      </p:sp>
      <p:sp>
        <p:nvSpPr>
          <p:cNvPr id="13" name="RunState metric 1"/>
          <p:cNvSpPr txBox="1"/>
          <p:nvPr/>
        </p:nvSpPr>
        <p:spPr>
          <a:xfrm>
            <a:off x="676656" y="3108960"/>
            <a:ext cx="3182112" cy="374904"/>
          </a:xfrm>
          <a:prstGeom prst="rect">
            <a:avLst/>
          </a:prstGeom>
          <a:noFill/>
        </p:spPr>
        <p:txBody>
          <a:bodyPr wrap="square" lIns="36576" tIns="0" rIns="36576" bIns="0" anchor="ctr">
            <a:spAutoFit/>
          </a:bodyPr>
          <a:lstStyle/>
          <a:p>
            <a:pPr algn="l"/>
            <a:r>
              <a:rPr sz="2200" b="1">
                <a:solidFill>
                  <a:srgbClr val="8FFFDB"/>
                </a:solidFill>
                <a:latin typeface="Source Sans 3"/>
              </a:rPr>
              <a:t>2 advisory reviews</a:t>
            </a:r>
          </a:p>
        </p:txBody>
      </p:sp>
      <p:sp>
        <p:nvSpPr>
          <p:cNvPr id="14" name="RunState schedule 1"/>
          <p:cNvSpPr txBox="1"/>
          <p:nvPr/>
        </p:nvSpPr>
        <p:spPr>
          <a:xfrm>
            <a:off x="676656" y="3529584"/>
            <a:ext cx="3182112" cy="338328"/>
          </a:xfrm>
          <a:prstGeom prst="rect">
            <a:avLst/>
          </a:prstGeom>
          <a:noFill/>
        </p:spPr>
        <p:txBody>
          <a:bodyPr wrap="square" lIns="36576" tIns="0" rIns="36576" bIns="0" anchor="ctr">
            <a:spAutoFit/>
          </a:bodyPr>
          <a:lstStyle/>
          <a:p>
            <a:pPr algn="l"/>
            <a:r>
              <a:rPr sz="1300" b="0">
                <a:solidFill>
                  <a:srgbClr val="8FFFDB"/>
                </a:solidFill>
                <a:latin typeface="Source Sans 3"/>
              </a:rPr>
              <a:t>Month 1 and month 7</a:t>
            </a:r>
          </a:p>
        </p:txBody>
      </p:sp>
      <p:sp>
        <p:nvSpPr>
          <p:cNvPr id="15" name="RunState deliverables 1"/>
          <p:cNvSpPr txBox="1"/>
          <p:nvPr/>
        </p:nvSpPr>
        <p:spPr>
          <a:xfrm>
            <a:off x="676656" y="4215383"/>
            <a:ext cx="3127248" cy="1389888"/>
          </a:xfrm>
          <a:prstGeom prst="rect">
            <a:avLst/>
          </a:prstGeom>
          <a:noFill/>
        </p:spPr>
        <p:txBody>
          <a:bodyPr wrap="square" lIns="36576" tIns="0" rIns="36576" bIns="0" anchor="ctr">
            <a:spAutoFit/>
          </a:bodyPr>
          <a:lstStyle/>
          <a:p>
            <a:pPr algn="l"/>
            <a:r>
              <a:rPr sz="1600" b="0">
                <a:solidFill>
                  <a:srgbClr val="FFFFFF"/>
                </a:solidFill>
                <a:latin typeface="Source Sans 3"/>
              </a:rPr>
              <a:t>Baseline and dependencies
Prioritised use cases
90-day roadmap</a:t>
            </a:r>
          </a:p>
        </p:txBody>
      </p:sp>
      <p:sp>
        <p:nvSpPr>
          <p:cNvPr id="16" name="Rounded Rectangle 15"/>
          <p:cNvSpPr/>
          <p:nvPr/>
        </p:nvSpPr>
        <p:spPr>
          <a:xfrm>
            <a:off x="4398264" y="1719072"/>
            <a:ext cx="3557016" cy="4215384"/>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unState step 2"/>
          <p:cNvSpPr txBox="1"/>
          <p:nvPr/>
        </p:nvSpPr>
        <p:spPr>
          <a:xfrm>
            <a:off x="4562855" y="1883664"/>
            <a:ext cx="548640" cy="329184"/>
          </a:xfrm>
          <a:prstGeom prst="rect">
            <a:avLst/>
          </a:prstGeom>
          <a:noFill/>
        </p:spPr>
        <p:txBody>
          <a:bodyPr wrap="square" lIns="36576" tIns="0" rIns="36576" bIns="0" anchor="ctr">
            <a:spAutoFit/>
          </a:bodyPr>
          <a:lstStyle/>
          <a:p>
            <a:pPr algn="l"/>
            <a:r>
              <a:rPr sz="1700" b="1">
                <a:solidFill>
                  <a:srgbClr val="8FFFDB"/>
                </a:solidFill>
                <a:latin typeface="Source Sans 3"/>
              </a:rPr>
              <a:t>02</a:t>
            </a:r>
          </a:p>
        </p:txBody>
      </p:sp>
      <p:sp>
        <p:nvSpPr>
          <p:cNvPr id="18" name="RunState action 2"/>
          <p:cNvSpPr txBox="1"/>
          <p:nvPr/>
        </p:nvSpPr>
        <p:spPr>
          <a:xfrm>
            <a:off x="5157216" y="1883664"/>
            <a:ext cx="2551176" cy="329184"/>
          </a:xfrm>
          <a:prstGeom prst="rect">
            <a:avLst/>
          </a:prstGeom>
          <a:noFill/>
        </p:spPr>
        <p:txBody>
          <a:bodyPr wrap="square" lIns="36576" tIns="0" rIns="36576" bIns="0" anchor="ctr">
            <a:spAutoFit/>
          </a:bodyPr>
          <a:lstStyle/>
          <a:p>
            <a:pPr algn="l"/>
            <a:r>
              <a:rPr sz="1500" b="1">
                <a:solidFill>
                  <a:srgbClr val="8FFFDB"/>
                </a:solidFill>
                <a:latin typeface="Source Sans 3"/>
              </a:rPr>
              <a:t>PRIORITISE</a:t>
            </a:r>
          </a:p>
        </p:txBody>
      </p:sp>
      <p:sp>
        <p:nvSpPr>
          <p:cNvPr id="19" name="RunState service 2"/>
          <p:cNvSpPr txBox="1"/>
          <p:nvPr/>
        </p:nvSpPr>
        <p:spPr>
          <a:xfrm>
            <a:off x="4581144" y="2395728"/>
            <a:ext cx="3182112" cy="594360"/>
          </a:xfrm>
          <a:prstGeom prst="rect">
            <a:avLst/>
          </a:prstGeom>
          <a:noFill/>
        </p:spPr>
        <p:txBody>
          <a:bodyPr wrap="square" lIns="36576" tIns="0" rIns="36576" bIns="0" anchor="ctr">
            <a:spAutoFit/>
          </a:bodyPr>
          <a:lstStyle/>
          <a:p>
            <a:pPr algn="l"/>
            <a:r>
              <a:rPr sz="2300" b="1">
                <a:solidFill>
                  <a:srgbClr val="FFFFFF"/>
                </a:solidFill>
                <a:latin typeface="Source Sans 3"/>
              </a:rPr>
              <a:t>Backlog Cycles</a:t>
            </a:r>
          </a:p>
        </p:txBody>
      </p:sp>
      <p:sp>
        <p:nvSpPr>
          <p:cNvPr id="20" name="RunState metric 2"/>
          <p:cNvSpPr txBox="1"/>
          <p:nvPr/>
        </p:nvSpPr>
        <p:spPr>
          <a:xfrm>
            <a:off x="4581144" y="3108960"/>
            <a:ext cx="3182112" cy="374904"/>
          </a:xfrm>
          <a:prstGeom prst="rect">
            <a:avLst/>
          </a:prstGeom>
          <a:noFill/>
        </p:spPr>
        <p:txBody>
          <a:bodyPr wrap="square" lIns="36576" tIns="0" rIns="36576" bIns="0" anchor="ctr">
            <a:spAutoFit/>
          </a:bodyPr>
          <a:lstStyle/>
          <a:p>
            <a:pPr algn="l"/>
            <a:r>
              <a:rPr sz="2200" b="1">
                <a:solidFill>
                  <a:srgbClr val="8FFFDB"/>
                </a:solidFill>
                <a:latin typeface="Source Sans 3"/>
              </a:rPr>
              <a:t>Up to 4 cycles</a:t>
            </a:r>
          </a:p>
        </p:txBody>
      </p:sp>
      <p:sp>
        <p:nvSpPr>
          <p:cNvPr id="21" name="RunState schedule 2"/>
          <p:cNvSpPr txBox="1"/>
          <p:nvPr/>
        </p:nvSpPr>
        <p:spPr>
          <a:xfrm>
            <a:off x="4581144" y="3529584"/>
            <a:ext cx="3182112" cy="338328"/>
          </a:xfrm>
          <a:prstGeom prst="rect">
            <a:avLst/>
          </a:prstGeom>
          <a:noFill/>
        </p:spPr>
        <p:txBody>
          <a:bodyPr wrap="square" lIns="36576" tIns="0" rIns="36576" bIns="0" anchor="ctr">
            <a:spAutoFit/>
          </a:bodyPr>
          <a:lstStyle/>
          <a:p>
            <a:pPr algn="l"/>
            <a:r>
              <a:rPr sz="1300" b="0">
                <a:solidFill>
                  <a:srgbClr val="8FFFDB"/>
                </a:solidFill>
                <a:latin typeface="Source Sans 3"/>
              </a:rPr>
              <a:t>~6 weeks each</a:t>
            </a:r>
          </a:p>
        </p:txBody>
      </p:sp>
      <p:sp>
        <p:nvSpPr>
          <p:cNvPr id="22" name="RunState deliverables 2"/>
          <p:cNvSpPr txBox="1"/>
          <p:nvPr/>
        </p:nvSpPr>
        <p:spPr>
          <a:xfrm>
            <a:off x="4581144" y="4215383"/>
            <a:ext cx="3127248" cy="1389888"/>
          </a:xfrm>
          <a:prstGeom prst="rect">
            <a:avLst/>
          </a:prstGeom>
          <a:noFill/>
        </p:spPr>
        <p:txBody>
          <a:bodyPr wrap="square" lIns="36576" tIns="0" rIns="36576" bIns="0" anchor="ctr">
            <a:spAutoFit/>
          </a:bodyPr>
          <a:lstStyle/>
          <a:p>
            <a:pPr algn="l"/>
            <a:r>
              <a:rPr sz="1600" b="0">
                <a:solidFill>
                  <a:srgbClr val="FFFFFF"/>
                </a:solidFill>
                <a:latin typeface="Source Sans 3"/>
              </a:rPr>
              <a:t>Approved user stories
Acceptance criteria
Three-month capacity plan</a:t>
            </a:r>
          </a:p>
        </p:txBody>
      </p:sp>
      <p:sp>
        <p:nvSpPr>
          <p:cNvPr id="23" name="Rounded Rectangle 22"/>
          <p:cNvSpPr/>
          <p:nvPr/>
        </p:nvSpPr>
        <p:spPr>
          <a:xfrm>
            <a:off x="8302751" y="1719072"/>
            <a:ext cx="3557016" cy="4215384"/>
          </a:xfrm>
          <a:prstGeom prst="roundRect">
            <a:avLst/>
          </a:prstGeom>
          <a:solidFill>
            <a:srgbClr val="040E3D"/>
          </a:solidFill>
          <a:ln w="8890">
            <a:solidFill>
              <a:srgbClr val="2CB0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unState step 3"/>
          <p:cNvSpPr txBox="1"/>
          <p:nvPr/>
        </p:nvSpPr>
        <p:spPr>
          <a:xfrm>
            <a:off x="8467343" y="1883664"/>
            <a:ext cx="548640" cy="329184"/>
          </a:xfrm>
          <a:prstGeom prst="rect">
            <a:avLst/>
          </a:prstGeom>
          <a:noFill/>
        </p:spPr>
        <p:txBody>
          <a:bodyPr wrap="square" lIns="36576" tIns="0" rIns="36576" bIns="0" anchor="ctr">
            <a:spAutoFit/>
          </a:bodyPr>
          <a:lstStyle/>
          <a:p>
            <a:pPr algn="l"/>
            <a:r>
              <a:rPr sz="1700" b="1">
                <a:solidFill>
                  <a:srgbClr val="8FFFDB"/>
                </a:solidFill>
                <a:latin typeface="Source Sans 3"/>
              </a:rPr>
              <a:t>03</a:t>
            </a:r>
          </a:p>
        </p:txBody>
      </p:sp>
      <p:sp>
        <p:nvSpPr>
          <p:cNvPr id="25" name="RunState action 3"/>
          <p:cNvSpPr txBox="1"/>
          <p:nvPr/>
        </p:nvSpPr>
        <p:spPr>
          <a:xfrm>
            <a:off x="9061703" y="1883664"/>
            <a:ext cx="2551176" cy="329184"/>
          </a:xfrm>
          <a:prstGeom prst="rect">
            <a:avLst/>
          </a:prstGeom>
          <a:noFill/>
        </p:spPr>
        <p:txBody>
          <a:bodyPr wrap="square" lIns="36576" tIns="0" rIns="36576" bIns="0" anchor="ctr">
            <a:spAutoFit/>
          </a:bodyPr>
          <a:lstStyle/>
          <a:p>
            <a:pPr algn="l"/>
            <a:r>
              <a:rPr sz="1500" b="1">
                <a:solidFill>
                  <a:srgbClr val="8FFFDB"/>
                </a:solidFill>
                <a:latin typeface="Source Sans 3"/>
              </a:rPr>
              <a:t>SHIP</a:t>
            </a:r>
          </a:p>
        </p:txBody>
      </p:sp>
      <p:sp>
        <p:nvSpPr>
          <p:cNvPr id="26" name="RunState service 3"/>
          <p:cNvSpPr txBox="1"/>
          <p:nvPr/>
        </p:nvSpPr>
        <p:spPr>
          <a:xfrm>
            <a:off x="8485631" y="2395728"/>
            <a:ext cx="3182112" cy="594360"/>
          </a:xfrm>
          <a:prstGeom prst="rect">
            <a:avLst/>
          </a:prstGeom>
          <a:noFill/>
        </p:spPr>
        <p:txBody>
          <a:bodyPr wrap="square" lIns="36576" tIns="0" rIns="36576" bIns="0" anchor="ctr">
            <a:spAutoFit/>
          </a:bodyPr>
          <a:lstStyle/>
          <a:p>
            <a:pPr algn="l"/>
            <a:r>
              <a:rPr sz="2300" b="1">
                <a:solidFill>
                  <a:srgbClr val="FFFFFF"/>
                </a:solidFill>
                <a:latin typeface="Source Sans 3"/>
              </a:rPr>
              <a:t>Extend Services</a:t>
            </a:r>
          </a:p>
        </p:txBody>
      </p:sp>
      <p:sp>
        <p:nvSpPr>
          <p:cNvPr id="27" name="RunState metric 3"/>
          <p:cNvSpPr txBox="1"/>
          <p:nvPr/>
        </p:nvSpPr>
        <p:spPr>
          <a:xfrm>
            <a:off x="8485631" y="3108960"/>
            <a:ext cx="3182112" cy="374904"/>
          </a:xfrm>
          <a:prstGeom prst="rect">
            <a:avLst/>
          </a:prstGeom>
          <a:noFill/>
        </p:spPr>
        <p:txBody>
          <a:bodyPr wrap="square" lIns="36576" tIns="0" rIns="36576" bIns="0" anchor="ctr">
            <a:spAutoFit/>
          </a:bodyPr>
          <a:lstStyle/>
          <a:p>
            <a:pPr algn="l"/>
            <a:r>
              <a:rPr sz="2200" b="1">
                <a:solidFill>
                  <a:srgbClr val="8FFFDB"/>
                </a:solidFill>
                <a:latin typeface="Source Sans 3"/>
              </a:rPr>
              <a:t>80 hours / month</a:t>
            </a:r>
          </a:p>
        </p:txBody>
      </p:sp>
      <p:sp>
        <p:nvSpPr>
          <p:cNvPr id="28" name="RunState schedule 3"/>
          <p:cNvSpPr txBox="1"/>
          <p:nvPr/>
        </p:nvSpPr>
        <p:spPr>
          <a:xfrm>
            <a:off x="8485631" y="3529584"/>
            <a:ext cx="3182112" cy="338328"/>
          </a:xfrm>
          <a:prstGeom prst="rect">
            <a:avLst/>
          </a:prstGeom>
          <a:noFill/>
        </p:spPr>
        <p:txBody>
          <a:bodyPr wrap="square" lIns="36576" tIns="0" rIns="36576" bIns="0" anchor="ctr">
            <a:spAutoFit/>
          </a:bodyPr>
          <a:lstStyle/>
          <a:p>
            <a:pPr algn="l"/>
            <a:r>
              <a:rPr sz="1300" b="0">
                <a:solidFill>
                  <a:srgbClr val="8FFFDB"/>
                </a:solidFill>
                <a:latin typeface="Source Sans 3"/>
              </a:rPr>
              <a:t>9 months</a:t>
            </a:r>
          </a:p>
        </p:txBody>
      </p:sp>
      <p:sp>
        <p:nvSpPr>
          <p:cNvPr id="29" name="RunState deliverables 3"/>
          <p:cNvSpPr txBox="1"/>
          <p:nvPr/>
        </p:nvSpPr>
        <p:spPr>
          <a:xfrm>
            <a:off x="8485631" y="4215383"/>
            <a:ext cx="3127248" cy="1389888"/>
          </a:xfrm>
          <a:prstGeom prst="rect">
            <a:avLst/>
          </a:prstGeom>
          <a:noFill/>
        </p:spPr>
        <p:txBody>
          <a:bodyPr wrap="square" lIns="36576" tIns="0" rIns="36576" bIns="0" anchor="ctr">
            <a:spAutoFit/>
          </a:bodyPr>
          <a:lstStyle/>
          <a:p>
            <a:pPr algn="l"/>
            <a:r>
              <a:rPr sz="1600" b="0">
                <a:solidFill>
                  <a:srgbClr val="FFFFFF"/>
                </a:solidFill>
                <a:latin typeface="Source Sans 3"/>
              </a:rPr>
              <a:t>Build, configure and test
Deliver approved backlog
Accepted production outcomes</a:t>
            </a:r>
          </a:p>
        </p:txBody>
      </p:sp>
      <p:sp>
        <p:nvSpPr>
          <p:cNvPr id="30" name="Product owner control"/>
          <p:cNvSpPr txBox="1"/>
          <p:nvPr/>
        </p:nvSpPr>
        <p:spPr>
          <a:xfrm>
            <a:off x="594360" y="6080760"/>
            <a:ext cx="10917936" cy="274320"/>
          </a:xfrm>
          <a:prstGeom prst="rect">
            <a:avLst/>
          </a:prstGeom>
          <a:noFill/>
        </p:spPr>
        <p:txBody>
          <a:bodyPr wrap="square" lIns="36576" tIns="0" rIns="36576" bIns="0" anchor="ctr">
            <a:spAutoFit/>
          </a:bodyPr>
          <a:lstStyle/>
          <a:p>
            <a:pPr algn="ctr"/>
            <a:r>
              <a:rPr sz="1200" b="0">
                <a:solidFill>
                  <a:srgbClr val="FFFFFF"/>
                </a:solidFill>
                <a:latin typeface="Source Sans 3"/>
              </a:rPr>
              <a:t>The customer Product Owner retains control of priorities, approvals and sprint acceptance.</a:t>
            </a:r>
          </a:p>
        </p:txBody>
      </p:sp>
    </p:spTree>
    <p:extLst>
      <p:ext uri="{BB962C8B-B14F-4D97-AF65-F5344CB8AC3E}">
        <p14:creationId xmlns:p14="http://schemas.microsoft.com/office/powerpoint/2010/main" val="373178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rossfuze 2026">
  <a:themeElements>
    <a:clrScheme name="2026 Official Crossfuze Brand Colors">
      <a:dk1>
        <a:srgbClr val="000000"/>
      </a:dk1>
      <a:lt1>
        <a:srgbClr val="FFFFFF"/>
      </a:lt1>
      <a:dk2>
        <a:srgbClr val="040E3D"/>
      </a:dk2>
      <a:lt2>
        <a:srgbClr val="FFFFFF"/>
      </a:lt2>
      <a:accent1>
        <a:srgbClr val="8FFFDB"/>
      </a:accent1>
      <a:accent2>
        <a:srgbClr val="F2F2F4"/>
      </a:accent2>
      <a:accent3>
        <a:srgbClr val="2CB0CD"/>
      </a:accent3>
      <a:accent4>
        <a:srgbClr val="71F1F7"/>
      </a:accent4>
      <a:accent5>
        <a:srgbClr val="6400EC"/>
      </a:accent5>
      <a:accent6>
        <a:srgbClr val="C0A6FF"/>
      </a:accent6>
      <a:hlink>
        <a:srgbClr val="71F1F7"/>
      </a:hlink>
      <a:folHlink>
        <a:srgbClr val="C0A6FF"/>
      </a:folHlink>
    </a:clrScheme>
    <a:fontScheme name="Crossfuze Source Sans 3">
      <a:majorFont>
        <a:latin typeface="Source Sans 3"/>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l">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b="0" i="0" dirty="0" err="1" smtClean="0">
            <a:solidFill>
              <a:schemeClr val="bg1"/>
            </a:solidFill>
            <a:latin typeface="Source Sans 3" panose="020B0404040101010104" pitchFamily="34" charset="77"/>
            <a:cs typeface="Source Sans 3" panose="020B0404040101010104" pitchFamily="34" charset="77"/>
          </a:defRPr>
        </a:defPPr>
      </a:lstStyle>
    </a:txDef>
  </a:objectDefaults>
  <a:extraClrSchemeLst/>
  <a:custClrLst>
    <a:custClr name="Midnight Blue">
      <a:srgbClr val="040E3D"/>
    </a:custClr>
    <a:custClr name="Bright Green">
      <a:srgbClr val="8FFFDB"/>
    </a:custClr>
    <a:custClr name="Bright Blue">
      <a:srgbClr val="71F1F7"/>
    </a:custClr>
    <a:custClr name="Utility Blue">
      <a:srgbClr val="2CB0CD"/>
    </a:custClr>
    <a:custClr name="Purple">
      <a:srgbClr val="6400EC"/>
    </a:custClr>
    <a:custClr name="Lavender">
      <a:srgbClr val="C0A6FF"/>
    </a:custClr>
    <a:custClr name="Callout Red">
      <a:srgbClr val="F65275"/>
    </a:custClr>
    <a:custClr name="Crisp Grey">
      <a:srgbClr val="F2F2F4"/>
    </a:custClr>
  </a:custClrLst>
</a:theme>
</file>

<file path=ppt/theme/theme2.xml><?xml version="1.0" encoding="utf-8"?>
<a:theme xmlns:a="http://schemas.openxmlformats.org/drawingml/2006/main" name="4. Midnight Slides">
  <a:themeElements>
    <a:clrScheme name="2026 Official Crossfuze Brand Colors">
      <a:dk1>
        <a:srgbClr val="000000"/>
      </a:dk1>
      <a:lt1>
        <a:srgbClr val="FFFFFF"/>
      </a:lt1>
      <a:dk2>
        <a:srgbClr val="040E3D"/>
      </a:dk2>
      <a:lt2>
        <a:srgbClr val="F2F2F4"/>
      </a:lt2>
      <a:accent1>
        <a:srgbClr val="2CB0CD"/>
      </a:accent1>
      <a:accent2>
        <a:srgbClr val="71F1F7"/>
      </a:accent2>
      <a:accent3>
        <a:srgbClr val="8FFFBD"/>
      </a:accent3>
      <a:accent4>
        <a:srgbClr val="C0A6FF"/>
      </a:accent4>
      <a:accent5>
        <a:srgbClr val="6400EC"/>
      </a:accent5>
      <a:accent6>
        <a:srgbClr val="F65275"/>
      </a:accent6>
      <a:hlink>
        <a:srgbClr val="2CB0CD"/>
      </a:hlink>
      <a:folHlink>
        <a:srgbClr val="58DEB0"/>
      </a:folHlink>
    </a:clrScheme>
    <a:fontScheme name="Official Crossfuze 2026">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rossfuze 2026">
  <a:themeElements>
    <a:clrScheme name="2026 Official Crossfuze Brand Colors">
      <a:dk1>
        <a:srgbClr val="000000"/>
      </a:dk1>
      <a:lt1>
        <a:srgbClr val="FFFFFF"/>
      </a:lt1>
      <a:dk2>
        <a:srgbClr val="040E3D"/>
      </a:dk2>
      <a:lt2>
        <a:srgbClr val="FFFFFF"/>
      </a:lt2>
      <a:accent1>
        <a:srgbClr val="8FFFDB"/>
      </a:accent1>
      <a:accent2>
        <a:srgbClr val="F2F2F4"/>
      </a:accent2>
      <a:accent3>
        <a:srgbClr val="2CB0CD"/>
      </a:accent3>
      <a:accent4>
        <a:srgbClr val="71F1F7"/>
      </a:accent4>
      <a:accent5>
        <a:srgbClr val="6400EC"/>
      </a:accent5>
      <a:accent6>
        <a:srgbClr val="C0A6FF"/>
      </a:accent6>
      <a:hlink>
        <a:srgbClr val="71F1F7"/>
      </a:hlink>
      <a:folHlink>
        <a:srgbClr val="C0A6FF"/>
      </a:folHlink>
    </a:clrScheme>
    <a:fontScheme name="Crossfuze Source Sans 3">
      <a:majorFont>
        <a:latin typeface="Source Sans 3"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Crossfuze 2026">
  <a:themeElements>
    <a:clrScheme name="Custom 3">
      <a:dk1>
        <a:srgbClr val="293E40"/>
      </a:dk1>
      <a:lt1>
        <a:srgbClr val="FFFFFF"/>
      </a:lt1>
      <a:dk2>
        <a:srgbClr val="D1232B"/>
      </a:dk2>
      <a:lt2>
        <a:srgbClr val="F7F7F7"/>
      </a:lt2>
      <a:accent1>
        <a:srgbClr val="81B5A1"/>
      </a:accent1>
      <a:accent2>
        <a:srgbClr val="68A1AF"/>
      </a:accent2>
      <a:accent3>
        <a:srgbClr val="8686BC"/>
      </a:accent3>
      <a:accent4>
        <a:srgbClr val="E5D87C"/>
      </a:accent4>
      <a:accent5>
        <a:srgbClr val="E8A679"/>
      </a:accent5>
      <a:accent6>
        <a:srgbClr val="DB8F8F"/>
      </a:accent6>
      <a:hlink>
        <a:srgbClr val="68A1AF"/>
      </a:hlink>
      <a:folHlink>
        <a:srgbClr val="81B5A1"/>
      </a:folHlink>
    </a:clrScheme>
    <a:fontScheme name="Crossfuze Source Sans 3">
      <a:majorFont>
        <a:latin typeface="Source Sans 3"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10884</Words>
  <Application>Microsoft Macintosh PowerPoint</Application>
  <PresentationFormat>Custom</PresentationFormat>
  <Paragraphs>1208</Paragraphs>
  <Slides>50</Slides>
  <Notes>50</Notes>
  <HiddenSlides>15</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50</vt:i4>
      </vt:variant>
    </vt:vector>
  </HeadingPairs>
  <TitlesOfParts>
    <vt:vector size="64" baseType="lpstr">
      <vt:lpstr>Aptos</vt:lpstr>
      <vt:lpstr>Arial</vt:lpstr>
      <vt:lpstr>Courier New</vt:lpstr>
      <vt:lpstr>ServiceNow Sans</vt:lpstr>
      <vt:lpstr>ServiceNow Sans Display Bold</vt:lpstr>
      <vt:lpstr>ServiceNow Sans Display Medium</vt:lpstr>
      <vt:lpstr>ServiceNow Sans Light</vt:lpstr>
      <vt:lpstr>ServiceNow Sans Medium</vt:lpstr>
      <vt:lpstr>Source Sans 3</vt:lpstr>
      <vt:lpstr>Source Sans Pro</vt:lpstr>
      <vt:lpstr>Source Sans Pro Bold</vt:lpstr>
      <vt:lpstr>Source Sans Pro Semibold</vt:lpstr>
      <vt:lpstr>Crossfuze 2026</vt:lpstr>
      <vt:lpstr>4. Midnight Slides</vt:lpstr>
      <vt:lpstr>PowerPoint Presentation</vt:lpstr>
      <vt:lpstr>PowerPoint Presentation</vt:lpstr>
      <vt:lpstr>AI leadership priorities</vt:lpstr>
      <vt:lpstr>PowerPoint Presentation</vt:lpstr>
      <vt:lpstr>PowerPoint Presentation</vt:lpstr>
      <vt:lpstr>PowerPoint Presentation</vt:lpstr>
      <vt:lpstr>PowerPoint Presentation</vt:lpstr>
      <vt:lpstr>PowerPoint Presentation</vt:lpstr>
      <vt:lpstr>Think beyond pilots. Aim for transformation.</vt:lpstr>
      <vt:lpstr>PowerPoint Presentation</vt:lpstr>
      <vt:lpstr>PowerPoint Presentation</vt:lpstr>
      <vt:lpstr>PowerPoint Presentation</vt:lpstr>
      <vt:lpstr>PowerPoint Presentation</vt:lpstr>
      <vt:lpstr>AI pacesetters turned AI into real business value</vt:lpstr>
      <vt:lpstr>Autonomous IT: Building exponential value</vt:lpstr>
      <vt:lpstr>Autonomous IT: Building exponential value</vt:lpstr>
      <vt:lpstr>Autonomous IT: Building exponential value</vt:lpstr>
      <vt:lpstr>Autonomous IT: Building exponential value</vt:lpstr>
      <vt:lpstr>Autonomous IT: Building exponential value</vt:lpstr>
      <vt:lpstr>Now on Now sets the bar for AI business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will 90 minutes help us answer?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AI readiness scorecard</vt:lpstr>
      <vt:lpstr>Together, we turn readiness into momentum. </vt:lpstr>
      <vt:lpstr>PowerPoint Presentation</vt:lpstr>
      <vt:lpstr>PowerPoint Presentation</vt:lpstr>
      <vt:lpstr>PowerPoint Presentation</vt:lpstr>
      <vt:lpstr>PowerPoint Presentation</vt:lpstr>
      <vt:lpstr>AI in every package. Usage that scales.</vt:lpstr>
      <vt:lpstr>PowerPoint Presentation</vt:lpstr>
    </vt:vector>
  </TitlesOfParts>
  <Company>Crossfuze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Crossfuze | How ready are you to let AI act? | Executive conversation</dc:title>
  <dc:subject>The Road to Zero. Part of Preparing for the Autonomous Enterprise.</dc:subject>
  <dc:creator>Crossfuze</dc:creator>
  <cp:keywords>Crossfuze; AI Readiness; AI RunState; The Road to Zero</cp:keywords>
  <dc:description/>
  <cp:lastModifiedBy>Lee Farnsworth</cp:lastModifiedBy>
  <cp:revision>16</cp:revision>
  <dcterms:created xsi:type="dcterms:W3CDTF">2026-10-14T11:00:00Z</dcterms:created>
  <dcterms:modified xsi:type="dcterms:W3CDTF">2026-10-14T20:21:23Z</dcterms:modified>
</cp:coreProperties>
</file>