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5114" r:id="rId1"/>
  </p:sldMasterIdLst>
  <p:notesMasterIdLst>
    <p:notesMasterId r:id="rId32"/>
  </p:notesMasterIdLst>
  <p:handoutMasterIdLst>
    <p:handoutMasterId r:id="rId33"/>
  </p:handoutMasterIdLst>
  <p:sldIdLst>
    <p:sldId id="2147483601" r:id="rId2"/>
    <p:sldId id="274" r:id="rId3"/>
    <p:sldId id="256" r:id="rId4"/>
    <p:sldId id="257" r:id="rId5"/>
    <p:sldId id="2147483607" r:id="rId6"/>
    <p:sldId id="259" r:id="rId7"/>
    <p:sldId id="2147483609" r:id="rId8"/>
    <p:sldId id="315" r:id="rId9"/>
    <p:sldId id="281" r:id="rId10"/>
    <p:sldId id="383" r:id="rId11"/>
    <p:sldId id="2147483603" r:id="rId12"/>
    <p:sldId id="280" r:id="rId13"/>
    <p:sldId id="283" r:id="rId14"/>
    <p:sldId id="2147483610" r:id="rId15"/>
    <p:sldId id="264" r:id="rId16"/>
    <p:sldId id="286" r:id="rId17"/>
    <p:sldId id="288" r:id="rId18"/>
    <p:sldId id="287" r:id="rId19"/>
    <p:sldId id="266" r:id="rId20"/>
    <p:sldId id="260" r:id="rId21"/>
    <p:sldId id="309" r:id="rId22"/>
    <p:sldId id="2147483600" r:id="rId23"/>
    <p:sldId id="276" r:id="rId24"/>
    <p:sldId id="322" r:id="rId25"/>
    <p:sldId id="2147483608" r:id="rId26"/>
    <p:sldId id="261" r:id="rId27"/>
    <p:sldId id="2147483602" r:id="rId28"/>
    <p:sldId id="2147483604" r:id="rId29"/>
    <p:sldId id="2147483605" r:id="rId30"/>
    <p:sldId id="2147483606" r:id="rId31"/>
  </p:sldIdLst>
  <p:sldSz cx="12188825" cy="6858000"/>
  <p:notesSz cx="7010400" cy="9236075"/>
  <p:defaultTex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16BF6C-ADF4-EC43-B25E-26145F0E7EBF}">
          <p14:sldIdLst>
            <p14:sldId id="2147483601"/>
            <p14:sldId id="274"/>
            <p14:sldId id="256"/>
            <p14:sldId id="257"/>
            <p14:sldId id="2147483607"/>
            <p14:sldId id="259"/>
            <p14:sldId id="2147483609"/>
            <p14:sldId id="315"/>
            <p14:sldId id="281"/>
            <p14:sldId id="383"/>
            <p14:sldId id="2147483603"/>
            <p14:sldId id="280"/>
            <p14:sldId id="283"/>
          </p14:sldIdLst>
        </p14:section>
        <p14:section name="Appendix - Platform" id="{9BB54A59-449B-464D-A4BD-295335E862D5}">
          <p14:sldIdLst>
            <p14:sldId id="2147483610"/>
            <p14:sldId id="264"/>
            <p14:sldId id="286"/>
            <p14:sldId id="288"/>
            <p14:sldId id="287"/>
            <p14:sldId id="266"/>
            <p14:sldId id="260"/>
            <p14:sldId id="309"/>
            <p14:sldId id="2147483600"/>
            <p14:sldId id="276"/>
            <p14:sldId id="322"/>
            <p14:sldId id="2147483608"/>
            <p14:sldId id="261"/>
            <p14:sldId id="2147483602"/>
            <p14:sldId id="2147483604"/>
            <p14:sldId id="2147483605"/>
            <p14:sldId id="2147483606"/>
          </p14:sldIdLst>
        </p14:section>
        <p14:section name="Appendix - Industry" id="{5FF8E679-32DA-414F-86F3-36D52067895D}">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29" userDrawn="1">
          <p15:clr>
            <a:srgbClr val="A4A3A4"/>
          </p15:clr>
        </p15:guide>
        <p15:guide id="2" pos="26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A9C"/>
    <a:srgbClr val="286A9B"/>
    <a:srgbClr val="235C86"/>
    <a:srgbClr val="1F4F73"/>
    <a:srgbClr val="78FF63"/>
    <a:srgbClr val="177A90"/>
    <a:srgbClr val="1A8198"/>
    <a:srgbClr val="25785E"/>
    <a:srgbClr val="1D8CA5"/>
    <a:srgbClr val="0C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5"/>
    <p:restoredTop sz="82956"/>
  </p:normalViewPr>
  <p:slideViewPr>
    <p:cSldViewPr snapToGrid="0">
      <p:cViewPr varScale="1">
        <p:scale>
          <a:sx n="94" d="100"/>
          <a:sy n="94" d="100"/>
        </p:scale>
        <p:origin x="1288" y="19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429"/>
        <p:guide pos="26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25770"/>
            <a:ext cx="3037840" cy="461804"/>
          </a:xfrm>
          <a:prstGeom prst="rect">
            <a:avLst/>
          </a:prstGeom>
        </p:spPr>
        <p:txBody>
          <a:bodyPr vert="horz" lIns="93387" tIns="46695" rIns="93387" bIns="46695" rtlCol="0"/>
          <a:lstStyle>
            <a:lvl1pPr algn="l">
              <a:defRPr sz="1200"/>
            </a:lvl1pPr>
          </a:lstStyle>
          <a:p>
            <a:endParaRPr lang="en-US" b="1">
              <a:latin typeface="Source Sans 3" panose="020B0504040101010104" pitchFamily="34" charset="0"/>
            </a:endParaRPr>
          </a:p>
        </p:txBody>
      </p:sp>
      <p:sp>
        <p:nvSpPr>
          <p:cNvPr id="3" name="Date Placeholder 2"/>
          <p:cNvSpPr>
            <a:spLocks noGrp="1"/>
          </p:cNvSpPr>
          <p:nvPr>
            <p:ph type="dt" sz="quarter" idx="1"/>
          </p:nvPr>
        </p:nvSpPr>
        <p:spPr>
          <a:xfrm>
            <a:off x="3970942" y="125770"/>
            <a:ext cx="3037840" cy="461804"/>
          </a:xfrm>
          <a:prstGeom prst="rect">
            <a:avLst/>
          </a:prstGeom>
        </p:spPr>
        <p:txBody>
          <a:bodyPr vert="horz" lIns="93387" tIns="46695" rIns="93387" bIns="46695" rtlCol="0"/>
          <a:lstStyle>
            <a:lvl1pPr algn="r">
              <a:defRPr sz="1200"/>
            </a:lvl1pPr>
          </a:lstStyle>
          <a:p>
            <a:fld id="{E17B2DBE-960A-614B-B965-BE0EA04CC77A}" type="datetimeFigureOut">
              <a:rPr lang="en-US" b="1" smtClean="0">
                <a:latin typeface="Source Sans 3" panose="020B0504040101010104" pitchFamily="34" charset="0"/>
              </a:rPr>
              <a:pPr/>
              <a:t>10/14/26</a:t>
            </a:fld>
            <a:endParaRPr lang="en-US" b="1">
              <a:latin typeface="Source Sans 3" panose="020B0504040101010104" pitchFamily="34" charset="0"/>
            </a:endParaRPr>
          </a:p>
        </p:txBody>
      </p:sp>
      <p:sp>
        <p:nvSpPr>
          <p:cNvPr id="4" name="Footer Placeholder 3"/>
          <p:cNvSpPr>
            <a:spLocks noGrp="1"/>
          </p:cNvSpPr>
          <p:nvPr>
            <p:ph type="ftr" sz="quarter" idx="2"/>
          </p:nvPr>
        </p:nvSpPr>
        <p:spPr>
          <a:xfrm>
            <a:off x="3" y="8701316"/>
            <a:ext cx="3037840" cy="461804"/>
          </a:xfrm>
          <a:prstGeom prst="rect">
            <a:avLst/>
          </a:prstGeom>
        </p:spPr>
        <p:txBody>
          <a:bodyPr vert="horz" lIns="93387" tIns="46695" rIns="93387" bIns="46695" rtlCol="0" anchor="b"/>
          <a:lstStyle>
            <a:lvl1pPr algn="l">
              <a:defRPr sz="1200"/>
            </a:lvl1pPr>
          </a:lstStyle>
          <a:p>
            <a:endParaRPr lang="en-US" b="1">
              <a:latin typeface="Source Sans 3" panose="020B0504040101010104" pitchFamily="34" charset="0"/>
            </a:endParaRPr>
          </a:p>
        </p:txBody>
      </p:sp>
      <p:sp>
        <p:nvSpPr>
          <p:cNvPr id="5" name="Slide Number Placeholder 4"/>
          <p:cNvSpPr>
            <a:spLocks noGrp="1"/>
          </p:cNvSpPr>
          <p:nvPr>
            <p:ph type="sldNum" sz="quarter" idx="3"/>
          </p:nvPr>
        </p:nvSpPr>
        <p:spPr>
          <a:xfrm>
            <a:off x="3970942" y="8701316"/>
            <a:ext cx="3037840" cy="461804"/>
          </a:xfrm>
          <a:prstGeom prst="rect">
            <a:avLst/>
          </a:prstGeom>
        </p:spPr>
        <p:txBody>
          <a:bodyPr vert="horz" lIns="93387" tIns="46695" rIns="93387" bIns="46695" rtlCol="0" anchor="b"/>
          <a:lstStyle>
            <a:lvl1pPr algn="r">
              <a:defRPr sz="1200"/>
            </a:lvl1pPr>
          </a:lstStyle>
          <a:p>
            <a:fld id="{1339C423-F22A-3B4E-A9CE-1A814546B4AA}" type="slidenum">
              <a:rPr lang="en-US" b="1" smtClean="0">
                <a:latin typeface="Source Sans 3" panose="020B0504040101010104" pitchFamily="34" charset="0"/>
              </a:rPr>
              <a:pPr/>
              <a:t>‹#›</a:t>
            </a:fld>
            <a:endParaRPr lang="en-US" b="1">
              <a:latin typeface="Source Sans 3" panose="020B0504040101010104" pitchFamily="34" charset="0"/>
            </a:endParaRPr>
          </a:p>
        </p:txBody>
      </p:sp>
      <p:pic>
        <p:nvPicPr>
          <p:cNvPr id="35" name="Picture 34">
            <a:extLst>
              <a:ext uri="{FF2B5EF4-FFF2-40B4-BE49-F238E27FC236}">
                <a16:creationId xmlns:a16="http://schemas.microsoft.com/office/drawing/2014/main" id="{4A211A8A-C369-4D94-B82B-7F72C8DB38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99086" y="8816101"/>
            <a:ext cx="1372537" cy="394946"/>
          </a:xfrm>
          <a:prstGeom prst="rect">
            <a:avLst/>
          </a:prstGeom>
        </p:spPr>
      </p:pic>
    </p:spTree>
    <p:extLst>
      <p:ext uri="{BB962C8B-B14F-4D97-AF65-F5344CB8AC3E}">
        <p14:creationId xmlns:p14="http://schemas.microsoft.com/office/powerpoint/2010/main" val="201849686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909"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3037840" cy="461804"/>
          </a:xfrm>
          <a:prstGeom prst="rect">
            <a:avLst/>
          </a:prstGeom>
        </p:spPr>
        <p:txBody>
          <a:bodyPr vert="horz" lIns="93387" tIns="46695" rIns="93387" bIns="46695" rtlCol="0"/>
          <a:lstStyle>
            <a:lvl1pPr algn="l">
              <a:defRPr sz="1200" b="1" i="0">
                <a:solidFill>
                  <a:schemeClr val="bg1"/>
                </a:solidFill>
                <a:latin typeface="Source Sans 3" panose="020B0504040101010104" pitchFamily="34" charset="0"/>
              </a:defRPr>
            </a:lvl1pPr>
          </a:lstStyle>
          <a:p>
            <a:endParaRPr lang="en-US"/>
          </a:p>
        </p:txBody>
      </p:sp>
      <p:sp>
        <p:nvSpPr>
          <p:cNvPr id="3" name="Date Placeholder 2"/>
          <p:cNvSpPr>
            <a:spLocks noGrp="1"/>
          </p:cNvSpPr>
          <p:nvPr>
            <p:ph type="dt" idx="1"/>
          </p:nvPr>
        </p:nvSpPr>
        <p:spPr>
          <a:xfrm>
            <a:off x="3970942" y="0"/>
            <a:ext cx="3037840" cy="461804"/>
          </a:xfrm>
          <a:prstGeom prst="rect">
            <a:avLst/>
          </a:prstGeom>
        </p:spPr>
        <p:txBody>
          <a:bodyPr vert="horz" lIns="93387" tIns="46695" rIns="93387" bIns="46695" rtlCol="0"/>
          <a:lstStyle>
            <a:lvl1pPr algn="r">
              <a:defRPr sz="1200" b="1" i="0">
                <a:solidFill>
                  <a:schemeClr val="bg1"/>
                </a:solidFill>
                <a:latin typeface="Source Sans 3" panose="020B0504040101010104" pitchFamily="34" charset="0"/>
              </a:defRPr>
            </a:lvl1pPr>
          </a:lstStyle>
          <a:p>
            <a:fld id="{546148A2-A49E-4B44-80FB-1D231F249F30}" type="datetimeFigureOut">
              <a:rPr lang="en-US" smtClean="0"/>
              <a:pPr/>
              <a:t>10/14/26</a:t>
            </a:fld>
            <a:endParaRPr lang="en-US"/>
          </a:p>
        </p:txBody>
      </p:sp>
      <p:sp>
        <p:nvSpPr>
          <p:cNvPr id="4" name="Slide Image Placeholder 3"/>
          <p:cNvSpPr>
            <a:spLocks noGrp="1" noRot="1" noChangeAspect="1"/>
          </p:cNvSpPr>
          <p:nvPr>
            <p:ph type="sldImg" idx="2"/>
          </p:nvPr>
        </p:nvSpPr>
        <p:spPr>
          <a:xfrm>
            <a:off x="428625" y="692150"/>
            <a:ext cx="6153150" cy="3462338"/>
          </a:xfrm>
          <a:prstGeom prst="rect">
            <a:avLst/>
          </a:prstGeom>
          <a:noFill/>
          <a:ln w="12700">
            <a:solidFill>
              <a:prstClr val="black"/>
            </a:solidFill>
          </a:ln>
        </p:spPr>
        <p:txBody>
          <a:bodyPr vert="horz" lIns="93387" tIns="46695" rIns="93387" bIns="46695" rtlCol="0" anchor="ctr"/>
          <a:lstStyle/>
          <a:p>
            <a:endParaRPr lang="en-US"/>
          </a:p>
        </p:txBody>
      </p:sp>
      <p:sp>
        <p:nvSpPr>
          <p:cNvPr id="5" name="Notes Placeholder 4"/>
          <p:cNvSpPr>
            <a:spLocks noGrp="1"/>
          </p:cNvSpPr>
          <p:nvPr>
            <p:ph type="body" sz="quarter" idx="3"/>
          </p:nvPr>
        </p:nvSpPr>
        <p:spPr>
          <a:xfrm>
            <a:off x="438151" y="4387136"/>
            <a:ext cx="6134100" cy="4156234"/>
          </a:xfrm>
          <a:prstGeom prst="rect">
            <a:avLst/>
          </a:prstGeom>
        </p:spPr>
        <p:txBody>
          <a:bodyPr vert="horz" lIns="93387" tIns="46695" rIns="93387" bIns="46695" rtlCol="0"/>
          <a:lstStyle/>
          <a:p>
            <a:pPr lvl="0"/>
            <a:r>
              <a:rPr lang="en-US"/>
              <a:t>Click to edit Master text styles</a:t>
            </a:r>
          </a:p>
          <a:p>
            <a:pPr lvl="1"/>
            <a:r>
              <a:rPr lang="en-US"/>
              <a:t>Second level</a:t>
            </a:r>
          </a:p>
        </p:txBody>
      </p:sp>
      <p:sp>
        <p:nvSpPr>
          <p:cNvPr id="6" name="Footer Placeholder 5"/>
          <p:cNvSpPr>
            <a:spLocks noGrp="1"/>
          </p:cNvSpPr>
          <p:nvPr>
            <p:ph type="ftr" sz="quarter" idx="4"/>
          </p:nvPr>
        </p:nvSpPr>
        <p:spPr>
          <a:xfrm>
            <a:off x="3" y="8728227"/>
            <a:ext cx="3037840" cy="461804"/>
          </a:xfrm>
          <a:prstGeom prst="rect">
            <a:avLst/>
          </a:prstGeom>
        </p:spPr>
        <p:txBody>
          <a:bodyPr vert="horz" lIns="93387" tIns="46695" rIns="93387" bIns="46695" rtlCol="0" anchor="b"/>
          <a:lstStyle>
            <a:lvl1pPr algn="l">
              <a:defRPr sz="1200" b="1" i="0">
                <a:solidFill>
                  <a:schemeClr val="bg1"/>
                </a:solidFill>
                <a:latin typeface="Source Sans 3" panose="020B0504040101010104" pitchFamily="34" charset="0"/>
              </a:defRPr>
            </a:lvl1pPr>
          </a:lstStyle>
          <a:p>
            <a:endParaRPr lang="en-US"/>
          </a:p>
        </p:txBody>
      </p:sp>
      <p:sp>
        <p:nvSpPr>
          <p:cNvPr id="7" name="Slide Number Placeholder 6"/>
          <p:cNvSpPr>
            <a:spLocks noGrp="1"/>
          </p:cNvSpPr>
          <p:nvPr>
            <p:ph type="sldNum" sz="quarter" idx="5"/>
          </p:nvPr>
        </p:nvSpPr>
        <p:spPr>
          <a:xfrm>
            <a:off x="3970942" y="8728227"/>
            <a:ext cx="3037840" cy="461804"/>
          </a:xfrm>
          <a:prstGeom prst="rect">
            <a:avLst/>
          </a:prstGeom>
        </p:spPr>
        <p:txBody>
          <a:bodyPr vert="horz" lIns="93387" tIns="46695" rIns="93387" bIns="46695" rtlCol="0" anchor="b"/>
          <a:lstStyle>
            <a:lvl1pPr algn="r">
              <a:defRPr sz="1200" b="1" i="0">
                <a:solidFill>
                  <a:schemeClr val="bg1"/>
                </a:solidFill>
                <a:latin typeface="Source Sans 3" panose="020B0504040101010104" pitchFamily="34" charset="0"/>
              </a:defRPr>
            </a:lvl1pPr>
          </a:lstStyle>
          <a:p>
            <a:fld id="{074299CD-3469-7241-AD37-C0E01E3A61D2}" type="slidenum">
              <a:rPr lang="en-US" smtClean="0"/>
              <a:pPr/>
              <a:t>‹#›</a:t>
            </a:fld>
            <a:endParaRPr lang="en-US"/>
          </a:p>
        </p:txBody>
      </p:sp>
      <p:pic>
        <p:nvPicPr>
          <p:cNvPr id="35" name="Picture 34">
            <a:extLst>
              <a:ext uri="{FF2B5EF4-FFF2-40B4-BE49-F238E27FC236}">
                <a16:creationId xmlns:a16="http://schemas.microsoft.com/office/drawing/2014/main" id="{AF8886D2-769E-403B-933D-6CB77F4C4F92}"/>
              </a:ext>
            </a:extLst>
          </p:cNvPr>
          <p:cNvPicPr>
            <a:picLocks noChangeAspect="1"/>
          </p:cNvPicPr>
          <p:nvPr/>
        </p:nvPicPr>
        <p:blipFill>
          <a:blip r:embed="rId2"/>
          <a:stretch>
            <a:fillRect/>
          </a:stretch>
        </p:blipFill>
        <p:spPr>
          <a:xfrm>
            <a:off x="2799086" y="8816101"/>
            <a:ext cx="1372537" cy="394946"/>
          </a:xfrm>
          <a:prstGeom prst="rect">
            <a:avLst/>
          </a:prstGeom>
        </p:spPr>
      </p:pic>
    </p:spTree>
    <p:extLst>
      <p:ext uri="{BB962C8B-B14F-4D97-AF65-F5344CB8AC3E}">
        <p14:creationId xmlns:p14="http://schemas.microsoft.com/office/powerpoint/2010/main" val="22557597"/>
      </p:ext>
    </p:extLst>
  </p:cSld>
  <p:clrMap bg1="lt1" tx1="dk1" bg2="lt2" tx2="dk2" accent1="accent1" accent2="accent2" accent3="accent3" accent4="accent4" accent5="accent5" accent6="accent6" hlink="hlink" folHlink="folHlink"/>
  <p:hf hdr="0" ftr="0" dt="0"/>
  <p:notesStyle>
    <a:lvl1pPr marL="171450" indent="-171450" algn="l" defTabSz="457040" rtl="0" eaLnBrk="1" latinLnBrk="0" hangingPunct="1">
      <a:lnSpc>
        <a:spcPct val="95000"/>
      </a:lnSpc>
      <a:spcAft>
        <a:spcPts val="600"/>
      </a:spcAft>
      <a:buFont typeface="Source Sans 3" panose="020B0504040101010104" pitchFamily="34" charset="0"/>
      <a:buChar char="•"/>
      <a:defRPr sz="1200" b="0" i="0" kern="1200">
        <a:solidFill>
          <a:schemeClr val="bg1"/>
        </a:solidFill>
        <a:latin typeface="Source Sans 3" panose="020B0504040101010104" pitchFamily="34" charset="0"/>
        <a:ea typeface="+mn-ea"/>
        <a:cs typeface="Source Sans 3" panose="020B0504040101010104" pitchFamily="34" charset="0"/>
      </a:defRPr>
    </a:lvl1pPr>
    <a:lvl2pPr marL="398384" indent="-171450" algn="l" defTabSz="457040" rtl="0" eaLnBrk="1" latinLnBrk="0" hangingPunct="1">
      <a:lnSpc>
        <a:spcPct val="95000"/>
      </a:lnSpc>
      <a:spcAft>
        <a:spcPts val="600"/>
      </a:spcAft>
      <a:buFont typeface="Source Sans 3" panose="020B0504040101010104" pitchFamily="34" charset="0"/>
      <a:buChar char="•"/>
      <a:defRPr sz="1100" b="0" i="0" kern="1200">
        <a:solidFill>
          <a:schemeClr val="bg1"/>
        </a:solidFill>
        <a:latin typeface="Source Sans 3" panose="020B0504040101010104" pitchFamily="34" charset="0"/>
        <a:ea typeface="+mn-ea"/>
        <a:cs typeface="Source Sans 3" panose="020B0504040101010104" pitchFamily="34" charset="0"/>
      </a:defRPr>
    </a:lvl2pPr>
    <a:lvl3pPr marL="914080" algn="l" defTabSz="457040" rtl="0" eaLnBrk="1" latinLnBrk="0" hangingPunct="1">
      <a:defRPr sz="1200" kern="1200">
        <a:solidFill>
          <a:schemeClr val="tx1"/>
        </a:solidFill>
        <a:latin typeface="+mn-lt"/>
        <a:ea typeface="+mn-ea"/>
        <a:cs typeface="+mn-cs"/>
      </a:defRPr>
    </a:lvl3pPr>
    <a:lvl4pPr marL="1371120" algn="l" defTabSz="457040" rtl="0" eaLnBrk="1" latinLnBrk="0" hangingPunct="1">
      <a:defRPr sz="1200" kern="1200">
        <a:solidFill>
          <a:schemeClr val="tx1"/>
        </a:solidFill>
        <a:latin typeface="+mn-lt"/>
        <a:ea typeface="+mn-ea"/>
        <a:cs typeface="+mn-cs"/>
      </a:defRPr>
    </a:lvl4pPr>
    <a:lvl5pPr marL="1828160" algn="l" defTabSz="457040" rtl="0" eaLnBrk="1" latinLnBrk="0" hangingPunct="1">
      <a:defRPr sz="1200" kern="1200">
        <a:solidFill>
          <a:schemeClr val="tx1"/>
        </a:solidFill>
        <a:latin typeface="+mn-lt"/>
        <a:ea typeface="+mn-ea"/>
        <a:cs typeface="+mn-cs"/>
      </a:defRPr>
    </a:lvl5pPr>
    <a:lvl6pPr marL="2285200" algn="l" defTabSz="457040" rtl="0" eaLnBrk="1" latinLnBrk="0" hangingPunct="1">
      <a:defRPr sz="1200" kern="1200">
        <a:solidFill>
          <a:schemeClr val="tx1"/>
        </a:solidFill>
        <a:latin typeface="+mn-lt"/>
        <a:ea typeface="+mn-ea"/>
        <a:cs typeface="+mn-cs"/>
      </a:defRPr>
    </a:lvl6pPr>
    <a:lvl7pPr marL="2742240" algn="l" defTabSz="457040" rtl="0" eaLnBrk="1" latinLnBrk="0" hangingPunct="1">
      <a:defRPr sz="1200" kern="1200">
        <a:solidFill>
          <a:schemeClr val="tx1"/>
        </a:solidFill>
        <a:latin typeface="+mn-lt"/>
        <a:ea typeface="+mn-ea"/>
        <a:cs typeface="+mn-cs"/>
      </a:defRPr>
    </a:lvl7pPr>
    <a:lvl8pPr marL="3199280" algn="l" defTabSz="457040" rtl="0" eaLnBrk="1" latinLnBrk="0" hangingPunct="1">
      <a:defRPr sz="1200" kern="1200">
        <a:solidFill>
          <a:schemeClr val="tx1"/>
        </a:solidFill>
        <a:latin typeface="+mn-lt"/>
        <a:ea typeface="+mn-ea"/>
        <a:cs typeface="+mn-cs"/>
      </a:defRPr>
    </a:lvl8pPr>
    <a:lvl9pPr marL="3656320" algn="l" defTabSz="45704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09"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FACILITATOR PAGE — DO NOT PRESENT. This slide is intentionally hidden.</a:t>
            </a:r>
          </a:p>
          <a:p>
            <a:endParaRPr/>
          </a:p>
          <a:p>
            <a:r>
              <a:t>Sales process: (1) Meeting 1 is the original 30-slide executive AI Readiness narrative. Aim to secure consent for the 90-minute assessment, not to close RunState in the first conversation. (2) The assessment is evidence-led; the free self-serve tools can be used before it. Record evidence, limitations, owners, risks, possible first outcome, and indicative Assist consumption in the AI Readiness Decision Brief. (3) Meeting 2 is this separate technical/commercial follow-up. Confirm the use case, technical dependencies, Permission to Automate, measures, workload and first 90 days. Invite CIO/platform owner, process owner and governance/commercial decision makers as appropriate. (4) AI RunState is a paid 12-month advisory, backlog and Extend delivery engagement: 2 advisory reviews, up to 4 backlog cycles, and Extend 80 hours per month for 9 months.</a:t>
            </a:r>
          </a:p>
          <a:p>
            <a:endParaRPr/>
          </a:p>
          <a:p>
            <a:r>
              <a:t>Commercial stage gates are suggested sales guidance, not agreed customer commitments. Keep results provisional until verified. Do not share the hidden presenter page with customers. Start the customer-facing slides at slide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6A855-4BF7-0120-6928-48C002F4B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1E0241-866D-3EBC-83F1-5AEF78F9D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425C8-E9E0-7CDD-028E-0E7B934B682E}"/>
              </a:ext>
            </a:extLst>
          </p:cNvPr>
          <p:cNvSpPr>
            <a:spLocks noGrp="1"/>
          </p:cNvSpPr>
          <p:nvPr>
            <p:ph type="body" idx="1"/>
          </p:nvPr>
        </p:nvSpPr>
        <p:spPr/>
        <p:txBody>
          <a:bodyPr/>
          <a:lstStyle/>
          <a:p>
            <a:r>
              <a:t>OPENING | Meeting 2 begins where the 90-minute assessment left off. Ask what changed since that session. The buyer should leave with one first-Zero hypothesis, agreed evidence gaps, control conditions, measurable success criteria and a clear path to a priced and approved scope. This is a working session, not another demonstration.</a:t>
            </a:r>
          </a:p>
          <a:p>
            <a:endParaRPr/>
          </a:p>
          <a:p>
            <a:r>
              <a:t>--- EXISTING FACILITATOR NOTES ---</a:t>
            </a:r>
          </a:p>
          <a:p>
            <a:r>
              <a:t>MEETING 2 | FROM READINESS TO RESULTS</a:t>
            </a:r>
          </a:p>
          <a:p>
            <a:endParaRPr/>
          </a:p>
          <a:p>
            <a:r>
              <a:t>Unlike the first presentation, this is a follow-up working session, not a broad AI market vision. Its purpose is to agree one measurable, appropriately controlled first use case; identify evidence and dependencies; size consumption; and determine if an AI RunState engagement is commercially appropriate.</a:t>
            </a:r>
          </a:p>
          <a:p>
            <a:endParaRPr/>
          </a:p>
          <a:p>
            <a:r>
              <a:t>Ask: what changed since the first discussion? Has the 90-minute assessment been completed? Do we have a Decision Brief? If not, keep customer-specific content provisional. All examples are illustrative until customer evidence is supplied.</a:t>
            </a:r>
          </a:p>
          <a:p>
            <a:endParaRPr/>
          </a:p>
          <a:p>
            <a:r>
              <a:t>The original first-meeting 30-slide deck has not been edited in this workflow.</a:t>
            </a:r>
          </a:p>
        </p:txBody>
      </p:sp>
      <p:sp>
        <p:nvSpPr>
          <p:cNvPr id="4" name="Slide Number Placeholder 3">
            <a:extLst>
              <a:ext uri="{FF2B5EF4-FFF2-40B4-BE49-F238E27FC236}">
                <a16:creationId xmlns:a16="http://schemas.microsoft.com/office/drawing/2014/main" id="{82FD10FA-76C8-9346-3EE6-30F571980EBE}"/>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u="none" strike="noStrike" kern="1200" cap="none" spc="0" normalizeH="0" baseline="0" noProof="0" smtClean="0">
                <a:ln>
                  <a:noFill/>
                </a:ln>
                <a:solidFill>
                  <a:srgbClr val="293E40"/>
                </a:solidFill>
                <a:effectLst/>
                <a:uLnTx/>
                <a:uFillTx/>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a:t>
            </a:fld>
            <a:endParaRPr kumimoji="0" lang="en-US" sz="1200" u="none" strike="noStrike" kern="1200" cap="none" spc="0" normalizeH="0" baseline="0" noProof="0">
              <a:ln>
                <a:noFill/>
              </a:ln>
              <a:solidFill>
                <a:srgbClr val="293E40"/>
              </a:solidFill>
              <a:effectLst/>
              <a:uLnTx/>
              <a:uFillTx/>
              <a:ea typeface="+mn-ea"/>
              <a:cs typeface="+mn-cs"/>
            </a:endParaRPr>
          </a:p>
        </p:txBody>
      </p:sp>
    </p:spTree>
    <p:extLst>
      <p:ext uri="{BB962C8B-B14F-4D97-AF65-F5344CB8AC3E}">
        <p14:creationId xmlns:p14="http://schemas.microsoft.com/office/powerpoint/2010/main" val="2835761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BUYER-SITUATION ASSESSMENT RECAP | Replace all bracketed text from the actual AI Readiness Decision Brief. Report what is evidenced, what remains provisional and what is unavailable. Ask which finding most changes the customer's ability to act. Do not show the placeholders as customer facts.</a:t>
            </a:r>
          </a:p>
          <a:p>
            <a:endParaRPr/>
          </a:p>
          <a:p>
            <a:r>
              <a:t>--- EXISTING FACILITATOR NOTES ---</a:t>
            </a:r>
          </a:p>
          <a:p>
            <a:r>
              <a:t>Stage 02 recap: populate each bracketed finding from the actual 90-minute AI Readiness Decision Brief. Quote whether the evidence is full/provisional/unavailable. Do not invent a score, tier fit, value forecast or customer agreement. Use the summary to introduce the proposed first Zero.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DECISION | 'Which Zero creates a meaningful result for your business and can be delivered responsibly with the evidence available?' Present a proposed Zero and workflow, rationale, business baseline, controls, accountable owner and proof measure. Ask for the buyer's agreement or record the gaps. Do not automatically assume Zero-Touch Support.</a:t>
            </a:r>
          </a:p>
          <a:p>
            <a:endParaRPr/>
          </a:p>
          <a:p>
            <a:r>
              <a:t>--- EXISTING FACILITATOR NOTES ---</a:t>
            </a:r>
          </a:p>
          <a:p>
            <a:r>
              <a:t>Present the recommended first Zero from the assessment, not as an assumed result. Replace selected Zero and workflow placeholders. Justify with three decision criteria: business value, actual readiness evidence, and first measurable proof. Obtain customer agreement or record the amendments required. Other Zeros remain destinations. Transition to existing evidence-validation slide: "Now let us test the dependencies for that workflow."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US DRAFT COMMERCIAL REFERENCE - DO NOT PRESENT</a:t>
            </a:r>
          </a:p>
          <a:p>
            <a:endParaRPr/>
          </a:p>
          <a:p>
            <a:r>
              <a:t>Source draft SOW pages 7-8: $15,500 per month, 12 months, total $186,000 USD, excl applicable taxes. Paid monthly from service commencement. Valid for 30 days after delivery of formal SOW. Licences/AI Assist balances are customer-provided, expenses and change orders separate. Noncancellable for convenience. Renewal/change only by signed change order. This is a regional draft not universal commercial packaging. Verify before quoting. This slide is hidden in PowerPoint Show.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8E41-B75D-ACAE-EE3F-E4423D5D5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3CB3F-11C2-046B-62B3-414F11BB0E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27F04D-D3E1-5A36-252C-6B00536D99E5}"/>
              </a:ext>
            </a:extLst>
          </p:cNvPr>
          <p:cNvSpPr>
            <a:spLocks noGrp="1"/>
          </p:cNvSpPr>
          <p:nvPr>
            <p:ph type="body" idx="1"/>
          </p:nvPr>
        </p:nvSpPr>
        <p:spPr/>
        <p:txBody>
          <a:bodyPr/>
          <a:lstStyle/>
          <a:p>
            <a:r>
              <a:t>WORKED EXAMPLE | This diagram is an illustrative Zero-Touch Support access request unless the customer's selected Zero is in fact Zero-Touch Support. If another Zero is selected, tell the customer the example is just a demonstration and adapt the workflow before using the deck as customer-specific.</a:t>
            </a:r>
          </a:p>
          <a:p>
            <a:endParaRPr/>
          </a:p>
          <a:p>
            <a:r>
              <a:t>--- EXISTING FACILITATOR NOTES ---</a:t>
            </a:r>
          </a:p>
          <a:p>
            <a:r>
              <a:t>WORKED USE CASE | A ZERO-TOUCH ACCESS REQUEST</a:t>
            </a:r>
          </a:p>
          <a:p>
            <a:endParaRPr/>
          </a:p>
          <a:p>
            <a:r>
              <a:t>Illustrative example, NOT a completed customer implementation: an employee requests access. SENSE: verify identity, role, relevant services, data and request context. DECIDE: test policy and entitlement, knowledge grounding, allowed action, confidence, and whether approval is mandatory. ACT: invoke an approved access or fulfilment workflow only inside the documented boundary. SECURE: log the outcome, escalate exceptions, test a stop and rollback. MEASURE: completions, handling time, escalations, unwanted actions, adoption, cost and Assist consumption.</a:t>
            </a:r>
          </a:p>
          <a:p>
            <a:endParaRPr/>
          </a:p>
          <a:p>
            <a:r>
              <a:t>Readiness decision: if data or policy confidence is insufficient, agent recommends or escalates instead of executing.</a:t>
            </a:r>
          </a:p>
          <a:p>
            <a:endParaRPr/>
          </a:p>
          <a:p>
            <a:r>
              <a:t>This example is illustrative and uses Crossfuze workflow-readiness language.</a:t>
            </a:r>
          </a:p>
        </p:txBody>
      </p:sp>
      <p:sp>
        <p:nvSpPr>
          <p:cNvPr id="4" name="Slide Number Placeholder 3">
            <a:extLst>
              <a:ext uri="{FF2B5EF4-FFF2-40B4-BE49-F238E27FC236}">
                <a16:creationId xmlns:a16="http://schemas.microsoft.com/office/drawing/2014/main" id="{5BD39B1D-8E8F-3213-09C5-59D9D08312EC}"/>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3336688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2FABC-0852-20BA-15F6-AF3808424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7B3EE-A654-E235-D556-54E59DB290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582009-2432-38F1-D95E-E72B18370DF5}"/>
              </a:ext>
            </a:extLst>
          </p:cNvPr>
          <p:cNvSpPr>
            <a:spLocks noGrp="1"/>
          </p:cNvSpPr>
          <p:nvPr>
            <p:ph type="body" idx="1"/>
          </p:nvPr>
        </p:nvSpPr>
        <p:spPr/>
        <p:txBody>
          <a:bodyPr/>
          <a:lstStyle/>
          <a:p>
            <a:r>
              <a:t>VALUE AND CONSUMPTION | Ask whether the selected workflow's operational benefit justifies its estimated Assists, tier entitlement and potential overage. The worked 1.5M Assist annual mix is illustrative only, not the customer's allocation. Validate actual contract, product availability, Assist rates and P90 demand before proposing a tier.</a:t>
            </a:r>
          </a:p>
          <a:p>
            <a:endParaRPr/>
          </a:p>
          <a:p>
            <a:r>
              <a:t>--- EXISTING FACILITATOR NOTES ---</a:t>
            </a:r>
          </a:p>
          <a:p>
            <a:r>
              <a:t>AI VALUE AND ASSIST CONSUMPTION</a:t>
            </a:r>
          </a:p>
          <a:p>
            <a:endParaRPr/>
          </a:p>
          <a:p>
            <a:r>
              <a:t>Illustrative model directly from the Crossfuze source guide: narrow run = 25 Assists for 0–4 tools; medium run = 50 Assists for 5–8 tools; wide run = 150 Assists for 9–20 tools. Example volume: 30,000 narrow and 5,000 wide runs annually =&gt; 1,500,000 Assists. Wide runs use six times more consumption per run than narrow.</a:t>
            </a:r>
          </a:p>
          <a:p>
            <a:endParaRPr/>
          </a:p>
          <a:p>
            <a:r>
              <a:t>This is NOT a customer forecast or quoted pricing. Verify workflows, process volumes, tool count, repeat runs, package entitlements, pooled allocations and renewal specifics with ServiceNow. Data Fabric credits and other meters may be separate.</a:t>
            </a:r>
          </a:p>
          <a:p>
            <a:endParaRPr/>
          </a:p>
          <a:p>
            <a:r>
              <a:t>Evaluate value alongside usage: time saved, cost to serve, successful transactions, escalation rate, customer satisfaction, risk of errors and expected implementation effort.</a:t>
            </a:r>
          </a:p>
          <a:p>
            <a:endParaRPr/>
          </a:p>
          <a:p>
            <a:r>
              <a:t>Source: Crossfuze AI Readiness Assessment pp.13–15.</a:t>
            </a:r>
          </a:p>
        </p:txBody>
      </p:sp>
      <p:sp>
        <p:nvSpPr>
          <p:cNvPr id="4" name="Slide Number Placeholder 3">
            <a:extLst>
              <a:ext uri="{FF2B5EF4-FFF2-40B4-BE49-F238E27FC236}">
                <a16:creationId xmlns:a16="http://schemas.microsoft.com/office/drawing/2014/main" id="{99B910E8-889B-6FD7-6220-F8E44DF27D24}"/>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1275383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60BF-EFE1-BDB7-91DC-17B675866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F6274-AE28-2DB8-6C23-6D47ABC96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B603C-7B37-368C-30BF-96CC6B8F50D8}"/>
              </a:ext>
            </a:extLst>
          </p:cNvPr>
          <p:cNvSpPr>
            <a:spLocks noGrp="1"/>
          </p:cNvSpPr>
          <p:nvPr>
            <p:ph type="body" idx="1"/>
          </p:nvPr>
        </p:nvSpPr>
        <p:spPr/>
        <p:txBody>
          <a:bodyPr/>
          <a:lstStyle/>
          <a:p>
            <a:r>
              <a:t>AGREE PROOF | Ask the process owner which 2–4 measures will demonstrate that the first workflow is worth shipping: successful completion, time or cost returned, error/control signals and Assist consumption. Require baselines, owners and a review window; do not promise results without measurement.</a:t>
            </a:r>
          </a:p>
          <a:p>
            <a:endParaRPr/>
          </a:p>
          <a:p>
            <a:r>
              <a:t>--- EXISTING FACILITATOR NOTES ---</a:t>
            </a:r>
          </a:p>
          <a:p>
            <a:r>
              <a:t>PROVE PRODUCTION VALUE</a:t>
            </a:r>
          </a:p>
          <a:p>
            <a:endParaRPr/>
          </a:p>
          <a:p>
            <a:r>
              <a:t>Never substitute ServiceNow Now on Now proof for Crossfuze-delivered results. This is a measurement design, not a claim.</a:t>
            </a:r>
          </a:p>
          <a:p>
            <a:endParaRPr/>
          </a:p>
          <a:p>
            <a:r>
              <a:t>Agree the baseline and target for each selected metric: successful end-to-end completion, time to completion, handover/escalation frequency, wrong or unwanted actions, actual tested stop/rollback capability, adoption and task mix, cost per completion, Assist usage per valid completion and hours or operating costs returned.</a:t>
            </a:r>
          </a:p>
          <a:p>
            <a:endParaRPr/>
          </a:p>
          <a:p>
            <a:r>
              <a:t>Track leading and lagging metrics through the 90-day delivery cycle. Use customer source systems wherever possible. The 90-minute assessment may generate a provisional estimate; real outcome claims require actual operational measurement and an agreed measurement period.</a:t>
            </a:r>
          </a:p>
          <a:p>
            <a:endParaRPr/>
          </a:p>
          <a:p>
            <a:r>
              <a:t>Source: Crossfuze source guide pp.16–19.</a:t>
            </a:r>
          </a:p>
        </p:txBody>
      </p:sp>
      <p:sp>
        <p:nvSpPr>
          <p:cNvPr id="4" name="Slide Number Placeholder 3">
            <a:extLst>
              <a:ext uri="{FF2B5EF4-FFF2-40B4-BE49-F238E27FC236}">
                <a16:creationId xmlns:a16="http://schemas.microsoft.com/office/drawing/2014/main" id="{5296BB41-7932-FF29-38E7-602337148924}"/>
              </a:ext>
            </a:extLst>
          </p:cNvPr>
          <p:cNvSpPr>
            <a:spLocks noGrp="1"/>
          </p:cNvSpPr>
          <p:nvPr>
            <p:ph type="sldNum" sz="quarter" idx="5"/>
          </p:nvPr>
        </p:nvSpPr>
        <p:spPr/>
        <p:txBody>
          <a:bodyPr/>
          <a:lstStyle/>
          <a:p>
            <a:fld id="{074299CD-3469-7241-AD37-C0E01E3A61D2}" type="slidenum">
              <a:rPr lang="en-US" smtClean="0"/>
              <a:pPr/>
              <a:t>8</a:t>
            </a:fld>
            <a:endParaRPr lang="en-US"/>
          </a:p>
        </p:txBody>
      </p:sp>
    </p:spTree>
    <p:extLst>
      <p:ext uri="{BB962C8B-B14F-4D97-AF65-F5344CB8AC3E}">
        <p14:creationId xmlns:p14="http://schemas.microsoft.com/office/powerpoint/2010/main" val="2009017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9DC2-2B8D-EB50-8E71-4FD8B544D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C964A-EDDA-51F1-6E85-CB3FB48BA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E32E7-13F6-2D09-B536-50C55294D988}"/>
              </a:ext>
            </a:extLst>
          </p:cNvPr>
          <p:cNvSpPr>
            <a:spLocks noGrp="1"/>
          </p:cNvSpPr>
          <p:nvPr>
            <p:ph type="body" idx="1"/>
          </p:nvPr>
        </p:nvSpPr>
        <p:spPr/>
        <p:txBody>
          <a:bodyPr/>
          <a:lstStyle/>
          <a:p>
            <a:r>
              <a:t>RUNSTATE IN BUYER TERMS | Only now introduce the paid service. The buyer has chosen the first outcome and knows the risks. AI RunState supplies a controlled delivery rhythm: Action Plan, up to four backlog cycles and 80 hours/month of Extend for nine months subject to the scoped SOW. This is capacity and governance, not guaranteed production outputs.</a:t>
            </a:r>
          </a:p>
          <a:p>
            <a:endParaRPr/>
          </a:p>
          <a:p>
            <a:r>
              <a:t>--- EXISTING FACILITATOR NOTES ---</a:t>
            </a:r>
          </a:p>
          <a:p>
            <a:r>
              <a:t>AI RUNSTATE | THREE CONNECTED COMPONENTS</a:t>
            </a:r>
          </a:p>
          <a:p>
            <a:endParaRPr/>
          </a:p>
          <a:p>
            <a:r>
              <a:t>SOW service overview defines AI Action Plan (initial approximately 8 weeks; second review month 7-8), up to four Backlog Prioritization cycles (each about six weeks, starting in month 3), and 80 hours/month of Extend in months 4-12. Action Plan produces a baseline, readiness risks, use case priorities, experience maps, draft user stories and 90-day roadmap. Action Plan stories are explicitly NOT sprint ready. Backlog Prioritization refines, estimates and prepares approved delivery-ready stories and hands the three-month plan to the Extend Technical Lead. Extend builds/configures and tests approved work. The Customer Product Owner approves the work and completes UAT prior to production promotion.</a:t>
            </a:r>
          </a:p>
          <a:p>
            <a:endParaRPr/>
          </a:p>
          <a:p>
            <a:r>
              <a:t>Do not imply guaranteed output volumes or that all proposed stories are accepted. Scope and duration of the second review must be confirmed in writing. First advisory workshops number is still X in draft SOW and should be resolved before issue.</a:t>
            </a:r>
          </a:p>
        </p:txBody>
      </p:sp>
      <p:sp>
        <p:nvSpPr>
          <p:cNvPr id="4" name="Slide Number Placeholder 3">
            <a:extLst>
              <a:ext uri="{FF2B5EF4-FFF2-40B4-BE49-F238E27FC236}">
                <a16:creationId xmlns:a16="http://schemas.microsoft.com/office/drawing/2014/main" id="{76FC6C7D-D993-18A5-6252-C19A898595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56998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42454-87FC-687B-61A2-1371E3A31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F1BB7-AAF8-A88D-B6F7-25455C1FB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2A612-6E96-A839-36D4-141E243DE152}"/>
              </a:ext>
            </a:extLst>
          </p:cNvPr>
          <p:cNvSpPr>
            <a:spLocks noGrp="1"/>
          </p:cNvSpPr>
          <p:nvPr>
            <p:ph type="body" idx="1"/>
          </p:nvPr>
        </p:nvSpPr>
        <p:spPr/>
        <p:txBody>
          <a:bodyPr/>
          <a:lstStyle/>
          <a:p>
            <a:r>
              <a:t>DELIVERY RHYTHM | Translate the year to buyer milestones: months 1–2 advisory/Action Plan; month 3 onboarding; approved Extend work from month 4 through 12 subject to prerequisites. Second advisory review and backlog cycles are included per draft scope. Check final executed regional terms.</a:t>
            </a:r>
          </a:p>
          <a:p>
            <a:endParaRPr/>
          </a:p>
          <a:p>
            <a:r>
              <a:t>--- EXISTING FACILITATOR NOTES ---</a:t>
            </a:r>
          </a:p>
          <a:p>
            <a:r>
              <a:t>AI RUNSTATE | SOW-ALIGNED DELIVERY TIMELINE</a:t>
            </a:r>
          </a:p>
          <a:p>
            <a:endParaRPr/>
          </a:p>
          <a:p>
            <a:r>
              <a:t>Source: 2026_10 AI Run State_US_DRAFTv1.0 4a.docx, Timeline pages 6-7.</a:t>
            </a:r>
          </a:p>
          <a:p>
            <a:r>
              <a:t>Months 1-2 AI Action Plan (initial advisory approximately 8 weeks). Month 3 onboarding and Backlog Cycle 1 (cycle spans months 3-4). Months 4-12 Extend delivery at 80 hours per month for nine months; unused monthly hours expire and never roll over. Further cycles months 6-7, 9-10 and 12. Second advisory review months 7-8.</a:t>
            </a:r>
          </a:p>
          <a:p>
            <a:endParaRPr/>
          </a:p>
          <a:p>
            <a:r>
              <a:t>This supersedes the earlier illustrative 90-day progression that implied delivery/production within 90 days of service commencement. Product owner approval and Crossfuze TL acceptance required. Fourth backlog cycle can prepare a subsequent quarter or potential renewal, but renewal is not automatic. Calendar depends on prerequisites. No specific customer use case is guaranteed to be shipped.</a:t>
            </a:r>
          </a:p>
        </p:txBody>
      </p:sp>
      <p:sp>
        <p:nvSpPr>
          <p:cNvPr id="4" name="Slide Number Placeholder 3">
            <a:extLst>
              <a:ext uri="{FF2B5EF4-FFF2-40B4-BE49-F238E27FC236}">
                <a16:creationId xmlns:a16="http://schemas.microsoft.com/office/drawing/2014/main" id="{8A7BC2C7-2918-11E9-8BB9-C2B5B32D4F9D}"/>
              </a:ext>
            </a:extLst>
          </p:cNvPr>
          <p:cNvSpPr>
            <a:spLocks noGrp="1"/>
          </p:cNvSpPr>
          <p:nvPr>
            <p:ph type="sldNum" sz="quarter" idx="5"/>
          </p:nvPr>
        </p:nvSpPr>
        <p:spPr/>
        <p:txBody>
          <a:bodyPr/>
          <a:lstStyle/>
          <a:p>
            <a:fld id="{7DBFE203-3816-D140-BE21-2503F399308C}" type="slidenum">
              <a:rPr lang="en-US" smtClean="0"/>
              <a:t>10</a:t>
            </a:fld>
            <a:endParaRPr lang="en-US"/>
          </a:p>
        </p:txBody>
      </p:sp>
    </p:spTree>
    <p:extLst>
      <p:ext uri="{BB962C8B-B14F-4D97-AF65-F5344CB8AC3E}">
        <p14:creationId xmlns:p14="http://schemas.microsoft.com/office/powerpoint/2010/main" val="2351900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CAPACITY AND SCOPE | Establish realistic boundaries in buyer language. Extend is 80 hours/month for nine months, unused hours expire rather than accumulating. The customer must prioritise sprint-ready stories and fulfil the acceptance/UAT obligations. No unlimited implementation promise.</a:t>
            </a:r>
          </a:p>
          <a:p>
            <a:endParaRPr/>
          </a:p>
          <a:p>
            <a:r>
              <a:t>--- EXISTING FACILITATOR NOTES ---</a:t>
            </a:r>
          </a:p>
          <a:p>
            <a:r>
              <a:t>MONTHLY CAPACITY AND EXCLUSIONS</a:t>
            </a:r>
          </a:p>
          <a:p>
            <a:endParaRPr/>
          </a:p>
          <a:p>
            <a:r>
              <a:t>Draft SOW page 4: Extend is 80 hours per month for nine months; monthly maximum, not a pool. Unused hours expire monthly, no rollover. Scope includes approved ServiceNow development stories such as enhancements, administration, defect remediation and support, with configuration/testing. Draft SOW page 6 expressly excludes new-module implementation, professional services projects and any single item scoped over 40 hours; oversized or out of scope work requires separate contract. An enhancement outside agreed User Story acceptance criteria also requires separate scoping/pricing/approval. Customer must maintain sufficient approved delivery-ready work. Crossfuze TL keeps monthly effort within allocation. No commitment to particular number of releases or production outcomes.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71600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11FF3-0016-8CC1-A31B-D8C15F319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612B3-2D50-72E1-8040-7CA0C13EE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35C81-2953-6A6C-28A1-E16B2E9D5E11}"/>
              </a:ext>
            </a:extLst>
          </p:cNvPr>
          <p:cNvSpPr>
            <a:spLocks noGrp="1"/>
          </p:cNvSpPr>
          <p:nvPr>
            <p:ph type="body" idx="1"/>
          </p:nvPr>
        </p:nvSpPr>
        <p:spPr/>
        <p:txBody>
          <a:bodyPr/>
          <a:lstStyle/>
          <a:p>
            <a:r>
              <a:t>SHARED OWNERSHIP | Confirm the named business/workflow owner, platform Product Owner and governance approver. Crossfuze brings advisory, estimation and approved delivery capacity, but the customer retains decisions on backlog priority, data, AI authority, testing and production promotion.</a:t>
            </a:r>
          </a:p>
          <a:p>
            <a:endParaRPr/>
          </a:p>
          <a:p>
            <a:r>
              <a:t>--- EXISTING FACILITATOR NOTES ---</a:t>
            </a:r>
          </a:p>
          <a:p>
            <a:r>
              <a:t>RUNSTATE | CUSTOMER OWNERSHIP AND CROSSFUZE TECHNICAL DELIVERY</a:t>
            </a:r>
          </a:p>
          <a:p>
            <a:endParaRPr/>
          </a:p>
          <a:p>
            <a:r>
              <a:t>Customer owns demand, priority, approvals, UAT, production promotion, AI data approval, human oversight and ongoing monitoring of AI-enabled functionality. Crossfuze provides advisory, backlog refinement and contracted Extend delivery under approved stories; Crossfuze Technical Lead reviews intake, estimates, acceptance and testing and controls 80h monthly maximum. Backlog refreshes roughly quarterly.</a:t>
            </a:r>
          </a:p>
          <a:p>
            <a:endParaRPr/>
          </a:p>
          <a:p>
            <a:r>
              <a:t>Source: draft Run State SOW pages 4-6. A Customer delay does not create rollover or extend the 12-month term. This service is not represented as a managed AI operations monitoring or governance outsourcing service.</a:t>
            </a:r>
          </a:p>
        </p:txBody>
      </p:sp>
      <p:sp>
        <p:nvSpPr>
          <p:cNvPr id="4" name="Slide Number Placeholder 3">
            <a:extLst>
              <a:ext uri="{FF2B5EF4-FFF2-40B4-BE49-F238E27FC236}">
                <a16:creationId xmlns:a16="http://schemas.microsoft.com/office/drawing/2014/main" id="{05948BD8-1BF6-E7DE-EE44-ED7CC78F9B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031961-1ECE-C444-BF55-AC1DD21E9334}" type="slidenum">
              <a:rPr kumimoji="0" lang="en-US" sz="1200" b="0" u="none" strike="noStrike" kern="1200" cap="none" spc="0" normalizeH="0" baseline="0" noProof="0" smtClean="0">
                <a:ln>
                  <a:noFill/>
                </a:ln>
                <a:solidFill>
                  <a:prstClr val="black"/>
                </a:solidFill>
                <a:effectLst/>
                <a:uLnTx/>
                <a:uFillTx/>
                <a:latin typeface="Source Sans 3" panose="020B05040401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u="none" strike="noStrike" kern="1200" cap="none" spc="0" normalizeH="0" baseline="0" noProof="0">
              <a:ln>
                <a:noFill/>
              </a:ln>
              <a:solidFill>
                <a:prstClr val="black"/>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863981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23EAD-EBAF-DA5A-BF38-A54754807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80EC8-DDE6-AFF9-EEC2-E7529B1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B2D58-B278-75A7-DDDF-ED03F1FF1859}"/>
              </a:ext>
            </a:extLst>
          </p:cNvPr>
          <p:cNvSpPr>
            <a:spLocks noGrp="1"/>
          </p:cNvSpPr>
          <p:nvPr>
            <p:ph type="body" idx="1"/>
          </p:nvPr>
        </p:nvSpPr>
        <p:spPr/>
        <p:txBody>
          <a:bodyPr/>
          <a:lstStyle/>
          <a:p>
            <a:r>
              <a:t>MEETING 2 CLOSE | Ask: 'Are we aligned that this is the first Zero worth pursuing, with these measures and dependencies? Who will sponsor the scoped AI RunState proposal?' Progress to a quote only after validating scope and regional pricing; no commitment is implied before signed approval.</a:t>
            </a:r>
          </a:p>
          <a:p>
            <a:endParaRPr/>
          </a:p>
          <a:p>
            <a:r>
              <a:t>--- EXISTING FACILITATOR NOTES ---</a:t>
            </a:r>
          </a:p>
          <a:p>
            <a:r>
              <a:t>MEETING 2 | COMMERCIAL NEXT STEP</a:t>
            </a:r>
          </a:p>
          <a:p>
            <a:endParaRPr/>
          </a:p>
          <a:p>
            <a:r>
              <a:t>This slide closes the sales conversation. Agree a proposed first outcome and the evidence/ownership needed. Confirm proposed engagement scope and move into a formal SOW quotation and approval gate. The initial AI Action Plan, 90-day roadmap, backlog refinement and production delivery are only completed within the paid AI RunState term after contracting and prerequisites. Do not suggest first production is guaranteed in 90 days. The SOW draft is region- and opportunity-specific; approved proposal/terms control.</a:t>
            </a:r>
          </a:p>
        </p:txBody>
      </p:sp>
      <p:sp>
        <p:nvSpPr>
          <p:cNvPr id="4" name="Slide Number Placeholder 3">
            <a:extLst>
              <a:ext uri="{FF2B5EF4-FFF2-40B4-BE49-F238E27FC236}">
                <a16:creationId xmlns:a16="http://schemas.microsoft.com/office/drawing/2014/main" id="{B8E0E2CC-8770-C935-3148-58126FFF19AD}"/>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u="none" strike="noStrike" kern="1200" cap="none" spc="0" normalizeH="0" baseline="0" noProof="0" smtClean="0">
                <a:ln>
                  <a:noFill/>
                </a:ln>
                <a:solidFill>
                  <a:srgbClr val="293E40"/>
                </a:solidFill>
                <a:effectLst/>
                <a:uLnTx/>
                <a:uFillTx/>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13</a:t>
            </a:fld>
            <a:endParaRPr kumimoji="0" lang="en-US" sz="1200" u="none" strike="noStrike" kern="1200" cap="none" spc="0" normalizeH="0" baseline="0" noProof="0">
              <a:ln>
                <a:noFill/>
              </a:ln>
              <a:solidFill>
                <a:srgbClr val="293E40"/>
              </a:solidFill>
              <a:effectLst/>
              <a:uLnTx/>
              <a:uFillTx/>
              <a:ea typeface="+mn-ea"/>
              <a:cs typeface="+mn-cs"/>
            </a:endParaRPr>
          </a:p>
        </p:txBody>
      </p:sp>
    </p:spTree>
    <p:extLst>
      <p:ext uri="{BB962C8B-B14F-4D97-AF65-F5344CB8AC3E}">
        <p14:creationId xmlns:p14="http://schemas.microsoft.com/office/powerpoint/2010/main" val="1033638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AA0E5-FEAC-6933-C04F-CF6B01E49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B4CF6-0C62-9DD3-DDBC-4E675F220D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3AFB3-8FE4-7B6D-67DB-DB33E4D066CC}"/>
              </a:ext>
            </a:extLst>
          </p:cNvPr>
          <p:cNvSpPr>
            <a:spLocks noGrp="1"/>
          </p:cNvSpPr>
          <p:nvPr>
            <p:ph type="body" idx="1"/>
          </p:nvPr>
        </p:nvSpPr>
        <p:spPr/>
        <p:txBody>
          <a:bodyPr/>
          <a:lstStyle/>
          <a:p>
            <a:r>
              <a:t>MEETING 2 | FROM READINESS TO RESULTS</a:t>
            </a:r>
          </a:p>
          <a:p>
            <a:endParaRPr/>
          </a:p>
          <a:p>
            <a:r>
              <a:t>Unlike the first presentation, this is a follow-up working session, not a broad AI market vision. Its purpose is to agree one measurable, appropriately controlled first use case; identify evidence and dependencies; size consumption; and determine if an AI RunState engagement is commercially appropriate.</a:t>
            </a:r>
          </a:p>
          <a:p>
            <a:endParaRPr/>
          </a:p>
          <a:p>
            <a:r>
              <a:t>Ask: what changed since the first discussion? Has the 90-minute assessment been completed? Do we have a Decision Brief? If not, keep customer-specific content provisional. All examples are illustrative until customer evidence is supplied.</a:t>
            </a:r>
          </a:p>
          <a:p>
            <a:endParaRPr/>
          </a:p>
          <a:p>
            <a:r>
              <a:t>The original first-meeting 30-slide deck has not been edited in this workflow.</a:t>
            </a:r>
          </a:p>
        </p:txBody>
      </p:sp>
      <p:sp>
        <p:nvSpPr>
          <p:cNvPr id="4" name="Slide Number Placeholder 3">
            <a:extLst>
              <a:ext uri="{FF2B5EF4-FFF2-40B4-BE49-F238E27FC236}">
                <a16:creationId xmlns:a16="http://schemas.microsoft.com/office/drawing/2014/main" id="{1C0E7301-3D00-556C-6911-73A164A0D1A0}"/>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u="none" strike="noStrike" kern="1200" cap="none" spc="0" normalizeH="0" baseline="0" noProof="0" smtClean="0">
                <a:ln>
                  <a:noFill/>
                </a:ln>
                <a:solidFill>
                  <a:srgbClr val="293E40"/>
                </a:solidFill>
                <a:effectLst/>
                <a:uLnTx/>
                <a:uFillTx/>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14</a:t>
            </a:fld>
            <a:endParaRPr kumimoji="0" lang="en-US" sz="1200" u="none" strike="noStrike" kern="1200" cap="none" spc="0" normalizeH="0" baseline="0" noProof="0">
              <a:ln>
                <a:noFill/>
              </a:ln>
              <a:solidFill>
                <a:srgbClr val="293E40"/>
              </a:solidFill>
              <a:effectLst/>
              <a:uLnTx/>
              <a:uFillTx/>
              <a:ea typeface="+mn-ea"/>
              <a:cs typeface="+mn-cs"/>
            </a:endParaRPr>
          </a:p>
        </p:txBody>
      </p:sp>
    </p:spTree>
    <p:extLst>
      <p:ext uri="{BB962C8B-B14F-4D97-AF65-F5344CB8AC3E}">
        <p14:creationId xmlns:p14="http://schemas.microsoft.com/office/powerpoint/2010/main" val="1276893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3315D-A516-702C-EB68-CE63595D4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4A283-7F07-807C-B76D-859BBF5783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A56A0-3858-D7D0-A61E-43101DEDBA23}"/>
              </a:ext>
            </a:extLst>
          </p:cNvPr>
          <p:cNvSpPr>
            <a:spLocks noGrp="1"/>
          </p:cNvSpPr>
          <p:nvPr>
            <p:ph type="body" idx="1"/>
          </p:nvPr>
        </p:nvSpPr>
        <p:spPr/>
        <p:txBody>
          <a:bodyPr/>
          <a:lstStyle/>
          <a:p>
            <a:r>
              <a:t>WHAT DOES YOUR EVIDENCE SAY?</a:t>
            </a:r>
          </a:p>
          <a:p>
            <a:endParaRPr/>
          </a:p>
          <a:p>
            <a:r>
              <a:t>This is a customer-specific workshop placeholder, not a scored assessment. In the live call, replace the five TO VERIFY placeholders using the Crossfuze AI Readiness Decision Brief. Seven weighted dimensions feed this view: Data quality 20%, Process determinism 15%, Knowledge and content 15%, Workflow and integration 15%, Governance and security 15%, Platform and entitlement 10%, Ownership and adoption 10%. The score must retain its Full/Provisional/Unavailable status and findings must carry evidence labels. Missing evidence is not scored as zero.</a:t>
            </a:r>
          </a:p>
          <a:p>
            <a:endParaRPr/>
          </a:p>
          <a:p>
            <a:r>
              <a:t>ASK: where is the weakest required foundation for the particular proposed action? What evidence supports our view? What still requires a technical validation?</a:t>
            </a:r>
          </a:p>
          <a:p>
            <a:endParaRPr/>
          </a:p>
          <a:p>
            <a:r>
              <a:t>Source: Crossfuze AI Readiness Assessment, pp. 07–10, 16. This second-meeting diagnostic is a discussion template, not a completed assessment.</a:t>
            </a:r>
          </a:p>
        </p:txBody>
      </p:sp>
      <p:sp>
        <p:nvSpPr>
          <p:cNvPr id="4" name="Slide Number Placeholder 3">
            <a:extLst>
              <a:ext uri="{FF2B5EF4-FFF2-40B4-BE49-F238E27FC236}">
                <a16:creationId xmlns:a16="http://schemas.microsoft.com/office/drawing/2014/main" id="{48094B5C-15A8-C465-A3AD-8F1C2AFC339A}"/>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3228345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7EABD-C979-6D56-BE25-CD68D2D97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13397-72E2-787E-DD27-4893D50B2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7163B-4EB9-1899-B821-80EA5220A58A}"/>
              </a:ext>
            </a:extLst>
          </p:cNvPr>
          <p:cNvSpPr>
            <a:spLocks noGrp="1"/>
          </p:cNvSpPr>
          <p:nvPr>
            <p:ph type="body" idx="1"/>
          </p:nvPr>
        </p:nvSpPr>
        <p:spPr/>
        <p:txBody>
          <a:bodyPr/>
          <a:lstStyle/>
          <a:p>
            <a:r>
              <a:t>PERMISSION TO AUTOMATE | Start with the buyer's control concern: what may AI act on and who has authority? Across slides 7–10, the seven checks progressively show Find it / Bound it / Stop it. Do not treat these as four unrelated arguments; move quickly through the build.</a:t>
            </a:r>
          </a:p>
          <a:p>
            <a:endParaRPr/>
          </a:p>
          <a:p>
            <a:r>
              <a:t>--- EXISTING FACILITATOR NOTES ---</a:t>
            </a:r>
          </a:p>
          <a:p>
            <a:r>
              <a:t>PERMISSION TO AUTOMATE</a:t>
            </a:r>
          </a:p>
          <a:p>
            <a:r>
              <a:t>.</a:t>
            </a:r>
          </a:p>
          <a:p>
            <a:r>
              <a:t>Crossfuze requires seven controls before autonomous execution without human-in-the-loop: 01 Inventory every agent and owner. 02 Risk tier each action. 03 Authority over what it may touch. 04 Explainability and a reasoned audit record. 05 Exception handling and handover. 06 A tested kill switch. 07 Rollback capability and accountable owner. If a required control is missing, agent may recommend but should not autonomously act.</a:t>
            </a:r>
          </a:p>
          <a:p>
            <a:endParaRPr/>
          </a:p>
          <a:p>
            <a:r>
              <a:t>Source: Crossfuze AI Readiness Assessment p.10.</a:t>
            </a:r>
          </a:p>
          <a:p>
            <a:endParaRP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796794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357E4-5741-43C1-82CA-28B42BB6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743E1-DABF-D2FA-8CD5-834BE94D8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EB535-354D-17E4-259A-C572E9562CF2}"/>
              </a:ext>
            </a:extLst>
          </p:cNvPr>
          <p:cNvSpPr>
            <a:spLocks noGrp="1"/>
          </p:cNvSpPr>
          <p:nvPr>
            <p:ph type="body" idx="1"/>
          </p:nvPr>
        </p:nvSpPr>
        <p:spPr/>
        <p:txBody>
          <a:bodyPr/>
          <a:lstStyle/>
          <a:p>
            <a:r>
              <a:t>PERMISSION TO AUTOMATE BUILD | Continue the progression. Ask where explicit human approval is needed and what evidence must exist before an action.</a:t>
            </a:r>
          </a:p>
          <a:p>
            <a:endParaRPr/>
          </a:p>
          <a:p>
            <a:r>
              <a:t>--- EXISTING FACILITATOR NOTES ---</a:t>
            </a:r>
          </a:p>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24051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A1492-3540-1A82-269D-C55199896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BA10E-A482-1B38-5AB6-57509F81C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640D07-E949-B5C9-4ABD-D86706D27FB5}"/>
              </a:ext>
            </a:extLst>
          </p:cNvPr>
          <p:cNvSpPr>
            <a:spLocks noGrp="1"/>
          </p:cNvSpPr>
          <p:nvPr>
            <p:ph type="body" idx="1"/>
          </p:nvPr>
        </p:nvSpPr>
        <p:spPr/>
        <p:txBody>
          <a:bodyPr/>
          <a:lstStyle/>
          <a:p>
            <a:r>
              <a:t>PERMISSION TO AUTOMATE BUILD | Continue the progression. Ensure tested stop and rollback are part of the boundary, not an afterthought.</a:t>
            </a:r>
          </a:p>
          <a:p>
            <a:endParaRPr/>
          </a:p>
          <a:p>
            <a:r>
              <a:t>--- EXISTING FACILITATOR NOTES ---</a:t>
            </a:r>
          </a:p>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12779949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4FECA-61C8-0732-CBC6-0E7287102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23579-1536-9A98-81B7-05CE7D0EE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8B30F-DD0E-4915-5E13-C8D3D892CE04}"/>
              </a:ext>
            </a:extLst>
          </p:cNvPr>
          <p:cNvSpPr>
            <a:spLocks noGrp="1"/>
          </p:cNvSpPr>
          <p:nvPr>
            <p:ph type="body" idx="1"/>
          </p:nvPr>
        </p:nvSpPr>
        <p:spPr/>
        <p:txBody>
          <a:bodyPr/>
          <a:lstStyle/>
          <a:p>
            <a:r>
              <a:t>PERMISSION TO AUTOMATE COMPLETE | If any required control is missing, the agent may recommend, but should not independently perform the action. Record who can approve autonomous execution and which tests remain.</a:t>
            </a:r>
          </a:p>
          <a:p>
            <a:endParaRPr/>
          </a:p>
          <a:p>
            <a:r>
              <a:t>--- EXISTING FACILITATOR NOTES ---</a:t>
            </a:r>
          </a:p>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1713261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0B01A-CD03-CBB0-BB3B-1A0EEDFF2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D63E9-84A3-8788-29D9-38B743269A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4358E9-D393-6782-55CC-475E2FF11189}"/>
              </a:ext>
            </a:extLst>
          </p:cNvPr>
          <p:cNvSpPr>
            <a:spLocks noGrp="1"/>
          </p:cNvSpPr>
          <p:nvPr>
            <p:ph type="body" idx="1"/>
          </p:nvPr>
        </p:nvSpPr>
        <p:spPr/>
        <p:txBody>
          <a:bodyPr/>
          <a:lstStyle/>
          <a:p>
            <a:r>
              <a:rPr dirty="0"/>
              <a:t>DATA READINESS | WORKFLOW DATA FABRIC</a:t>
            </a:r>
          </a:p>
          <a:p>
            <a:endParaRPr dirty="0"/>
          </a:p>
          <a:p>
            <a:r>
              <a:rPr dirty="0"/>
              <a:t>Workflow Data Fabric connects and </a:t>
            </a:r>
            <a:r>
              <a:rPr dirty="0" err="1"/>
              <a:t>contextualises</a:t>
            </a:r>
            <a:r>
              <a:rPr dirty="0"/>
              <a:t> enterprise data; </a:t>
            </a:r>
            <a:r>
              <a:rPr dirty="0" err="1"/>
              <a:t>RaptorDB</a:t>
            </a:r>
            <a:r>
              <a:rPr dirty="0"/>
              <a:t> Pro addresses performance. This demonstrates platform possibilities, not evidence that the customer has implemented, configured or entitled these capabilities.</a:t>
            </a:r>
          </a:p>
          <a:p>
            <a:endParaRPr dirty="0"/>
          </a:p>
          <a:p>
            <a:r>
              <a:rPr dirty="0"/>
              <a:t>Crossfuze checks record reliability, CMDB and CSDM alignment, data access policy, service mapping, classifications, context freshness and any data movement or access restrictions relevant to the chosen use case.</a:t>
            </a:r>
          </a:p>
          <a:p>
            <a:endParaRPr dirty="0"/>
          </a:p>
          <a:p>
            <a:r>
              <a:rPr dirty="0"/>
              <a:t>ASK: which authoritative data sources must a proposed agent use? What are the specific fields where a wrong value would cause a harmful action?</a:t>
            </a:r>
          </a:p>
          <a:p>
            <a:endParaRPr dirty="0"/>
          </a:p>
          <a:p>
            <a:r>
              <a:rPr dirty="0"/>
              <a:t>Source: Crossfuze Readiness Assessment pp. 07–09.</a:t>
            </a:r>
          </a:p>
        </p:txBody>
      </p:sp>
    </p:spTree>
    <p:extLst>
      <p:ext uri="{BB962C8B-B14F-4D97-AF65-F5344CB8AC3E}">
        <p14:creationId xmlns:p14="http://schemas.microsoft.com/office/powerpoint/2010/main" val="23666491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BC80B-5C12-5517-D7FE-7E2500F40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E490E-6E66-2E9B-4ACD-0D14BC2B1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79D7E-CFE2-5AC4-3B79-7A742F57E28B}"/>
              </a:ext>
            </a:extLst>
          </p:cNvPr>
          <p:cNvSpPr>
            <a:spLocks noGrp="1"/>
          </p:cNvSpPr>
          <p:nvPr>
            <p:ph type="body" idx="1"/>
          </p:nvPr>
        </p:nvSpPr>
        <p:spPr/>
        <p:txBody>
          <a:bodyPr/>
          <a:lstStyle/>
          <a:p>
            <a:r>
              <a:rPr dirty="0"/>
              <a:t>PERMISSION TO AUTOMATE | CONTROL ARCHITECTURE</a:t>
            </a:r>
          </a:p>
          <a:p>
            <a:endParaRPr dirty="0"/>
          </a:p>
          <a:p>
            <a:r>
              <a:rPr dirty="0"/>
              <a:t>ServiceNow Vault, AI Guardian and AI Control Tower are platform governance components. Availability, configuration and coverage are customer-specific and must be verified.</a:t>
            </a:r>
          </a:p>
          <a:p>
            <a:endParaRPr dirty="0"/>
          </a:p>
        </p:txBody>
      </p:sp>
    </p:spTree>
    <p:extLst>
      <p:ext uri="{BB962C8B-B14F-4D97-AF65-F5344CB8AC3E}">
        <p14:creationId xmlns:p14="http://schemas.microsoft.com/office/powerpoint/2010/main" val="4193227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9591-DA6E-AA8A-5D9C-926B64B04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8CD35-AD59-81D4-F94C-6245C439D5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2B282E-4421-FD31-BF93-4BE433FB2CEA}"/>
              </a:ext>
            </a:extLst>
          </p:cNvPr>
          <p:cNvSpPr>
            <a:spLocks noGrp="1"/>
          </p:cNvSpPr>
          <p:nvPr>
            <p:ph type="body" idx="1"/>
          </p:nvPr>
        </p:nvSpPr>
        <p:spPr/>
        <p:txBody>
          <a:bodyPr/>
          <a:lstStyle/>
          <a:p>
            <a:r>
              <a:t>KNOWLEDGE GRAPH | GROUNDING BEFORE ACTION</a:t>
            </a:r>
          </a:p>
          <a:p>
            <a:endParaRPr/>
          </a:p>
          <a:p>
            <a:r>
              <a:t>The ServiceNow Knowledge Graph provides architectural context, showing relationships across CMDB, CSDM, assets, changes, incidents, people and knowledge. This is not an assertion that the customer already possesses a comprehensive Knowledge Graph.</a:t>
            </a:r>
          </a:p>
          <a:p>
            <a:endParaRPr/>
          </a:p>
          <a:p>
            <a:r>
              <a:t>Readiness checks: identify knowledge the agent is permitted to use; verify business ownership; review stale articles and contradictory instructions; test for current, approved procedures; and define what happens when knowledge is absent or confidence is low.</a:t>
            </a:r>
          </a:p>
          <a:p>
            <a:endParaRPr/>
          </a:p>
          <a:p>
            <a:r>
              <a:t>Source: Crossfuze Readiness Assessment, pp. 07–10.</a:t>
            </a:r>
          </a:p>
        </p:txBody>
      </p:sp>
      <p:sp>
        <p:nvSpPr>
          <p:cNvPr id="4" name="Slide Number Placeholder 3">
            <a:extLst>
              <a:ext uri="{FF2B5EF4-FFF2-40B4-BE49-F238E27FC236}">
                <a16:creationId xmlns:a16="http://schemas.microsoft.com/office/drawing/2014/main" id="{EE1B71B7-4ED9-D229-C206-8F0E69537BB5}"/>
              </a:ext>
            </a:extLst>
          </p:cNvPr>
          <p:cNvSpPr>
            <a:spLocks noGrp="1"/>
          </p:cNvSpPr>
          <p:nvPr>
            <p:ph type="sldNum" sz="quarter" idx="5"/>
          </p:nvPr>
        </p:nvSpPr>
        <p:spPr/>
        <p:txBody>
          <a:bodyPr/>
          <a:lstStyle/>
          <a:p>
            <a:fld id="{074299CD-3469-7241-AD37-C0E01E3A61D2}" type="slidenum">
              <a:rPr lang="en-US" smtClean="0"/>
              <a:pPr/>
              <a:t>22</a:t>
            </a:fld>
            <a:endParaRPr lang="en-US"/>
          </a:p>
        </p:txBody>
      </p:sp>
    </p:spTree>
    <p:extLst>
      <p:ext uri="{BB962C8B-B14F-4D97-AF65-F5344CB8AC3E}">
        <p14:creationId xmlns:p14="http://schemas.microsoft.com/office/powerpoint/2010/main" val="326601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34FF2-F812-2C76-7EFB-DE472DEAB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26927-7ED6-86BA-6015-31BF0B20F8C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F450B85-FAE3-352D-8BE7-424CAAFED86E}"/>
              </a:ext>
            </a:extLst>
          </p:cNvPr>
          <p:cNvSpPr>
            <a:spLocks noGrp="1"/>
          </p:cNvSpPr>
          <p:nvPr>
            <p:ph type="body" idx="1"/>
          </p:nvPr>
        </p:nvSpPr>
        <p:spPr/>
        <p:txBody>
          <a:bodyPr/>
          <a:lstStyle/>
          <a:p>
            <a:r>
              <a:t>FROM FIRST USE CASE TO CONFIGURED WORKFLOW</a:t>
            </a:r>
          </a:p>
          <a:p>
            <a:endParaRPr/>
          </a:p>
          <a:p>
            <a:r>
              <a:t>App Engine and Build Agent are ServiceNow platform capabilities that may help configure or create workflows, if entitled, configured and appropriate. Do not promise production readiness from the screenshot or product demonstration alone.</a:t>
            </a:r>
          </a:p>
          <a:p>
            <a:endParaRPr/>
          </a:p>
          <a:p>
            <a:r>
              <a:t>Proposed delivery gate: define the user story and acceptance criteria; map the data and workflow; agree the controls and owner; test normal, exception and rollback cases; release with measurable success criteria; capture actual performance and consumption. Crossfuze Extend implements approved backlog work rather than unapproved scope.</a:t>
            </a:r>
          </a:p>
          <a:p>
            <a:endParaRPr/>
          </a:p>
          <a:p>
            <a:r>
              <a:t>Source: Crossfuze AI RunState guide pp.17–19.</a:t>
            </a:r>
          </a:p>
        </p:txBody>
      </p:sp>
      <p:sp>
        <p:nvSpPr>
          <p:cNvPr id="4" name="Slide Number Placeholder 3">
            <a:extLst>
              <a:ext uri="{FF2B5EF4-FFF2-40B4-BE49-F238E27FC236}">
                <a16:creationId xmlns:a16="http://schemas.microsoft.com/office/drawing/2014/main" id="{C7D33CC9-B167-C4E0-0B21-25DF84AFE896}"/>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0" u="none" strike="noStrike" kern="1200" cap="none" spc="0" normalizeH="0" baseline="0" noProof="0" smtClean="0">
                <a:ln>
                  <a:noFill/>
                </a:ln>
                <a:solidFill>
                  <a:srgbClr val="293E40"/>
                </a:solidFill>
                <a:effectLst/>
                <a:uLnTx/>
                <a:uFillTx/>
                <a:latin typeface="Source Sans 3" panose="020B0504040101010104" pitchFamily="34" charset="77"/>
                <a:ea typeface="+mn-ea"/>
                <a:cs typeface="Source Sans 3"/>
                <a:sym typeface="Source Sans 3"/>
              </a:rPr>
              <a:pPr marL="0" marR="0" lvl="0" indent="0" algn="r" defTabSz="457040" rtl="0" eaLnBrk="1" fontAlgn="auto" latinLnBrk="0" hangingPunct="1">
                <a:lnSpc>
                  <a:spcPct val="100000"/>
                </a:lnSpc>
                <a:spcBef>
                  <a:spcPts val="0"/>
                </a:spcBef>
                <a:spcAft>
                  <a:spcPts val="0"/>
                </a:spcAft>
                <a:buClrTx/>
                <a:buSzTx/>
                <a:buFontTx/>
                <a:buNone/>
                <a:tabLst/>
                <a:defRPr/>
              </a:pPr>
              <a:t>23</a:t>
            </a:fld>
            <a:endParaRPr kumimoji="0" lang="en-US" sz="1200" b="0" u="none" strike="noStrike" kern="1200" cap="none" spc="0" normalizeH="0" baseline="0" noProof="0">
              <a:ln>
                <a:noFill/>
              </a:ln>
              <a:solidFill>
                <a:srgbClr val="293E40"/>
              </a:solidFill>
              <a:effectLst/>
              <a:uLnTx/>
              <a:uFillTx/>
              <a:latin typeface="Source Sans 3" panose="020B0504040101010104" pitchFamily="34" charset="77"/>
              <a:ea typeface="+mn-ea"/>
              <a:cs typeface="Source Sans 3"/>
              <a:sym typeface="Source Sans 3"/>
            </a:endParaRPr>
          </a:p>
        </p:txBody>
      </p:sp>
    </p:spTree>
    <p:extLst>
      <p:ext uri="{BB962C8B-B14F-4D97-AF65-F5344CB8AC3E}">
        <p14:creationId xmlns:p14="http://schemas.microsoft.com/office/powerpoint/2010/main" val="19805535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CA3A9-C140-51D7-58DB-C90A48F03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D1549-8FA8-5558-98CF-EBAAF2215E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5289DC-A034-59F8-AE89-E2B4BDE0CDC3}"/>
              </a:ext>
            </a:extLst>
          </p:cNvPr>
          <p:cNvSpPr>
            <a:spLocks noGrp="1"/>
          </p:cNvSpPr>
          <p:nvPr>
            <p:ph type="body" idx="1"/>
          </p:nvPr>
        </p:nvSpPr>
        <p:spPr/>
        <p:txBody>
          <a:bodyPr/>
          <a:lstStyle/>
          <a:p>
            <a:r>
              <a:t>AI VALUE AND ASSIST CONSUMPTION</a:t>
            </a:r>
          </a:p>
          <a:p>
            <a:endParaRPr/>
          </a:p>
          <a:p>
            <a:r>
              <a:t>Illustrative model directly from the Crossfuze source guide: narrow run = 25 Assists for 0–4 tools; medium run = 50 Assists for 5–8 tools; wide run = 150 Assists for 9–20 tools. Example volume: 30,000 narrow and 5,000 wide runs annually =&gt; 1,500,000 Assists. Wide runs use six times more consumption per run than narrow.</a:t>
            </a:r>
          </a:p>
          <a:p>
            <a:endParaRPr/>
          </a:p>
          <a:p>
            <a:r>
              <a:t>This is NOT a customer forecast or quoted pricing. Verify workflows, process volumes, tool count, repeat runs, package entitlements, pooled allocations and renewal specifics with ServiceNow. Data Fabric credits and other meters may be separate.</a:t>
            </a:r>
          </a:p>
          <a:p>
            <a:endParaRPr/>
          </a:p>
          <a:p>
            <a:r>
              <a:t>Evaluate value alongside usage: time saved, cost to serve, successful transactions, escalation rate, customer satisfaction, risk of errors and expected implementation effort.</a:t>
            </a:r>
          </a:p>
          <a:p>
            <a:endParaRPr/>
          </a:p>
          <a:p>
            <a:r>
              <a:t>Source: Crossfuze AI Readiness Assessment pp.13–15.</a:t>
            </a:r>
          </a:p>
        </p:txBody>
      </p:sp>
      <p:sp>
        <p:nvSpPr>
          <p:cNvPr id="4" name="Slide Number Placeholder 3">
            <a:extLst>
              <a:ext uri="{FF2B5EF4-FFF2-40B4-BE49-F238E27FC236}">
                <a16:creationId xmlns:a16="http://schemas.microsoft.com/office/drawing/2014/main" id="{50E279A4-294C-EE28-5E0F-4B03D445AE71}"/>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1202395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0663B-6FC7-0FA2-3B9E-825A584A3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1E72C-51A5-C983-C3A2-30DD0D3863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8943CA-1564-CE36-366E-497AE22EE54C}"/>
              </a:ext>
            </a:extLst>
          </p:cNvPr>
          <p:cNvSpPr>
            <a:spLocks noGrp="1"/>
          </p:cNvSpPr>
          <p:nvPr>
            <p:ph type="body" idx="1"/>
          </p:nvPr>
        </p:nvSpPr>
        <p:spPr/>
        <p:txBody>
          <a:bodyPr/>
          <a:lstStyle/>
          <a:p>
            <a:r>
              <a:t>AI VALUE AND ASSIST CONSUMPTION</a:t>
            </a:r>
          </a:p>
          <a:p>
            <a:endParaRPr/>
          </a:p>
          <a:p>
            <a:r>
              <a:t>Illustrative model directly from the Crossfuze source guide: narrow run = 25 Assists for 0–4 tools; medium run = 50 Assists for 5–8 tools; wide run = 150 Assists for 9–20 tools. Example volume: 30,000 narrow and 5,000 wide runs annually =&gt; 1,500,000 Assists. Wide runs use six times more consumption per run than narrow.</a:t>
            </a:r>
          </a:p>
          <a:p>
            <a:endParaRPr/>
          </a:p>
          <a:p>
            <a:r>
              <a:t>This is NOT a customer forecast or quoted pricing. Verify workflows, process volumes, tool count, repeat runs, package entitlements, pooled allocations and renewal specifics with ServiceNow. Data Fabric credits and other meters may be separate.</a:t>
            </a:r>
          </a:p>
          <a:p>
            <a:endParaRPr/>
          </a:p>
          <a:p>
            <a:r>
              <a:t>Evaluate value alongside usage: time saved, cost to serve, successful transactions, escalation rate, customer satisfaction, risk of errors and expected implementation effort.</a:t>
            </a:r>
          </a:p>
          <a:p>
            <a:endParaRPr/>
          </a:p>
          <a:p>
            <a:r>
              <a:t>Source: Crossfuze AI Readiness Assessment pp.13–15.</a:t>
            </a:r>
          </a:p>
        </p:txBody>
      </p:sp>
      <p:sp>
        <p:nvSpPr>
          <p:cNvPr id="4" name="Slide Number Placeholder 3">
            <a:extLst>
              <a:ext uri="{FF2B5EF4-FFF2-40B4-BE49-F238E27FC236}">
                <a16:creationId xmlns:a16="http://schemas.microsoft.com/office/drawing/2014/main" id="{2C7D8C03-FA89-5B9C-BD82-A7050628B334}"/>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15203630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FEEDBACK LOOP | SOURCE CONCEPT 01 ADAPTED</a:t>
            </a:r>
          </a:p>
          <a:p>
            <a:endParaRPr/>
          </a:p>
          <a:p>
            <a:r>
              <a:t>Based on AI_Run_State_-_Flow_and_Timeline_Concepts.pptx, The Feedback Loop (concept 01), checked against draft SOW pages 3-4. Advisory generates AI Action Plan. It is not sprint-ready. Backlog Prioritization converts outputs/customer demand into feasible, estimated, approved User Stories. Customer Product Owner approves and Crossfuze TL accepts work before it enters an Extend sprint. Extend delivers only within signed scope and monthly capacity. The second advisory review refreshes direction based on actual circumstances. Flow is cyclical, not automatic acceptance of all ideas.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2657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CUSTOMER RESPONSIBILITIES AND CDP</a:t>
            </a:r>
          </a:p>
          <a:p>
            <a:endParaRPr dirty="0"/>
          </a:p>
          <a:p>
            <a:r>
              <a:rPr dirty="0"/>
              <a:t>SOW pages 1 and 5-6. Customer appoints executive sponsor, Product Owner, Customer Lead and technical stakeholders; provides relevant systems/access/licensing/information; owns demand and priorities; approves stories and conducts UAT and production approval; retains AI-specific decisions including suitable human oversight, data approvals, AI testing and post-deployment monitoring. Crossfuze provides advisory, backlog prioritization, TL-led Extend review/configuration and technical testing. CDP supports status, user stories, approvals, testing, issues, risks and decisions. Customer delays may cause forfeited unused capacity, no extension or rollover. Do not claim Crossfuze runs ongoing managed AI monitoring unless separately contracted.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165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ACCEPTANCE AND CHANGE CONTROL</a:t>
            </a:r>
          </a:p>
          <a:p>
            <a:endParaRPr/>
          </a:p>
          <a:p>
            <a:r>
              <a:t>SOW definitions pages 1-2 and scope pages 3-5: acceptance criteria define each story; customer PO approves stories; Crossfuze TL must assess/accept before sprint. Sprint showback demonstrates progress and facilitates criteria validation. Customer performs UAT, accepts stories and approves promotion to production. Advisory and Backlog deliverables have a separate five-business-day deemed acceptance period after delivery absent written material nonconformity. Defect is a failure of approved criteria caused by Crossfuze, subject to exclusions. Enhancement is outside agreed criteria/change to functionality and requires separate scope/price approval. Customer delays do not extend Term or roll hours.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904111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EFFORT HEATMAP | SOURCE CONCEPT 09 ADAPTED</a:t>
            </a:r>
          </a:p>
          <a:p>
            <a:endParaRPr/>
          </a:p>
          <a:p>
            <a:r>
              <a:t>Adapted from AI_Run_State_-_Flow_and_Timeline_Concepts.pptx, concept 09, but corrected for SOW timeline. Dark/bright cells indicate active phases, not guaranteed fixed intensity or hours apart from Extend 80h monthly cap. AI Action Plan months 1-2 and follow-up 7-8; backlog cycles 3-4,6-7,9-10 and 12; Extend onboarding month 3 then actual delivery months 4-12. Do not present this as an effort utilization promise. Optional supporting visual when explaining annual cadence.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221537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pic>
        <p:nvPicPr>
          <p:cNvPr id="2" name="Picture 1" descr="A blue and green background&#10;&#10;AI-generated content may be incorrect.">
            <a:extLst>
              <a:ext uri="{FF2B5EF4-FFF2-40B4-BE49-F238E27FC236}">
                <a16:creationId xmlns:a16="http://schemas.microsoft.com/office/drawing/2014/main" id="{426570CD-46A2-132F-F02E-1600C115ECAA}"/>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6" name="Title 5">
            <a:extLst>
              <a:ext uri="{FF2B5EF4-FFF2-40B4-BE49-F238E27FC236}">
                <a16:creationId xmlns:a16="http://schemas.microsoft.com/office/drawing/2014/main" id="{E262DFF5-1404-0C6A-FF51-4932C17F84AB}"/>
              </a:ext>
            </a:extLst>
          </p:cNvPr>
          <p:cNvSpPr>
            <a:spLocks noGrp="1"/>
          </p:cNvSpPr>
          <p:nvPr>
            <p:ph type="title"/>
          </p:nvPr>
        </p:nvSpPr>
        <p:spPr>
          <a:xfrm>
            <a:off x="548640" y="530352"/>
            <a:ext cx="11082973" cy="1304863"/>
          </a:xfrm>
        </p:spPr>
        <p:txBody>
          <a:bodyPr/>
          <a:lstStyle>
            <a:lvl1pPr marL="0" algn="l" defTabSz="914400" rtl="0" eaLnBrk="1" latinLnBrk="0" hangingPunct="1">
              <a:lnSpc>
                <a:spcPct val="85000"/>
              </a:lnSpc>
              <a:spcBef>
                <a:spcPct val="0"/>
              </a:spcBef>
              <a:buNone/>
              <a:defRPr lang="en-US" sz="4000" b="1" i="0" kern="1200" spc="0" baseline="0" dirty="0">
                <a:solidFill>
                  <a:schemeClr val="bg1"/>
                </a:solidFill>
                <a:latin typeface="+mj-lt"/>
                <a:ea typeface="+mj-ea"/>
                <a:cs typeface="Source Sans 3" panose="020B0504040101010104" pitchFamily="34" charset="77"/>
              </a:defRPr>
            </a:lvl1pPr>
          </a:lstStyle>
          <a:p>
            <a:endParaRPr lang="en-US"/>
          </a:p>
        </p:txBody>
      </p:sp>
      <p:pic>
        <p:nvPicPr>
          <p:cNvPr id="5" name="Picture 15">
            <a:extLst>
              <a:ext uri="{FF2B5EF4-FFF2-40B4-BE49-F238E27FC236}">
                <a16:creationId xmlns:a16="http://schemas.microsoft.com/office/drawing/2014/main" id="{6E69A9D9-1C98-2197-D9B4-B9C547E76536}"/>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BFA29C7A-B1AE-8891-ED91-E4AFA3B4AE54}"/>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
        <p:nvSpPr>
          <p:cNvPr id="8" name="Text Placeholder 7">
            <a:extLst>
              <a:ext uri="{FF2B5EF4-FFF2-40B4-BE49-F238E27FC236}">
                <a16:creationId xmlns:a16="http://schemas.microsoft.com/office/drawing/2014/main" id="{5CEEEB95-D4DA-F72B-3644-E0474322CD12}"/>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39122737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Subtitle">
    <p:bg>
      <p:bgPr>
        <a:solidFill>
          <a:schemeClr val="bg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26518D85-6842-C7A1-8213-93232E2CE473}"/>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5">
            <a:extLst>
              <a:ext uri="{FF2B5EF4-FFF2-40B4-BE49-F238E27FC236}">
                <a16:creationId xmlns:a16="http://schemas.microsoft.com/office/drawing/2014/main" id="{233C28E9-77FE-F84E-09CD-A6DD572E35A7}"/>
              </a:ext>
            </a:extLst>
          </p:cNvPr>
          <p:cNvSpPr>
            <a:spLocks noGrp="1"/>
          </p:cNvSpPr>
          <p:nvPr>
            <p:ph type="title"/>
          </p:nvPr>
        </p:nvSpPr>
        <p:spPr>
          <a:xfrm>
            <a:off x="548640" y="530352"/>
            <a:ext cx="11082973" cy="594360"/>
          </a:xfrm>
        </p:spPr>
        <p:txBody>
          <a:bodyPr/>
          <a:lstStyle>
            <a:lvl1pPr>
              <a:defRPr b="1" i="0">
                <a:solidFill>
                  <a:schemeClr val="bg1"/>
                </a:solidFill>
                <a:latin typeface="+mj-lt"/>
                <a:cs typeface="Source Sans 3" panose="020B0504040101010104" pitchFamily="34" charset="77"/>
              </a:defRPr>
            </a:lvl1pPr>
          </a:lstStyle>
          <a:p>
            <a:endParaRPr lang="en-US"/>
          </a:p>
        </p:txBody>
      </p:sp>
      <p:sp>
        <p:nvSpPr>
          <p:cNvPr id="4" name="Subtitle 2">
            <a:extLst>
              <a:ext uri="{FF2B5EF4-FFF2-40B4-BE49-F238E27FC236}">
                <a16:creationId xmlns:a16="http://schemas.microsoft.com/office/drawing/2014/main" id="{AAD0785D-E493-828F-0904-70EE36464C4E}"/>
              </a:ext>
            </a:extLst>
          </p:cNvPr>
          <p:cNvSpPr>
            <a:spLocks noGrp="1"/>
          </p:cNvSpPr>
          <p:nvPr>
            <p:ph type="subTitle" idx="1"/>
          </p:nvPr>
        </p:nvSpPr>
        <p:spPr>
          <a:xfrm>
            <a:off x="548639" y="1097280"/>
            <a:ext cx="11091545" cy="696849"/>
          </a:xfrm>
          <a:prstGeom prst="rect">
            <a:avLst/>
          </a:prstGeom>
        </p:spPr>
        <p:txBody>
          <a:bodyPr/>
          <a:lstStyle>
            <a:lvl1pPr marL="0" indent="0" algn="l">
              <a:lnSpc>
                <a:spcPct val="90000"/>
              </a:lnSpc>
              <a:buNone/>
              <a:defRPr sz="2000">
                <a:solidFill>
                  <a:schemeClr val="bg1"/>
                </a:solidFill>
                <a:latin typeface="Source Sans 3"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15">
            <a:extLst>
              <a:ext uri="{FF2B5EF4-FFF2-40B4-BE49-F238E27FC236}">
                <a16:creationId xmlns:a16="http://schemas.microsoft.com/office/drawing/2014/main" id="{BD68D6C5-6FA4-F7AE-B09B-EF7682601D3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6" name="Slide Number Placeholder 5">
            <a:extLst>
              <a:ext uri="{FF2B5EF4-FFF2-40B4-BE49-F238E27FC236}">
                <a16:creationId xmlns:a16="http://schemas.microsoft.com/office/drawing/2014/main" id="{9A698FF4-6C4D-06ED-B374-625462A63AB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
        <p:nvSpPr>
          <p:cNvPr id="11" name="Text Placeholder 7">
            <a:extLst>
              <a:ext uri="{FF2B5EF4-FFF2-40B4-BE49-F238E27FC236}">
                <a16:creationId xmlns:a16="http://schemas.microsoft.com/office/drawing/2014/main" id="{A1C70AF7-D1AB-1022-E56A-2DFD941E2A68}"/>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57543089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rossfuze Statement Green">
    <p:bg>
      <p:bgPr>
        <a:solidFill>
          <a:schemeClr val="bg2"/>
        </a:solidFill>
        <a:effectLst/>
      </p:bgPr>
    </p:bg>
    <p:spTree>
      <p:nvGrpSpPr>
        <p:cNvPr id="1" name=""/>
        <p:cNvGrpSpPr/>
        <p:nvPr/>
      </p:nvGrpSpPr>
      <p:grpSpPr>
        <a:xfrm>
          <a:off x="0" y="0"/>
          <a:ext cx="0" cy="0"/>
          <a:chOff x="0" y="0"/>
          <a:chExt cx="0" cy="0"/>
        </a:xfrm>
      </p:grpSpPr>
      <p:pic>
        <p:nvPicPr>
          <p:cNvPr id="2" name="Picture 1" descr="A blue and green gradient&#10;&#10;AI-generated content may be incorrect.">
            <a:extLst>
              <a:ext uri="{FF2B5EF4-FFF2-40B4-BE49-F238E27FC236}">
                <a16:creationId xmlns:a16="http://schemas.microsoft.com/office/drawing/2014/main" id="{F577923B-7558-B9AA-DFC4-AE1DD0B1B2D7}"/>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F2D0E2A-4C8C-9EC2-9988-E3271D612A21}"/>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1" i="0" kern="1200" spc="0" baseline="0" dirty="0">
                <a:solidFill>
                  <a:schemeClr val="bg1"/>
                </a:solidFill>
                <a:latin typeface="Source Sans 3" panose="020B0804040101010104" pitchFamily="34" charset="0"/>
                <a:ea typeface="+mn-ea"/>
                <a:cs typeface="Source Sans 3" panose="020B0804040101010104" pitchFamily="34" charset="0"/>
              </a:defRPr>
            </a:lvl1pPr>
          </a:lstStyle>
          <a:p>
            <a:endParaRPr lang="en-US"/>
          </a:p>
        </p:txBody>
      </p:sp>
      <p:pic>
        <p:nvPicPr>
          <p:cNvPr id="4" name="Picture 15">
            <a:extLst>
              <a:ext uri="{FF2B5EF4-FFF2-40B4-BE49-F238E27FC236}">
                <a16:creationId xmlns:a16="http://schemas.microsoft.com/office/drawing/2014/main" id="{60E6181D-A3AE-D946-7C54-181E38476DEC}"/>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9EBBFA8E-87E9-FC94-2D65-A655EB2E5D4C}"/>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318154838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rossfuze Statement Blue">
    <p:bg>
      <p:bgPr>
        <a:solidFill>
          <a:schemeClr val="bg2"/>
        </a:solidFill>
        <a:effectLst/>
      </p:bgPr>
    </p:bg>
    <p:spTree>
      <p:nvGrpSpPr>
        <p:cNvPr id="1" name=""/>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id="{AFCA4208-EB0C-030C-F79E-0C9FF6BD91AD}"/>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F2D0E2A-4C8C-9EC2-9988-E3271D612A21}"/>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1" i="0" kern="1200" spc="0" baseline="0" dirty="0">
                <a:solidFill>
                  <a:schemeClr val="bg1"/>
                </a:solidFill>
                <a:latin typeface="Source Sans 3" panose="020B0804040101010104" pitchFamily="34" charset="0"/>
                <a:ea typeface="+mn-ea"/>
                <a:cs typeface="Source Sans 3" panose="020B0804040101010104" pitchFamily="34" charset="0"/>
              </a:defRPr>
            </a:lvl1pPr>
          </a:lstStyle>
          <a:p>
            <a:endParaRPr lang="en-US"/>
          </a:p>
        </p:txBody>
      </p:sp>
      <p:pic>
        <p:nvPicPr>
          <p:cNvPr id="4" name="Picture 15">
            <a:extLst>
              <a:ext uri="{FF2B5EF4-FFF2-40B4-BE49-F238E27FC236}">
                <a16:creationId xmlns:a16="http://schemas.microsoft.com/office/drawing/2014/main" id="{B7019559-BF9D-880A-8815-48DFE5ECF3F1}"/>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88D8A5D-E217-9E4B-C115-1E17D5AC32C2}"/>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88657883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rossfuze Statement">
    <p:bg>
      <p:bgPr>
        <a:solidFill>
          <a:schemeClr val="bg2"/>
        </a:solidFill>
        <a:effectLst/>
      </p:bgPr>
    </p:bg>
    <p:spTree>
      <p:nvGrpSpPr>
        <p:cNvPr id="1" name=""/>
        <p:cNvGrpSpPr/>
        <p:nvPr/>
      </p:nvGrpSpPr>
      <p:grpSpPr>
        <a:xfrm>
          <a:off x="0" y="0"/>
          <a:ext cx="0" cy="0"/>
          <a:chOff x="0" y="0"/>
          <a:chExt cx="0" cy="0"/>
        </a:xfrm>
      </p:grpSpPr>
      <p:pic>
        <p:nvPicPr>
          <p:cNvPr id="2" name="Picture 1" descr="A blue and purple background&#10;&#10;AI-generated content may be incorrect.">
            <a:extLst>
              <a:ext uri="{FF2B5EF4-FFF2-40B4-BE49-F238E27FC236}">
                <a16:creationId xmlns:a16="http://schemas.microsoft.com/office/drawing/2014/main" id="{D147C0E5-A43C-9EAE-1D73-2A853520D2C9}"/>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E49F5C0-51B8-9C94-473E-5AB10D41B80B}"/>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1" i="0" kern="1200" spc="0" baseline="0" dirty="0">
                <a:solidFill>
                  <a:schemeClr val="bg1"/>
                </a:solidFill>
                <a:latin typeface="Source Sans 3" panose="020B0804040101010104" pitchFamily="34" charset="0"/>
                <a:ea typeface="+mn-ea"/>
                <a:cs typeface="Source Sans 3" panose="020B0804040101010104" pitchFamily="34" charset="0"/>
              </a:defRPr>
            </a:lvl1pPr>
          </a:lstStyle>
          <a:p>
            <a:endParaRPr lang="en-US"/>
          </a:p>
        </p:txBody>
      </p:sp>
      <p:pic>
        <p:nvPicPr>
          <p:cNvPr id="4" name="Picture 15">
            <a:extLst>
              <a:ext uri="{FF2B5EF4-FFF2-40B4-BE49-F238E27FC236}">
                <a16:creationId xmlns:a16="http://schemas.microsoft.com/office/drawing/2014/main" id="{6ED21447-F91B-027A-A985-5F5FEE79565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1E2C641-C770-23C5-B4F2-382C52453F31}"/>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2733950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4673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rossfuze Cover">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4B14B0B4-835A-BFCE-1021-F56A27D88230}"/>
              </a:ext>
            </a:extLst>
          </p:cNvPr>
          <p:cNvSpPr txBox="1">
            <a:spLocks/>
          </p:cNvSpPr>
          <p:nvPr userDrawn="1"/>
        </p:nvSpPr>
        <p:spPr>
          <a:xfrm>
            <a:off x="482018" y="3089271"/>
            <a:ext cx="7053315" cy="3525310"/>
          </a:xfrm>
          <a:prstGeom prst="rect">
            <a:avLst/>
          </a:prstGeom>
        </p:spPr>
        <p:txBody>
          <a:bodyPr/>
          <a:lstStyle>
            <a:lvl1pPr marL="0" algn="l" defTabSz="914400" rtl="0" eaLnBrk="1" latinLnBrk="0" hangingPunct="1">
              <a:lnSpc>
                <a:spcPct val="90000"/>
              </a:lnSpc>
              <a:spcBef>
                <a:spcPct val="0"/>
              </a:spcBef>
              <a:buNone/>
              <a:defRPr lang="en-US" sz="4000" b="1" i="0" kern="1200" spc="0" baseline="0" dirty="0">
                <a:solidFill>
                  <a:schemeClr val="tx1"/>
                </a:solidFill>
                <a:latin typeface="Source Sans 3" panose="020B0504040101010104" pitchFamily="34" charset="77"/>
                <a:ea typeface="+mj-ea"/>
                <a:cs typeface="Source Sans 3" panose="020B0504040101010104" pitchFamily="34" charset="77"/>
              </a:defRPr>
            </a:lvl1pPr>
          </a:lstStyle>
          <a:p>
            <a:pPr>
              <a:lnSpc>
                <a:spcPct val="68000"/>
              </a:lnSpc>
            </a:pPr>
            <a:r>
              <a:rPr lang="en-US" sz="10800" b="0">
                <a:solidFill>
                  <a:schemeClr val="accent1"/>
                </a:solidFill>
                <a:latin typeface="+mj-lt"/>
              </a:rPr>
              <a:t>Put AI</a:t>
            </a:r>
            <a:br>
              <a:rPr lang="en-US" sz="10800" b="0">
                <a:solidFill>
                  <a:schemeClr val="accent1"/>
                </a:solidFill>
                <a:latin typeface="+mj-lt"/>
              </a:rPr>
            </a:br>
            <a:r>
              <a:rPr lang="en-US" sz="10800" b="0">
                <a:solidFill>
                  <a:schemeClr val="accent1"/>
                </a:solidFill>
                <a:latin typeface="+mj-lt"/>
              </a:rPr>
              <a:t>to work</a:t>
            </a:r>
            <a:br>
              <a:rPr lang="en-US" sz="10800" b="0">
                <a:latin typeface="+mj-lt"/>
              </a:rPr>
            </a:br>
            <a:r>
              <a:rPr lang="en-US" sz="10800" b="0">
                <a:solidFill>
                  <a:schemeClr val="bg1"/>
                </a:solidFill>
                <a:latin typeface="+mj-lt"/>
              </a:rPr>
              <a:t>for people</a:t>
            </a:r>
          </a:p>
        </p:txBody>
      </p:sp>
      <p:pic>
        <p:nvPicPr>
          <p:cNvPr id="5" name="Picture 15">
            <a:extLst>
              <a:ext uri="{FF2B5EF4-FFF2-40B4-BE49-F238E27FC236}">
                <a16:creationId xmlns:a16="http://schemas.microsoft.com/office/drawing/2014/main" id="{D6FBC2C5-ED6F-206E-7A07-AD82EDB28731}"/>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14703" y="342901"/>
            <a:ext cx="1683544" cy="481012"/>
          </a:xfrm>
          <a:prstGeom prst="rect">
            <a:avLst/>
          </a:prstGeom>
        </p:spPr>
      </p:pic>
    </p:spTree>
    <p:extLst>
      <p:ext uri="{BB962C8B-B14F-4D97-AF65-F5344CB8AC3E}">
        <p14:creationId xmlns:p14="http://schemas.microsoft.com/office/powerpoint/2010/main" val="112042630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White - Footer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094174-1B7C-CDDA-D627-EE28DC27CF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570345" y="224853"/>
            <a:ext cx="321793" cy="314794"/>
          </a:xfrm>
          <a:prstGeom prst="rect">
            <a:avLst/>
          </a:prstGeom>
        </p:spPr>
      </p:pic>
      <p:sp>
        <p:nvSpPr>
          <p:cNvPr id="3" name="Rectangle: Rounded Corners 31">
            <a:extLst>
              <a:ext uri="{FF2B5EF4-FFF2-40B4-BE49-F238E27FC236}">
                <a16:creationId xmlns:a16="http://schemas.microsoft.com/office/drawing/2014/main" id="{92646E18-8D63-5D09-AE1B-9CC1BDADC63A}"/>
              </a:ext>
            </a:extLst>
          </p:cNvPr>
          <p:cNvSpPr/>
          <p:nvPr userDrawn="1"/>
        </p:nvSpPr>
        <p:spPr>
          <a:xfrm>
            <a:off x="253934" y="6592888"/>
            <a:ext cx="9598700" cy="27432"/>
          </a:xfrm>
          <a:prstGeom prst="roundRect">
            <a:avLst/>
          </a:prstGeom>
          <a:gradFill flip="none" rotWithShape="1">
            <a:gsLst>
              <a:gs pos="0">
                <a:schemeClr val="accent2"/>
              </a:gs>
              <a:gs pos="10000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447">
              <a:defRPr/>
            </a:pPr>
            <a:endParaRPr lang="en-US" sz="1200">
              <a:solidFill>
                <a:prstClr val="white"/>
              </a:solidFill>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45218EB9-5FAA-C67F-34D7-1916A3BD21D0}"/>
              </a:ext>
            </a:extLst>
          </p:cNvPr>
          <p:cNvSpPr txBox="1"/>
          <p:nvPr userDrawn="1"/>
        </p:nvSpPr>
        <p:spPr>
          <a:xfrm>
            <a:off x="9944772" y="6472299"/>
            <a:ext cx="1919740" cy="261610"/>
          </a:xfrm>
          <a:prstGeom prst="rect">
            <a:avLst/>
          </a:prstGeom>
          <a:noFill/>
        </p:spPr>
        <p:txBody>
          <a:bodyPr wrap="square" rtlCol="0">
            <a:spAutoFit/>
          </a:bodyPr>
          <a:lstStyle/>
          <a:p>
            <a:pPr defTabSz="609447">
              <a:defRPr/>
            </a:pPr>
            <a:r>
              <a:rPr lang="en-US" sz="1100" dirty="0">
                <a:solidFill>
                  <a:schemeClr val="tx2"/>
                </a:solidFill>
                <a:latin typeface="Source Sans Pro" panose="020B0503030403020204" pitchFamily="34" charset="0"/>
                <a:ea typeface="Source Sans Pro" panose="020B0503030403020204" pitchFamily="34" charset="0"/>
              </a:rPr>
              <a:t>Copyright © 2026 Crossfuze | </a:t>
            </a:r>
          </a:p>
        </p:txBody>
      </p:sp>
      <p:sp>
        <p:nvSpPr>
          <p:cNvPr id="5" name="TextBox 4">
            <a:extLst>
              <a:ext uri="{FF2B5EF4-FFF2-40B4-BE49-F238E27FC236}">
                <a16:creationId xmlns:a16="http://schemas.microsoft.com/office/drawing/2014/main" id="{8ED4BC87-4FF0-3BA1-1284-72053E7EB132}"/>
              </a:ext>
            </a:extLst>
          </p:cNvPr>
          <p:cNvSpPr txBox="1"/>
          <p:nvPr userDrawn="1"/>
        </p:nvSpPr>
        <p:spPr>
          <a:xfrm rot="10800000" flipV="1">
            <a:off x="10930198" y="6478396"/>
            <a:ext cx="1064951" cy="261610"/>
          </a:xfrm>
          <a:prstGeom prst="rect">
            <a:avLst/>
          </a:prstGeom>
          <a:noFill/>
        </p:spPr>
        <p:txBody>
          <a:bodyPr wrap="square" rtlCol="0">
            <a:spAutoFit/>
          </a:bodyPr>
          <a:lstStyle/>
          <a:p>
            <a:pPr algn="r"/>
            <a:fld id="{260E2A6B-A809-4840-BF14-8648BC0BDF87}" type="slidenum">
              <a:rPr lang="id-ID" sz="1050" i="0" smtClean="0">
                <a:solidFill>
                  <a:schemeClr val="tx2"/>
                </a:solidFill>
                <a:latin typeface="Source Sans Pro" panose="020B0503030403020204" pitchFamily="34" charset="0"/>
                <a:ea typeface="Source Sans Pro" panose="020B0503030403020204" pitchFamily="34" charset="0"/>
                <a:cs typeface="Lato" panose="020F0502020204030203" pitchFamily="34" charset="0"/>
              </a:rPr>
              <a:pPr algn="r"/>
              <a:t>‹#›</a:t>
            </a:fld>
            <a:endParaRPr lang="id-ID" sz="1999" i="0" dirty="0">
              <a:solidFill>
                <a:schemeClr val="tx2"/>
              </a:solidFill>
              <a:latin typeface="Source Sans Pro" panose="020B0503030403020204" pitchFamily="34" charset="0"/>
              <a:ea typeface="Source Sans Pro" panose="020B0503030403020204" pitchFamily="34" charset="0"/>
              <a:cs typeface="Lato" panose="020F0502020204030203" pitchFamily="34" charset="0"/>
            </a:endParaRPr>
          </a:p>
        </p:txBody>
      </p:sp>
    </p:spTree>
    <p:extLst>
      <p:ext uri="{BB962C8B-B14F-4D97-AF65-F5344CB8AC3E}">
        <p14:creationId xmlns:p14="http://schemas.microsoft.com/office/powerpoint/2010/main" val="38130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pic>
        <p:nvPicPr>
          <p:cNvPr id="5" name="Picture 15">
            <a:extLst>
              <a:ext uri="{FF2B5EF4-FFF2-40B4-BE49-F238E27FC236}">
                <a16:creationId xmlns:a16="http://schemas.microsoft.com/office/drawing/2014/main" id="{B202667E-F2B1-8603-E5EB-3F0EDB4888CD}"/>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478373" y="6355437"/>
            <a:ext cx="980589" cy="280168"/>
          </a:xfrm>
          <a:prstGeom prst="rect">
            <a:avLst/>
          </a:prstGeom>
        </p:spPr>
      </p:pic>
      <p:sp>
        <p:nvSpPr>
          <p:cNvPr id="2" name="Title Placeholder 1">
            <a:extLst>
              <a:ext uri="{FF2B5EF4-FFF2-40B4-BE49-F238E27FC236}">
                <a16:creationId xmlns:a16="http://schemas.microsoft.com/office/drawing/2014/main" id="{3D9BDB30-A827-7C46-A7B6-E25C62B40224}"/>
              </a:ext>
            </a:extLst>
          </p:cNvPr>
          <p:cNvSpPr>
            <a:spLocks noGrp="1"/>
          </p:cNvSpPr>
          <p:nvPr>
            <p:ph type="title"/>
          </p:nvPr>
        </p:nvSpPr>
        <p:spPr>
          <a:xfrm>
            <a:off x="548640" y="530352"/>
            <a:ext cx="11089323" cy="753889"/>
          </a:xfrm>
          <a:prstGeom prst="rect">
            <a:avLst/>
          </a:prstGeom>
        </p:spPr>
        <p:txBody>
          <a:bodyPr vert="horz" lIns="0" tIns="0" rIns="0" bIns="0" rtlCol="0" anchor="t" anchorCtr="0">
            <a:noAutofit/>
          </a:bodyPr>
          <a:lstStyle/>
          <a:p>
            <a:pPr lvl="0"/>
            <a:endParaRPr lang="en-US"/>
          </a:p>
        </p:txBody>
      </p:sp>
      <p:sp>
        <p:nvSpPr>
          <p:cNvPr id="3" name="Text Placeholder 2">
            <a:extLst>
              <a:ext uri="{FF2B5EF4-FFF2-40B4-BE49-F238E27FC236}">
                <a16:creationId xmlns:a16="http://schemas.microsoft.com/office/drawing/2014/main" id="{D618F93C-99A7-3249-8F96-D441C75B6275}"/>
              </a:ext>
            </a:extLst>
          </p:cNvPr>
          <p:cNvSpPr>
            <a:spLocks noGrp="1"/>
          </p:cNvSpPr>
          <p:nvPr>
            <p:ph type="body" idx="1"/>
          </p:nvPr>
        </p:nvSpPr>
        <p:spPr>
          <a:xfrm>
            <a:off x="548640" y="1736920"/>
            <a:ext cx="11106785" cy="4292405"/>
          </a:xfrm>
          <a:prstGeom prst="rect">
            <a:avLst/>
          </a:prstGeom>
        </p:spPr>
        <p:txBody>
          <a:bodyPr vert="horz" lIns="0" tIns="0" rIns="0" bIns="0" rtlCol="0">
            <a:noAutofit/>
          </a:bodyPr>
          <a:lstStyle/>
          <a:p>
            <a:pPr lvl="0"/>
            <a:r>
              <a:rPr lang="en-US"/>
              <a:t>Click to edit Master</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Slide Number Placeholder 5">
            <a:extLst>
              <a:ext uri="{FF2B5EF4-FFF2-40B4-BE49-F238E27FC236}">
                <a16:creationId xmlns:a16="http://schemas.microsoft.com/office/drawing/2014/main" id="{55D9431A-535C-126F-A14B-68FD458A7A50}"/>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292190733"/>
      </p:ext>
    </p:extLst>
  </p:cSld>
  <p:clrMap bg1="lt1" tx1="dk1" bg2="lt2" tx2="dk2" accent1="accent1" accent2="accent2" accent3="accent3" accent4="accent4" accent5="accent5" accent6="accent6" hlink="hlink" folHlink="folHlink"/>
  <p:sldLayoutIdLst>
    <p:sldLayoutId id="2147485128" r:id="rId1"/>
    <p:sldLayoutId id="2147485129" r:id="rId2"/>
    <p:sldLayoutId id="2147485123" r:id="rId3"/>
    <p:sldLayoutId id="2147485202" r:id="rId4"/>
    <p:sldLayoutId id="2147485124" r:id="rId5"/>
    <p:sldLayoutId id="2147485156" r:id="rId6"/>
    <p:sldLayoutId id="2147485255" r:id="rId7"/>
    <p:sldLayoutId id="2147485256" r:id="rId8"/>
  </p:sldLayoutIdLst>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hf sldNum="0" hdr="0" ftr="0" dt="0"/>
  <p:txStyles>
    <p:titleStyle>
      <a:lvl1pPr marL="0" algn="l" defTabSz="914400" rtl="0" eaLnBrk="1" latinLnBrk="0" hangingPunct="1">
        <a:lnSpc>
          <a:spcPct val="85000"/>
        </a:lnSpc>
        <a:spcBef>
          <a:spcPct val="0"/>
        </a:spcBef>
        <a:buNone/>
        <a:tabLst>
          <a:tab pos="398463" algn="l"/>
        </a:tabLst>
        <a:defRPr lang="en-US" sz="4000" b="1" i="0" kern="1200" spc="0" baseline="0" dirty="0">
          <a:solidFill>
            <a:schemeClr val="bg1"/>
          </a:solidFill>
          <a:latin typeface="+mj-lt"/>
          <a:ea typeface="+mj-ea"/>
          <a:cs typeface="Source Sans 3" panose="020B0504040101010104" pitchFamily="34" charset="77"/>
        </a:defRPr>
      </a:lvl1pPr>
    </p:titleStyle>
    <p:bodyStyle>
      <a:lvl1pPr marL="0" indent="0" algn="l" defTabSz="914400" rtl="0" eaLnBrk="1" latinLnBrk="0" hangingPunct="1">
        <a:lnSpc>
          <a:spcPct val="100000"/>
        </a:lnSpc>
        <a:spcBef>
          <a:spcPts val="0"/>
        </a:spcBef>
        <a:spcAft>
          <a:spcPts val="1000"/>
        </a:spcAft>
        <a:buFont typeface="Source Sans 3" panose="020B0404040101010104" pitchFamily="34" charset="0"/>
        <a:buChar char="​"/>
        <a:defRPr lang="en-US" sz="1800" b="0" i="0" kern="1200" spc="0" baseline="0" dirty="0">
          <a:solidFill>
            <a:schemeClr val="bg1"/>
          </a:solidFill>
          <a:latin typeface="+mn-lt"/>
          <a:ea typeface="+mn-ea"/>
          <a:cs typeface="Source Sans 3" panose="020B0404040101010104" pitchFamily="34" charset="77"/>
        </a:defRPr>
      </a:lvl1pPr>
      <a:lvl2pPr marL="18288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600" b="0" i="0" kern="1200" spc="0" baseline="0">
          <a:solidFill>
            <a:schemeClr val="bg1"/>
          </a:solidFill>
          <a:latin typeface="+mn-lt"/>
          <a:ea typeface="+mn-ea"/>
          <a:cs typeface="Source Sans 3" panose="020B0404040101010104" pitchFamily="34" charset="77"/>
        </a:defRPr>
      </a:lvl2pPr>
      <a:lvl3pPr marL="36576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b="0" i="0" kern="1200" spc="0" baseline="0">
          <a:solidFill>
            <a:schemeClr val="bg1"/>
          </a:solidFill>
          <a:latin typeface="+mn-lt"/>
          <a:ea typeface="+mn-ea"/>
          <a:cs typeface="Source Sans 3" panose="020B0404040101010104" pitchFamily="34" charset="77"/>
        </a:defRPr>
      </a:lvl3pPr>
      <a:lvl4pPr marL="548640" marR="0" indent="-182880" algn="l" defTabSz="914400" rtl="0" eaLnBrk="1" fontAlgn="auto" latinLnBrk="0" hangingPunct="1">
        <a:lnSpc>
          <a:spcPct val="100000"/>
        </a:lnSpc>
        <a:spcBef>
          <a:spcPts val="0"/>
        </a:spcBef>
        <a:spcAft>
          <a:spcPts val="1000"/>
        </a:spcAft>
        <a:buClrTx/>
        <a:buSzPct val="110000"/>
        <a:buFont typeface="Source Sans 3" panose="020B0404040101010104" pitchFamily="34" charset="0"/>
        <a:buChar char="•"/>
        <a:tabLst/>
        <a:defRPr lang="en-US" sz="1400" b="0" i="0" kern="1200" spc="0" baseline="0" dirty="0">
          <a:solidFill>
            <a:schemeClr val="bg1"/>
          </a:solidFill>
          <a:latin typeface="+mn-lt"/>
          <a:ea typeface="+mn-ea"/>
          <a:cs typeface="Source Sans 3" panose="020B0704040101010104" pitchFamily="34" charset="0"/>
        </a:defRPr>
      </a:lvl4pPr>
      <a:lvl5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b="0" i="0" kern="1200" spc="0" baseline="0">
          <a:solidFill>
            <a:schemeClr val="bg1"/>
          </a:solidFill>
          <a:latin typeface="+mn-lt"/>
          <a:ea typeface="+mn-ea"/>
          <a:cs typeface="Source Sans 3" panose="020B0704040101010104" pitchFamily="34" charset="0"/>
        </a:defRPr>
      </a:lvl5pPr>
      <a:lvl6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b="0" i="0" kern="1200">
          <a:solidFill>
            <a:schemeClr val="bg1"/>
          </a:solidFill>
          <a:latin typeface="+mn-lt"/>
          <a:ea typeface="+mn-ea"/>
          <a:cs typeface="Source Sans 3" panose="020B0504040101010104" pitchFamily="34" charset="77"/>
        </a:defRPr>
      </a:lvl6pPr>
      <a:lvl7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kern="1200">
          <a:solidFill>
            <a:schemeClr val="bg1"/>
          </a:solidFill>
          <a:latin typeface="+mn-lt"/>
          <a:ea typeface="+mn-ea"/>
          <a:cs typeface="+mn-cs"/>
        </a:defRPr>
      </a:lvl7pPr>
      <a:lvl8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kern="1200">
          <a:solidFill>
            <a:schemeClr val="bg1"/>
          </a:solidFill>
          <a:latin typeface="+mn-lt"/>
          <a:ea typeface="+mn-ea"/>
          <a:cs typeface="+mn-cs"/>
        </a:defRPr>
      </a:lvl8pPr>
      <a:lvl9pPr marL="731520" marR="0" indent="-182880" algn="l" defTabSz="914400" rtl="0" eaLnBrk="1" fontAlgn="auto" latinLnBrk="0" hangingPunct="1">
        <a:lnSpc>
          <a:spcPct val="100000"/>
        </a:lnSpc>
        <a:spcBef>
          <a:spcPts val="0"/>
        </a:spcBef>
        <a:spcAft>
          <a:spcPts val="1000"/>
        </a:spcAft>
        <a:buClrTx/>
        <a:buSzPct val="110000"/>
        <a:buFont typeface="Source Sans 3" panose="020B0404040101010104" pitchFamily="34" charset="0"/>
        <a:buChar char="•"/>
        <a:tabLst/>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6" userDrawn="1">
          <p15:clr>
            <a:srgbClr val="F65275"/>
          </p15:clr>
        </p15:guide>
        <p15:guide id="2" pos="7330" userDrawn="1">
          <p15:clr>
            <a:srgbClr val="F65275"/>
          </p15:clr>
        </p15:guide>
        <p15:guide id="3" pos="815" userDrawn="1">
          <p15:clr>
            <a:srgbClr val="F65275"/>
          </p15:clr>
        </p15:guide>
        <p15:guide id="5" pos="935" userDrawn="1">
          <p15:clr>
            <a:srgbClr val="F65275"/>
          </p15:clr>
        </p15:guide>
        <p15:guide id="6" pos="1415" userDrawn="1">
          <p15:clr>
            <a:srgbClr val="F65275"/>
          </p15:clr>
        </p15:guide>
        <p15:guide id="7" pos="1535" userDrawn="1">
          <p15:clr>
            <a:srgbClr val="F65275"/>
          </p15:clr>
        </p15:guide>
        <p15:guide id="10" pos="2004" userDrawn="1">
          <p15:clr>
            <a:srgbClr val="F65275"/>
          </p15:clr>
        </p15:guide>
        <p15:guide id="11" pos="2121" userDrawn="1">
          <p15:clr>
            <a:srgbClr val="F65275"/>
          </p15:clr>
        </p15:guide>
        <p15:guide id="12" orient="horz" pos="690" userDrawn="1">
          <p15:clr>
            <a:srgbClr val="F65275"/>
          </p15:clr>
        </p15:guide>
        <p15:guide id="13" orient="horz" pos="788" userDrawn="1">
          <p15:clr>
            <a:srgbClr val="F65275"/>
          </p15:clr>
        </p15:guide>
        <p15:guide id="14" orient="horz" pos="346" userDrawn="1">
          <p15:clr>
            <a:srgbClr val="F65275"/>
          </p15:clr>
        </p15:guide>
        <p15:guide id="15" orient="horz" pos="1128" userDrawn="1">
          <p15:clr>
            <a:srgbClr val="F65275"/>
          </p15:clr>
        </p15:guide>
        <p15:guide id="16" orient="horz" pos="1232" userDrawn="1">
          <p15:clr>
            <a:srgbClr val="F65275"/>
          </p15:clr>
        </p15:guide>
        <p15:guide id="17" orient="horz" pos="1577" userDrawn="1">
          <p15:clr>
            <a:srgbClr val="F65275"/>
          </p15:clr>
        </p15:guide>
        <p15:guide id="18" orient="horz" pos="1680" userDrawn="1">
          <p15:clr>
            <a:srgbClr val="F65275"/>
          </p15:clr>
        </p15:guide>
        <p15:guide id="19" orient="horz" pos="4242" userDrawn="1">
          <p15:clr>
            <a:srgbClr val="F65275"/>
          </p15:clr>
        </p15:guide>
        <p15:guide id="20" pos="2591" userDrawn="1">
          <p15:clr>
            <a:srgbClr val="F65275"/>
          </p15:clr>
        </p15:guide>
        <p15:guide id="22" pos="2714" userDrawn="1">
          <p15:clr>
            <a:srgbClr val="F65275"/>
          </p15:clr>
        </p15:guide>
        <p15:guide id="24" pos="3184" userDrawn="1">
          <p15:clr>
            <a:srgbClr val="F65275"/>
          </p15:clr>
        </p15:guide>
        <p15:guide id="25" pos="3310" userDrawn="1">
          <p15:clr>
            <a:srgbClr val="F65275"/>
          </p15:clr>
        </p15:guide>
        <p15:guide id="26" pos="3785" userDrawn="1">
          <p15:clr>
            <a:srgbClr val="F65275"/>
          </p15:clr>
        </p15:guide>
        <p15:guide id="27" pos="3898" userDrawn="1">
          <p15:clr>
            <a:srgbClr val="F65275"/>
          </p15:clr>
        </p15:guide>
        <p15:guide id="28" pos="4369" userDrawn="1">
          <p15:clr>
            <a:srgbClr val="F65275"/>
          </p15:clr>
        </p15:guide>
        <p15:guide id="29" pos="4490" userDrawn="1">
          <p15:clr>
            <a:srgbClr val="F65275"/>
          </p15:clr>
        </p15:guide>
        <p15:guide id="30" pos="4965" userDrawn="1">
          <p15:clr>
            <a:srgbClr val="F65275"/>
          </p15:clr>
        </p15:guide>
        <p15:guide id="31" pos="5079" userDrawn="1">
          <p15:clr>
            <a:srgbClr val="F65275"/>
          </p15:clr>
        </p15:guide>
        <p15:guide id="34" pos="5557" userDrawn="1">
          <p15:clr>
            <a:srgbClr val="F65275"/>
          </p15:clr>
        </p15:guide>
        <p15:guide id="35" pos="5671" userDrawn="1">
          <p15:clr>
            <a:srgbClr val="F65275"/>
          </p15:clr>
        </p15:guide>
        <p15:guide id="36" pos="6145" userDrawn="1">
          <p15:clr>
            <a:srgbClr val="F65275"/>
          </p15:clr>
        </p15:guide>
        <p15:guide id="37" pos="6263" userDrawn="1">
          <p15:clr>
            <a:srgbClr val="F65275"/>
          </p15:clr>
        </p15:guide>
        <p15:guide id="38" pos="6738" userDrawn="1">
          <p15:clr>
            <a:srgbClr val="F65275"/>
          </p15:clr>
        </p15:guide>
        <p15:guide id="39" pos="6855" userDrawn="1">
          <p15:clr>
            <a:srgbClr val="F65275"/>
          </p15:clr>
        </p15:guide>
        <p15:guide id="41" orient="horz" pos="2024" userDrawn="1">
          <p15:clr>
            <a:srgbClr val="F65275"/>
          </p15:clr>
        </p15:guide>
        <p15:guide id="42" orient="horz" pos="2124" userDrawn="1">
          <p15:clr>
            <a:srgbClr val="F65275"/>
          </p15:clr>
        </p15:guide>
        <p15:guide id="43" orient="horz" pos="2468" userDrawn="1">
          <p15:clr>
            <a:srgbClr val="F65275"/>
          </p15:clr>
        </p15:guide>
        <p15:guide id="44" orient="horz" pos="2566" userDrawn="1">
          <p15:clr>
            <a:srgbClr val="F65275"/>
          </p15:clr>
        </p15:guide>
        <p15:guide id="45" orient="horz" pos="2912" userDrawn="1">
          <p15:clr>
            <a:srgbClr val="F65275"/>
          </p15:clr>
        </p15:guide>
        <p15:guide id="46" orient="horz" pos="3010" userDrawn="1">
          <p15:clr>
            <a:srgbClr val="F65275"/>
          </p15:clr>
        </p15:guide>
        <p15:guide id="47" orient="horz" pos="3356" userDrawn="1">
          <p15:clr>
            <a:srgbClr val="F65275"/>
          </p15:clr>
        </p15:guide>
        <p15:guide id="48" orient="horz" pos="3453" userDrawn="1">
          <p15:clr>
            <a:srgbClr val="F65275"/>
          </p15:clr>
        </p15:guide>
        <p15:guide id="49" orient="horz" pos="3798" userDrawn="1">
          <p15:clr>
            <a:srgbClr val="F65275"/>
          </p15:clr>
        </p15:guide>
        <p15:guide id="50" orient="horz" pos="3896" userDrawn="1">
          <p15:clr>
            <a:srgbClr val="F6527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1.svg"/><Relationship Id="rId4" Type="http://schemas.openxmlformats.org/officeDocument/2006/relationships/image" Target="../media/image16.png"/><Relationship Id="rId9"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sv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sv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1.png"/><Relationship Id="rId3" Type="http://schemas.openxmlformats.org/officeDocument/2006/relationships/image" Target="../media/image29.png"/><Relationship Id="rId7" Type="http://schemas.microsoft.com/office/2007/relationships/hdphoto" Target="../media/hdphoto2.wdp"/><Relationship Id="rId12" Type="http://schemas.openxmlformats.org/officeDocument/2006/relationships/image" Target="../media/image36.png"/><Relationship Id="rId17" Type="http://schemas.openxmlformats.org/officeDocument/2006/relationships/image" Target="../media/image40.png"/><Relationship Id="rId2" Type="http://schemas.openxmlformats.org/officeDocument/2006/relationships/notesSlide" Target="../notesSlides/notesSlide20.xml"/><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5.png"/><Relationship Id="rId5" Type="http://schemas.microsoft.com/office/2007/relationships/hdphoto" Target="../media/hdphoto1.wdp"/><Relationship Id="rId15" Type="http://schemas.openxmlformats.org/officeDocument/2006/relationships/image" Target="../media/image38.png"/><Relationship Id="rId10" Type="http://schemas.openxmlformats.org/officeDocument/2006/relationships/image" Target="../media/image34.png"/><Relationship Id="rId19" Type="http://schemas.openxmlformats.org/officeDocument/2006/relationships/image" Target="../media/image1.svg"/><Relationship Id="rId4" Type="http://schemas.openxmlformats.org/officeDocument/2006/relationships/image" Target="../media/image30.png"/><Relationship Id="rId9" Type="http://schemas.openxmlformats.org/officeDocument/2006/relationships/image" Target="../media/image33.png"/><Relationship Id="rId14" Type="http://schemas.openxmlformats.org/officeDocument/2006/relationships/hyperlink" Target="https://www.google.com/url?sa=i&amp;url=https%3A%2F%2Fwww.credly.com%2Forg%2Fgenesys&amp;psig=AOvVaw3WcpSDU176q5ECCehOI07f&amp;ust=1762012822455000&amp;source=images&amp;cd=vfe&amp;opi=89978449&amp;ved=0CBMQjRxqFwoTCLiM7LnnzpADFQAAAAAdAAAAABAL"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2.png"/><Relationship Id="rId7" Type="http://schemas.openxmlformats.org/officeDocument/2006/relationships/image" Target="../media/image1.sv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microsoft.com/office/2007/relationships/hdphoto" Target="../media/hdphoto4.wdp"/><Relationship Id="rId5" Type="http://schemas.openxmlformats.org/officeDocument/2006/relationships/image" Target="../media/image43.png"/><Relationship Id="rId4" Type="http://schemas.microsoft.com/office/2007/relationships/hdphoto" Target="../media/hdphoto3.wdp"/><Relationship Id="rId9" Type="http://schemas.openxmlformats.org/officeDocument/2006/relationships/image" Target="../media/image45.jpe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jpe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1.svg"/></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rgbClr val="040E3D"/>
        </a:solidFill>
        <a:effectLst/>
      </p:bgPr>
    </p:bg>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71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41148" cy="6858000"/>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 y="246888"/>
            <a:ext cx="64008" cy="283464"/>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30352" y="256032"/>
            <a:ext cx="5486400" cy="292608"/>
          </a:xfrm>
          <a:prstGeom prst="rect">
            <a:avLst/>
          </a:prstGeom>
          <a:noFill/>
        </p:spPr>
        <p:txBody>
          <a:bodyPr wrap="square" lIns="0" tIns="0" rIns="0" bIns="0" anchor="t">
            <a:spAutoFit/>
          </a:bodyPr>
          <a:lstStyle/>
          <a:p>
            <a:pPr algn="l">
              <a:spcAft>
                <a:spcPts val="100"/>
              </a:spcAft>
            </a:pPr>
            <a:r>
              <a:rPr sz="1100" b="1">
                <a:solidFill>
                  <a:srgbClr val="71F1F7"/>
                </a:solidFill>
                <a:latin typeface="Source Sans 3"/>
              </a:rPr>
              <a:t>CROSSFUZE  /  SALES ENABLEMENT</a:t>
            </a:r>
          </a:p>
        </p:txBody>
      </p:sp>
      <p:sp>
        <p:nvSpPr>
          <p:cNvPr id="6" name="Rounded Rectangle 5"/>
          <p:cNvSpPr/>
          <p:nvPr/>
        </p:nvSpPr>
        <p:spPr>
          <a:xfrm>
            <a:off x="8869680" y="219456"/>
            <a:ext cx="2843784" cy="365760"/>
          </a:xfrm>
          <a:prstGeom prst="roundRect">
            <a:avLst>
              <a:gd name="adj" fmla="val 10000"/>
            </a:avLst>
          </a:prstGeom>
          <a:solidFill>
            <a:srgbClr val="040E3D"/>
          </a:solidFill>
          <a:ln w="12700">
            <a:solidFill>
              <a:srgbClr val="F652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51976" y="301752"/>
            <a:ext cx="2660904" cy="210312"/>
          </a:xfrm>
          <a:prstGeom prst="rect">
            <a:avLst/>
          </a:prstGeom>
          <a:noFill/>
        </p:spPr>
        <p:txBody>
          <a:bodyPr wrap="square" lIns="0" tIns="0" rIns="0" bIns="0" anchor="t">
            <a:spAutoFit/>
          </a:bodyPr>
          <a:lstStyle/>
          <a:p>
            <a:pPr algn="ctr">
              <a:spcAft>
                <a:spcPts val="100"/>
              </a:spcAft>
            </a:pPr>
            <a:r>
              <a:rPr sz="919" b="1">
                <a:solidFill>
                  <a:srgbClr val="F2F2F4"/>
                </a:solidFill>
                <a:latin typeface="Source Sans 3"/>
              </a:rPr>
              <a:t>INTERNAL ONLY  ·  DO NOT PRESENT</a:t>
            </a:r>
          </a:p>
        </p:txBody>
      </p:sp>
      <p:sp>
        <p:nvSpPr>
          <p:cNvPr id="8" name="TextBox 7"/>
          <p:cNvSpPr txBox="1"/>
          <p:nvPr/>
        </p:nvSpPr>
        <p:spPr>
          <a:xfrm>
            <a:off x="512064" y="740664"/>
            <a:ext cx="10789920" cy="548640"/>
          </a:xfrm>
          <a:prstGeom prst="rect">
            <a:avLst/>
          </a:prstGeom>
          <a:noFill/>
        </p:spPr>
        <p:txBody>
          <a:bodyPr wrap="square" lIns="0" tIns="0" rIns="0" bIns="0" anchor="t">
            <a:spAutoFit/>
          </a:bodyPr>
          <a:lstStyle/>
          <a:p>
            <a:pPr algn="l">
              <a:spcAft>
                <a:spcPts val="100"/>
              </a:spcAft>
            </a:pPr>
            <a:r>
              <a:rPr sz="3150" b="1">
                <a:solidFill>
                  <a:srgbClr val="FFFFFF"/>
                </a:solidFill>
                <a:latin typeface="Source Sans 3"/>
              </a:rPr>
              <a:t>Meeting breakdown &amp; sales process</a:t>
            </a:r>
          </a:p>
        </p:txBody>
      </p:sp>
      <p:sp>
        <p:nvSpPr>
          <p:cNvPr id="9" name="TextBox 8"/>
          <p:cNvSpPr txBox="1"/>
          <p:nvPr/>
        </p:nvSpPr>
        <p:spPr>
          <a:xfrm>
            <a:off x="521207" y="1335024"/>
            <a:ext cx="10972800" cy="438912"/>
          </a:xfrm>
          <a:prstGeom prst="rect">
            <a:avLst/>
          </a:prstGeom>
          <a:noFill/>
        </p:spPr>
        <p:txBody>
          <a:bodyPr wrap="square" lIns="0" tIns="0" rIns="0" bIns="0" anchor="t">
            <a:spAutoFit/>
          </a:bodyPr>
          <a:lstStyle/>
          <a:p>
            <a:pPr algn="l">
              <a:spcAft>
                <a:spcPts val="100"/>
              </a:spcAft>
            </a:pPr>
            <a:r>
              <a:rPr sz="1450" b="0">
                <a:solidFill>
                  <a:srgbClr val="F2F2F4"/>
                </a:solidFill>
                <a:latin typeface="Source Sans 3"/>
              </a:rPr>
              <a:t>From an executive AI readiness conversation to an evidence-led, paid delivery engagement.</a:t>
            </a:r>
          </a:p>
        </p:txBody>
      </p:sp>
      <p:sp>
        <p:nvSpPr>
          <p:cNvPr id="10" name="Rounded Rectangle 9"/>
          <p:cNvSpPr/>
          <p:nvPr/>
        </p:nvSpPr>
        <p:spPr>
          <a:xfrm>
            <a:off x="502920"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6072" y="2130552"/>
            <a:ext cx="50292" cy="521207"/>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148840"/>
            <a:ext cx="393192" cy="265176"/>
          </a:xfrm>
          <a:prstGeom prst="rect">
            <a:avLst/>
          </a:prstGeom>
          <a:noFill/>
        </p:spPr>
        <p:txBody>
          <a:bodyPr wrap="square" lIns="0" tIns="0" rIns="0" bIns="0" anchor="t">
            <a:spAutoFit/>
          </a:bodyPr>
          <a:lstStyle/>
          <a:p>
            <a:pPr algn="l">
              <a:spcAft>
                <a:spcPts val="100"/>
              </a:spcAft>
            </a:pPr>
            <a:r>
              <a:rPr sz="1300" b="1">
                <a:solidFill>
                  <a:srgbClr val="8FFFDB"/>
                </a:solidFill>
                <a:latin typeface="Source Sans 3"/>
              </a:rPr>
              <a:t>01</a:t>
            </a:r>
          </a:p>
        </p:txBody>
      </p:sp>
      <p:sp>
        <p:nvSpPr>
          <p:cNvPr id="13" name="TextBox 12"/>
          <p:cNvSpPr txBox="1"/>
          <p:nvPr/>
        </p:nvSpPr>
        <p:spPr>
          <a:xfrm>
            <a:off x="1133856"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MEETING 1</a:t>
            </a:r>
          </a:p>
        </p:txBody>
      </p:sp>
      <p:sp>
        <p:nvSpPr>
          <p:cNvPr id="14" name="TextBox 13"/>
          <p:cNvSpPr txBox="1"/>
          <p:nvPr/>
        </p:nvSpPr>
        <p:spPr>
          <a:xfrm>
            <a:off x="685800"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Executive discovery  ·  30–45 min</a:t>
            </a:r>
          </a:p>
        </p:txBody>
      </p:sp>
      <p:sp>
        <p:nvSpPr>
          <p:cNvPr id="15" name="Rectangle 14"/>
          <p:cNvSpPr/>
          <p:nvPr/>
        </p:nvSpPr>
        <p:spPr>
          <a:xfrm>
            <a:off x="676656"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Create the case for readiness</a:t>
            </a:r>
          </a:p>
        </p:txBody>
      </p:sp>
      <p:sp>
        <p:nvSpPr>
          <p:cNvPr id="17" name="TextBox 16"/>
          <p:cNvSpPr txBox="1"/>
          <p:nvPr/>
        </p:nvSpPr>
        <p:spPr>
          <a:xfrm>
            <a:off x="685800"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Connect AI ambition to the ServiceNow AI Readiness Gap. Establish business priorities, risks and a potential first outcome.</a:t>
            </a:r>
          </a:p>
        </p:txBody>
      </p:sp>
      <p:sp>
        <p:nvSpPr>
          <p:cNvPr id="18" name="Rounded Rectangle 17"/>
          <p:cNvSpPr/>
          <p:nvPr/>
        </p:nvSpPr>
        <p:spPr>
          <a:xfrm>
            <a:off x="667512"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5010912"/>
            <a:ext cx="1984248" cy="155448"/>
          </a:xfrm>
          <a:prstGeom prst="rect">
            <a:avLst/>
          </a:prstGeom>
          <a:noFill/>
        </p:spPr>
        <p:txBody>
          <a:bodyPr wrap="square" lIns="0" tIns="0" rIns="0" bIns="0" anchor="t">
            <a:spAutoFit/>
          </a:bodyPr>
          <a:lstStyle/>
          <a:p>
            <a:pPr algn="l">
              <a:spcAft>
                <a:spcPts val="100"/>
              </a:spcAft>
            </a:pPr>
            <a:r>
              <a:rPr sz="800" b="1">
                <a:solidFill>
                  <a:srgbClr val="8FFFDB"/>
                </a:solidFill>
                <a:latin typeface="Source Sans 3"/>
              </a:rPr>
              <a:t>ADVANCE WHEN</a:t>
            </a:r>
          </a:p>
        </p:txBody>
      </p:sp>
      <p:sp>
        <p:nvSpPr>
          <p:cNvPr id="20" name="TextBox 19"/>
          <p:cNvSpPr txBox="1"/>
          <p:nvPr/>
        </p:nvSpPr>
        <p:spPr>
          <a:xfrm>
            <a:off x="758952"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90-minute assessment agreed</a:t>
            </a:r>
          </a:p>
        </p:txBody>
      </p:sp>
      <p:sp>
        <p:nvSpPr>
          <p:cNvPr id="21" name="Rounded Rectangle 20"/>
          <p:cNvSpPr/>
          <p:nvPr/>
        </p:nvSpPr>
        <p:spPr>
          <a:xfrm>
            <a:off x="3410712"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83864" y="2130552"/>
            <a:ext cx="50292" cy="521207"/>
          </a:xfrm>
          <a:prstGeom prst="rect">
            <a:avLst/>
          </a:prstGeom>
          <a:solidFill>
            <a:srgbClr val="71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93592" y="2148840"/>
            <a:ext cx="393192" cy="265176"/>
          </a:xfrm>
          <a:prstGeom prst="rect">
            <a:avLst/>
          </a:prstGeom>
          <a:noFill/>
        </p:spPr>
        <p:txBody>
          <a:bodyPr wrap="square" lIns="0" tIns="0" rIns="0" bIns="0" anchor="t">
            <a:spAutoFit/>
          </a:bodyPr>
          <a:lstStyle/>
          <a:p>
            <a:pPr algn="l">
              <a:spcAft>
                <a:spcPts val="100"/>
              </a:spcAft>
            </a:pPr>
            <a:r>
              <a:rPr sz="1300" b="1">
                <a:solidFill>
                  <a:srgbClr val="71F1F7"/>
                </a:solidFill>
                <a:latin typeface="Source Sans 3"/>
              </a:rPr>
              <a:t>02</a:t>
            </a:r>
          </a:p>
        </p:txBody>
      </p:sp>
      <p:sp>
        <p:nvSpPr>
          <p:cNvPr id="24" name="TextBox 23"/>
          <p:cNvSpPr txBox="1"/>
          <p:nvPr/>
        </p:nvSpPr>
        <p:spPr>
          <a:xfrm>
            <a:off x="4041648"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ASSESSMENT</a:t>
            </a:r>
          </a:p>
        </p:txBody>
      </p:sp>
      <p:sp>
        <p:nvSpPr>
          <p:cNvPr id="25" name="TextBox 24"/>
          <p:cNvSpPr txBox="1"/>
          <p:nvPr/>
        </p:nvSpPr>
        <p:spPr>
          <a:xfrm>
            <a:off x="3593592"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Evidence-led workshop  ·  90 min</a:t>
            </a:r>
          </a:p>
        </p:txBody>
      </p:sp>
      <p:sp>
        <p:nvSpPr>
          <p:cNvPr id="26" name="Rectangle 25"/>
          <p:cNvSpPr/>
          <p:nvPr/>
        </p:nvSpPr>
        <p:spPr>
          <a:xfrm>
            <a:off x="3584448"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93592"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Establish the first decision</a:t>
            </a:r>
          </a:p>
        </p:txBody>
      </p:sp>
      <p:sp>
        <p:nvSpPr>
          <p:cNvPr id="28" name="TextBox 27"/>
          <p:cNvSpPr txBox="1"/>
          <p:nvPr/>
        </p:nvSpPr>
        <p:spPr>
          <a:xfrm>
            <a:off x="3593592"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Review seven readiness dimensions, controls and indicative consumption. Capture uncertainties, owners and a candidate use case.</a:t>
            </a:r>
          </a:p>
        </p:txBody>
      </p:sp>
      <p:sp>
        <p:nvSpPr>
          <p:cNvPr id="29" name="Rounded Rectangle 28"/>
          <p:cNvSpPr/>
          <p:nvPr/>
        </p:nvSpPr>
        <p:spPr>
          <a:xfrm>
            <a:off x="3575304"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66744" y="5010912"/>
            <a:ext cx="1984248" cy="155448"/>
          </a:xfrm>
          <a:prstGeom prst="rect">
            <a:avLst/>
          </a:prstGeom>
          <a:noFill/>
        </p:spPr>
        <p:txBody>
          <a:bodyPr wrap="square" lIns="0" tIns="0" rIns="0" bIns="0" anchor="t">
            <a:spAutoFit/>
          </a:bodyPr>
          <a:lstStyle/>
          <a:p>
            <a:pPr algn="l">
              <a:spcAft>
                <a:spcPts val="100"/>
              </a:spcAft>
            </a:pPr>
            <a:r>
              <a:rPr sz="800" b="1">
                <a:solidFill>
                  <a:srgbClr val="71F1F7"/>
                </a:solidFill>
                <a:latin typeface="Source Sans 3"/>
              </a:rPr>
              <a:t>OUTPUT</a:t>
            </a:r>
          </a:p>
        </p:txBody>
      </p:sp>
      <p:sp>
        <p:nvSpPr>
          <p:cNvPr id="31" name="TextBox 30"/>
          <p:cNvSpPr txBox="1"/>
          <p:nvPr/>
        </p:nvSpPr>
        <p:spPr>
          <a:xfrm>
            <a:off x="3666744"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AI Readiness Decision Brief</a:t>
            </a:r>
          </a:p>
        </p:txBody>
      </p:sp>
      <p:sp>
        <p:nvSpPr>
          <p:cNvPr id="32" name="Rounded Rectangle 31"/>
          <p:cNvSpPr/>
          <p:nvPr/>
        </p:nvSpPr>
        <p:spPr>
          <a:xfrm>
            <a:off x="6318504"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391656" y="2130552"/>
            <a:ext cx="50292" cy="521207"/>
          </a:xfrm>
          <a:prstGeom prst="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01384" y="2148840"/>
            <a:ext cx="393192" cy="265176"/>
          </a:xfrm>
          <a:prstGeom prst="rect">
            <a:avLst/>
          </a:prstGeom>
          <a:noFill/>
        </p:spPr>
        <p:txBody>
          <a:bodyPr wrap="square" lIns="0" tIns="0" rIns="0" bIns="0" anchor="t">
            <a:spAutoFit/>
          </a:bodyPr>
          <a:lstStyle/>
          <a:p>
            <a:pPr algn="l">
              <a:spcAft>
                <a:spcPts val="100"/>
              </a:spcAft>
            </a:pPr>
            <a:r>
              <a:rPr sz="1300" b="1">
                <a:solidFill>
                  <a:srgbClr val="C0A6FF"/>
                </a:solidFill>
                <a:latin typeface="Source Sans 3"/>
              </a:rPr>
              <a:t>03</a:t>
            </a:r>
          </a:p>
        </p:txBody>
      </p:sp>
      <p:sp>
        <p:nvSpPr>
          <p:cNvPr id="35" name="TextBox 34"/>
          <p:cNvSpPr txBox="1"/>
          <p:nvPr/>
        </p:nvSpPr>
        <p:spPr>
          <a:xfrm>
            <a:off x="6949440"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MEETING 2</a:t>
            </a:r>
          </a:p>
        </p:txBody>
      </p:sp>
      <p:sp>
        <p:nvSpPr>
          <p:cNvPr id="36" name="TextBox 35"/>
          <p:cNvSpPr txBox="1"/>
          <p:nvPr/>
        </p:nvSpPr>
        <p:spPr>
          <a:xfrm>
            <a:off x="6501384"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Working session  ·  45–60 min</a:t>
            </a:r>
          </a:p>
        </p:txBody>
      </p:sp>
      <p:sp>
        <p:nvSpPr>
          <p:cNvPr id="37" name="Rectangle 36"/>
          <p:cNvSpPr/>
          <p:nvPr/>
        </p:nvSpPr>
        <p:spPr>
          <a:xfrm>
            <a:off x="6492240"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01384"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Turn findings into a delivery plan</a:t>
            </a:r>
          </a:p>
        </p:txBody>
      </p:sp>
      <p:sp>
        <p:nvSpPr>
          <p:cNvPr id="39" name="TextBox 38"/>
          <p:cNvSpPr txBox="1"/>
          <p:nvPr/>
        </p:nvSpPr>
        <p:spPr>
          <a:xfrm>
            <a:off x="6501384"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Walk the dependencies, Permission to Automate, Assist assumptions and first 90-day priorities. Agree measures and decision owners.</a:t>
            </a:r>
          </a:p>
        </p:txBody>
      </p:sp>
      <p:sp>
        <p:nvSpPr>
          <p:cNvPr id="40" name="Rounded Rectangle 39"/>
          <p:cNvSpPr/>
          <p:nvPr/>
        </p:nvSpPr>
        <p:spPr>
          <a:xfrm>
            <a:off x="6483096"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74536" y="5010912"/>
            <a:ext cx="1984248" cy="155448"/>
          </a:xfrm>
          <a:prstGeom prst="rect">
            <a:avLst/>
          </a:prstGeom>
          <a:noFill/>
        </p:spPr>
        <p:txBody>
          <a:bodyPr wrap="square" lIns="0" tIns="0" rIns="0" bIns="0" anchor="t">
            <a:spAutoFit/>
          </a:bodyPr>
          <a:lstStyle/>
          <a:p>
            <a:pPr algn="l">
              <a:spcAft>
                <a:spcPts val="100"/>
              </a:spcAft>
            </a:pPr>
            <a:r>
              <a:rPr sz="800" b="1">
                <a:solidFill>
                  <a:srgbClr val="C0A6FF"/>
                </a:solidFill>
                <a:latin typeface="Source Sans 3"/>
              </a:rPr>
              <a:t>ADVANCE WHEN</a:t>
            </a:r>
          </a:p>
        </p:txBody>
      </p:sp>
      <p:sp>
        <p:nvSpPr>
          <p:cNvPr id="42" name="TextBox 41"/>
          <p:cNvSpPr txBox="1"/>
          <p:nvPr/>
        </p:nvSpPr>
        <p:spPr>
          <a:xfrm>
            <a:off x="6574536"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Sponsor and scope agreed for quote</a:t>
            </a:r>
          </a:p>
        </p:txBody>
      </p:sp>
      <p:sp>
        <p:nvSpPr>
          <p:cNvPr id="43" name="Rounded Rectangle 42"/>
          <p:cNvSpPr/>
          <p:nvPr/>
        </p:nvSpPr>
        <p:spPr>
          <a:xfrm>
            <a:off x="9226296"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299448" y="2130552"/>
            <a:ext cx="50292" cy="521207"/>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09176" y="2148840"/>
            <a:ext cx="393192" cy="265176"/>
          </a:xfrm>
          <a:prstGeom prst="rect">
            <a:avLst/>
          </a:prstGeom>
          <a:noFill/>
        </p:spPr>
        <p:txBody>
          <a:bodyPr wrap="square" lIns="0" tIns="0" rIns="0" bIns="0" anchor="t">
            <a:spAutoFit/>
          </a:bodyPr>
          <a:lstStyle/>
          <a:p>
            <a:pPr algn="l">
              <a:spcAft>
                <a:spcPts val="100"/>
              </a:spcAft>
            </a:pPr>
            <a:r>
              <a:rPr sz="1300" b="1">
                <a:solidFill>
                  <a:srgbClr val="8FFFDB"/>
                </a:solidFill>
                <a:latin typeface="Source Sans 3"/>
              </a:rPr>
              <a:t>04</a:t>
            </a:r>
          </a:p>
        </p:txBody>
      </p:sp>
      <p:sp>
        <p:nvSpPr>
          <p:cNvPr id="46" name="TextBox 45"/>
          <p:cNvSpPr txBox="1"/>
          <p:nvPr/>
        </p:nvSpPr>
        <p:spPr>
          <a:xfrm>
            <a:off x="9857232"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AI RUNSTATE</a:t>
            </a:r>
          </a:p>
        </p:txBody>
      </p:sp>
      <p:sp>
        <p:nvSpPr>
          <p:cNvPr id="47" name="TextBox 46"/>
          <p:cNvSpPr txBox="1"/>
          <p:nvPr/>
        </p:nvSpPr>
        <p:spPr>
          <a:xfrm>
            <a:off x="9409176"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Paid delivery  ·  12 months</a:t>
            </a:r>
          </a:p>
        </p:txBody>
      </p:sp>
      <p:sp>
        <p:nvSpPr>
          <p:cNvPr id="48" name="Rectangle 47"/>
          <p:cNvSpPr/>
          <p:nvPr/>
        </p:nvSpPr>
        <p:spPr>
          <a:xfrm>
            <a:off x="9400032"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09176"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Plan. Prioritise. Ship.</a:t>
            </a:r>
          </a:p>
        </p:txBody>
      </p:sp>
      <p:sp>
        <p:nvSpPr>
          <p:cNvPr id="50" name="TextBox 49"/>
          <p:cNvSpPr txBox="1"/>
          <p:nvPr/>
        </p:nvSpPr>
        <p:spPr>
          <a:xfrm>
            <a:off x="9409176"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AI Action Plan, up to four backlog cycles and Extend capacity (80 hours a month for nine months). Release and measure governed outcomes.</a:t>
            </a:r>
          </a:p>
        </p:txBody>
      </p:sp>
      <p:sp>
        <p:nvSpPr>
          <p:cNvPr id="51" name="Rounded Rectangle 50"/>
          <p:cNvSpPr/>
          <p:nvPr/>
        </p:nvSpPr>
        <p:spPr>
          <a:xfrm>
            <a:off x="9390888"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82328" y="5010912"/>
            <a:ext cx="1984248" cy="155448"/>
          </a:xfrm>
          <a:prstGeom prst="rect">
            <a:avLst/>
          </a:prstGeom>
          <a:noFill/>
        </p:spPr>
        <p:txBody>
          <a:bodyPr wrap="square" lIns="0" tIns="0" rIns="0" bIns="0" anchor="t">
            <a:spAutoFit/>
          </a:bodyPr>
          <a:lstStyle/>
          <a:p>
            <a:pPr algn="l">
              <a:spcAft>
                <a:spcPts val="100"/>
              </a:spcAft>
            </a:pPr>
            <a:r>
              <a:rPr sz="800" b="1">
                <a:solidFill>
                  <a:srgbClr val="8FFFDB"/>
                </a:solidFill>
                <a:latin typeface="Source Sans 3"/>
              </a:rPr>
              <a:t>RESULT</a:t>
            </a:r>
          </a:p>
        </p:txBody>
      </p:sp>
      <p:sp>
        <p:nvSpPr>
          <p:cNvPr id="53" name="TextBox 52"/>
          <p:cNvSpPr txBox="1"/>
          <p:nvPr/>
        </p:nvSpPr>
        <p:spPr>
          <a:xfrm>
            <a:off x="9482328"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Continuous, measurable delivery</a:t>
            </a:r>
          </a:p>
        </p:txBody>
      </p:sp>
      <p:sp>
        <p:nvSpPr>
          <p:cNvPr id="54" name="TextBox 53"/>
          <p:cNvSpPr txBox="1"/>
          <p:nvPr/>
        </p:nvSpPr>
        <p:spPr>
          <a:xfrm>
            <a:off x="3017520" y="3438144"/>
            <a:ext cx="347472" cy="292608"/>
          </a:xfrm>
          <a:prstGeom prst="rect">
            <a:avLst/>
          </a:prstGeom>
          <a:noFill/>
        </p:spPr>
        <p:txBody>
          <a:bodyPr wrap="square" lIns="0" tIns="0" rIns="0" bIns="0" anchor="t">
            <a:spAutoFit/>
          </a:bodyPr>
          <a:lstStyle/>
          <a:p>
            <a:pPr algn="ctr">
              <a:spcAft>
                <a:spcPts val="100"/>
              </a:spcAft>
            </a:pPr>
            <a:r>
              <a:rPr sz="2200" b="1">
                <a:solidFill>
                  <a:srgbClr val="71F1F7"/>
                </a:solidFill>
                <a:latin typeface="Source Sans 3"/>
              </a:rPr>
              <a:t>›</a:t>
            </a:r>
          </a:p>
        </p:txBody>
      </p:sp>
      <p:sp>
        <p:nvSpPr>
          <p:cNvPr id="55" name="TextBox 54"/>
          <p:cNvSpPr txBox="1"/>
          <p:nvPr/>
        </p:nvSpPr>
        <p:spPr>
          <a:xfrm>
            <a:off x="5925312" y="3438144"/>
            <a:ext cx="347472" cy="292608"/>
          </a:xfrm>
          <a:prstGeom prst="rect">
            <a:avLst/>
          </a:prstGeom>
          <a:noFill/>
        </p:spPr>
        <p:txBody>
          <a:bodyPr wrap="square" lIns="0" tIns="0" rIns="0" bIns="0" anchor="t">
            <a:spAutoFit/>
          </a:bodyPr>
          <a:lstStyle/>
          <a:p>
            <a:pPr algn="ctr">
              <a:spcAft>
                <a:spcPts val="100"/>
              </a:spcAft>
            </a:pPr>
            <a:r>
              <a:rPr sz="2200" b="1">
                <a:solidFill>
                  <a:srgbClr val="71F1F7"/>
                </a:solidFill>
                <a:latin typeface="Source Sans 3"/>
              </a:rPr>
              <a:t>›</a:t>
            </a:r>
          </a:p>
        </p:txBody>
      </p:sp>
      <p:sp>
        <p:nvSpPr>
          <p:cNvPr id="56" name="TextBox 55"/>
          <p:cNvSpPr txBox="1"/>
          <p:nvPr/>
        </p:nvSpPr>
        <p:spPr>
          <a:xfrm>
            <a:off x="8833104" y="3438144"/>
            <a:ext cx="347472" cy="292608"/>
          </a:xfrm>
          <a:prstGeom prst="rect">
            <a:avLst/>
          </a:prstGeom>
          <a:noFill/>
        </p:spPr>
        <p:txBody>
          <a:bodyPr wrap="square" lIns="0" tIns="0" rIns="0" bIns="0" anchor="t">
            <a:spAutoFit/>
          </a:bodyPr>
          <a:lstStyle/>
          <a:p>
            <a:pPr algn="ctr">
              <a:spcAft>
                <a:spcPts val="100"/>
              </a:spcAft>
            </a:pPr>
            <a:r>
              <a:rPr sz="2200" b="1">
                <a:solidFill>
                  <a:srgbClr val="71F1F7"/>
                </a:solidFill>
                <a:latin typeface="Source Sans 3"/>
              </a:rPr>
              <a:t>›</a:t>
            </a:r>
          </a:p>
        </p:txBody>
      </p:sp>
      <p:sp>
        <p:nvSpPr>
          <p:cNvPr id="57" name="Rounded Rectangle 56"/>
          <p:cNvSpPr/>
          <p:nvPr/>
        </p:nvSpPr>
        <p:spPr>
          <a:xfrm>
            <a:off x="475488" y="5742432"/>
            <a:ext cx="11237976" cy="630936"/>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080" y="5843016"/>
            <a:ext cx="1188720" cy="201168"/>
          </a:xfrm>
          <a:prstGeom prst="rect">
            <a:avLst/>
          </a:prstGeom>
          <a:noFill/>
        </p:spPr>
        <p:txBody>
          <a:bodyPr wrap="square" lIns="0" tIns="0" rIns="0" bIns="0" anchor="t">
            <a:spAutoFit/>
          </a:bodyPr>
          <a:lstStyle/>
          <a:p>
            <a:pPr algn="l">
              <a:spcAft>
                <a:spcPts val="100"/>
              </a:spcAft>
            </a:pPr>
            <a:r>
              <a:rPr sz="910" b="1">
                <a:solidFill>
                  <a:srgbClr val="F2F2F4"/>
                </a:solidFill>
                <a:latin typeface="Source Sans 3"/>
              </a:rPr>
              <a:t>QUOTE / APPROVAL</a:t>
            </a:r>
          </a:p>
        </p:txBody>
      </p:sp>
      <p:sp>
        <p:nvSpPr>
          <p:cNvPr id="59" name="TextBox 58"/>
          <p:cNvSpPr txBox="1"/>
          <p:nvPr/>
        </p:nvSpPr>
        <p:spPr>
          <a:xfrm>
            <a:off x="1865376" y="5824728"/>
            <a:ext cx="9555480" cy="411480"/>
          </a:xfrm>
          <a:prstGeom prst="rect">
            <a:avLst/>
          </a:prstGeom>
          <a:noFill/>
        </p:spPr>
        <p:txBody>
          <a:bodyPr wrap="square" lIns="0" tIns="0" rIns="0" bIns="0" anchor="t">
            <a:spAutoFit/>
          </a:bodyPr>
          <a:lstStyle/>
          <a:p>
            <a:pPr algn="l">
              <a:spcAft>
                <a:spcPts val="100"/>
              </a:spcAft>
            </a:pPr>
            <a:r>
              <a:rPr sz="1030" b="0">
                <a:solidFill>
                  <a:srgbClr val="F2F2F4"/>
                </a:solidFill>
                <a:latin typeface="Source Sans 3"/>
              </a:rPr>
              <a:t>After Meeting 2: issue a scoped 12-month AI RunState proposal and quote (priority outcomes, first 90-day plan, investment). Customer approves scope, price and terms before paid delivery starts.</a:t>
            </a:r>
          </a:p>
        </p:txBody>
      </p:sp>
      <p:sp>
        <p:nvSpPr>
          <p:cNvPr id="60" name="TextBox 59"/>
          <p:cNvSpPr txBox="1"/>
          <p:nvPr/>
        </p:nvSpPr>
        <p:spPr>
          <a:xfrm>
            <a:off x="539496" y="6556248"/>
            <a:ext cx="11064240" cy="137160"/>
          </a:xfrm>
          <a:prstGeom prst="rect">
            <a:avLst/>
          </a:prstGeom>
          <a:noFill/>
        </p:spPr>
        <p:txBody>
          <a:bodyPr wrap="square" lIns="0" tIns="0" rIns="0" bIns="0" anchor="t">
            <a:spAutoFit/>
          </a:bodyPr>
          <a:lstStyle/>
          <a:p>
            <a:pPr algn="l">
              <a:spcAft>
                <a:spcPts val="100"/>
              </a:spcAft>
            </a:pPr>
            <a:r>
              <a:rPr sz="830" b="0">
                <a:solidFill>
                  <a:srgbClr val="2CB0CD"/>
                </a:solidFill>
                <a:latin typeface="Source Sans 3"/>
              </a:rPr>
              <a:t>INTERNAL ONLY • HIDDEN IN SLIDE SHOW • PRESENT FROM SLIDE 2 • EXAMPLE SCORES AND TIMINGS REMAIN PROVISIONAL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DD51-72E1-717D-BD1A-5FFF902EA041}"/>
            </a:ext>
          </a:extLst>
        </p:cNvPr>
        <p:cNvGrpSpPr/>
        <p:nvPr/>
      </p:nvGrpSpPr>
      <p:grpSpPr>
        <a:xfrm>
          <a:off x="0" y="0"/>
          <a:ext cx="0" cy="0"/>
          <a:chOff x="0" y="0"/>
          <a:chExt cx="0" cy="0"/>
        </a:xfrm>
      </p:grpSpPr>
      <p:pic>
        <p:nvPicPr>
          <p:cNvPr id="7" name="Road to Zero cover image">
            <a:extLst>
              <a:ext uri="{FF2B5EF4-FFF2-40B4-BE49-F238E27FC236}">
                <a16:creationId xmlns:a16="http://schemas.microsoft.com/office/drawing/2014/main" id="{43604359-CA86-8F34-A47D-13820DB2837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587" y="1786"/>
            <a:ext cx="12185651" cy="6854429"/>
          </a:xfrm>
          <a:prstGeom prst="rect">
            <a:avLst/>
          </a:prstGeom>
        </p:spPr>
      </p:pic>
      <p:pic>
        <p:nvPicPr>
          <p:cNvPr id="13" name="Crossfuze logo">
            <a:extLst>
              <a:ext uri="{FF2B5EF4-FFF2-40B4-BE49-F238E27FC236}">
                <a16:creationId xmlns:a16="http://schemas.microsoft.com/office/drawing/2014/main" id="{C4F71C41-39D2-71E1-4213-44097279C42A}"/>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2920" y="384048"/>
            <a:ext cx="1600200" cy="457200"/>
          </a:xfrm>
          <a:prstGeom prst="rect">
            <a:avLst/>
          </a:prstGeom>
        </p:spPr>
      </p:pic>
      <p:sp>
        <p:nvSpPr>
          <p:cNvPr id="213" name="Edition"/>
          <p:cNvSpPr txBox="1"/>
          <p:nvPr/>
        </p:nvSpPr>
        <p:spPr>
          <a:xfrm>
            <a:off x="7863840" y="457200"/>
            <a:ext cx="3840480" cy="320040"/>
          </a:xfrm>
          <a:prstGeom prst="rect">
            <a:avLst/>
          </a:prstGeom>
          <a:noFill/>
        </p:spPr>
        <p:txBody>
          <a:bodyPr wrap="square" lIns="0" tIns="0" rIns="0" bIns="0" anchor="ctr">
            <a:noAutofit/>
          </a:bodyPr>
          <a:lstStyle/>
          <a:p>
            <a:pPr algn="r">
              <a:spcAft>
                <a:spcPts val="0"/>
              </a:spcAft>
            </a:pPr>
            <a:r>
              <a:rPr lang="en-GB" sz="1000" b="1" dirty="0">
                <a:solidFill>
                  <a:srgbClr val="FFFFFF">
                    <a:alpha val="75000"/>
                  </a:srgbClr>
                </a:solidFill>
                <a:latin typeface="Source Sans 3"/>
                <a:cs typeface="Source Sans 3"/>
              </a:rPr>
              <a:t>EDITION 2026</a:t>
            </a:r>
          </a:p>
        </p:txBody>
      </p:sp>
      <p:sp>
        <p:nvSpPr>
          <p:cNvPr id="214" name="Cover eyebrow"/>
          <p:cNvSpPr txBox="1"/>
          <p:nvPr/>
        </p:nvSpPr>
        <p:spPr>
          <a:xfrm>
            <a:off x="548640" y="1481328"/>
            <a:ext cx="6400800" cy="320040"/>
          </a:xfrm>
          <a:prstGeom prst="rect">
            <a:avLst/>
          </a:prstGeom>
          <a:noFill/>
        </p:spPr>
        <p:txBody>
          <a:bodyPr wrap="square" lIns="0" tIns="0" rIns="0" bIns="0" anchor="t">
            <a:noAutofit/>
          </a:bodyPr>
          <a:lstStyle/>
          <a:p>
            <a:pPr algn="l">
              <a:spcAft>
                <a:spcPts val="0"/>
              </a:spcAft>
            </a:pPr>
            <a:r>
              <a:rPr lang="en-GB" sz="1100" b="1" spc="300" dirty="0">
                <a:solidFill>
                  <a:srgbClr val="8FFFDB"/>
                </a:solidFill>
                <a:latin typeface="Source Sans 3"/>
                <a:cs typeface="Source Sans 3"/>
              </a:rPr>
              <a:t>MEETING TWO  ·  WORKING SESSION</a:t>
            </a:r>
          </a:p>
        </p:txBody>
      </p:sp>
      <p:sp>
        <p:nvSpPr>
          <p:cNvPr id="215" name="Cover title"/>
          <p:cNvSpPr txBox="1"/>
          <p:nvPr/>
        </p:nvSpPr>
        <p:spPr>
          <a:xfrm>
            <a:off x="502920" y="1783080"/>
            <a:ext cx="6583680" cy="2240280"/>
          </a:xfrm>
          <a:prstGeom prst="rect">
            <a:avLst/>
          </a:prstGeom>
          <a:noFill/>
        </p:spPr>
        <p:txBody>
          <a:bodyPr wrap="square" lIns="0" tIns="0" rIns="0" bIns="0" anchor="t">
            <a:noAutofit/>
          </a:bodyPr>
          <a:lstStyle/>
          <a:p>
            <a:pPr algn="l">
              <a:lnSpc>
                <a:spcPct val="85000"/>
              </a:lnSpc>
              <a:spcAft>
                <a:spcPts val="0"/>
              </a:spcAft>
            </a:pPr>
            <a:r>
              <a:rPr lang="en-GB" sz="7200" b="1" dirty="0">
                <a:solidFill>
                  <a:srgbClr val="FFFFFF"/>
                </a:solidFill>
                <a:latin typeface="Source Sans 3"/>
                <a:cs typeface="Source Sans 3"/>
              </a:rPr>
              <a:t>The Road</a:t>
            </a:r>
          </a:p>
          <a:p>
            <a:pPr algn="l">
              <a:lnSpc>
                <a:spcPct val="85000"/>
              </a:lnSpc>
              <a:spcAft>
                <a:spcPts val="0"/>
              </a:spcAft>
            </a:pPr>
            <a:r>
              <a:rPr lang="en-GB" sz="7200" b="1" dirty="0">
                <a:solidFill>
                  <a:srgbClr val="FFFFFF"/>
                </a:solidFill>
                <a:latin typeface="Source Sans 3"/>
                <a:cs typeface="Source Sans 3"/>
              </a:rPr>
              <a:t>to </a:t>
            </a:r>
            <a:r>
              <a:rPr lang="en-GB" sz="7200" b="1" dirty="0">
                <a:solidFill>
                  <a:srgbClr val="8FFFDB"/>
                </a:solidFill>
                <a:latin typeface="Source Sans 3"/>
                <a:cs typeface="Source Sans 3"/>
              </a:rPr>
              <a:t>Zero.</a:t>
            </a:r>
          </a:p>
        </p:txBody>
      </p:sp>
      <p:sp>
        <p:nvSpPr>
          <p:cNvPr id="216" name="Cover subtitle"/>
          <p:cNvSpPr txBox="1"/>
          <p:nvPr/>
        </p:nvSpPr>
        <p:spPr>
          <a:xfrm>
            <a:off x="548640" y="4069080"/>
            <a:ext cx="6035040" cy="502920"/>
          </a:xfrm>
          <a:prstGeom prst="rect">
            <a:avLst/>
          </a:prstGeom>
          <a:noFill/>
        </p:spPr>
        <p:txBody>
          <a:bodyPr wrap="square" lIns="0" tIns="0" rIns="0" bIns="0" anchor="t">
            <a:noAutofit/>
          </a:bodyPr>
          <a:lstStyle/>
          <a:p>
            <a:pPr algn="l">
              <a:spcAft>
                <a:spcPts val="0"/>
              </a:spcAft>
            </a:pPr>
            <a:r>
              <a:rPr lang="en-GB" sz="2400" b="0" dirty="0">
                <a:solidFill>
                  <a:srgbClr val="FFFFFF"/>
                </a:solidFill>
                <a:latin typeface="Source Sans 3"/>
                <a:cs typeface="Source Sans 3"/>
              </a:rPr>
              <a:t>From readiness to results.</a:t>
            </a:r>
          </a:p>
        </p:txBody>
      </p:sp>
      <p:sp>
        <p:nvSpPr>
          <p:cNvPr id="217" name="Cover subtitle 2"/>
          <p:cNvSpPr txBox="1"/>
          <p:nvPr/>
        </p:nvSpPr>
        <p:spPr>
          <a:xfrm>
            <a:off x="548640" y="4572000"/>
            <a:ext cx="6035040" cy="685800"/>
          </a:xfrm>
          <a:prstGeom prst="rect">
            <a:avLst/>
          </a:prstGeom>
          <a:noFill/>
        </p:spPr>
        <p:txBody>
          <a:bodyPr wrap="square" lIns="0" tIns="0" rIns="0" bIns="0" anchor="t">
            <a:noAutofit/>
          </a:bodyPr>
          <a:lstStyle/>
          <a:p>
            <a:pPr algn="l">
              <a:lnSpc>
                <a:spcPct val="110000"/>
              </a:lnSpc>
              <a:spcAft>
                <a:spcPts val="0"/>
              </a:spcAft>
            </a:pPr>
            <a:r>
              <a:rPr lang="en-GB" sz="1500" b="0" dirty="0">
                <a:solidFill>
                  <a:srgbClr val="FFFFFF">
                    <a:alpha val="75000"/>
                  </a:srgbClr>
                </a:solidFill>
                <a:latin typeface="Source Sans 3"/>
                <a:cs typeface="Source Sans 3"/>
              </a:rPr>
              <a:t>Your first governed AI outcome. And the plan to keep delivering.</a:t>
            </a:r>
          </a:p>
        </p:txBody>
      </p:sp>
      <p:sp>
        <p:nvSpPr>
          <p:cNvPr id="218" name="Autonomous Enterprise line"/>
          <p:cNvSpPr txBox="1"/>
          <p:nvPr/>
        </p:nvSpPr>
        <p:spPr>
          <a:xfrm>
            <a:off x="548640" y="5925312"/>
            <a:ext cx="6858000" cy="292608"/>
          </a:xfrm>
          <a:prstGeom prst="rect">
            <a:avLst/>
          </a:prstGeom>
          <a:noFill/>
        </p:spPr>
        <p:txBody>
          <a:bodyPr wrap="square" lIns="0" tIns="0" rIns="0" bIns="0" anchor="t">
            <a:noAutofit/>
          </a:bodyPr>
          <a:lstStyle/>
          <a:p>
            <a:pPr algn="l">
              <a:spcAft>
                <a:spcPts val="0"/>
              </a:spcAft>
            </a:pPr>
            <a:r>
              <a:rPr lang="en-GB" sz="1300" b="1" dirty="0">
                <a:solidFill>
                  <a:srgbClr val="FFFFFF"/>
                </a:solidFill>
                <a:latin typeface="Source Sans 3"/>
                <a:cs typeface="Source Sans 3"/>
              </a:rPr>
              <a:t>Part of Preparing for the Autonomous Enterprise</a:t>
            </a:r>
          </a:p>
        </p:txBody>
      </p:sp>
      <p:sp>
        <p:nvSpPr>
          <p:cNvPr id="219" name="Partner line"/>
          <p:cNvSpPr txBox="1"/>
          <p:nvPr/>
        </p:nvSpPr>
        <p:spPr>
          <a:xfrm>
            <a:off x="548640" y="6217920"/>
            <a:ext cx="6858000" cy="256032"/>
          </a:xfrm>
          <a:prstGeom prst="rect">
            <a:avLst/>
          </a:prstGeom>
          <a:noFill/>
        </p:spPr>
        <p:txBody>
          <a:bodyPr wrap="square" lIns="0" tIns="0" rIns="0" bIns="0" anchor="t">
            <a:noAutofit/>
          </a:bodyPr>
          <a:lstStyle/>
          <a:p>
            <a:pPr algn="l">
              <a:spcAft>
                <a:spcPts val="0"/>
              </a:spcAft>
            </a:pPr>
            <a:r>
              <a:rPr lang="en-GB" sz="1000" b="0" dirty="0">
                <a:solidFill>
                  <a:srgbClr val="FFFFFF">
                    <a:alpha val="65000"/>
                  </a:srgbClr>
                </a:solidFill>
                <a:latin typeface="Source Sans 3"/>
                <a:cs typeface="Source Sans 3"/>
              </a:rPr>
              <a:t>Crossfuze · ServiceNow Elite Partner</a:t>
            </a:r>
          </a:p>
        </p:txBody>
      </p:sp>
    </p:spTree>
    <p:extLst>
      <p:ext uri="{BB962C8B-B14F-4D97-AF65-F5344CB8AC3E}">
        <p14:creationId xmlns:p14="http://schemas.microsoft.com/office/powerpoint/2010/main" val="28274612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age02-dark-bg.png"/>
          <p:cNvPicPr>
            <a:picLocks noChangeAspect="1"/>
          </p:cNvPicPr>
          <p:nvPr/>
        </p:nvPicPr>
        <p:blipFill>
          <a:blip r:embed="rId3"/>
          <a:stretch>
            <a:fillRect/>
          </a:stretch>
        </p:blipFill>
        <p:spPr>
          <a:xfrm>
            <a:off x="0" y="0"/>
            <a:ext cx="12188825" cy="6858000"/>
          </a:xfrm>
          <a:prstGeom prst="rect">
            <a:avLst/>
          </a:prstGeom>
        </p:spPr>
      </p:pic>
      <p:sp>
        <p:nvSpPr>
          <p:cNvPr id="3" name="Rectangle 2"/>
          <p:cNvSpPr/>
          <p:nvPr/>
        </p:nvSpPr>
        <p:spPr>
          <a:xfrm>
            <a:off x="566928" y="466344"/>
            <a:ext cx="64008" cy="246888"/>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0664" y="475488"/>
            <a:ext cx="7315200" cy="182880"/>
          </a:xfrm>
          <a:prstGeom prst="rect">
            <a:avLst/>
          </a:prstGeom>
          <a:noFill/>
        </p:spPr>
        <p:txBody>
          <a:bodyPr wrap="square" lIns="0" tIns="0" rIns="0" bIns="0" anchor="t">
            <a:spAutoFit/>
          </a:bodyPr>
          <a:lstStyle/>
          <a:p>
            <a:pPr algn="l">
              <a:lnSpc>
                <a:spcPct val="104000"/>
              </a:lnSpc>
              <a:spcBef>
                <a:spcPts val="0"/>
              </a:spcBef>
              <a:spcAft>
                <a:spcPts val="0"/>
              </a:spcAft>
              <a:defRPr sz="1050" b="1">
                <a:solidFill>
                  <a:srgbClr val="8FFFDB"/>
                </a:solidFill>
                <a:latin typeface="Source Sans 3"/>
              </a:defRPr>
            </a:pPr>
            <a:r>
              <a:t>STAGE 02   /   THE AI READINESS ASSESSMENT</a:t>
            </a:r>
          </a:p>
        </p:txBody>
      </p:sp>
      <p:sp>
        <p:nvSpPr>
          <p:cNvPr id="5" name="TextBox 4"/>
          <p:cNvSpPr txBox="1"/>
          <p:nvPr/>
        </p:nvSpPr>
        <p:spPr>
          <a:xfrm>
            <a:off x="594360" y="896112"/>
            <a:ext cx="11018520" cy="594360"/>
          </a:xfrm>
          <a:prstGeom prst="rect">
            <a:avLst/>
          </a:prstGeom>
          <a:noFill/>
        </p:spPr>
        <p:txBody>
          <a:bodyPr wrap="square" lIns="0" tIns="0" rIns="0" bIns="0" anchor="t">
            <a:spAutoFit/>
          </a:bodyPr>
          <a:lstStyle/>
          <a:p>
            <a:pPr algn="l">
              <a:lnSpc>
                <a:spcPct val="104000"/>
              </a:lnSpc>
              <a:spcBef>
                <a:spcPts val="0"/>
              </a:spcBef>
              <a:spcAft>
                <a:spcPts val="0"/>
              </a:spcAft>
              <a:defRPr sz="3150" b="1">
                <a:solidFill>
                  <a:srgbClr val="FFFFFF"/>
                </a:solidFill>
                <a:latin typeface="Source Sans 3"/>
              </a:defRPr>
            </a:pPr>
            <a:r>
              <a:t>What did we learn from your assessment?</a:t>
            </a:r>
          </a:p>
        </p:txBody>
      </p:sp>
      <p:sp>
        <p:nvSpPr>
          <p:cNvPr id="6" name="TextBox 5"/>
          <p:cNvSpPr txBox="1"/>
          <p:nvPr/>
        </p:nvSpPr>
        <p:spPr>
          <a:xfrm>
            <a:off x="603504" y="1572768"/>
            <a:ext cx="10515600" cy="365760"/>
          </a:xfrm>
          <a:prstGeom prst="rect">
            <a:avLst/>
          </a:prstGeom>
          <a:noFill/>
        </p:spPr>
        <p:txBody>
          <a:bodyPr wrap="square" lIns="0" tIns="0" rIns="0" bIns="0" anchor="t">
            <a:spAutoFit/>
          </a:bodyPr>
          <a:lstStyle/>
          <a:p>
            <a:pPr algn="l">
              <a:lnSpc>
                <a:spcPct val="104000"/>
              </a:lnSpc>
              <a:spcBef>
                <a:spcPts val="0"/>
              </a:spcBef>
              <a:spcAft>
                <a:spcPts val="0"/>
              </a:spcAft>
              <a:defRPr sz="1550" b="0">
                <a:solidFill>
                  <a:srgbClr val="C7D9E5"/>
                </a:solidFill>
                <a:latin typeface="Source Sans 3"/>
              </a:defRPr>
            </a:pPr>
            <a:r>
              <a:t>Four findings turn a 90-minute working session into a defensible first decision.</a:t>
            </a:r>
          </a:p>
        </p:txBody>
      </p:sp>
      <p:sp>
        <p:nvSpPr>
          <p:cNvPr id="7" name="Rounded Rectangle 6"/>
          <p:cNvSpPr/>
          <p:nvPr/>
        </p:nvSpPr>
        <p:spPr>
          <a:xfrm>
            <a:off x="58521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5895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2479852"/>
            <a:ext cx="420624" cy="128016"/>
          </a:xfrm>
          <a:prstGeom prst="rect">
            <a:avLst/>
          </a:prstGeom>
          <a:noFill/>
        </p:spPr>
        <p:txBody>
          <a:bodyPr wrap="square" lIns="0" tIns="0" rIns="0" bIns="0" anchor="t">
            <a:spAutoFit/>
          </a:bodyPr>
          <a:lstStyle/>
          <a:p>
            <a:pPr algn="ctr">
              <a:lnSpc>
                <a:spcPct val="104000"/>
              </a:lnSpc>
              <a:spcBef>
                <a:spcPts val="0"/>
              </a:spcBef>
              <a:spcAft>
                <a:spcPts val="0"/>
              </a:spcAft>
              <a:defRPr sz="1000" b="1">
                <a:solidFill>
                  <a:srgbClr val="71F1F7"/>
                </a:solidFill>
                <a:latin typeface="Source Sans 3"/>
              </a:defRPr>
            </a:pPr>
            <a:r>
              <a:t>01</a:t>
            </a:r>
          </a:p>
        </p:txBody>
      </p:sp>
      <p:sp>
        <p:nvSpPr>
          <p:cNvPr id="10" name="TextBox 9"/>
          <p:cNvSpPr txBox="1"/>
          <p:nvPr/>
        </p:nvSpPr>
        <p:spPr>
          <a:xfrm>
            <a:off x="758952" y="2926080"/>
            <a:ext cx="2286000" cy="210312"/>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8FFFDB"/>
                </a:solidFill>
                <a:latin typeface="Source Sans 3"/>
              </a:defRPr>
            </a:pPr>
            <a:r>
              <a:t>READINESS</a:t>
            </a:r>
          </a:p>
        </p:txBody>
      </p:sp>
      <p:sp>
        <p:nvSpPr>
          <p:cNvPr id="11" name="TextBox 10"/>
          <p:cNvSpPr txBox="1"/>
          <p:nvPr/>
        </p:nvSpPr>
        <p:spPr>
          <a:xfrm>
            <a:off x="758952" y="3273552"/>
            <a:ext cx="2386584" cy="676656"/>
          </a:xfrm>
          <a:prstGeom prst="rect">
            <a:avLst/>
          </a:prstGeom>
          <a:noFill/>
        </p:spPr>
        <p:txBody>
          <a:bodyPr wrap="square" lIns="0" tIns="0" rIns="0" bIns="0" anchor="t">
            <a:spAutoFit/>
          </a:bodyPr>
          <a:lstStyle/>
          <a:p>
            <a:pPr algn="l">
              <a:lnSpc>
                <a:spcPct val="100000"/>
              </a:lnSpc>
              <a:spcBef>
                <a:spcPts val="0"/>
              </a:spcBef>
              <a:spcAft>
                <a:spcPts val="0"/>
              </a:spcAft>
              <a:defRPr sz="2050" b="1">
                <a:solidFill>
                  <a:srgbClr val="FFFFFF"/>
                </a:solidFill>
                <a:latin typeface="Source Sans 3"/>
              </a:defRPr>
            </a:pPr>
            <a:r>
              <a:t>Where you stand</a:t>
            </a:r>
          </a:p>
        </p:txBody>
      </p:sp>
      <p:sp>
        <p:nvSpPr>
          <p:cNvPr id="12" name="Rectangle 11"/>
          <p:cNvSpPr/>
          <p:nvPr/>
        </p:nvSpPr>
        <p:spPr>
          <a:xfrm>
            <a:off x="75895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4224528"/>
            <a:ext cx="2377440" cy="347472"/>
          </a:xfrm>
          <a:prstGeom prst="rect">
            <a:avLst/>
          </a:prstGeom>
          <a:noFill/>
        </p:spPr>
        <p:txBody>
          <a:bodyPr wrap="square" lIns="0" tIns="0" rIns="0" bIns="0" anchor="t">
            <a:spAutoFit/>
          </a:bodyPr>
          <a:lstStyle/>
          <a:p>
            <a:pPr algn="l">
              <a:lnSpc>
                <a:spcPct val="104000"/>
              </a:lnSpc>
              <a:spcBef>
                <a:spcPts val="0"/>
              </a:spcBef>
              <a:spcAft>
                <a:spcPts val="0"/>
              </a:spcAft>
              <a:defRPr sz="1320" b="1">
                <a:solidFill>
                  <a:srgbClr val="F7CD7B"/>
                </a:solidFill>
                <a:latin typeface="Source Sans 3"/>
              </a:defRPr>
            </a:pPr>
            <a:r>
              <a:t>[Readiness finding]</a:t>
            </a:r>
          </a:p>
        </p:txBody>
      </p:sp>
      <p:sp>
        <p:nvSpPr>
          <p:cNvPr id="14" name="TextBox 13"/>
          <p:cNvSpPr txBox="1"/>
          <p:nvPr/>
        </p:nvSpPr>
        <p:spPr>
          <a:xfrm>
            <a:off x="758952" y="4672584"/>
            <a:ext cx="2368296" cy="585216"/>
          </a:xfrm>
          <a:prstGeom prst="rect">
            <a:avLst/>
          </a:prstGeom>
          <a:noFill/>
        </p:spPr>
        <p:txBody>
          <a:bodyPr wrap="square" lIns="0" tIns="0" rIns="0" bIns="0" anchor="t">
            <a:spAutoFit/>
          </a:bodyPr>
          <a:lstStyle/>
          <a:p>
            <a:pPr algn="l">
              <a:lnSpc>
                <a:spcPct val="110000"/>
              </a:lnSpc>
              <a:spcBef>
                <a:spcPts val="0"/>
              </a:spcBef>
              <a:spcAft>
                <a:spcPts val="0"/>
              </a:spcAft>
              <a:defRPr sz="1180" b="0">
                <a:solidFill>
                  <a:srgbClr val="D2DEEC"/>
                </a:solidFill>
                <a:latin typeface="Source Sans 3"/>
              </a:defRPr>
            </a:pPr>
            <a:r>
              <a:t>Score status, limiting foundation and evidence confidence.</a:t>
            </a:r>
          </a:p>
        </p:txBody>
      </p:sp>
      <p:sp>
        <p:nvSpPr>
          <p:cNvPr id="15" name="Rounded Rectangle 14"/>
          <p:cNvSpPr/>
          <p:nvPr/>
        </p:nvSpPr>
        <p:spPr>
          <a:xfrm>
            <a:off x="351129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68503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85032" y="2479852"/>
            <a:ext cx="420624" cy="128016"/>
          </a:xfrm>
          <a:prstGeom prst="rect">
            <a:avLst/>
          </a:prstGeom>
          <a:noFill/>
        </p:spPr>
        <p:txBody>
          <a:bodyPr wrap="square" lIns="0" tIns="0" rIns="0" bIns="0" anchor="t">
            <a:spAutoFit/>
          </a:bodyPr>
          <a:lstStyle/>
          <a:p>
            <a:pPr algn="ctr">
              <a:lnSpc>
                <a:spcPct val="104000"/>
              </a:lnSpc>
              <a:spcBef>
                <a:spcPts val="0"/>
              </a:spcBef>
              <a:spcAft>
                <a:spcPts val="0"/>
              </a:spcAft>
              <a:defRPr sz="1000" b="1">
                <a:solidFill>
                  <a:srgbClr val="71F1F7"/>
                </a:solidFill>
                <a:latin typeface="Source Sans 3"/>
              </a:defRPr>
            </a:pPr>
            <a:r>
              <a:t>02</a:t>
            </a:r>
          </a:p>
        </p:txBody>
      </p:sp>
      <p:sp>
        <p:nvSpPr>
          <p:cNvPr id="18" name="TextBox 17"/>
          <p:cNvSpPr txBox="1"/>
          <p:nvPr/>
        </p:nvSpPr>
        <p:spPr>
          <a:xfrm>
            <a:off x="3685032" y="2926080"/>
            <a:ext cx="2286000" cy="210312"/>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8FFFDB"/>
                </a:solidFill>
                <a:latin typeface="Source Sans 3"/>
              </a:defRPr>
            </a:pPr>
            <a:r>
              <a:t>OPPORTUNITY</a:t>
            </a:r>
          </a:p>
        </p:txBody>
      </p:sp>
      <p:sp>
        <p:nvSpPr>
          <p:cNvPr id="19" name="TextBox 18"/>
          <p:cNvSpPr txBox="1"/>
          <p:nvPr/>
        </p:nvSpPr>
        <p:spPr>
          <a:xfrm>
            <a:off x="3685032" y="3273552"/>
            <a:ext cx="2386584" cy="676656"/>
          </a:xfrm>
          <a:prstGeom prst="rect">
            <a:avLst/>
          </a:prstGeom>
          <a:noFill/>
        </p:spPr>
        <p:txBody>
          <a:bodyPr wrap="square" lIns="0" tIns="0" rIns="0" bIns="0" anchor="t">
            <a:spAutoFit/>
          </a:bodyPr>
          <a:lstStyle/>
          <a:p>
            <a:pPr algn="l">
              <a:lnSpc>
                <a:spcPct val="100000"/>
              </a:lnSpc>
              <a:spcBef>
                <a:spcPts val="0"/>
              </a:spcBef>
              <a:spcAft>
                <a:spcPts val="0"/>
              </a:spcAft>
              <a:defRPr sz="2050" b="1">
                <a:solidFill>
                  <a:srgbClr val="FFFFFF"/>
                </a:solidFill>
                <a:latin typeface="Source Sans 3"/>
              </a:defRPr>
            </a:pPr>
            <a:r>
              <a:t>Where AI can help</a:t>
            </a:r>
          </a:p>
        </p:txBody>
      </p:sp>
      <p:sp>
        <p:nvSpPr>
          <p:cNvPr id="20" name="Rectangle 19"/>
          <p:cNvSpPr/>
          <p:nvPr/>
        </p:nvSpPr>
        <p:spPr>
          <a:xfrm>
            <a:off x="368503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85032" y="4224528"/>
            <a:ext cx="2377440" cy="347472"/>
          </a:xfrm>
          <a:prstGeom prst="rect">
            <a:avLst/>
          </a:prstGeom>
          <a:noFill/>
        </p:spPr>
        <p:txBody>
          <a:bodyPr wrap="square" lIns="0" tIns="0" rIns="0" bIns="0" anchor="t">
            <a:spAutoFit/>
          </a:bodyPr>
          <a:lstStyle/>
          <a:p>
            <a:pPr algn="l">
              <a:lnSpc>
                <a:spcPct val="104000"/>
              </a:lnSpc>
              <a:spcBef>
                <a:spcPts val="0"/>
              </a:spcBef>
              <a:spcAft>
                <a:spcPts val="0"/>
              </a:spcAft>
              <a:defRPr sz="1320" b="1">
                <a:solidFill>
                  <a:srgbClr val="F7CD7B"/>
                </a:solidFill>
                <a:latin typeface="Source Sans 3"/>
              </a:defRPr>
            </a:pPr>
            <a:r>
              <a:t>[Candidate first Zero]</a:t>
            </a:r>
          </a:p>
        </p:txBody>
      </p:sp>
      <p:sp>
        <p:nvSpPr>
          <p:cNvPr id="22" name="TextBox 21"/>
          <p:cNvSpPr txBox="1"/>
          <p:nvPr/>
        </p:nvSpPr>
        <p:spPr>
          <a:xfrm>
            <a:off x="3685032" y="4672584"/>
            <a:ext cx="2368296" cy="585216"/>
          </a:xfrm>
          <a:prstGeom prst="rect">
            <a:avLst/>
          </a:prstGeom>
          <a:noFill/>
        </p:spPr>
        <p:txBody>
          <a:bodyPr wrap="square" lIns="0" tIns="0" rIns="0" bIns="0" anchor="t">
            <a:spAutoFit/>
          </a:bodyPr>
          <a:lstStyle/>
          <a:p>
            <a:pPr algn="l">
              <a:lnSpc>
                <a:spcPct val="110000"/>
              </a:lnSpc>
              <a:spcBef>
                <a:spcPts val="0"/>
              </a:spcBef>
              <a:spcAft>
                <a:spcPts val="0"/>
              </a:spcAft>
              <a:defRPr sz="1180" b="0">
                <a:solidFill>
                  <a:srgbClr val="D2DEEC"/>
                </a:solidFill>
                <a:latin typeface="Source Sans 3"/>
              </a:defRPr>
            </a:pPr>
            <a:r>
              <a:t>Priority workflow, business pressure and potential value.</a:t>
            </a:r>
          </a:p>
        </p:txBody>
      </p:sp>
      <p:sp>
        <p:nvSpPr>
          <p:cNvPr id="23" name="Rounded Rectangle 22"/>
          <p:cNvSpPr/>
          <p:nvPr/>
        </p:nvSpPr>
        <p:spPr>
          <a:xfrm>
            <a:off x="643737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61111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11112" y="2479852"/>
            <a:ext cx="420624" cy="128016"/>
          </a:xfrm>
          <a:prstGeom prst="rect">
            <a:avLst/>
          </a:prstGeom>
          <a:noFill/>
        </p:spPr>
        <p:txBody>
          <a:bodyPr wrap="square" lIns="0" tIns="0" rIns="0" bIns="0" anchor="t">
            <a:spAutoFit/>
          </a:bodyPr>
          <a:lstStyle/>
          <a:p>
            <a:pPr algn="ctr">
              <a:lnSpc>
                <a:spcPct val="104000"/>
              </a:lnSpc>
              <a:spcBef>
                <a:spcPts val="0"/>
              </a:spcBef>
              <a:spcAft>
                <a:spcPts val="0"/>
              </a:spcAft>
              <a:defRPr sz="1000" b="1">
                <a:solidFill>
                  <a:srgbClr val="71F1F7"/>
                </a:solidFill>
                <a:latin typeface="Source Sans 3"/>
              </a:defRPr>
            </a:pPr>
            <a:r>
              <a:t>03</a:t>
            </a:r>
          </a:p>
        </p:txBody>
      </p:sp>
      <p:sp>
        <p:nvSpPr>
          <p:cNvPr id="26" name="TextBox 25"/>
          <p:cNvSpPr txBox="1"/>
          <p:nvPr/>
        </p:nvSpPr>
        <p:spPr>
          <a:xfrm>
            <a:off x="6611112" y="2926080"/>
            <a:ext cx="2286000" cy="210312"/>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8FFFDB"/>
                </a:solidFill>
                <a:latin typeface="Source Sans 3"/>
              </a:defRPr>
            </a:pPr>
            <a:r>
              <a:t>CONSUMPTION</a:t>
            </a:r>
          </a:p>
        </p:txBody>
      </p:sp>
      <p:sp>
        <p:nvSpPr>
          <p:cNvPr id="27" name="TextBox 26"/>
          <p:cNvSpPr txBox="1"/>
          <p:nvPr/>
        </p:nvSpPr>
        <p:spPr>
          <a:xfrm>
            <a:off x="6611112" y="3273552"/>
            <a:ext cx="2386584" cy="676656"/>
          </a:xfrm>
          <a:prstGeom prst="rect">
            <a:avLst/>
          </a:prstGeom>
          <a:noFill/>
        </p:spPr>
        <p:txBody>
          <a:bodyPr wrap="square" lIns="0" tIns="0" rIns="0" bIns="0" anchor="t">
            <a:spAutoFit/>
          </a:bodyPr>
          <a:lstStyle/>
          <a:p>
            <a:pPr algn="l">
              <a:lnSpc>
                <a:spcPct val="100000"/>
              </a:lnSpc>
              <a:spcBef>
                <a:spcPts val="0"/>
              </a:spcBef>
              <a:spcAft>
                <a:spcPts val="0"/>
              </a:spcAft>
              <a:defRPr sz="2050" b="1">
                <a:solidFill>
                  <a:srgbClr val="FFFFFF"/>
                </a:solidFill>
                <a:latin typeface="Source Sans 3"/>
              </a:defRPr>
            </a:pPr>
            <a:r>
              <a:t>What it may use</a:t>
            </a:r>
          </a:p>
        </p:txBody>
      </p:sp>
      <p:sp>
        <p:nvSpPr>
          <p:cNvPr id="28" name="Rectangle 27"/>
          <p:cNvSpPr/>
          <p:nvPr/>
        </p:nvSpPr>
        <p:spPr>
          <a:xfrm>
            <a:off x="661111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11112" y="4224528"/>
            <a:ext cx="2377440" cy="347472"/>
          </a:xfrm>
          <a:prstGeom prst="rect">
            <a:avLst/>
          </a:prstGeom>
          <a:noFill/>
        </p:spPr>
        <p:txBody>
          <a:bodyPr wrap="square" lIns="0" tIns="0" rIns="0" bIns="0" anchor="t">
            <a:spAutoFit/>
          </a:bodyPr>
          <a:lstStyle/>
          <a:p>
            <a:pPr algn="l">
              <a:lnSpc>
                <a:spcPct val="104000"/>
              </a:lnSpc>
              <a:spcBef>
                <a:spcPts val="0"/>
              </a:spcBef>
              <a:spcAft>
                <a:spcPts val="0"/>
              </a:spcAft>
              <a:defRPr sz="1320" b="1">
                <a:solidFill>
                  <a:srgbClr val="F7CD7B"/>
                </a:solidFill>
                <a:latin typeface="Source Sans 3"/>
              </a:defRPr>
            </a:pPr>
            <a:r>
              <a:t>[Assist / tier finding]</a:t>
            </a:r>
          </a:p>
        </p:txBody>
      </p:sp>
      <p:sp>
        <p:nvSpPr>
          <p:cNvPr id="30" name="TextBox 29"/>
          <p:cNvSpPr txBox="1"/>
          <p:nvPr/>
        </p:nvSpPr>
        <p:spPr>
          <a:xfrm>
            <a:off x="6611112" y="4672584"/>
            <a:ext cx="2368296" cy="585216"/>
          </a:xfrm>
          <a:prstGeom prst="rect">
            <a:avLst/>
          </a:prstGeom>
          <a:noFill/>
        </p:spPr>
        <p:txBody>
          <a:bodyPr wrap="square" lIns="0" tIns="0" rIns="0" bIns="0" anchor="t">
            <a:spAutoFit/>
          </a:bodyPr>
          <a:lstStyle/>
          <a:p>
            <a:pPr algn="l">
              <a:lnSpc>
                <a:spcPct val="110000"/>
              </a:lnSpc>
              <a:spcBef>
                <a:spcPts val="0"/>
              </a:spcBef>
              <a:spcAft>
                <a:spcPts val="0"/>
              </a:spcAft>
              <a:defRPr sz="1180" b="0">
                <a:solidFill>
                  <a:srgbClr val="D2DEEC"/>
                </a:solidFill>
                <a:latin typeface="Source Sans 3"/>
              </a:defRPr>
            </a:pPr>
            <a:r>
              <a:t>Run volumes, complexity and entitlement assumptions.</a:t>
            </a:r>
          </a:p>
        </p:txBody>
      </p:sp>
      <p:sp>
        <p:nvSpPr>
          <p:cNvPr id="31" name="Rounded Rectangle 30"/>
          <p:cNvSpPr/>
          <p:nvPr/>
        </p:nvSpPr>
        <p:spPr>
          <a:xfrm>
            <a:off x="936345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53719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37192" y="2479852"/>
            <a:ext cx="420624" cy="128016"/>
          </a:xfrm>
          <a:prstGeom prst="rect">
            <a:avLst/>
          </a:prstGeom>
          <a:noFill/>
        </p:spPr>
        <p:txBody>
          <a:bodyPr wrap="square" lIns="0" tIns="0" rIns="0" bIns="0" anchor="t">
            <a:spAutoFit/>
          </a:bodyPr>
          <a:lstStyle/>
          <a:p>
            <a:pPr algn="ctr">
              <a:lnSpc>
                <a:spcPct val="104000"/>
              </a:lnSpc>
              <a:spcBef>
                <a:spcPts val="0"/>
              </a:spcBef>
              <a:spcAft>
                <a:spcPts val="0"/>
              </a:spcAft>
              <a:defRPr sz="1000" b="1">
                <a:solidFill>
                  <a:srgbClr val="71F1F7"/>
                </a:solidFill>
                <a:latin typeface="Source Sans 3"/>
              </a:defRPr>
            </a:pPr>
            <a:r>
              <a:t>04</a:t>
            </a:r>
          </a:p>
        </p:txBody>
      </p:sp>
      <p:sp>
        <p:nvSpPr>
          <p:cNvPr id="34" name="TextBox 33"/>
          <p:cNvSpPr txBox="1"/>
          <p:nvPr/>
        </p:nvSpPr>
        <p:spPr>
          <a:xfrm>
            <a:off x="9537192" y="2926080"/>
            <a:ext cx="2286000" cy="210312"/>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8FFFDB"/>
                </a:solidFill>
                <a:latin typeface="Source Sans 3"/>
              </a:defRPr>
            </a:pPr>
            <a:r>
              <a:t>CONTROL</a:t>
            </a:r>
          </a:p>
        </p:txBody>
      </p:sp>
      <p:sp>
        <p:nvSpPr>
          <p:cNvPr id="35" name="TextBox 34"/>
          <p:cNvSpPr txBox="1"/>
          <p:nvPr/>
        </p:nvSpPr>
        <p:spPr>
          <a:xfrm>
            <a:off x="9537192" y="3273552"/>
            <a:ext cx="2386584" cy="676656"/>
          </a:xfrm>
          <a:prstGeom prst="rect">
            <a:avLst/>
          </a:prstGeom>
          <a:noFill/>
        </p:spPr>
        <p:txBody>
          <a:bodyPr wrap="square" lIns="0" tIns="0" rIns="0" bIns="0" anchor="t">
            <a:spAutoFit/>
          </a:bodyPr>
          <a:lstStyle/>
          <a:p>
            <a:pPr algn="l">
              <a:lnSpc>
                <a:spcPct val="100000"/>
              </a:lnSpc>
              <a:spcBef>
                <a:spcPts val="0"/>
              </a:spcBef>
              <a:spcAft>
                <a:spcPts val="0"/>
              </a:spcAft>
              <a:defRPr sz="2050" b="1">
                <a:solidFill>
                  <a:srgbClr val="FFFFFF"/>
                </a:solidFill>
                <a:latin typeface="Source Sans 3"/>
              </a:defRPr>
            </a:pPr>
            <a:r>
              <a:t>What must be true</a:t>
            </a:r>
          </a:p>
        </p:txBody>
      </p:sp>
      <p:sp>
        <p:nvSpPr>
          <p:cNvPr id="36" name="Rectangle 35"/>
          <p:cNvSpPr/>
          <p:nvPr/>
        </p:nvSpPr>
        <p:spPr>
          <a:xfrm>
            <a:off x="953719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537192" y="4224528"/>
            <a:ext cx="2377440" cy="347472"/>
          </a:xfrm>
          <a:prstGeom prst="rect">
            <a:avLst/>
          </a:prstGeom>
          <a:noFill/>
        </p:spPr>
        <p:txBody>
          <a:bodyPr wrap="square" lIns="0" tIns="0" rIns="0" bIns="0" anchor="t">
            <a:spAutoFit/>
          </a:bodyPr>
          <a:lstStyle/>
          <a:p>
            <a:pPr algn="l">
              <a:lnSpc>
                <a:spcPct val="104000"/>
              </a:lnSpc>
              <a:spcBef>
                <a:spcPts val="0"/>
              </a:spcBef>
              <a:spcAft>
                <a:spcPts val="0"/>
              </a:spcAft>
              <a:defRPr sz="1320" b="1">
                <a:solidFill>
                  <a:srgbClr val="F7CD7B"/>
                </a:solidFill>
                <a:latin typeface="Source Sans 3"/>
              </a:defRPr>
            </a:pPr>
            <a:r>
              <a:t>[Permission and owner]</a:t>
            </a:r>
          </a:p>
        </p:txBody>
      </p:sp>
      <p:sp>
        <p:nvSpPr>
          <p:cNvPr id="38" name="TextBox 37"/>
          <p:cNvSpPr txBox="1"/>
          <p:nvPr/>
        </p:nvSpPr>
        <p:spPr>
          <a:xfrm>
            <a:off x="9537192" y="4672584"/>
            <a:ext cx="2368296" cy="585216"/>
          </a:xfrm>
          <a:prstGeom prst="rect">
            <a:avLst/>
          </a:prstGeom>
          <a:noFill/>
        </p:spPr>
        <p:txBody>
          <a:bodyPr wrap="square" lIns="0" tIns="0" rIns="0" bIns="0" anchor="t">
            <a:spAutoFit/>
          </a:bodyPr>
          <a:lstStyle/>
          <a:p>
            <a:pPr algn="l">
              <a:lnSpc>
                <a:spcPct val="110000"/>
              </a:lnSpc>
              <a:spcBef>
                <a:spcPts val="0"/>
              </a:spcBef>
              <a:spcAft>
                <a:spcPts val="0"/>
              </a:spcAft>
              <a:defRPr sz="1180" b="0">
                <a:solidFill>
                  <a:srgbClr val="D2DEEC"/>
                </a:solidFill>
                <a:latin typeface="Source Sans 3"/>
              </a:defRPr>
            </a:pPr>
            <a:r>
              <a:t>Approval boundaries, exceptions and accountable ownership.</a:t>
            </a:r>
          </a:p>
        </p:txBody>
      </p:sp>
      <p:sp>
        <p:nvSpPr>
          <p:cNvPr id="39" name="Rounded Rectangle 38"/>
          <p:cNvSpPr/>
          <p:nvPr/>
        </p:nvSpPr>
        <p:spPr>
          <a:xfrm>
            <a:off x="594360" y="5687568"/>
            <a:ext cx="11000232" cy="502920"/>
          </a:xfrm>
          <a:prstGeom prst="roundRect">
            <a:avLst>
              <a:gd name="adj" fmla="val 11000"/>
            </a:avLst>
          </a:prstGeom>
          <a:solidFill>
            <a:srgbClr val="14345B"/>
          </a:solidFill>
          <a:ln w="8890">
            <a:solidFill>
              <a:srgbClr val="356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528" y="5843016"/>
            <a:ext cx="1335024" cy="182880"/>
          </a:xfrm>
          <a:prstGeom prst="rect">
            <a:avLst/>
          </a:prstGeom>
          <a:noFill/>
        </p:spPr>
        <p:txBody>
          <a:bodyPr wrap="square" lIns="0" tIns="0" rIns="0" bIns="0" anchor="t">
            <a:spAutoFit/>
          </a:bodyPr>
          <a:lstStyle/>
          <a:p>
            <a:pPr algn="l">
              <a:lnSpc>
                <a:spcPct val="104000"/>
              </a:lnSpc>
              <a:spcBef>
                <a:spcPts val="0"/>
              </a:spcBef>
              <a:spcAft>
                <a:spcPts val="0"/>
              </a:spcAft>
              <a:defRPr sz="950" b="1">
                <a:solidFill>
                  <a:srgbClr val="8FFFDB"/>
                </a:solidFill>
                <a:latin typeface="Source Sans 3"/>
              </a:defRPr>
            </a:pPr>
            <a:r>
              <a:t>ASSESSMENT OUTPUT</a:t>
            </a:r>
          </a:p>
        </p:txBody>
      </p:sp>
      <p:sp>
        <p:nvSpPr>
          <p:cNvPr id="41" name="TextBox 40"/>
          <p:cNvSpPr txBox="1"/>
          <p:nvPr/>
        </p:nvSpPr>
        <p:spPr>
          <a:xfrm>
            <a:off x="2441448" y="5815584"/>
            <a:ext cx="8869680" cy="246888"/>
          </a:xfrm>
          <a:prstGeom prst="rect">
            <a:avLst/>
          </a:prstGeom>
          <a:noFill/>
        </p:spPr>
        <p:txBody>
          <a:bodyPr wrap="square" lIns="0" tIns="0" rIns="0" bIns="0" anchor="t">
            <a:spAutoFit/>
          </a:bodyPr>
          <a:lstStyle/>
          <a:p>
            <a:pPr algn="l">
              <a:lnSpc>
                <a:spcPct val="104000"/>
              </a:lnSpc>
              <a:spcBef>
                <a:spcPts val="0"/>
              </a:spcBef>
              <a:spcAft>
                <a:spcPts val="0"/>
              </a:spcAft>
              <a:defRPr sz="1280" b="0">
                <a:solidFill>
                  <a:srgbClr val="FFFFFF"/>
                </a:solidFill>
                <a:latin typeface="Source Sans 3"/>
              </a:defRPr>
            </a:pPr>
            <a:r>
              <a:t>AI Readiness Decision Brief  →  Proposed first outcome, with unknowns clearly identified.</a:t>
            </a:r>
          </a:p>
        </p:txBody>
      </p:sp>
      <p:sp>
        <p:nvSpPr>
          <p:cNvPr id="42" name="Rectangle 41"/>
          <p:cNvSpPr/>
          <p:nvPr/>
        </p:nvSpPr>
        <p:spPr>
          <a:xfrm>
            <a:off x="566928" y="6473952"/>
            <a:ext cx="11036808" cy="10972"/>
          </a:xfrm>
          <a:prstGeom prst="rect">
            <a:avLst/>
          </a:prstGeom>
          <a:solidFill>
            <a:srgbClr val="294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road-to-zero-crossfuze-logo.png"/>
          <p:cNvPicPr>
            <a:picLocks noChangeAspect="1"/>
          </p:cNvPicPr>
          <p:nvPr/>
        </p:nvPicPr>
        <p:blipFill>
          <a:blip r:embed="rId4"/>
          <a:stretch>
            <a:fillRect/>
          </a:stretch>
        </p:blipFill>
        <p:spPr>
          <a:xfrm>
            <a:off x="585216" y="6547104"/>
            <a:ext cx="1024128" cy="175439"/>
          </a:xfrm>
          <a:prstGeom prst="rect">
            <a:avLst/>
          </a:prstGeom>
        </p:spPr>
      </p:pic>
      <p:sp>
        <p:nvSpPr>
          <p:cNvPr id="44" name="TextBox 43"/>
          <p:cNvSpPr txBox="1"/>
          <p:nvPr/>
        </p:nvSpPr>
        <p:spPr>
          <a:xfrm>
            <a:off x="7040880" y="6565392"/>
            <a:ext cx="4059936" cy="155448"/>
          </a:xfrm>
          <a:prstGeom prst="rect">
            <a:avLst/>
          </a:prstGeom>
          <a:noFill/>
        </p:spPr>
        <p:txBody>
          <a:bodyPr wrap="square" lIns="0" tIns="0" rIns="0" bIns="0" anchor="t">
            <a:spAutoFit/>
          </a:bodyPr>
          <a:lstStyle/>
          <a:p>
            <a:pPr algn="r">
              <a:lnSpc>
                <a:spcPct val="104000"/>
              </a:lnSpc>
              <a:spcBef>
                <a:spcPts val="0"/>
              </a:spcBef>
              <a:spcAft>
                <a:spcPts val="0"/>
              </a:spcAft>
              <a:defRPr sz="800" b="0">
                <a:solidFill>
                  <a:srgbClr val="9FB4CF"/>
                </a:solidFill>
                <a:latin typeface="Source Sans 3"/>
              </a:defRPr>
            </a:pPr>
            <a:r>
              <a:t>CROSSFUZE  /  AUTONOMOUS IT  ·  ROAD TO ZERO</a:t>
            </a:r>
          </a:p>
        </p:txBody>
      </p:sp>
      <p:sp>
        <p:nvSpPr>
          <p:cNvPr id="45" name="TextBox 44"/>
          <p:cNvSpPr txBox="1"/>
          <p:nvPr/>
        </p:nvSpPr>
        <p:spPr>
          <a:xfrm>
            <a:off x="11301984" y="6547104"/>
            <a:ext cx="310896" cy="164592"/>
          </a:xfrm>
          <a:prstGeom prst="rect">
            <a:avLst/>
          </a:prstGeom>
          <a:noFill/>
        </p:spPr>
        <p:txBody>
          <a:bodyPr wrap="square" lIns="0" tIns="0" rIns="0" bIns="0" anchor="t">
            <a:spAutoFit/>
          </a:bodyPr>
          <a:lstStyle/>
          <a:p>
            <a:pPr algn="r">
              <a:lnSpc>
                <a:spcPct val="104000"/>
              </a:lnSpc>
              <a:spcBef>
                <a:spcPts val="0"/>
              </a:spcBef>
              <a:spcAft>
                <a:spcPts val="0"/>
              </a:spcAft>
              <a:defRPr sz="900" b="1">
                <a:solidFill>
                  <a:srgbClr val="9FB4CF"/>
                </a:solidFill>
                <a:latin typeface="Source Sans 3"/>
              </a:defRPr>
            </a:pPr>
            <a:r>
              <a:t>03</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824"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493776"/>
            <a:ext cx="50292" cy="237744"/>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 y="502920"/>
            <a:ext cx="6858000" cy="201168"/>
          </a:xfrm>
          <a:prstGeom prst="rect">
            <a:avLst/>
          </a:prstGeom>
          <a:noFill/>
        </p:spPr>
        <p:txBody>
          <a:bodyPr wrap="square" lIns="0" tIns="0" rIns="0" bIns="0" anchor="t">
            <a:spAutoFit/>
          </a:bodyPr>
          <a:lstStyle/>
          <a:p>
            <a:pPr algn="l">
              <a:lnSpc>
                <a:spcPct val="104000"/>
              </a:lnSpc>
              <a:spcBef>
                <a:spcPts val="0"/>
              </a:spcBef>
              <a:spcAft>
                <a:spcPts val="0"/>
              </a:spcAft>
              <a:defRPr sz="1019" b="1">
                <a:solidFill>
                  <a:srgbClr val="217E94"/>
                </a:solidFill>
                <a:latin typeface="Source Sans 3"/>
              </a:defRPr>
            </a:pPr>
            <a:r>
              <a:t>STAGE 02   /   OUTCOME RECOMMENDATION</a:t>
            </a:r>
          </a:p>
        </p:txBody>
      </p:sp>
      <p:sp>
        <p:nvSpPr>
          <p:cNvPr id="6" name="TextBox 5"/>
          <p:cNvSpPr txBox="1"/>
          <p:nvPr/>
        </p:nvSpPr>
        <p:spPr>
          <a:xfrm>
            <a:off x="594360" y="877824"/>
            <a:ext cx="10881360" cy="530352"/>
          </a:xfrm>
          <a:prstGeom prst="rect">
            <a:avLst/>
          </a:prstGeom>
          <a:noFill/>
        </p:spPr>
        <p:txBody>
          <a:bodyPr wrap="square" lIns="0" tIns="0" rIns="0" bIns="0" anchor="t">
            <a:spAutoFit/>
          </a:bodyPr>
          <a:lstStyle/>
          <a:p>
            <a:pPr algn="l">
              <a:lnSpc>
                <a:spcPct val="104000"/>
              </a:lnSpc>
              <a:spcBef>
                <a:spcPts val="0"/>
              </a:spcBef>
              <a:spcAft>
                <a:spcPts val="0"/>
              </a:spcAft>
              <a:defRPr sz="3250" b="1">
                <a:solidFill>
                  <a:srgbClr val="040E3D"/>
                </a:solidFill>
                <a:latin typeface="Source Sans 3"/>
              </a:defRPr>
            </a:pPr>
            <a:r>
              <a:t>Which Zero should we pursue first?</a:t>
            </a:r>
          </a:p>
        </p:txBody>
      </p:sp>
      <p:sp>
        <p:nvSpPr>
          <p:cNvPr id="7" name="TextBox 6"/>
          <p:cNvSpPr txBox="1"/>
          <p:nvPr/>
        </p:nvSpPr>
        <p:spPr>
          <a:xfrm>
            <a:off x="594360" y="1508760"/>
            <a:ext cx="10881360" cy="475488"/>
          </a:xfrm>
          <a:prstGeom prst="rect">
            <a:avLst/>
          </a:prstGeom>
          <a:noFill/>
        </p:spPr>
        <p:txBody>
          <a:bodyPr wrap="square" lIns="0" tIns="0" rIns="0" bIns="0" anchor="t">
            <a:spAutoFit/>
          </a:bodyPr>
          <a:lstStyle/>
          <a:p>
            <a:pPr algn="l">
              <a:lnSpc>
                <a:spcPct val="104000"/>
              </a:lnSpc>
              <a:spcBef>
                <a:spcPts val="0"/>
              </a:spcBef>
              <a:spcAft>
                <a:spcPts val="0"/>
              </a:spcAft>
              <a:defRPr sz="1500" b="0">
                <a:solidFill>
                  <a:srgbClr val="586985"/>
                </a:solidFill>
                <a:latin typeface="Source Sans 3"/>
              </a:defRPr>
            </a:pPr>
            <a:r>
              <a:t>Start where the business pressure is real and the readiness evidence supports a controlled first move.</a:t>
            </a:r>
          </a:p>
        </p:txBody>
      </p:sp>
      <p:sp>
        <p:nvSpPr>
          <p:cNvPr id="8" name="Rounded Rectangle 7"/>
          <p:cNvSpPr/>
          <p:nvPr/>
        </p:nvSpPr>
        <p:spPr>
          <a:xfrm>
            <a:off x="594360" y="2194560"/>
            <a:ext cx="5614416" cy="3337560"/>
          </a:xfrm>
          <a:prstGeom prst="roundRect">
            <a:avLst>
              <a:gd name="adj" fmla="val 11000"/>
            </a:avLst>
          </a:prstGeom>
          <a:solidFill>
            <a:srgbClr val="EEF8F9"/>
          </a:solidFill>
          <a:ln w="12700">
            <a:solidFill>
              <a:srgbClr val="C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194560"/>
            <a:ext cx="82296" cy="3337560"/>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514600"/>
            <a:ext cx="4754880" cy="228600"/>
          </a:xfrm>
          <a:prstGeom prst="rect">
            <a:avLst/>
          </a:prstGeom>
          <a:noFill/>
        </p:spPr>
        <p:txBody>
          <a:bodyPr wrap="square" lIns="0" tIns="0" rIns="0" bIns="0" anchor="t">
            <a:spAutoFit/>
          </a:bodyPr>
          <a:lstStyle/>
          <a:p>
            <a:pPr algn="l">
              <a:lnSpc>
                <a:spcPct val="104000"/>
              </a:lnSpc>
              <a:spcBef>
                <a:spcPts val="0"/>
              </a:spcBef>
              <a:spcAft>
                <a:spcPts val="0"/>
              </a:spcAft>
              <a:defRPr sz="1050" b="1">
                <a:solidFill>
                  <a:srgbClr val="147B8E"/>
                </a:solidFill>
                <a:latin typeface="Source Sans 3"/>
              </a:defRPr>
            </a:pPr>
            <a:r>
              <a:t>RECOMMENDED FIRST ZERO</a:t>
            </a:r>
          </a:p>
        </p:txBody>
      </p:sp>
      <p:sp>
        <p:nvSpPr>
          <p:cNvPr id="11" name="TextBox 10"/>
          <p:cNvSpPr txBox="1"/>
          <p:nvPr/>
        </p:nvSpPr>
        <p:spPr>
          <a:xfrm>
            <a:off x="896112" y="2953512"/>
            <a:ext cx="5001768" cy="502920"/>
          </a:xfrm>
          <a:prstGeom prst="rect">
            <a:avLst/>
          </a:prstGeom>
          <a:noFill/>
        </p:spPr>
        <p:txBody>
          <a:bodyPr wrap="square" lIns="0" tIns="0" rIns="0" bIns="0" anchor="t">
            <a:spAutoFit/>
          </a:bodyPr>
          <a:lstStyle/>
          <a:p>
            <a:pPr algn="l">
              <a:lnSpc>
                <a:spcPct val="104000"/>
              </a:lnSpc>
              <a:spcBef>
                <a:spcPts val="0"/>
              </a:spcBef>
              <a:spcAft>
                <a:spcPts val="0"/>
              </a:spcAft>
              <a:defRPr sz="3000" b="1">
                <a:solidFill>
                  <a:srgbClr val="040E3D"/>
                </a:solidFill>
                <a:latin typeface="Source Sans 3"/>
              </a:defRPr>
            </a:pPr>
            <a:r>
              <a:t>[Selected Zero]</a:t>
            </a:r>
          </a:p>
        </p:txBody>
      </p:sp>
      <p:sp>
        <p:nvSpPr>
          <p:cNvPr id="12" name="TextBox 11"/>
          <p:cNvSpPr txBox="1"/>
          <p:nvPr/>
        </p:nvSpPr>
        <p:spPr>
          <a:xfrm>
            <a:off x="896112" y="3666744"/>
            <a:ext cx="4553712" cy="283464"/>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73839A"/>
                </a:solidFill>
                <a:latin typeface="Source Sans 3"/>
              </a:defRPr>
            </a:pPr>
            <a:r>
              <a:t>FIRST WORKFLOW</a:t>
            </a:r>
          </a:p>
        </p:txBody>
      </p:sp>
      <p:sp>
        <p:nvSpPr>
          <p:cNvPr id="13" name="TextBox 12"/>
          <p:cNvSpPr txBox="1"/>
          <p:nvPr/>
        </p:nvSpPr>
        <p:spPr>
          <a:xfrm>
            <a:off x="896112" y="3986784"/>
            <a:ext cx="4828032" cy="347472"/>
          </a:xfrm>
          <a:prstGeom prst="rect">
            <a:avLst/>
          </a:prstGeom>
          <a:noFill/>
        </p:spPr>
        <p:txBody>
          <a:bodyPr wrap="square" lIns="0" tIns="0" rIns="0" bIns="0" anchor="t">
            <a:spAutoFit/>
          </a:bodyPr>
          <a:lstStyle/>
          <a:p>
            <a:pPr algn="l">
              <a:lnSpc>
                <a:spcPct val="104000"/>
              </a:lnSpc>
              <a:spcBef>
                <a:spcPts val="0"/>
              </a:spcBef>
              <a:spcAft>
                <a:spcPts val="0"/>
              </a:spcAft>
              <a:defRPr sz="1750" b="1">
                <a:solidFill>
                  <a:srgbClr val="1A344E"/>
                </a:solidFill>
                <a:latin typeface="Source Sans 3"/>
              </a:defRPr>
            </a:pPr>
            <a:r>
              <a:t>[Selected service / workflow]</a:t>
            </a:r>
          </a:p>
        </p:txBody>
      </p:sp>
      <p:sp>
        <p:nvSpPr>
          <p:cNvPr id="14" name="Rectangle 13"/>
          <p:cNvSpPr/>
          <p:nvPr/>
        </p:nvSpPr>
        <p:spPr>
          <a:xfrm>
            <a:off x="896112" y="4572000"/>
            <a:ext cx="4919472" cy="14630"/>
          </a:xfrm>
          <a:prstGeom prst="rect">
            <a:avLst/>
          </a:prstGeom>
          <a:solidFill>
            <a:srgbClr val="C7D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4727448"/>
            <a:ext cx="4818888" cy="521207"/>
          </a:xfrm>
          <a:prstGeom prst="rect">
            <a:avLst/>
          </a:prstGeom>
          <a:noFill/>
        </p:spPr>
        <p:txBody>
          <a:bodyPr wrap="square" lIns="0" tIns="0" rIns="0" bIns="0" anchor="t">
            <a:spAutoFit/>
          </a:bodyPr>
          <a:lstStyle/>
          <a:p>
            <a:pPr algn="l">
              <a:lnSpc>
                <a:spcPct val="104000"/>
              </a:lnSpc>
              <a:spcBef>
                <a:spcPts val="0"/>
              </a:spcBef>
              <a:spcAft>
                <a:spcPts val="0"/>
              </a:spcAft>
              <a:defRPr sz="1140" b="0">
                <a:solidFill>
                  <a:srgbClr val="586C82"/>
                </a:solidFill>
                <a:latin typeface="Source Sans 3"/>
              </a:defRPr>
            </a:pPr>
            <a:r>
              <a:t>Provisional recommendation — confirm the evidence and agree the outcome with the customer.</a:t>
            </a:r>
          </a:p>
        </p:txBody>
      </p:sp>
      <p:sp>
        <p:nvSpPr>
          <p:cNvPr id="16" name="Rounded Rectangle 15"/>
          <p:cNvSpPr/>
          <p:nvPr/>
        </p:nvSpPr>
        <p:spPr>
          <a:xfrm>
            <a:off x="6446520" y="2194560"/>
            <a:ext cx="5138928" cy="1033271"/>
          </a:xfrm>
          <a:prstGeom prst="roundRect">
            <a:avLst>
              <a:gd name="adj" fmla="val 11000"/>
            </a:avLst>
          </a:prstGeom>
          <a:solidFill>
            <a:srgbClr val="FFFFFF"/>
          </a:solidFill>
          <a:ln w="11430">
            <a:solidFill>
              <a:srgbClr val="DC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611112" y="2395728"/>
            <a:ext cx="393192" cy="393192"/>
          </a:xfrm>
          <a:prstGeom prst="roundRect">
            <a:avLst>
              <a:gd name="adj" fmla="val 11000"/>
            </a:avLst>
          </a:prstGeom>
          <a:solidFill>
            <a:srgbClr val="E4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11112" y="2511856"/>
            <a:ext cx="393192" cy="146304"/>
          </a:xfrm>
          <a:prstGeom prst="rect">
            <a:avLst/>
          </a:prstGeom>
          <a:noFill/>
        </p:spPr>
        <p:txBody>
          <a:bodyPr wrap="square" lIns="0" tIns="0" rIns="0" bIns="0" anchor="t">
            <a:spAutoFit/>
          </a:bodyPr>
          <a:lstStyle/>
          <a:p>
            <a:pPr algn="ctr">
              <a:lnSpc>
                <a:spcPct val="104000"/>
              </a:lnSpc>
              <a:spcBef>
                <a:spcPts val="0"/>
              </a:spcBef>
              <a:spcAft>
                <a:spcPts val="0"/>
              </a:spcAft>
              <a:defRPr sz="960" b="1">
                <a:solidFill>
                  <a:srgbClr val="167B85"/>
                </a:solidFill>
                <a:latin typeface="Source Sans 3"/>
              </a:defRPr>
            </a:pPr>
            <a:r>
              <a:t>01</a:t>
            </a:r>
          </a:p>
        </p:txBody>
      </p:sp>
      <p:sp>
        <p:nvSpPr>
          <p:cNvPr id="19" name="TextBox 18"/>
          <p:cNvSpPr txBox="1"/>
          <p:nvPr/>
        </p:nvSpPr>
        <p:spPr>
          <a:xfrm>
            <a:off x="7150608" y="2340864"/>
            <a:ext cx="4041648" cy="219456"/>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258397"/>
                </a:solidFill>
                <a:latin typeface="Source Sans 3"/>
              </a:defRPr>
            </a:pPr>
            <a:r>
              <a:t>BUSINESS VALUE</a:t>
            </a:r>
          </a:p>
        </p:txBody>
      </p:sp>
      <p:sp>
        <p:nvSpPr>
          <p:cNvPr id="20" name="TextBox 19"/>
          <p:cNvSpPr txBox="1"/>
          <p:nvPr/>
        </p:nvSpPr>
        <p:spPr>
          <a:xfrm>
            <a:off x="7150608" y="2624328"/>
            <a:ext cx="4114800" cy="265176"/>
          </a:xfrm>
          <a:prstGeom prst="rect">
            <a:avLst/>
          </a:prstGeom>
          <a:noFill/>
        </p:spPr>
        <p:txBody>
          <a:bodyPr wrap="square" lIns="0" tIns="0" rIns="0" bIns="0" anchor="t">
            <a:spAutoFit/>
          </a:bodyPr>
          <a:lstStyle/>
          <a:p>
            <a:pPr algn="l">
              <a:lnSpc>
                <a:spcPct val="104000"/>
              </a:lnSpc>
              <a:spcBef>
                <a:spcPts val="0"/>
              </a:spcBef>
              <a:spcAft>
                <a:spcPts val="0"/>
              </a:spcAft>
              <a:defRPr sz="1620" b="1">
                <a:solidFill>
                  <a:srgbClr val="101B42"/>
                </a:solidFill>
                <a:latin typeface="Source Sans 3"/>
              </a:defRPr>
            </a:pPr>
            <a:r>
              <a:t>[Why this outcome matters]</a:t>
            </a:r>
          </a:p>
        </p:txBody>
      </p:sp>
      <p:sp>
        <p:nvSpPr>
          <p:cNvPr id="21" name="TextBox 20"/>
          <p:cNvSpPr txBox="1"/>
          <p:nvPr/>
        </p:nvSpPr>
        <p:spPr>
          <a:xfrm>
            <a:off x="7150608" y="2953512"/>
            <a:ext cx="4087368" cy="192024"/>
          </a:xfrm>
          <a:prstGeom prst="rect">
            <a:avLst/>
          </a:prstGeom>
          <a:noFill/>
        </p:spPr>
        <p:txBody>
          <a:bodyPr wrap="square" lIns="0" tIns="0" rIns="0" bIns="0" anchor="t">
            <a:spAutoFit/>
          </a:bodyPr>
          <a:lstStyle/>
          <a:p>
            <a:pPr algn="l">
              <a:lnSpc>
                <a:spcPct val="104000"/>
              </a:lnSpc>
              <a:spcBef>
                <a:spcPts val="0"/>
              </a:spcBef>
              <a:spcAft>
                <a:spcPts val="0"/>
              </a:spcAft>
              <a:defRPr sz="1110" b="0">
                <a:solidFill>
                  <a:srgbClr val="6F7F94"/>
                </a:solidFill>
                <a:latin typeface="Source Sans 3"/>
              </a:defRPr>
            </a:pPr>
            <a:r>
              <a:t>Baseline, demand, cost or risk to improve.</a:t>
            </a:r>
          </a:p>
        </p:txBody>
      </p:sp>
      <p:sp>
        <p:nvSpPr>
          <p:cNvPr id="22" name="Rounded Rectangle 21"/>
          <p:cNvSpPr/>
          <p:nvPr/>
        </p:nvSpPr>
        <p:spPr>
          <a:xfrm>
            <a:off x="6446520" y="3328415"/>
            <a:ext cx="5138928" cy="1033271"/>
          </a:xfrm>
          <a:prstGeom prst="roundRect">
            <a:avLst>
              <a:gd name="adj" fmla="val 11000"/>
            </a:avLst>
          </a:prstGeom>
          <a:solidFill>
            <a:srgbClr val="FFFFFF"/>
          </a:solidFill>
          <a:ln w="11430">
            <a:solidFill>
              <a:srgbClr val="DC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611112" y="3529584"/>
            <a:ext cx="393192" cy="393192"/>
          </a:xfrm>
          <a:prstGeom prst="roundRect">
            <a:avLst>
              <a:gd name="adj" fmla="val 11000"/>
            </a:avLst>
          </a:prstGeom>
          <a:solidFill>
            <a:srgbClr val="E4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11112" y="3645712"/>
            <a:ext cx="393192" cy="146304"/>
          </a:xfrm>
          <a:prstGeom prst="rect">
            <a:avLst/>
          </a:prstGeom>
          <a:noFill/>
        </p:spPr>
        <p:txBody>
          <a:bodyPr wrap="square" lIns="0" tIns="0" rIns="0" bIns="0" anchor="t">
            <a:spAutoFit/>
          </a:bodyPr>
          <a:lstStyle/>
          <a:p>
            <a:pPr algn="ctr">
              <a:lnSpc>
                <a:spcPct val="104000"/>
              </a:lnSpc>
              <a:spcBef>
                <a:spcPts val="0"/>
              </a:spcBef>
              <a:spcAft>
                <a:spcPts val="0"/>
              </a:spcAft>
              <a:defRPr sz="960" b="1">
                <a:solidFill>
                  <a:srgbClr val="167B85"/>
                </a:solidFill>
                <a:latin typeface="Source Sans 3"/>
              </a:defRPr>
            </a:pPr>
            <a:r>
              <a:t>02</a:t>
            </a:r>
          </a:p>
        </p:txBody>
      </p:sp>
      <p:sp>
        <p:nvSpPr>
          <p:cNvPr id="25" name="TextBox 24"/>
          <p:cNvSpPr txBox="1"/>
          <p:nvPr/>
        </p:nvSpPr>
        <p:spPr>
          <a:xfrm>
            <a:off x="7150608" y="3474720"/>
            <a:ext cx="4041648" cy="219456"/>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258397"/>
                </a:solidFill>
                <a:latin typeface="Source Sans 3"/>
              </a:defRPr>
            </a:pPr>
            <a:r>
              <a:t>READINESS FIT</a:t>
            </a:r>
          </a:p>
        </p:txBody>
      </p:sp>
      <p:sp>
        <p:nvSpPr>
          <p:cNvPr id="26" name="TextBox 25"/>
          <p:cNvSpPr txBox="1"/>
          <p:nvPr/>
        </p:nvSpPr>
        <p:spPr>
          <a:xfrm>
            <a:off x="7150608" y="3758183"/>
            <a:ext cx="4114800" cy="265176"/>
          </a:xfrm>
          <a:prstGeom prst="rect">
            <a:avLst/>
          </a:prstGeom>
          <a:noFill/>
        </p:spPr>
        <p:txBody>
          <a:bodyPr wrap="square" lIns="0" tIns="0" rIns="0" bIns="0" anchor="t">
            <a:spAutoFit/>
          </a:bodyPr>
          <a:lstStyle/>
          <a:p>
            <a:pPr algn="l">
              <a:lnSpc>
                <a:spcPct val="104000"/>
              </a:lnSpc>
              <a:spcBef>
                <a:spcPts val="0"/>
              </a:spcBef>
              <a:spcAft>
                <a:spcPts val="0"/>
              </a:spcAft>
              <a:defRPr sz="1620" b="1">
                <a:solidFill>
                  <a:srgbClr val="101B42"/>
                </a:solidFill>
                <a:latin typeface="Source Sans 3"/>
              </a:defRPr>
            </a:pPr>
            <a:r>
              <a:t>[What the assessment supports]</a:t>
            </a:r>
          </a:p>
        </p:txBody>
      </p:sp>
      <p:sp>
        <p:nvSpPr>
          <p:cNvPr id="27" name="TextBox 26"/>
          <p:cNvSpPr txBox="1"/>
          <p:nvPr/>
        </p:nvSpPr>
        <p:spPr>
          <a:xfrm>
            <a:off x="7150608" y="4087368"/>
            <a:ext cx="4087368" cy="192024"/>
          </a:xfrm>
          <a:prstGeom prst="rect">
            <a:avLst/>
          </a:prstGeom>
          <a:noFill/>
        </p:spPr>
        <p:txBody>
          <a:bodyPr wrap="square" lIns="0" tIns="0" rIns="0" bIns="0" anchor="t">
            <a:spAutoFit/>
          </a:bodyPr>
          <a:lstStyle/>
          <a:p>
            <a:pPr algn="l">
              <a:lnSpc>
                <a:spcPct val="104000"/>
              </a:lnSpc>
              <a:spcBef>
                <a:spcPts val="0"/>
              </a:spcBef>
              <a:spcAft>
                <a:spcPts val="0"/>
              </a:spcAft>
              <a:defRPr sz="1110" b="0">
                <a:solidFill>
                  <a:srgbClr val="6F7F94"/>
                </a:solidFill>
                <a:latin typeface="Source Sans 3"/>
              </a:defRPr>
            </a:pPr>
            <a:r>
              <a:t>Evidence available; dependencies still to validate.</a:t>
            </a:r>
          </a:p>
        </p:txBody>
      </p:sp>
      <p:sp>
        <p:nvSpPr>
          <p:cNvPr id="28" name="Rounded Rectangle 27"/>
          <p:cNvSpPr/>
          <p:nvPr/>
        </p:nvSpPr>
        <p:spPr>
          <a:xfrm>
            <a:off x="6446520" y="4462272"/>
            <a:ext cx="5138928" cy="1033271"/>
          </a:xfrm>
          <a:prstGeom prst="roundRect">
            <a:avLst>
              <a:gd name="adj" fmla="val 11000"/>
            </a:avLst>
          </a:prstGeom>
          <a:solidFill>
            <a:srgbClr val="FFFFFF"/>
          </a:solidFill>
          <a:ln w="11430">
            <a:solidFill>
              <a:srgbClr val="DC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611112" y="4663440"/>
            <a:ext cx="393192" cy="393192"/>
          </a:xfrm>
          <a:prstGeom prst="roundRect">
            <a:avLst>
              <a:gd name="adj" fmla="val 11000"/>
            </a:avLst>
          </a:prstGeom>
          <a:solidFill>
            <a:srgbClr val="E4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11112" y="4779568"/>
            <a:ext cx="393192" cy="146304"/>
          </a:xfrm>
          <a:prstGeom prst="rect">
            <a:avLst/>
          </a:prstGeom>
          <a:noFill/>
        </p:spPr>
        <p:txBody>
          <a:bodyPr wrap="square" lIns="0" tIns="0" rIns="0" bIns="0" anchor="t">
            <a:spAutoFit/>
          </a:bodyPr>
          <a:lstStyle/>
          <a:p>
            <a:pPr algn="ctr">
              <a:lnSpc>
                <a:spcPct val="104000"/>
              </a:lnSpc>
              <a:spcBef>
                <a:spcPts val="0"/>
              </a:spcBef>
              <a:spcAft>
                <a:spcPts val="0"/>
              </a:spcAft>
              <a:defRPr sz="960" b="1">
                <a:solidFill>
                  <a:srgbClr val="167B85"/>
                </a:solidFill>
                <a:latin typeface="Source Sans 3"/>
              </a:defRPr>
            </a:pPr>
            <a:r>
              <a:t>03</a:t>
            </a:r>
          </a:p>
        </p:txBody>
      </p:sp>
      <p:sp>
        <p:nvSpPr>
          <p:cNvPr id="31" name="TextBox 30"/>
          <p:cNvSpPr txBox="1"/>
          <p:nvPr/>
        </p:nvSpPr>
        <p:spPr>
          <a:xfrm>
            <a:off x="7150608" y="4608576"/>
            <a:ext cx="4041648" cy="219456"/>
          </a:xfrm>
          <a:prstGeom prst="rect">
            <a:avLst/>
          </a:prstGeom>
          <a:noFill/>
        </p:spPr>
        <p:txBody>
          <a:bodyPr wrap="square" lIns="0" tIns="0" rIns="0" bIns="0" anchor="t">
            <a:spAutoFit/>
          </a:bodyPr>
          <a:lstStyle/>
          <a:p>
            <a:pPr algn="l">
              <a:lnSpc>
                <a:spcPct val="104000"/>
              </a:lnSpc>
              <a:spcBef>
                <a:spcPts val="0"/>
              </a:spcBef>
              <a:spcAft>
                <a:spcPts val="0"/>
              </a:spcAft>
              <a:defRPr sz="1000" b="1">
                <a:solidFill>
                  <a:srgbClr val="258397"/>
                </a:solidFill>
                <a:latin typeface="Source Sans 3"/>
              </a:defRPr>
            </a:pPr>
            <a:r>
              <a:t>FIRST PROOF</a:t>
            </a:r>
          </a:p>
        </p:txBody>
      </p:sp>
      <p:sp>
        <p:nvSpPr>
          <p:cNvPr id="32" name="TextBox 31"/>
          <p:cNvSpPr txBox="1"/>
          <p:nvPr/>
        </p:nvSpPr>
        <p:spPr>
          <a:xfrm>
            <a:off x="7150608" y="4892040"/>
            <a:ext cx="4114800" cy="265176"/>
          </a:xfrm>
          <a:prstGeom prst="rect">
            <a:avLst/>
          </a:prstGeom>
          <a:noFill/>
        </p:spPr>
        <p:txBody>
          <a:bodyPr wrap="square" lIns="0" tIns="0" rIns="0" bIns="0" anchor="t">
            <a:spAutoFit/>
          </a:bodyPr>
          <a:lstStyle/>
          <a:p>
            <a:pPr algn="l">
              <a:lnSpc>
                <a:spcPct val="104000"/>
              </a:lnSpc>
              <a:spcBef>
                <a:spcPts val="0"/>
              </a:spcBef>
              <a:spcAft>
                <a:spcPts val="0"/>
              </a:spcAft>
              <a:defRPr sz="1620" b="1">
                <a:solidFill>
                  <a:srgbClr val="101B42"/>
                </a:solidFill>
                <a:latin typeface="Source Sans 3"/>
              </a:defRPr>
            </a:pPr>
            <a:r>
              <a:t>[How success will be measured]</a:t>
            </a:r>
          </a:p>
        </p:txBody>
      </p:sp>
      <p:sp>
        <p:nvSpPr>
          <p:cNvPr id="33" name="TextBox 32"/>
          <p:cNvSpPr txBox="1"/>
          <p:nvPr/>
        </p:nvSpPr>
        <p:spPr>
          <a:xfrm>
            <a:off x="7150608" y="5221224"/>
            <a:ext cx="4087368" cy="192024"/>
          </a:xfrm>
          <a:prstGeom prst="rect">
            <a:avLst/>
          </a:prstGeom>
          <a:noFill/>
        </p:spPr>
        <p:txBody>
          <a:bodyPr wrap="square" lIns="0" tIns="0" rIns="0" bIns="0" anchor="t">
            <a:spAutoFit/>
          </a:bodyPr>
          <a:lstStyle/>
          <a:p>
            <a:pPr algn="l">
              <a:lnSpc>
                <a:spcPct val="104000"/>
              </a:lnSpc>
              <a:spcBef>
                <a:spcPts val="0"/>
              </a:spcBef>
              <a:spcAft>
                <a:spcPts val="0"/>
              </a:spcAft>
              <a:defRPr sz="1110" b="0">
                <a:solidFill>
                  <a:srgbClr val="6F7F94"/>
                </a:solidFill>
                <a:latin typeface="Source Sans 3"/>
              </a:defRPr>
            </a:pPr>
            <a:r>
              <a:t>Metric, accountable owner and review point.</a:t>
            </a:r>
          </a:p>
        </p:txBody>
      </p:sp>
      <p:sp>
        <p:nvSpPr>
          <p:cNvPr id="34" name="Rounded Rectangle 33"/>
          <p:cNvSpPr/>
          <p:nvPr/>
        </p:nvSpPr>
        <p:spPr>
          <a:xfrm>
            <a:off x="594360" y="5806440"/>
            <a:ext cx="10991088" cy="438912"/>
          </a:xfrm>
          <a:prstGeom prst="roundRect">
            <a:avLst>
              <a:gd name="adj" fmla="val 11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2104" y="5934456"/>
            <a:ext cx="1572768" cy="164592"/>
          </a:xfrm>
          <a:prstGeom prst="rect">
            <a:avLst/>
          </a:prstGeom>
          <a:noFill/>
        </p:spPr>
        <p:txBody>
          <a:bodyPr wrap="square" lIns="0" tIns="0" rIns="0" bIns="0" anchor="t">
            <a:spAutoFit/>
          </a:bodyPr>
          <a:lstStyle/>
          <a:p>
            <a:pPr algn="l">
              <a:lnSpc>
                <a:spcPct val="104000"/>
              </a:lnSpc>
              <a:spcBef>
                <a:spcPts val="0"/>
              </a:spcBef>
              <a:spcAft>
                <a:spcPts val="0"/>
              </a:spcAft>
              <a:defRPr sz="960" b="1">
                <a:solidFill>
                  <a:srgbClr val="8FFFDB"/>
                </a:solidFill>
                <a:latin typeface="Source Sans 3"/>
              </a:defRPr>
            </a:pPr>
            <a:r>
              <a:t>DECISION REQUIRED</a:t>
            </a:r>
          </a:p>
        </p:txBody>
      </p:sp>
      <p:sp>
        <p:nvSpPr>
          <p:cNvPr id="36" name="TextBox 35"/>
          <p:cNvSpPr txBox="1"/>
          <p:nvPr/>
        </p:nvSpPr>
        <p:spPr>
          <a:xfrm>
            <a:off x="2496312" y="5911596"/>
            <a:ext cx="8714232" cy="201168"/>
          </a:xfrm>
          <a:prstGeom prst="rect">
            <a:avLst/>
          </a:prstGeom>
          <a:noFill/>
        </p:spPr>
        <p:txBody>
          <a:bodyPr wrap="square" lIns="0" tIns="0" rIns="0" bIns="0" anchor="t">
            <a:spAutoFit/>
          </a:bodyPr>
          <a:lstStyle/>
          <a:p>
            <a:pPr algn="l">
              <a:lnSpc>
                <a:spcPct val="104000"/>
              </a:lnSpc>
              <a:spcBef>
                <a:spcPts val="0"/>
              </a:spcBef>
              <a:spcAft>
                <a:spcPts val="0"/>
              </a:spcAft>
              <a:defRPr sz="1290" b="1">
                <a:solidFill>
                  <a:srgbClr val="FFFFFF"/>
                </a:solidFill>
                <a:latin typeface="Source Sans 3"/>
              </a:defRPr>
            </a:pPr>
            <a:r>
              <a:t>Confirm the first-Zero hypothesis, workflow, owner and proof measures.</a:t>
            </a:r>
          </a:p>
        </p:txBody>
      </p:sp>
      <p:sp>
        <p:nvSpPr>
          <p:cNvPr id="37" name="Rectangle 36"/>
          <p:cNvSpPr/>
          <p:nvPr/>
        </p:nvSpPr>
        <p:spPr>
          <a:xfrm>
            <a:off x="566928" y="6473952"/>
            <a:ext cx="11036808" cy="10972"/>
          </a:xfrm>
          <a:prstGeom prst="rect">
            <a:avLst/>
          </a:prstGeom>
          <a:solidFill>
            <a:srgbClr val="E2E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logo-dark-ink.png"/>
          <p:cNvPicPr>
            <a:picLocks noChangeAspect="1"/>
          </p:cNvPicPr>
          <p:nvPr/>
        </p:nvPicPr>
        <p:blipFill>
          <a:blip r:embed="rId3"/>
          <a:stretch>
            <a:fillRect/>
          </a:stretch>
        </p:blipFill>
        <p:spPr>
          <a:xfrm>
            <a:off x="585216" y="6547104"/>
            <a:ext cx="1024128" cy="175439"/>
          </a:xfrm>
          <a:prstGeom prst="rect">
            <a:avLst/>
          </a:prstGeom>
        </p:spPr>
      </p:pic>
      <p:sp>
        <p:nvSpPr>
          <p:cNvPr id="39" name="TextBox 38"/>
          <p:cNvSpPr txBox="1"/>
          <p:nvPr/>
        </p:nvSpPr>
        <p:spPr>
          <a:xfrm>
            <a:off x="7040880" y="6565392"/>
            <a:ext cx="4059936" cy="155448"/>
          </a:xfrm>
          <a:prstGeom prst="rect">
            <a:avLst/>
          </a:prstGeom>
          <a:noFill/>
        </p:spPr>
        <p:txBody>
          <a:bodyPr wrap="square" lIns="0" tIns="0" rIns="0" bIns="0" anchor="t">
            <a:spAutoFit/>
          </a:bodyPr>
          <a:lstStyle/>
          <a:p>
            <a:pPr algn="r">
              <a:lnSpc>
                <a:spcPct val="104000"/>
              </a:lnSpc>
              <a:spcBef>
                <a:spcPts val="0"/>
              </a:spcBef>
              <a:spcAft>
                <a:spcPts val="0"/>
              </a:spcAft>
              <a:defRPr sz="800" b="0">
                <a:solidFill>
                  <a:srgbClr val="73839B"/>
                </a:solidFill>
                <a:latin typeface="Source Sans 3"/>
              </a:defRPr>
            </a:pPr>
            <a:r>
              <a:t>CROSSFUZE  /  AUTONOMOUS IT  ·  ROAD TO ZERO</a:t>
            </a:r>
          </a:p>
        </p:txBody>
      </p:sp>
      <p:sp>
        <p:nvSpPr>
          <p:cNvPr id="40" name="TextBox 39"/>
          <p:cNvSpPr txBox="1"/>
          <p:nvPr/>
        </p:nvSpPr>
        <p:spPr>
          <a:xfrm>
            <a:off x="11301984" y="6547104"/>
            <a:ext cx="310896" cy="164592"/>
          </a:xfrm>
          <a:prstGeom prst="rect">
            <a:avLst/>
          </a:prstGeom>
          <a:noFill/>
        </p:spPr>
        <p:txBody>
          <a:bodyPr wrap="square" lIns="0" tIns="0" rIns="0" bIns="0" anchor="t">
            <a:spAutoFit/>
          </a:bodyPr>
          <a:lstStyle/>
          <a:p>
            <a:pPr algn="r">
              <a:lnSpc>
                <a:spcPct val="104000"/>
              </a:lnSpc>
              <a:spcBef>
                <a:spcPts val="0"/>
              </a:spcBef>
              <a:spcAft>
                <a:spcPts val="0"/>
              </a:spcAft>
              <a:defRPr sz="900" b="1">
                <a:solidFill>
                  <a:srgbClr val="73839B"/>
                </a:solidFill>
                <a:latin typeface="Source Sans 3"/>
              </a:defRPr>
            </a:pPr>
            <a: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INTERNAL ONLY  /  HIDE DURING PRESENTATION</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Commercial reference — US draft SOW.</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Confirm regional pricing and executed terms before presenting a customer quotation.</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20</a:t>
            </a:r>
          </a:p>
        </p:txBody>
      </p:sp>
      <p:sp>
        <p:nvSpPr>
          <p:cNvPr id="13" name="Rounded Rectangle 12"/>
          <p:cNvSpPr/>
          <p:nvPr/>
        </p:nvSpPr>
        <p:spPr>
          <a:xfrm>
            <a:off x="758952" y="2130552"/>
            <a:ext cx="5230368" cy="213969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0704" y="2395728"/>
            <a:ext cx="4572000" cy="914400"/>
          </a:xfrm>
          <a:prstGeom prst="rect">
            <a:avLst/>
          </a:prstGeom>
          <a:noFill/>
        </p:spPr>
        <p:txBody>
          <a:bodyPr wrap="square" lIns="0" tIns="0" rIns="0" bIns="0" anchor="ctr">
            <a:spAutoFit/>
          </a:bodyPr>
          <a:lstStyle/>
          <a:p>
            <a:pPr algn="l">
              <a:spcAft>
                <a:spcPts val="0"/>
              </a:spcAft>
            </a:pPr>
            <a:r>
              <a:rPr sz="4200" b="1" i="0">
                <a:solidFill>
                  <a:srgbClr val="8FFFDB"/>
                </a:solidFill>
                <a:latin typeface="Source Sans 3"/>
              </a:rPr>
              <a:t>$15,500</a:t>
            </a:r>
          </a:p>
        </p:txBody>
      </p:sp>
      <p:sp>
        <p:nvSpPr>
          <p:cNvPr id="15" name="TextBox 14"/>
          <p:cNvSpPr txBox="1"/>
          <p:nvPr/>
        </p:nvSpPr>
        <p:spPr>
          <a:xfrm>
            <a:off x="1088136" y="3429000"/>
            <a:ext cx="4471416" cy="384048"/>
          </a:xfrm>
          <a:prstGeom prst="rect">
            <a:avLst/>
          </a:prstGeom>
          <a:noFill/>
        </p:spPr>
        <p:txBody>
          <a:bodyPr wrap="square" lIns="0" tIns="0" rIns="0" bIns="0" anchor="ctr">
            <a:spAutoFit/>
          </a:bodyPr>
          <a:lstStyle/>
          <a:p>
            <a:pPr algn="l">
              <a:spcAft>
                <a:spcPts val="0"/>
              </a:spcAft>
            </a:pPr>
            <a:r>
              <a:rPr sz="1600" b="0" i="0">
                <a:solidFill>
                  <a:srgbClr val="F2F2F4"/>
                </a:solidFill>
                <a:latin typeface="Source Sans 3"/>
              </a:rPr>
              <a:t>USD per month · 12-month term</a:t>
            </a:r>
          </a:p>
        </p:txBody>
      </p:sp>
      <p:sp>
        <p:nvSpPr>
          <p:cNvPr id="16" name="Rounded Rectangle 15"/>
          <p:cNvSpPr/>
          <p:nvPr/>
        </p:nvSpPr>
        <p:spPr>
          <a:xfrm>
            <a:off x="6217920" y="2130552"/>
            <a:ext cx="5212080" cy="213969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83096" y="2395728"/>
            <a:ext cx="4572000" cy="914400"/>
          </a:xfrm>
          <a:prstGeom prst="rect">
            <a:avLst/>
          </a:prstGeom>
          <a:noFill/>
        </p:spPr>
        <p:txBody>
          <a:bodyPr wrap="square" lIns="0" tIns="0" rIns="0" bIns="0" anchor="ctr">
            <a:spAutoFit/>
          </a:bodyPr>
          <a:lstStyle/>
          <a:p>
            <a:pPr algn="l">
              <a:spcAft>
                <a:spcPts val="0"/>
              </a:spcAft>
            </a:pPr>
            <a:r>
              <a:rPr sz="4200" b="1" i="0">
                <a:solidFill>
                  <a:srgbClr val="2CB0CD"/>
                </a:solidFill>
                <a:latin typeface="Source Sans 3"/>
              </a:rPr>
              <a:t>$186,000</a:t>
            </a:r>
          </a:p>
        </p:txBody>
      </p:sp>
      <p:sp>
        <p:nvSpPr>
          <p:cNvPr id="18" name="TextBox 17"/>
          <p:cNvSpPr txBox="1"/>
          <p:nvPr/>
        </p:nvSpPr>
        <p:spPr>
          <a:xfrm>
            <a:off x="6483096" y="3429000"/>
            <a:ext cx="4471416" cy="384048"/>
          </a:xfrm>
          <a:prstGeom prst="rect">
            <a:avLst/>
          </a:prstGeom>
          <a:noFill/>
        </p:spPr>
        <p:txBody>
          <a:bodyPr wrap="square" lIns="0" tIns="0" rIns="0" bIns="0" anchor="ctr">
            <a:spAutoFit/>
          </a:bodyPr>
          <a:lstStyle/>
          <a:p>
            <a:pPr algn="l">
              <a:spcAft>
                <a:spcPts val="0"/>
              </a:spcAft>
            </a:pPr>
            <a:r>
              <a:rPr sz="1600" b="0" i="0">
                <a:solidFill>
                  <a:srgbClr val="F2F2F4"/>
                </a:solidFill>
                <a:latin typeface="Source Sans 3"/>
              </a:rPr>
              <a:t>Total fees in US draft SOW</a:t>
            </a:r>
          </a:p>
        </p:txBody>
      </p:sp>
      <p:sp>
        <p:nvSpPr>
          <p:cNvPr id="19" name="TextBox 18"/>
          <p:cNvSpPr txBox="1"/>
          <p:nvPr/>
        </p:nvSpPr>
        <p:spPr>
          <a:xfrm>
            <a:off x="868680" y="4718304"/>
            <a:ext cx="10424160" cy="795528"/>
          </a:xfrm>
          <a:prstGeom prst="rect">
            <a:avLst/>
          </a:prstGeom>
          <a:noFill/>
        </p:spPr>
        <p:txBody>
          <a:bodyPr wrap="square" lIns="0" tIns="0" rIns="0" bIns="0" anchor="ctr">
            <a:spAutoFit/>
          </a:bodyPr>
          <a:lstStyle/>
          <a:p>
            <a:pPr algn="l">
              <a:spcAft>
                <a:spcPts val="0"/>
              </a:spcAft>
            </a:pPr>
            <a:r>
              <a:rPr sz="1400" b="0" i="0">
                <a:solidFill>
                  <a:srgbClr val="F2F2F4"/>
                </a:solidFill>
                <a:latin typeface="Source Sans 3"/>
              </a:rPr>
              <a:t>Pricing excludes taxes, travel and additional third-party licensing / Assist consumption. Contract is non-cancellable for convenience; changes and renewal require signed agreement.</a:t>
            </a:r>
          </a:p>
        </p:txBody>
      </p:sp>
      <p:sp>
        <p:nvSpPr>
          <p:cNvPr id="20" name="TextBox 19"/>
          <p:cNvSpPr txBox="1"/>
          <p:nvPr/>
        </p:nvSpPr>
        <p:spPr>
          <a:xfrm>
            <a:off x="932688" y="5843016"/>
            <a:ext cx="10424160" cy="256032"/>
          </a:xfrm>
          <a:prstGeom prst="rect">
            <a:avLst/>
          </a:prstGeom>
          <a:noFill/>
        </p:spPr>
        <p:txBody>
          <a:bodyPr wrap="square" lIns="0" tIns="0" rIns="0" bIns="0" anchor="ctr">
            <a:spAutoFit/>
          </a:bodyPr>
          <a:lstStyle/>
          <a:p>
            <a:pPr algn="l">
              <a:spcAft>
                <a:spcPts val="0"/>
              </a:spcAft>
            </a:pPr>
            <a:r>
              <a:rPr sz="1200" b="1" i="0">
                <a:solidFill>
                  <a:srgbClr val="C0A6FF"/>
                </a:solidFill>
                <a:latin typeface="Source Sans 3"/>
              </a:rPr>
              <a:t>INTERNAL REFERENCE ONLY   ·   NOT AN APPROVED CUSTOMER QUOTE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64D0E-FC30-A2D6-E4E7-10FB87C0D2CF}"/>
            </a:ext>
          </a:extLst>
        </p:cNvPr>
        <p:cNvGrpSpPr/>
        <p:nvPr/>
      </p:nvGrpSpPr>
      <p:grpSpPr>
        <a:xfrm>
          <a:off x="0" y="0"/>
          <a:ext cx="0" cy="0"/>
          <a:chOff x="0" y="0"/>
          <a:chExt cx="0" cy="0"/>
        </a:xfrm>
      </p:grpSpPr>
      <p:sp>
        <p:nvSpPr>
          <p:cNvPr id="50" name="Rounded Rectangle 49">
            <a:extLst>
              <a:ext uri="{FF2B5EF4-FFF2-40B4-BE49-F238E27FC236}">
                <a16:creationId xmlns:a16="http://schemas.microsoft.com/office/drawing/2014/main" id="{083C8947-78BC-1ABA-5E58-D25DDB393768}"/>
              </a:ext>
            </a:extLst>
          </p:cNvPr>
          <p:cNvSpPr>
            <a:spLocks/>
          </p:cNvSpPr>
          <p:nvPr/>
        </p:nvSpPr>
        <p:spPr>
          <a:xfrm>
            <a:off x="680765" y="11580285"/>
            <a:ext cx="10827294" cy="552920"/>
          </a:xfrm>
          <a:prstGeom prst="roundRect">
            <a:avLst>
              <a:gd name="adj" fmla="val 8979"/>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defTabSz="456903">
              <a:lnSpc>
                <a:spcPct val="85000"/>
              </a:lnSpc>
            </a:pPr>
            <a:br>
              <a:rPr lang="en-US" sz="1200" b="1">
                <a:solidFill>
                  <a:schemeClr val="accent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52" name="Rounded Rectangle 51">
            <a:extLst>
              <a:ext uri="{FF2B5EF4-FFF2-40B4-BE49-F238E27FC236}">
                <a16:creationId xmlns:a16="http://schemas.microsoft.com/office/drawing/2014/main" id="{266634E2-7973-7C2B-891B-FF665B9FDC57}"/>
              </a:ext>
            </a:extLst>
          </p:cNvPr>
          <p:cNvSpPr>
            <a:spLocks/>
          </p:cNvSpPr>
          <p:nvPr/>
        </p:nvSpPr>
        <p:spPr>
          <a:xfrm>
            <a:off x="1349839" y="9567602"/>
            <a:ext cx="9489146" cy="552920"/>
          </a:xfrm>
          <a:prstGeom prst="roundRect">
            <a:avLst>
              <a:gd name="adj" fmla="val 8979"/>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defTabSz="456903">
              <a:lnSpc>
                <a:spcPct val="85000"/>
              </a:lnSpc>
            </a:pPr>
            <a:br>
              <a:rPr lang="en-US" sz="1200" b="1">
                <a:solidFill>
                  <a:schemeClr val="accent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57" name="Rounded Rectangle 56">
            <a:extLst>
              <a:ext uri="{FF2B5EF4-FFF2-40B4-BE49-F238E27FC236}">
                <a16:creationId xmlns:a16="http://schemas.microsoft.com/office/drawing/2014/main" id="{896D0604-4C12-F2B1-757C-818E0DBA2A7E}"/>
              </a:ext>
            </a:extLst>
          </p:cNvPr>
          <p:cNvSpPr>
            <a:spLocks/>
          </p:cNvSpPr>
          <p:nvPr/>
        </p:nvSpPr>
        <p:spPr>
          <a:xfrm>
            <a:off x="2004044" y="7984110"/>
            <a:ext cx="8180736" cy="552920"/>
          </a:xfrm>
          <a:prstGeom prst="roundRect">
            <a:avLst>
              <a:gd name="adj" fmla="val 8979"/>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defTabSz="456903">
              <a:lnSpc>
                <a:spcPct val="85000"/>
              </a:lnSpc>
            </a:pPr>
            <a:br>
              <a:rPr lang="en-US" sz="1200" b="1">
                <a:solidFill>
                  <a:schemeClr val="accent1"/>
                </a:solidFill>
                <a:latin typeface="Source Sans 3" panose="020B0504040101010104" pitchFamily="34" charset="77"/>
              </a:rPr>
            </a:br>
            <a:endParaRPr lang="en-US" sz="1200" b="1">
              <a:solidFill>
                <a:schemeClr val="accent1"/>
              </a:solidFill>
              <a:latin typeface="Source Sans 3" panose="020B0504040101010104" pitchFamily="34" charset="77"/>
            </a:endParaRPr>
          </a:p>
        </p:txBody>
      </p:sp>
      <p:grpSp>
        <p:nvGrpSpPr>
          <p:cNvPr id="75" name="Group 74">
            <a:extLst>
              <a:ext uri="{FF2B5EF4-FFF2-40B4-BE49-F238E27FC236}">
                <a16:creationId xmlns:a16="http://schemas.microsoft.com/office/drawing/2014/main" id="{1E9BA189-6D7D-4C87-3BB0-9B95A78AC637}"/>
              </a:ext>
            </a:extLst>
          </p:cNvPr>
          <p:cNvGrpSpPr>
            <a:grpSpLocks/>
          </p:cNvGrpSpPr>
          <p:nvPr/>
        </p:nvGrpSpPr>
        <p:grpSpPr>
          <a:xfrm>
            <a:off x="5190396" y="8011967"/>
            <a:ext cx="1726935" cy="287290"/>
            <a:chOff x="5190396" y="3733788"/>
            <a:chExt cx="1726935" cy="287290"/>
          </a:xfrm>
        </p:grpSpPr>
        <p:pic>
          <p:nvPicPr>
            <p:cNvPr id="78" name="Picture 77" descr="A close-up of a model&#10;&#10;AI-generated content may be incorrect.">
              <a:extLst>
                <a:ext uri="{FF2B5EF4-FFF2-40B4-BE49-F238E27FC236}">
                  <a16:creationId xmlns:a16="http://schemas.microsoft.com/office/drawing/2014/main" id="{DCDC9C00-01D3-040C-D830-98A916B30785}"/>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6630039" y="3733788"/>
              <a:ext cx="287292" cy="287290"/>
            </a:xfrm>
            <a:prstGeom prst="rect">
              <a:avLst/>
            </a:prstGeom>
          </p:spPr>
        </p:pic>
        <p:pic>
          <p:nvPicPr>
            <p:cNvPr id="79" name="Picture 78" descr="A close-up of a model&#10;&#10;AI-generated content may be incorrect.">
              <a:extLst>
                <a:ext uri="{FF2B5EF4-FFF2-40B4-BE49-F238E27FC236}">
                  <a16:creationId xmlns:a16="http://schemas.microsoft.com/office/drawing/2014/main" id="{8C75FD08-19FD-5637-BA01-2654C97238F1}"/>
                </a:ext>
              </a:extLst>
            </p:cNvPr>
            <p:cNvPicPr>
              <a:picLocks/>
            </p:cNvPicPr>
            <p:nvPr/>
          </p:nvPicPr>
          <p:blipFill>
            <a:blip r:embed="rId4" cstate="screen">
              <a:extLst>
                <a:ext uri="{28A0092B-C50C-407E-A947-70E740481C1C}">
                  <a14:useLocalDpi xmlns:a14="http://schemas.microsoft.com/office/drawing/2010/main"/>
                </a:ext>
              </a:extLst>
            </a:blip>
            <a:srcRect/>
            <a:stretch/>
          </p:blipFill>
          <p:spPr>
            <a:xfrm flipH="1">
              <a:off x="5190396" y="3757025"/>
              <a:ext cx="366588" cy="230336"/>
            </a:xfrm>
            <a:prstGeom prst="rect">
              <a:avLst/>
            </a:prstGeom>
          </p:spPr>
        </p:pic>
      </p:grpSp>
      <p:grpSp>
        <p:nvGrpSpPr>
          <p:cNvPr id="90" name="Group 89">
            <a:extLst>
              <a:ext uri="{FF2B5EF4-FFF2-40B4-BE49-F238E27FC236}">
                <a16:creationId xmlns:a16="http://schemas.microsoft.com/office/drawing/2014/main" id="{EA169381-6AE2-9CC5-2182-F5F3C7CD2BF8}"/>
              </a:ext>
            </a:extLst>
          </p:cNvPr>
          <p:cNvGrpSpPr>
            <a:grpSpLocks/>
          </p:cNvGrpSpPr>
          <p:nvPr/>
        </p:nvGrpSpPr>
        <p:grpSpPr>
          <a:xfrm>
            <a:off x="5608284" y="11668972"/>
            <a:ext cx="923216" cy="180454"/>
            <a:chOff x="5608284" y="5015583"/>
            <a:chExt cx="923216" cy="180454"/>
          </a:xfrm>
        </p:grpSpPr>
        <p:grpSp>
          <p:nvGrpSpPr>
            <p:cNvPr id="91" name="Group 90">
              <a:extLst>
                <a:ext uri="{FF2B5EF4-FFF2-40B4-BE49-F238E27FC236}">
                  <a16:creationId xmlns:a16="http://schemas.microsoft.com/office/drawing/2014/main" id="{0FB87E74-13E3-F8EE-4711-6B7C3B3D1F9F}"/>
                </a:ext>
              </a:extLst>
            </p:cNvPr>
            <p:cNvGrpSpPr>
              <a:grpSpLocks/>
            </p:cNvGrpSpPr>
            <p:nvPr/>
          </p:nvGrpSpPr>
          <p:grpSpPr>
            <a:xfrm>
              <a:off x="5608284" y="5015583"/>
              <a:ext cx="201452" cy="167561"/>
              <a:chOff x="4933047" y="-352651"/>
              <a:chExt cx="398292" cy="331285"/>
            </a:xfrm>
          </p:grpSpPr>
          <p:pic>
            <p:nvPicPr>
              <p:cNvPr id="97" name="Picture 96" descr="A green and blue balls&#10;&#10;AI-generated content may be incorrect.">
                <a:extLst>
                  <a:ext uri="{FF2B5EF4-FFF2-40B4-BE49-F238E27FC236}">
                    <a16:creationId xmlns:a16="http://schemas.microsoft.com/office/drawing/2014/main" id="{044588AD-190D-866C-F612-BAB275AA19D6}"/>
                  </a:ext>
                </a:extLst>
              </p:cNvPr>
              <p:cNvPicPr>
                <a:picLocks/>
              </p:cNvPicPr>
              <p:nvPr/>
            </p:nvPicPr>
            <p:blipFill>
              <a:blip r:embed="rId5" cstate="screen">
                <a:extLst>
                  <a:ext uri="{28A0092B-C50C-407E-A947-70E740481C1C}">
                    <a14:useLocalDpi xmlns:a14="http://schemas.microsoft.com/office/drawing/2010/main"/>
                  </a:ext>
                </a:extLst>
              </a:blip>
              <a:srcRect/>
              <a:stretch/>
            </p:blipFill>
            <p:spPr>
              <a:xfrm>
                <a:off x="5036503" y="-316202"/>
                <a:ext cx="294836" cy="294836"/>
              </a:xfrm>
              <a:prstGeom prst="ellipse">
                <a:avLst/>
              </a:prstGeom>
            </p:spPr>
          </p:pic>
          <p:pic>
            <p:nvPicPr>
              <p:cNvPr id="98" name="Picture 97" descr="A group of bubbles in the air&#10;&#10;AI-generated content may be incorrect.">
                <a:extLst>
                  <a:ext uri="{FF2B5EF4-FFF2-40B4-BE49-F238E27FC236}">
                    <a16:creationId xmlns:a16="http://schemas.microsoft.com/office/drawing/2014/main" id="{D4B9F4AD-40D7-5BA2-57DC-6EB5C0A36B84}"/>
                  </a:ext>
                </a:extLst>
              </p:cNvPr>
              <p:cNvPicPr>
                <a:picLocks/>
              </p:cNvPicPr>
              <p:nvPr/>
            </p:nvPicPr>
            <p:blipFill rotWithShape="1">
              <a:blip r:embed="rId6" cstate="screen">
                <a:extLst>
                  <a:ext uri="{28A0092B-C50C-407E-A947-70E740481C1C}">
                    <a14:useLocalDpi xmlns:a14="http://schemas.microsoft.com/office/drawing/2010/main"/>
                  </a:ext>
                </a:extLst>
              </a:blip>
              <a:srcRect/>
              <a:stretch/>
            </p:blipFill>
            <p:spPr>
              <a:xfrm>
                <a:off x="4933047" y="-352651"/>
                <a:ext cx="81225" cy="81225"/>
              </a:xfrm>
              <a:prstGeom prst="ellipse">
                <a:avLst/>
              </a:prstGeom>
            </p:spPr>
          </p:pic>
        </p:grpSp>
        <p:grpSp>
          <p:nvGrpSpPr>
            <p:cNvPr id="92" name="Group 91">
              <a:extLst>
                <a:ext uri="{FF2B5EF4-FFF2-40B4-BE49-F238E27FC236}">
                  <a16:creationId xmlns:a16="http://schemas.microsoft.com/office/drawing/2014/main" id="{404CD3E3-A26E-BE09-E340-56ECC039827F}"/>
                </a:ext>
              </a:extLst>
            </p:cNvPr>
            <p:cNvGrpSpPr>
              <a:grpSpLocks/>
            </p:cNvGrpSpPr>
            <p:nvPr/>
          </p:nvGrpSpPr>
          <p:grpSpPr>
            <a:xfrm>
              <a:off x="6366060" y="5019467"/>
              <a:ext cx="165440" cy="176570"/>
              <a:chOff x="6796763" y="-359287"/>
              <a:chExt cx="461065" cy="492085"/>
            </a:xfrm>
          </p:grpSpPr>
          <p:pic>
            <p:nvPicPr>
              <p:cNvPr id="93" name="Picture 92" descr="A group of bubbles in the air&#10;&#10;AI-generated content may be incorrect.">
                <a:extLst>
                  <a:ext uri="{FF2B5EF4-FFF2-40B4-BE49-F238E27FC236}">
                    <a16:creationId xmlns:a16="http://schemas.microsoft.com/office/drawing/2014/main" id="{EDAD2613-6462-FBE1-AEB0-586453EB8093}"/>
                  </a:ext>
                </a:extLst>
              </p:cNvPr>
              <p:cNvPicPr>
                <a:picLocks/>
              </p:cNvPicPr>
              <p:nvPr/>
            </p:nvPicPr>
            <p:blipFill rotWithShape="1">
              <a:blip r:embed="rId7" cstate="screen">
                <a:extLst>
                  <a:ext uri="{28A0092B-C50C-407E-A947-70E740481C1C}">
                    <a14:useLocalDpi xmlns:a14="http://schemas.microsoft.com/office/drawing/2010/main"/>
                  </a:ext>
                </a:extLst>
              </a:blip>
              <a:srcRect/>
              <a:stretch/>
            </p:blipFill>
            <p:spPr>
              <a:xfrm>
                <a:off x="6796763" y="-359287"/>
                <a:ext cx="361781" cy="361781"/>
              </a:xfrm>
              <a:prstGeom prst="ellipse">
                <a:avLst/>
              </a:prstGeom>
            </p:spPr>
          </p:pic>
          <p:pic>
            <p:nvPicPr>
              <p:cNvPr id="96" name="Picture 95" descr="A green and blue balls&#10;&#10;AI-generated content may be incorrect.">
                <a:extLst>
                  <a:ext uri="{FF2B5EF4-FFF2-40B4-BE49-F238E27FC236}">
                    <a16:creationId xmlns:a16="http://schemas.microsoft.com/office/drawing/2014/main" id="{045245E6-D5BB-68B2-9C31-CFE1C5396B02}"/>
                  </a:ext>
                </a:extLst>
              </p:cNvPr>
              <p:cNvPicPr>
                <a:picLocks/>
              </p:cNvPicPr>
              <p:nvPr/>
            </p:nvPicPr>
            <p:blipFill>
              <a:blip r:embed="rId8" cstate="screen">
                <a:extLst>
                  <a:ext uri="{28A0092B-C50C-407E-A947-70E740481C1C}">
                    <a14:useLocalDpi xmlns:a14="http://schemas.microsoft.com/office/drawing/2010/main"/>
                  </a:ext>
                </a:extLst>
              </a:blip>
              <a:srcRect/>
              <a:stretch/>
            </p:blipFill>
            <p:spPr>
              <a:xfrm>
                <a:off x="7128366" y="3336"/>
                <a:ext cx="129462" cy="129462"/>
              </a:xfrm>
              <a:prstGeom prst="ellipse">
                <a:avLst/>
              </a:prstGeom>
            </p:spPr>
          </p:pic>
        </p:grpSp>
      </p:grpSp>
      <p:pic>
        <p:nvPicPr>
          <p:cNvPr id="99" name="Picture 98">
            <a:extLst>
              <a:ext uri="{FF2B5EF4-FFF2-40B4-BE49-F238E27FC236}">
                <a16:creationId xmlns:a16="http://schemas.microsoft.com/office/drawing/2014/main" id="{0CCE31C1-9BD3-9EB5-B0EB-97C7D37124FD}"/>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1" y="6684812"/>
            <a:ext cx="12190415" cy="173187"/>
          </a:xfrm>
          <a:prstGeom prst="rect">
            <a:avLst/>
          </a:prstGeom>
        </p:spPr>
      </p:pic>
      <p:pic>
        <p:nvPicPr>
          <p:cNvPr id="100" name="Picture 15">
            <a:extLst>
              <a:ext uri="{FF2B5EF4-FFF2-40B4-BE49-F238E27FC236}">
                <a16:creationId xmlns:a16="http://schemas.microsoft.com/office/drawing/2014/main" id="{B0AFC73A-0D27-0788-3C94-134E92B0BA92}"/>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478373" y="6355437"/>
            <a:ext cx="980589" cy="280168"/>
          </a:xfrm>
          <a:prstGeom prst="rect">
            <a:avLst/>
          </a:prstGeom>
        </p:spPr>
      </p:pic>
      <p:sp>
        <p:nvSpPr>
          <p:cNvPr id="101" name="Footer Placeholder 4">
            <a:extLst>
              <a:ext uri="{FF2B5EF4-FFF2-40B4-BE49-F238E27FC236}">
                <a16:creationId xmlns:a16="http://schemas.microsoft.com/office/drawing/2014/main" id="{E73EEBA0-2776-A585-1A74-2F52EF5D148C}"/>
              </a:ext>
            </a:extLst>
          </p:cNvPr>
          <p:cNvSpPr txBox="1">
            <a:spLocks/>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sp>
        <p:nvSpPr>
          <p:cNvPr id="102" name="Slide Number Placeholder 5">
            <a:extLst>
              <a:ext uri="{FF2B5EF4-FFF2-40B4-BE49-F238E27FC236}">
                <a16:creationId xmlns:a16="http://schemas.microsoft.com/office/drawing/2014/main" id="{35F276C0-3B03-0186-CAD9-ADC2D800606B}"/>
              </a:ext>
            </a:extLst>
          </p:cNvPr>
          <p:cNvSpPr txBox="1">
            <a:spLocks/>
          </p:cNvSpPr>
          <p:nvPr/>
        </p:nvSpPr>
        <p:spPr>
          <a:xfrm>
            <a:off x="11057990" y="6413253"/>
            <a:ext cx="578385" cy="228600"/>
          </a:xfrm>
          <a:prstGeom prst="rect">
            <a:avLst/>
          </a:prstGeom>
        </p:spPr>
        <p:txBody>
          <a:bodyPr wrap="square"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endParaRPr/>
          </a:p>
        </p:txBody>
      </p:sp>
      <p:sp>
        <p:nvSpPr>
          <p:cNvPr id="7" name="Rectangle 6">
            <a:extLst>
              <a:ext uri="{FF2B5EF4-FFF2-40B4-BE49-F238E27FC236}">
                <a16:creationId xmlns:a16="http://schemas.microsoft.com/office/drawing/2014/main" id="{842ED869-5B5A-B4A9-DAE6-01903D64C0B2}"/>
              </a:ext>
            </a:extLst>
          </p:cNvPr>
          <p:cNvSpPr>
            <a:spLocks/>
          </p:cNvSpPr>
          <p:nvPr/>
        </p:nvSpPr>
        <p:spPr>
          <a:xfrm>
            <a:off x="3160740"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8" name="Rectangle 7">
            <a:extLst>
              <a:ext uri="{FF2B5EF4-FFF2-40B4-BE49-F238E27FC236}">
                <a16:creationId xmlns:a16="http://schemas.microsoft.com/office/drawing/2014/main" id="{D23143BF-81BA-6D42-0FB0-6D4CA9A60AAE}"/>
              </a:ext>
            </a:extLst>
          </p:cNvPr>
          <p:cNvSpPr>
            <a:spLocks/>
          </p:cNvSpPr>
          <p:nvPr/>
        </p:nvSpPr>
        <p:spPr>
          <a:xfrm>
            <a:off x="5225708"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12" name="Rectangle 11">
            <a:extLst>
              <a:ext uri="{FF2B5EF4-FFF2-40B4-BE49-F238E27FC236}">
                <a16:creationId xmlns:a16="http://schemas.microsoft.com/office/drawing/2014/main" id="{2C178B57-F232-BD05-D7F1-3BE542ABFAE7}"/>
              </a:ext>
            </a:extLst>
          </p:cNvPr>
          <p:cNvSpPr>
            <a:spLocks/>
          </p:cNvSpPr>
          <p:nvPr/>
        </p:nvSpPr>
        <p:spPr>
          <a:xfrm>
            <a:off x="7290676"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14" name="Rectangle 13">
            <a:extLst>
              <a:ext uri="{FF2B5EF4-FFF2-40B4-BE49-F238E27FC236}">
                <a16:creationId xmlns:a16="http://schemas.microsoft.com/office/drawing/2014/main" id="{00E7F13C-EF8F-63AD-9E06-527E6E50F5A8}"/>
              </a:ext>
            </a:extLst>
          </p:cNvPr>
          <p:cNvSpPr>
            <a:spLocks/>
          </p:cNvSpPr>
          <p:nvPr/>
        </p:nvSpPr>
        <p:spPr>
          <a:xfrm>
            <a:off x="9355645"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30" name="Rectangle 29">
            <a:extLst>
              <a:ext uri="{FF2B5EF4-FFF2-40B4-BE49-F238E27FC236}">
                <a16:creationId xmlns:a16="http://schemas.microsoft.com/office/drawing/2014/main" id="{0C961571-D9D9-88D8-065D-A3C4A319E6B2}"/>
              </a:ext>
            </a:extLst>
          </p:cNvPr>
          <p:cNvSpPr>
            <a:spLocks/>
          </p:cNvSpPr>
          <p:nvPr/>
        </p:nvSpPr>
        <p:spPr>
          <a:xfrm>
            <a:off x="1098874" y="1563444"/>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17" name="Footer Placeholder 4">
            <a:extLst>
              <a:ext uri="{FF2B5EF4-FFF2-40B4-BE49-F238E27FC236}">
                <a16:creationId xmlns:a16="http://schemas.microsoft.com/office/drawing/2014/main" id="{1A6435D5-B46D-6C13-95ED-9DA5E82616CA}"/>
              </a:ext>
            </a:extLst>
          </p:cNvPr>
          <p:cNvSpPr txBox="1">
            <a:spLocks/>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grpSp>
        <p:nvGrpSpPr>
          <p:cNvPr id="37" name="Group 36">
            <a:extLst>
              <a:ext uri="{FF2B5EF4-FFF2-40B4-BE49-F238E27FC236}">
                <a16:creationId xmlns:a16="http://schemas.microsoft.com/office/drawing/2014/main" id="{A42CB079-2B97-D8D3-4C9D-FE86C830AACF}"/>
              </a:ext>
            </a:extLst>
          </p:cNvPr>
          <p:cNvGrpSpPr>
            <a:grpSpLocks/>
          </p:cNvGrpSpPr>
          <p:nvPr/>
        </p:nvGrpSpPr>
        <p:grpSpPr>
          <a:xfrm>
            <a:off x="1007816" y="3043232"/>
            <a:ext cx="10169963" cy="1333850"/>
            <a:chOff x="552306" y="3043232"/>
            <a:chExt cx="10625473" cy="1333850"/>
          </a:xfrm>
        </p:grpSpPr>
        <p:cxnSp>
          <p:nvCxnSpPr>
            <p:cNvPr id="9" name="Straight Connector 8">
              <a:extLst>
                <a:ext uri="{FF2B5EF4-FFF2-40B4-BE49-F238E27FC236}">
                  <a16:creationId xmlns:a16="http://schemas.microsoft.com/office/drawing/2014/main" id="{CAF32499-ACBB-2A64-C8BA-B57F5F0AA78A}"/>
                </a:ext>
              </a:extLst>
            </p:cNvPr>
            <p:cNvCxnSpPr>
              <a:cxnSpLocks/>
            </p:cNvCxnSpPr>
            <p:nvPr/>
          </p:nvCxnSpPr>
          <p:spPr>
            <a:xfrm>
              <a:off x="552306" y="3043232"/>
              <a:ext cx="10625473" cy="0"/>
            </a:xfrm>
            <a:prstGeom prst="line">
              <a:avLst/>
            </a:prstGeom>
            <a:ln>
              <a:solidFill>
                <a:schemeClr val="bg1">
                  <a:alpha val="9901"/>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F6C52C3-0364-4A8A-6481-E42B6907E371}"/>
                </a:ext>
              </a:extLst>
            </p:cNvPr>
            <p:cNvCxnSpPr>
              <a:cxnSpLocks/>
            </p:cNvCxnSpPr>
            <p:nvPr/>
          </p:nvCxnSpPr>
          <p:spPr>
            <a:xfrm>
              <a:off x="552306" y="4377082"/>
              <a:ext cx="10625473" cy="0"/>
            </a:xfrm>
            <a:prstGeom prst="line">
              <a:avLst/>
            </a:prstGeom>
            <a:ln>
              <a:solidFill>
                <a:schemeClr val="bg1">
                  <a:alpha val="9901"/>
                </a:schemeClr>
              </a:solidFill>
            </a:ln>
          </p:spPr>
          <p:style>
            <a:lnRef idx="1">
              <a:schemeClr val="accent1"/>
            </a:lnRef>
            <a:fillRef idx="0">
              <a:schemeClr val="accent1"/>
            </a:fillRef>
            <a:effectRef idx="0">
              <a:schemeClr val="accent1"/>
            </a:effectRef>
            <a:fontRef idx="minor">
              <a:schemeClr val="tx1"/>
            </a:fontRef>
          </p:style>
        </p:cxnSp>
      </p:grpSp>
      <p:sp>
        <p:nvSpPr>
          <p:cNvPr id="26" name="Pentagon 25">
            <a:extLst>
              <a:ext uri="{FF2B5EF4-FFF2-40B4-BE49-F238E27FC236}">
                <a16:creationId xmlns:a16="http://schemas.microsoft.com/office/drawing/2014/main" id="{A31DB0EF-FBC3-DF09-B9E9-41CF57E0ABEA}"/>
              </a:ext>
            </a:extLst>
          </p:cNvPr>
          <p:cNvSpPr>
            <a:spLocks/>
          </p:cNvSpPr>
          <p:nvPr/>
        </p:nvSpPr>
        <p:spPr>
          <a:xfrm rot="10800000" flipH="1">
            <a:off x="636419" y="5578787"/>
            <a:ext cx="10541360" cy="315483"/>
          </a:xfrm>
          <a:prstGeom prst="homePlate">
            <a:avLst/>
          </a:prstGeom>
          <a:gradFill flip="none" rotWithShape="1">
            <a:gsLst>
              <a:gs pos="12000">
                <a:schemeClr val="accent1">
                  <a:alpha val="85286"/>
                </a:schemeClr>
              </a:gs>
              <a:gs pos="43000">
                <a:schemeClr val="accent3">
                  <a:alpha val="60921"/>
                </a:schemeClr>
              </a:gs>
              <a:gs pos="70000">
                <a:schemeClr val="accent5">
                  <a:alpha val="71605"/>
                </a:schemeClr>
              </a:gs>
              <a:gs pos="93000">
                <a:schemeClr val="accent5">
                  <a:alpha val="0"/>
                </a:schemeClr>
              </a:gs>
            </a:gsLst>
            <a:lin ang="9000000" scaled="0"/>
            <a:tileRect/>
          </a:gradFill>
          <a:ln w="12700" cap="flat" cmpd="sng" algn="ctr">
            <a:noFill/>
            <a:prstDash val="solid"/>
            <a:miter lim="800000"/>
          </a:ln>
          <a:effectLst/>
          <a:scene3d>
            <a:camera prst="orthographicFront"/>
            <a:lightRig rig="soft" dir="t"/>
          </a:scene3d>
          <a:sp3d prstMaterial="powder">
            <a:bevelT w="19050" h="12700"/>
          </a:sp3d>
        </p:spPr>
        <p:txBody>
          <a:bodyPr rtlCol="0" anchor="ctr"/>
          <a:lstStyle/>
          <a:p>
            <a:pPr algn="ctr" defTabSz="914126">
              <a:defRPr/>
            </a:pPr>
            <a:endParaRPr lang="en-US" kern="0">
              <a:solidFill>
                <a:srgbClr val="000000"/>
              </a:solidFill>
              <a:latin typeface="Source Sans 3" panose="020B0504040101010104" pitchFamily="34" charset="77"/>
              <a:cs typeface="Source Sans 3" panose="020B0604040101010104" pitchFamily="34" charset="0"/>
            </a:endParaRPr>
          </a:p>
        </p:txBody>
      </p:sp>
      <p:sp>
        <p:nvSpPr>
          <p:cNvPr id="27" name="TextBox 26">
            <a:extLst>
              <a:ext uri="{FF2B5EF4-FFF2-40B4-BE49-F238E27FC236}">
                <a16:creationId xmlns:a16="http://schemas.microsoft.com/office/drawing/2014/main" id="{D723E0A9-37E0-0955-8BEF-C66C018BC15E}"/>
              </a:ext>
            </a:extLst>
          </p:cNvPr>
          <p:cNvSpPr txBox="1">
            <a:spLocks/>
          </p:cNvSpPr>
          <p:nvPr/>
        </p:nvSpPr>
        <p:spPr>
          <a:xfrm rot="16200000">
            <a:off x="10740334" y="3628462"/>
            <a:ext cx="1334846" cy="249299"/>
          </a:xfrm>
          <a:prstGeom prst="rect">
            <a:avLst/>
          </a:prstGeom>
          <a:noFill/>
        </p:spPr>
        <p:txBody>
          <a:bodyPr wrap="square" rtlCol="0">
            <a:spAutoFit/>
          </a:bodyPr>
          <a:lstStyle/>
          <a:p>
            <a:pPr marL="0" marR="0" lvl="0" indent="0" algn="ctr" defTabSz="457040" rtl="0" eaLnBrk="1" fontAlgn="auto" latinLnBrk="0" hangingPunct="1">
              <a:lnSpc>
                <a:spcPct val="85000"/>
              </a:lnSpc>
              <a:spcBef>
                <a:spcPts val="0"/>
              </a:spcBef>
              <a:spcAft>
                <a:spcPts val="0"/>
              </a:spcAft>
              <a:buClrTx/>
              <a:buSzTx/>
              <a:buFontTx/>
              <a:buNone/>
              <a:tabLst/>
              <a:defRPr/>
            </a:pPr>
            <a:endParaRPr/>
          </a:p>
        </p:txBody>
      </p:sp>
      <p:sp>
        <p:nvSpPr>
          <p:cNvPr id="72" name="TextBox 71">
            <a:extLst>
              <a:ext uri="{FF2B5EF4-FFF2-40B4-BE49-F238E27FC236}">
                <a16:creationId xmlns:a16="http://schemas.microsoft.com/office/drawing/2014/main" id="{A2F2806E-2701-BF1B-8F0D-8B961EE0DA97}"/>
              </a:ext>
            </a:extLst>
          </p:cNvPr>
          <p:cNvSpPr txBox="1">
            <a:spLocks/>
          </p:cNvSpPr>
          <p:nvPr/>
        </p:nvSpPr>
        <p:spPr>
          <a:xfrm>
            <a:off x="7198013" y="3381122"/>
            <a:ext cx="1922732" cy="646331"/>
          </a:xfrm>
          <a:prstGeom prst="rect">
            <a:avLst/>
          </a:prstGeom>
          <a:noFill/>
        </p:spPr>
        <p:txBody>
          <a:bodyPr wrap="square" rtlCol="0">
            <a:spAutoFit/>
          </a:bodyPr>
          <a:lstStyle/>
          <a:p>
            <a:pPr lvl="0" algn="ctr">
              <a:defRPr/>
            </a:pPr>
            <a:endParaRPr/>
          </a:p>
        </p:txBody>
      </p:sp>
      <p:sp>
        <p:nvSpPr>
          <p:cNvPr id="73" name="TextBox 72">
            <a:extLst>
              <a:ext uri="{FF2B5EF4-FFF2-40B4-BE49-F238E27FC236}">
                <a16:creationId xmlns:a16="http://schemas.microsoft.com/office/drawing/2014/main" id="{4B18785B-3A2D-B934-FF94-599926436496}"/>
              </a:ext>
            </a:extLst>
          </p:cNvPr>
          <p:cNvSpPr txBox="1">
            <a:spLocks/>
          </p:cNvSpPr>
          <p:nvPr/>
        </p:nvSpPr>
        <p:spPr>
          <a:xfrm>
            <a:off x="9262982" y="3382343"/>
            <a:ext cx="1922732" cy="461665"/>
          </a:xfrm>
          <a:prstGeom prst="rect">
            <a:avLst/>
          </a:prstGeom>
          <a:noFill/>
        </p:spPr>
        <p:txBody>
          <a:bodyPr wrap="square" rtlCol="0">
            <a:spAutoFit/>
          </a:bodyPr>
          <a:lstStyle/>
          <a:p>
            <a:pPr lvl="0" algn="ctr">
              <a:defRPr/>
            </a:pPr>
            <a:br>
              <a:rPr lang="en-US" sz="1200">
                <a:solidFill>
                  <a:schemeClr val="accent3"/>
                </a:solidFill>
                <a:latin typeface="Source Sans 3" panose="020B0504040101010104" pitchFamily="34" charset="77"/>
              </a:rPr>
            </a:br>
            <a:endParaRPr lang="en-US" sz="1200">
              <a:solidFill>
                <a:schemeClr val="accent3"/>
              </a:solidFill>
              <a:latin typeface="Source Sans 3" panose="020B0504040101010104" pitchFamily="34" charset="77"/>
            </a:endParaRPr>
          </a:p>
        </p:txBody>
      </p:sp>
      <p:sp>
        <p:nvSpPr>
          <p:cNvPr id="15" name="TextBox 14">
            <a:extLst>
              <a:ext uri="{FF2B5EF4-FFF2-40B4-BE49-F238E27FC236}">
                <a16:creationId xmlns:a16="http://schemas.microsoft.com/office/drawing/2014/main" id="{251DA02D-40C6-A809-97EE-5DD5D20303F6}"/>
              </a:ext>
            </a:extLst>
          </p:cNvPr>
          <p:cNvSpPr txBox="1">
            <a:spLocks/>
          </p:cNvSpPr>
          <p:nvPr/>
        </p:nvSpPr>
        <p:spPr>
          <a:xfrm>
            <a:off x="9262982" y="4725238"/>
            <a:ext cx="1922732" cy="646331"/>
          </a:xfrm>
          <a:prstGeom prst="rect">
            <a:avLst/>
          </a:prstGeom>
          <a:noFill/>
        </p:spPr>
        <p:txBody>
          <a:bodyPr wrap="square" rtlCol="0">
            <a:spAutoFit/>
          </a:bodyPr>
          <a:lstStyle/>
          <a:p>
            <a:pPr lvl="0" algn="ctr">
              <a:defRPr/>
            </a:pPr>
            <a:endParaRPr/>
          </a:p>
        </p:txBody>
      </p:sp>
      <p:sp>
        <p:nvSpPr>
          <p:cNvPr id="19" name="TextBox 18">
            <a:extLst>
              <a:ext uri="{FF2B5EF4-FFF2-40B4-BE49-F238E27FC236}">
                <a16:creationId xmlns:a16="http://schemas.microsoft.com/office/drawing/2014/main" id="{AB7ECAF8-1613-AE01-8C2F-F026F562ACBD}"/>
              </a:ext>
            </a:extLst>
          </p:cNvPr>
          <p:cNvSpPr txBox="1">
            <a:spLocks/>
          </p:cNvSpPr>
          <p:nvPr/>
        </p:nvSpPr>
        <p:spPr>
          <a:xfrm>
            <a:off x="3068077" y="3381122"/>
            <a:ext cx="1922732" cy="646331"/>
          </a:xfrm>
          <a:prstGeom prst="rect">
            <a:avLst/>
          </a:prstGeom>
          <a:noFill/>
        </p:spPr>
        <p:txBody>
          <a:bodyPr wrap="square" lIns="91440" tIns="45720" rIns="91440" bIns="45720" rtlCol="0" anchor="t">
            <a:spAutoFit/>
          </a:bodyPr>
          <a:lstStyle/>
          <a:p>
            <a:pPr lvl="0" algn="ctr">
              <a:defRPr/>
            </a:pPr>
            <a:br>
              <a:rPr lang="en-US" sz="1200">
                <a:solidFill>
                  <a:schemeClr val="accent3"/>
                </a:solidFill>
                <a:latin typeface="Source Sans 3"/>
              </a:rPr>
            </a:br>
            <a:endParaRPr lang="en-US" sz="1200">
              <a:solidFill>
                <a:schemeClr val="accent3"/>
              </a:solidFill>
              <a:latin typeface="Source Sans 3"/>
            </a:endParaRPr>
          </a:p>
        </p:txBody>
      </p:sp>
      <p:sp>
        <p:nvSpPr>
          <p:cNvPr id="24" name="TextBox 23">
            <a:extLst>
              <a:ext uri="{FF2B5EF4-FFF2-40B4-BE49-F238E27FC236}">
                <a16:creationId xmlns:a16="http://schemas.microsoft.com/office/drawing/2014/main" id="{EACE4D46-43C4-EB48-4D08-AC9D860AC376}"/>
              </a:ext>
            </a:extLst>
          </p:cNvPr>
          <p:cNvSpPr txBox="1">
            <a:spLocks/>
          </p:cNvSpPr>
          <p:nvPr/>
        </p:nvSpPr>
        <p:spPr>
          <a:xfrm>
            <a:off x="5133045" y="3401414"/>
            <a:ext cx="1922732" cy="461665"/>
          </a:xfrm>
          <a:prstGeom prst="rect">
            <a:avLst/>
          </a:prstGeom>
          <a:noFill/>
        </p:spPr>
        <p:txBody>
          <a:bodyPr wrap="square" rtlCol="0">
            <a:spAutoFit/>
          </a:bodyPr>
          <a:lstStyle/>
          <a:p>
            <a:pPr lvl="0" algn="ctr">
              <a:defRPr/>
            </a:pPr>
            <a:endParaRPr lang="en-US" sz="1050">
              <a:solidFill>
                <a:schemeClr val="accent3"/>
              </a:solidFill>
              <a:latin typeface="Source Sans 3" panose="020B0404040101010104" pitchFamily="34" charset="77"/>
            </a:endParaRPr>
          </a:p>
        </p:txBody>
      </p:sp>
      <p:sp>
        <p:nvSpPr>
          <p:cNvPr id="31" name="TextBox 30">
            <a:extLst>
              <a:ext uri="{FF2B5EF4-FFF2-40B4-BE49-F238E27FC236}">
                <a16:creationId xmlns:a16="http://schemas.microsoft.com/office/drawing/2014/main" id="{A9EE17C7-4F0F-13C3-0EA6-5D07A08BD9C6}"/>
              </a:ext>
            </a:extLst>
          </p:cNvPr>
          <p:cNvSpPr txBox="1">
            <a:spLocks/>
          </p:cNvSpPr>
          <p:nvPr/>
        </p:nvSpPr>
        <p:spPr>
          <a:xfrm>
            <a:off x="5133045" y="4725238"/>
            <a:ext cx="1922732" cy="646331"/>
          </a:xfrm>
          <a:prstGeom prst="rect">
            <a:avLst/>
          </a:prstGeom>
          <a:noFill/>
        </p:spPr>
        <p:txBody>
          <a:bodyPr wrap="square" rtlCol="0">
            <a:spAutoFit/>
          </a:bodyPr>
          <a:lstStyle/>
          <a:p>
            <a:pPr lvl="0" algn="ctr">
              <a:defRPr/>
            </a:pPr>
            <a:br>
              <a:rPr lang="en-US" sz="1200">
                <a:solidFill>
                  <a:schemeClr val="accent6"/>
                </a:solidFill>
                <a:latin typeface="Source Sans 3" panose="020B0504040101010104" pitchFamily="34" charset="77"/>
              </a:rPr>
            </a:br>
            <a:br>
              <a:rPr lang="en-US" sz="1200">
                <a:solidFill>
                  <a:schemeClr val="accent6"/>
                </a:solidFill>
                <a:latin typeface="Source Sans 3" panose="020B0504040101010104" pitchFamily="34" charset="77"/>
              </a:rPr>
            </a:br>
            <a:endParaRPr lang="en-US" sz="1200">
              <a:solidFill>
                <a:schemeClr val="accent6"/>
              </a:solidFill>
              <a:latin typeface="Source Sans 3" panose="020B0504040101010104" pitchFamily="34" charset="77"/>
            </a:endParaRPr>
          </a:p>
        </p:txBody>
      </p:sp>
      <p:sp>
        <p:nvSpPr>
          <p:cNvPr id="32" name="TextBox 31">
            <a:extLst>
              <a:ext uri="{FF2B5EF4-FFF2-40B4-BE49-F238E27FC236}">
                <a16:creationId xmlns:a16="http://schemas.microsoft.com/office/drawing/2014/main" id="{204A7288-D20F-EC82-06BA-1BD2FDE3DD78}"/>
              </a:ext>
            </a:extLst>
          </p:cNvPr>
          <p:cNvSpPr txBox="1">
            <a:spLocks/>
          </p:cNvSpPr>
          <p:nvPr/>
        </p:nvSpPr>
        <p:spPr>
          <a:xfrm>
            <a:off x="7198013" y="4718677"/>
            <a:ext cx="1922732" cy="646331"/>
          </a:xfrm>
          <a:prstGeom prst="rect">
            <a:avLst/>
          </a:prstGeom>
          <a:noFill/>
        </p:spPr>
        <p:txBody>
          <a:bodyPr wrap="square" rtlCol="0">
            <a:spAutoFit/>
          </a:bodyPr>
          <a:lstStyle/>
          <a:p>
            <a:pPr lvl="0" algn="ctr">
              <a:defRPr/>
            </a:pPr>
            <a:endParaRPr/>
          </a:p>
        </p:txBody>
      </p:sp>
      <p:sp>
        <p:nvSpPr>
          <p:cNvPr id="34" name="TextBox 33">
            <a:extLst>
              <a:ext uri="{FF2B5EF4-FFF2-40B4-BE49-F238E27FC236}">
                <a16:creationId xmlns:a16="http://schemas.microsoft.com/office/drawing/2014/main" id="{2B104CB8-AF78-68D2-709A-5DF4A360B66F}"/>
              </a:ext>
            </a:extLst>
          </p:cNvPr>
          <p:cNvSpPr txBox="1">
            <a:spLocks/>
          </p:cNvSpPr>
          <p:nvPr/>
        </p:nvSpPr>
        <p:spPr>
          <a:xfrm>
            <a:off x="3068077" y="4725238"/>
            <a:ext cx="1922732" cy="646331"/>
          </a:xfrm>
          <a:prstGeom prst="rect">
            <a:avLst/>
          </a:prstGeom>
          <a:noFill/>
        </p:spPr>
        <p:txBody>
          <a:bodyPr wrap="square" rtlCol="0">
            <a:spAutoFit/>
          </a:bodyPr>
          <a:lstStyle/>
          <a:p>
            <a:pPr lvl="0" algn="ctr">
              <a:defRPr/>
            </a:pPr>
            <a:br>
              <a:rPr lang="en-US" sz="1200">
                <a:solidFill>
                  <a:schemeClr val="accent6"/>
                </a:solidFill>
                <a:latin typeface="Source Sans 3" panose="020B0504040101010104" pitchFamily="34" charset="77"/>
              </a:rPr>
            </a:br>
            <a:br>
              <a:rPr lang="en-US" sz="1200">
                <a:solidFill>
                  <a:schemeClr val="accent6"/>
                </a:solidFill>
                <a:latin typeface="Source Sans 3" panose="020B0504040101010104" pitchFamily="34" charset="77"/>
              </a:rPr>
            </a:br>
            <a:endParaRPr lang="en-US" sz="1200">
              <a:solidFill>
                <a:schemeClr val="accent6"/>
              </a:solidFill>
              <a:latin typeface="Source Sans 3" panose="020B0504040101010104" pitchFamily="34" charset="77"/>
            </a:endParaRPr>
          </a:p>
        </p:txBody>
      </p:sp>
      <p:sp>
        <p:nvSpPr>
          <p:cNvPr id="16" name="TextBox 15">
            <a:extLst>
              <a:ext uri="{FF2B5EF4-FFF2-40B4-BE49-F238E27FC236}">
                <a16:creationId xmlns:a16="http://schemas.microsoft.com/office/drawing/2014/main" id="{2D0B3C20-F632-7CF8-C360-833D8D0836D5}"/>
              </a:ext>
            </a:extLst>
          </p:cNvPr>
          <p:cNvSpPr txBox="1">
            <a:spLocks/>
          </p:cNvSpPr>
          <p:nvPr/>
        </p:nvSpPr>
        <p:spPr>
          <a:xfrm>
            <a:off x="1003109" y="3381122"/>
            <a:ext cx="1922732" cy="646331"/>
          </a:xfrm>
          <a:prstGeom prst="rect">
            <a:avLst/>
          </a:prstGeom>
          <a:noFill/>
        </p:spPr>
        <p:txBody>
          <a:bodyPr wrap="square" rtlCol="0">
            <a:spAutoFit/>
          </a:bodyPr>
          <a:lstStyle/>
          <a:p>
            <a:pPr lvl="0" algn="ctr">
              <a:defRPr/>
            </a:pPr>
            <a:br>
              <a:rPr lang="en-US" sz="1200">
                <a:solidFill>
                  <a:schemeClr val="accent3"/>
                </a:solidFill>
                <a:latin typeface="Source Sans 3" panose="020B0504040101010104" pitchFamily="34" charset="77"/>
              </a:rPr>
            </a:br>
            <a:br>
              <a:rPr lang="en-US" sz="1200">
                <a:solidFill>
                  <a:schemeClr val="accent3"/>
                </a:solidFill>
                <a:latin typeface="Source Sans 3" panose="020B0504040101010104" pitchFamily="34" charset="77"/>
              </a:rPr>
            </a:br>
            <a:endParaRPr lang="en-US" sz="1200">
              <a:solidFill>
                <a:schemeClr val="accent3"/>
              </a:solidFill>
              <a:latin typeface="Source Sans 3" panose="020B0504040101010104" pitchFamily="34" charset="77"/>
            </a:endParaRPr>
          </a:p>
        </p:txBody>
      </p:sp>
      <p:sp>
        <p:nvSpPr>
          <p:cNvPr id="33" name="TextBox 32">
            <a:extLst>
              <a:ext uri="{FF2B5EF4-FFF2-40B4-BE49-F238E27FC236}">
                <a16:creationId xmlns:a16="http://schemas.microsoft.com/office/drawing/2014/main" id="{21DC248D-D6CC-E622-F8F2-F985280028FC}"/>
              </a:ext>
            </a:extLst>
          </p:cNvPr>
          <p:cNvSpPr txBox="1">
            <a:spLocks/>
          </p:cNvSpPr>
          <p:nvPr/>
        </p:nvSpPr>
        <p:spPr>
          <a:xfrm>
            <a:off x="1003109" y="4725238"/>
            <a:ext cx="1922732" cy="461665"/>
          </a:xfrm>
          <a:prstGeom prst="rect">
            <a:avLst/>
          </a:prstGeom>
          <a:noFill/>
        </p:spPr>
        <p:txBody>
          <a:bodyPr wrap="square" rtlCol="0">
            <a:spAutoFit/>
          </a:bodyPr>
          <a:lstStyle/>
          <a:p>
            <a:pPr lvl="0" algn="ctr">
              <a:defRPr/>
            </a:pPr>
            <a:br>
              <a:rPr lang="en-US" sz="1200">
                <a:solidFill>
                  <a:schemeClr val="accent6"/>
                </a:solidFill>
                <a:latin typeface="Source Sans 3" panose="020B0504040101010104" pitchFamily="34" charset="77"/>
              </a:rPr>
            </a:br>
            <a:endParaRPr lang="en-US" sz="1200">
              <a:solidFill>
                <a:schemeClr val="accent6"/>
              </a:solidFill>
              <a:latin typeface="Source Sans 3" panose="020B0404040101010104" pitchFamily="34" charset="77"/>
            </a:endParaRPr>
          </a:p>
        </p:txBody>
      </p:sp>
      <p:sp>
        <p:nvSpPr>
          <p:cNvPr id="64" name="TextBox 63">
            <a:extLst>
              <a:ext uri="{FF2B5EF4-FFF2-40B4-BE49-F238E27FC236}">
                <a16:creationId xmlns:a16="http://schemas.microsoft.com/office/drawing/2014/main" id="{689856FD-D969-92DA-6430-3E0A02BE236E}"/>
              </a:ext>
            </a:extLst>
          </p:cNvPr>
          <p:cNvSpPr txBox="1">
            <a:spLocks/>
          </p:cNvSpPr>
          <p:nvPr/>
        </p:nvSpPr>
        <p:spPr>
          <a:xfrm>
            <a:off x="4892028" y="5886968"/>
            <a:ext cx="2404761" cy="276999"/>
          </a:xfrm>
          <a:prstGeom prst="rect">
            <a:avLst/>
          </a:prstGeom>
          <a:noFill/>
        </p:spPr>
        <p:txBody>
          <a:bodyPr wrap="squar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100000"/>
              </a:lnSpc>
              <a:defRPr/>
            </a:pPr>
            <a:endParaRPr/>
          </a:p>
        </p:txBody>
      </p:sp>
      <p:grpSp>
        <p:nvGrpSpPr>
          <p:cNvPr id="4" name="Group 3">
            <a:extLst>
              <a:ext uri="{FF2B5EF4-FFF2-40B4-BE49-F238E27FC236}">
                <a16:creationId xmlns:a16="http://schemas.microsoft.com/office/drawing/2014/main" id="{7BFA3049-6C78-FEDE-31F8-2E042E7D54F8}"/>
              </a:ext>
            </a:extLst>
          </p:cNvPr>
          <p:cNvGrpSpPr>
            <a:grpSpLocks/>
          </p:cNvGrpSpPr>
          <p:nvPr/>
        </p:nvGrpSpPr>
        <p:grpSpPr>
          <a:xfrm>
            <a:off x="660727" y="1707364"/>
            <a:ext cx="275462" cy="4004561"/>
            <a:chOff x="660727" y="1707364"/>
            <a:chExt cx="275462" cy="4004561"/>
          </a:xfrm>
        </p:grpSpPr>
        <p:sp>
          <p:nvSpPr>
            <p:cNvPr id="18" name="TextBox 17">
              <a:extLst>
                <a:ext uri="{FF2B5EF4-FFF2-40B4-BE49-F238E27FC236}">
                  <a16:creationId xmlns:a16="http://schemas.microsoft.com/office/drawing/2014/main" id="{0B1C5A4B-3870-E12D-8ABF-B30404B82FF5}"/>
                </a:ext>
              </a:extLst>
            </p:cNvPr>
            <p:cNvSpPr txBox="1">
              <a:spLocks/>
            </p:cNvSpPr>
            <p:nvPr/>
          </p:nvSpPr>
          <p:spPr>
            <a:xfrm rot="16200000">
              <a:off x="131034" y="2237057"/>
              <a:ext cx="1334845" cy="275460"/>
            </a:xfrm>
            <a:prstGeom prst="rect">
              <a:avLst/>
            </a:prstGeom>
            <a:noFill/>
          </p:spPr>
          <p:txBody>
            <a:bodyPr wrap="square" lIns="91440" tIns="45720" rIns="91440" bIns="45720" rtlCol="0" anchor="t">
              <a:spAutoFit/>
            </a:bodyPr>
            <a:lstStyle/>
            <a:p>
              <a:pPr lvl="0" algn="ctr">
                <a:lnSpc>
                  <a:spcPct val="85000"/>
                </a:lnSpc>
                <a:defRPr/>
              </a:pPr>
              <a:endParaRPr lang="en-US" sz="1800"/>
            </a:p>
          </p:txBody>
        </p:sp>
        <p:sp>
          <p:nvSpPr>
            <p:cNvPr id="20" name="TextBox 19">
              <a:extLst>
                <a:ext uri="{FF2B5EF4-FFF2-40B4-BE49-F238E27FC236}">
                  <a16:creationId xmlns:a16="http://schemas.microsoft.com/office/drawing/2014/main" id="{F6033550-578D-094A-FE86-3594530DBFF3}"/>
                </a:ext>
              </a:extLst>
            </p:cNvPr>
            <p:cNvSpPr txBox="1">
              <a:spLocks/>
            </p:cNvSpPr>
            <p:nvPr/>
          </p:nvSpPr>
          <p:spPr>
            <a:xfrm rot="16200000">
              <a:off x="131035" y="3571915"/>
              <a:ext cx="1334846" cy="275460"/>
            </a:xfrm>
            <a:prstGeom prst="rect">
              <a:avLst/>
            </a:prstGeom>
            <a:noFill/>
          </p:spPr>
          <p:txBody>
            <a:bodyPr wrap="square" lIns="91440" tIns="45720" rIns="91440" bIns="45720" rtlCol="0" anchor="t">
              <a:spAutoFit/>
            </a:bodyPr>
            <a:lstStyle/>
            <a:p>
              <a:pPr marL="0" marR="0" lvl="0" indent="0" algn="ctr" defTabSz="457040">
                <a:lnSpc>
                  <a:spcPct val="85000"/>
                </a:lnSpc>
                <a:spcBef>
                  <a:spcPts val="0"/>
                </a:spcBef>
                <a:spcAft>
                  <a:spcPts val="0"/>
                </a:spcAft>
                <a:buNone/>
                <a:tabLst/>
                <a:defRPr/>
              </a:pPr>
              <a:endParaRPr lang="en-US" sz="1800">
                <a:solidFill>
                  <a:schemeClr val="accent3"/>
                </a:solidFill>
              </a:endParaRPr>
            </a:p>
          </p:txBody>
        </p:sp>
        <p:sp>
          <p:nvSpPr>
            <p:cNvPr id="21" name="TextBox 20">
              <a:extLst>
                <a:ext uri="{FF2B5EF4-FFF2-40B4-BE49-F238E27FC236}">
                  <a16:creationId xmlns:a16="http://schemas.microsoft.com/office/drawing/2014/main" id="{D5ED7826-EB8A-463C-8E71-2A018FC4C98B}"/>
                </a:ext>
              </a:extLst>
            </p:cNvPr>
            <p:cNvSpPr txBox="1">
              <a:spLocks/>
            </p:cNvSpPr>
            <p:nvPr/>
          </p:nvSpPr>
          <p:spPr>
            <a:xfrm rot="16200000">
              <a:off x="131036" y="4906773"/>
              <a:ext cx="1334845" cy="275460"/>
            </a:xfrm>
            <a:prstGeom prst="rect">
              <a:avLst/>
            </a:prstGeom>
            <a:noFill/>
          </p:spPr>
          <p:txBody>
            <a:bodyPr wrap="square" rtlCol="0">
              <a:spAutoFit/>
            </a:bodyPr>
            <a:lstStyle/>
            <a:p>
              <a:pPr lvl="0" algn="ctr">
                <a:lnSpc>
                  <a:spcPct val="85000"/>
                </a:lnSpc>
                <a:defRPr/>
              </a:pPr>
              <a:endParaRPr/>
            </a:p>
          </p:txBody>
        </p:sp>
      </p:grpSp>
      <p:sp>
        <p:nvSpPr>
          <p:cNvPr id="74" name="Rounded Rectangle 20">
            <a:extLst>
              <a:ext uri="{FF2B5EF4-FFF2-40B4-BE49-F238E27FC236}">
                <a16:creationId xmlns:a16="http://schemas.microsoft.com/office/drawing/2014/main" id="{C9C9291B-07CB-7386-71EC-AC00E0E2A7FF}"/>
              </a:ext>
              <a:ext uri="{C183D7F6-B498-43B3-948B-1728B52AA6E4}">
                <adec:decorative xmlns:adec="http://schemas.microsoft.com/office/drawing/2017/decorative" val="1"/>
              </a:ext>
            </a:extLst>
          </p:cNvPr>
          <p:cNvSpPr>
            <a:spLocks/>
          </p:cNvSpPr>
          <p:nvPr/>
        </p:nvSpPr>
        <p:spPr>
          <a:xfrm>
            <a:off x="883948" y="1663680"/>
            <a:ext cx="1743613" cy="22854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62" name="TextBox 61">
            <a:extLst>
              <a:ext uri="{FF2B5EF4-FFF2-40B4-BE49-F238E27FC236}">
                <a16:creationId xmlns:a16="http://schemas.microsoft.com/office/drawing/2014/main" id="{FC951C57-D331-9293-D879-906A25ADA697}"/>
              </a:ext>
            </a:extLst>
          </p:cNvPr>
          <p:cNvSpPr txBox="1">
            <a:spLocks/>
          </p:cNvSpPr>
          <p:nvPr/>
        </p:nvSpPr>
        <p:spPr>
          <a:xfrm>
            <a:off x="6262695" y="7268917"/>
            <a:ext cx="2603030" cy="523084"/>
          </a:xfrm>
          <a:prstGeom prst="rect">
            <a:avLst/>
          </a:prstGeom>
          <a:noFill/>
        </p:spPr>
        <p:txBody>
          <a:bodyPr wrap="square" rtlCol="0">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endParaRPr/>
          </a:p>
        </p:txBody>
      </p:sp>
      <p:sp>
        <p:nvSpPr>
          <p:cNvPr id="35" name="TextBox 34">
            <a:extLst>
              <a:ext uri="{FF2B5EF4-FFF2-40B4-BE49-F238E27FC236}">
                <a16:creationId xmlns:a16="http://schemas.microsoft.com/office/drawing/2014/main" id="{F40E161B-04CF-41DB-983B-CED5F4754456}"/>
              </a:ext>
            </a:extLst>
          </p:cNvPr>
          <p:cNvSpPr txBox="1">
            <a:spLocks/>
          </p:cNvSpPr>
          <p:nvPr/>
        </p:nvSpPr>
        <p:spPr>
          <a:xfrm>
            <a:off x="5133045" y="2316448"/>
            <a:ext cx="1922732" cy="646331"/>
          </a:xfrm>
          <a:prstGeom prst="rect">
            <a:avLst/>
          </a:prstGeom>
          <a:noFill/>
        </p:spPr>
        <p:txBody>
          <a:bodyPr wrap="square" lIns="91440" tIns="45720" rIns="91440" bIns="45720" rtlCol="0" anchor="t">
            <a:spAutoFit/>
          </a:bodyPr>
          <a:lstStyle/>
          <a:p>
            <a:pPr algn="ctr">
              <a:defRPr/>
            </a:pPr>
            <a:br>
              <a:rPr lang="en-US" sz="1200">
                <a:solidFill>
                  <a:schemeClr val="accent1"/>
                </a:solidFill>
                <a:latin typeface="Source Sans 3" panose="020B0504040101010104" pitchFamily="34" charset="77"/>
              </a:rPr>
            </a:br>
            <a:endParaRPr lang="en-US" sz="1200">
              <a:solidFill>
                <a:schemeClr val="accent1"/>
              </a:solidFill>
              <a:latin typeface="Source Sans 3" panose="020B0504040101010104" pitchFamily="34" charset="77"/>
            </a:endParaRPr>
          </a:p>
        </p:txBody>
      </p:sp>
      <p:sp>
        <p:nvSpPr>
          <p:cNvPr id="54" name="TextBox 53">
            <a:extLst>
              <a:ext uri="{FF2B5EF4-FFF2-40B4-BE49-F238E27FC236}">
                <a16:creationId xmlns:a16="http://schemas.microsoft.com/office/drawing/2014/main" id="{C6E53C50-BE26-DECD-B3DE-D129FE8B79C3}"/>
              </a:ext>
            </a:extLst>
          </p:cNvPr>
          <p:cNvSpPr txBox="1">
            <a:spLocks/>
          </p:cNvSpPr>
          <p:nvPr/>
        </p:nvSpPr>
        <p:spPr>
          <a:xfrm>
            <a:off x="7198013" y="2316448"/>
            <a:ext cx="1922732" cy="646331"/>
          </a:xfrm>
          <a:prstGeom prst="rect">
            <a:avLst/>
          </a:prstGeom>
          <a:noFill/>
        </p:spPr>
        <p:txBody>
          <a:bodyPr wrap="square" lIns="91440" tIns="45720" rIns="91440" bIns="45720" rtlCol="0" anchor="t">
            <a:spAutoFit/>
          </a:bodyPr>
          <a:lstStyle/>
          <a:p>
            <a:pPr algn="ctr">
              <a:defRPr/>
            </a:pPr>
            <a:endParaRPr/>
          </a:p>
        </p:txBody>
      </p:sp>
      <p:sp>
        <p:nvSpPr>
          <p:cNvPr id="55" name="TextBox 54">
            <a:extLst>
              <a:ext uri="{FF2B5EF4-FFF2-40B4-BE49-F238E27FC236}">
                <a16:creationId xmlns:a16="http://schemas.microsoft.com/office/drawing/2014/main" id="{07C035B4-979A-B654-45BC-410A2A153C24}"/>
              </a:ext>
            </a:extLst>
          </p:cNvPr>
          <p:cNvSpPr txBox="1">
            <a:spLocks/>
          </p:cNvSpPr>
          <p:nvPr/>
        </p:nvSpPr>
        <p:spPr>
          <a:xfrm>
            <a:off x="9262982" y="2316448"/>
            <a:ext cx="1922732" cy="646331"/>
          </a:xfrm>
          <a:prstGeom prst="rect">
            <a:avLst/>
          </a:prstGeom>
          <a:noFill/>
        </p:spPr>
        <p:txBody>
          <a:bodyPr wrap="square" lIns="91440" tIns="45720" rIns="91440" bIns="45720" rtlCol="0" anchor="t">
            <a:spAutoFit/>
          </a:bodyPr>
          <a:lstStyle/>
          <a:p>
            <a:pPr algn="ctr">
              <a:defRPr/>
            </a:pPr>
            <a:br>
              <a:rPr lang="en-US" sz="1200">
                <a:solidFill>
                  <a:schemeClr val="accent1"/>
                </a:solidFill>
                <a:latin typeface="Source Sans 3" panose="020B0504040101010104" pitchFamily="34" charset="77"/>
              </a:rPr>
            </a:br>
            <a:br>
              <a:rPr lang="en-US" sz="1200">
                <a:solidFill>
                  <a:schemeClr val="accent1"/>
                </a:solidFill>
                <a:latin typeface="Source Sans 3" panose="020B0504040101010104" pitchFamily="34" charset="77"/>
              </a:rPr>
            </a:br>
            <a:endParaRPr lang="en-US" sz="1200">
              <a:solidFill>
                <a:schemeClr val="accent1"/>
              </a:solidFill>
              <a:latin typeface="Source Sans 3" panose="020B0504040101010104" pitchFamily="34" charset="77"/>
            </a:endParaRPr>
          </a:p>
        </p:txBody>
      </p:sp>
      <p:sp>
        <p:nvSpPr>
          <p:cNvPr id="56" name="TextBox 55">
            <a:extLst>
              <a:ext uri="{FF2B5EF4-FFF2-40B4-BE49-F238E27FC236}">
                <a16:creationId xmlns:a16="http://schemas.microsoft.com/office/drawing/2014/main" id="{40F6A794-E37A-04B9-C86A-707FE7AA804C}"/>
              </a:ext>
            </a:extLst>
          </p:cNvPr>
          <p:cNvSpPr txBox="1">
            <a:spLocks/>
          </p:cNvSpPr>
          <p:nvPr/>
        </p:nvSpPr>
        <p:spPr>
          <a:xfrm>
            <a:off x="2973178" y="2316448"/>
            <a:ext cx="2112530" cy="646331"/>
          </a:xfrm>
          <a:prstGeom prst="rect">
            <a:avLst/>
          </a:prstGeom>
          <a:noFill/>
        </p:spPr>
        <p:txBody>
          <a:bodyPr wrap="square" lIns="91440" tIns="45720" rIns="91440" bIns="45720" rtlCol="0" anchor="t">
            <a:spAutoFit/>
          </a:bodyPr>
          <a:lstStyle/>
          <a:p>
            <a:pPr algn="ctr">
              <a:defRPr/>
            </a:pPr>
            <a:br>
              <a:rPr lang="en-US" sz="1200">
                <a:solidFill>
                  <a:schemeClr val="accent1"/>
                </a:solidFill>
                <a:latin typeface="Source Sans 3" panose="020B0504040101010104" pitchFamily="34" charset="77"/>
              </a:rPr>
            </a:br>
            <a:endParaRPr lang="en-US" sz="1200">
              <a:solidFill>
                <a:schemeClr val="accent1"/>
              </a:solidFill>
              <a:latin typeface="Source Sans 3" panose="020B0504040101010104" pitchFamily="34" charset="77"/>
            </a:endParaRPr>
          </a:p>
        </p:txBody>
      </p:sp>
      <p:sp>
        <p:nvSpPr>
          <p:cNvPr id="58" name="TextBox 57">
            <a:extLst>
              <a:ext uri="{FF2B5EF4-FFF2-40B4-BE49-F238E27FC236}">
                <a16:creationId xmlns:a16="http://schemas.microsoft.com/office/drawing/2014/main" id="{BDDADEB1-4E39-02AA-51B7-EF6D1E6A2365}"/>
              </a:ext>
            </a:extLst>
          </p:cNvPr>
          <p:cNvSpPr txBox="1">
            <a:spLocks/>
          </p:cNvSpPr>
          <p:nvPr/>
        </p:nvSpPr>
        <p:spPr>
          <a:xfrm>
            <a:off x="1003109" y="2316448"/>
            <a:ext cx="1922732" cy="646331"/>
          </a:xfrm>
          <a:prstGeom prst="rect">
            <a:avLst/>
          </a:prstGeom>
          <a:noFill/>
        </p:spPr>
        <p:txBody>
          <a:bodyPr wrap="square" lIns="91440" tIns="45720" rIns="91440" bIns="45720" rtlCol="0" anchor="t">
            <a:spAutoFit/>
          </a:bodyPr>
          <a:lstStyle/>
          <a:p>
            <a:pPr algn="ctr">
              <a:defRPr/>
            </a:pPr>
            <a:br>
              <a:rPr lang="en-US" sz="1200">
                <a:solidFill>
                  <a:schemeClr val="accent1"/>
                </a:solidFill>
                <a:latin typeface="Source Sans 3" panose="020B0504040101010104" pitchFamily="34" charset="77"/>
              </a:rPr>
            </a:br>
            <a:br>
              <a:rPr lang="en-US" sz="1200">
                <a:solidFill>
                  <a:schemeClr val="accent1"/>
                </a:solidFill>
                <a:latin typeface="Source Sans 3" panose="020B0504040101010104" pitchFamily="34" charset="77"/>
              </a:rPr>
            </a:br>
            <a:endParaRPr lang="en-US" sz="1200">
              <a:solidFill>
                <a:schemeClr val="accent1"/>
              </a:solidFill>
              <a:latin typeface="Source Sans 3" panose="020B0504040101010104" pitchFamily="34" charset="77"/>
            </a:endParaRPr>
          </a:p>
        </p:txBody>
      </p:sp>
      <p:sp>
        <p:nvSpPr>
          <p:cNvPr id="138" name="Rounded Rectangle 137">
            <a:extLst>
              <a:ext uri="{FF2B5EF4-FFF2-40B4-BE49-F238E27FC236}">
                <a16:creationId xmlns:a16="http://schemas.microsoft.com/office/drawing/2014/main" id="{7F4FF61C-1469-57A2-D65E-85D0CB332816}"/>
              </a:ext>
            </a:extLst>
          </p:cNvPr>
          <p:cNvSpPr>
            <a:spLocks/>
          </p:cNvSpPr>
          <p:nvPr/>
        </p:nvSpPr>
        <p:spPr>
          <a:xfrm>
            <a:off x="10844835" y="906124"/>
            <a:ext cx="1145352" cy="41526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endParaRPr/>
          </a:p>
        </p:txBody>
      </p:sp>
      <p:sp>
        <p:nvSpPr>
          <p:cNvPr id="140" name="Rectangle 139"/>
          <p:cNvSpPr/>
          <p:nvPr/>
        </p:nvSpPr>
        <p:spPr>
          <a:xfrm>
            <a:off x="493776" y="228600"/>
            <a:ext cx="11192256" cy="676656"/>
          </a:xfrm>
          <a:prstGeom prst="rect">
            <a:avLst/>
          </a:prstGeom>
          <a:solidFill>
            <a:srgbClr val="040E3D"/>
          </a:solidFill>
          <a:ln w="8255">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Use case title"/>
          <p:cNvSpPr txBox="1"/>
          <p:nvPr/>
        </p:nvSpPr>
        <p:spPr>
          <a:xfrm>
            <a:off x="667512" y="274320"/>
            <a:ext cx="10927080" cy="557784"/>
          </a:xfrm>
          <a:prstGeom prst="rect">
            <a:avLst/>
          </a:prstGeom>
          <a:noFill/>
        </p:spPr>
        <p:txBody>
          <a:bodyPr wrap="square" lIns="32004" tIns="0" rIns="32004" bIns="0" anchor="ctr">
            <a:spAutoFit/>
          </a:bodyPr>
          <a:lstStyle/>
          <a:p>
            <a:pPr algn="l"/>
            <a:r>
              <a:rPr sz="3200" b="1">
                <a:solidFill>
                  <a:srgbClr val="8FFFDB"/>
                </a:solidFill>
                <a:latin typeface="Source Sans 3"/>
              </a:rPr>
              <a:t>One use case. End to end.</a:t>
            </a:r>
          </a:p>
        </p:txBody>
      </p:sp>
      <p:sp>
        <p:nvSpPr>
          <p:cNvPr id="142" name="Rounded Rectangle 141"/>
          <p:cNvSpPr/>
          <p:nvPr/>
        </p:nvSpPr>
        <p:spPr>
          <a:xfrm>
            <a:off x="640080" y="1920240"/>
            <a:ext cx="2121408" cy="336499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Crossfuze editorial"/>
          <p:cNvSpPr txBox="1"/>
          <p:nvPr/>
        </p:nvSpPr>
        <p:spPr>
          <a:xfrm>
            <a:off x="722375" y="2121408"/>
            <a:ext cx="1947672" cy="320040"/>
          </a:xfrm>
          <a:prstGeom prst="rect">
            <a:avLst/>
          </a:prstGeom>
          <a:noFill/>
        </p:spPr>
        <p:txBody>
          <a:bodyPr wrap="square" lIns="32004" tIns="0" rIns="32004" bIns="0" anchor="ctr">
            <a:spAutoFit/>
          </a:bodyPr>
          <a:lstStyle/>
          <a:p>
            <a:pPr algn="ctr"/>
            <a:r>
              <a:rPr sz="1400" b="1">
                <a:solidFill>
                  <a:srgbClr val="8FFFDB"/>
                </a:solidFill>
                <a:latin typeface="Source Sans 3"/>
              </a:rPr>
              <a:t>01</a:t>
            </a:r>
          </a:p>
        </p:txBody>
      </p:sp>
      <p:sp>
        <p:nvSpPr>
          <p:cNvPr id="144" name="Crossfuze editorial"/>
          <p:cNvSpPr txBox="1"/>
          <p:nvPr/>
        </p:nvSpPr>
        <p:spPr>
          <a:xfrm>
            <a:off x="722375" y="2569464"/>
            <a:ext cx="1947672" cy="429768"/>
          </a:xfrm>
          <a:prstGeom prst="rect">
            <a:avLst/>
          </a:prstGeom>
          <a:noFill/>
        </p:spPr>
        <p:txBody>
          <a:bodyPr wrap="square" lIns="32004" tIns="0" rIns="32004" bIns="0" anchor="ctr">
            <a:spAutoFit/>
          </a:bodyPr>
          <a:lstStyle/>
          <a:p>
            <a:pPr algn="ctr"/>
            <a:r>
              <a:rPr sz="2200" b="1">
                <a:solidFill>
                  <a:srgbClr val="8FFFDB"/>
                </a:solidFill>
                <a:latin typeface="Source Sans 3"/>
              </a:rPr>
              <a:t>SENSE</a:t>
            </a:r>
          </a:p>
        </p:txBody>
      </p:sp>
      <p:sp>
        <p:nvSpPr>
          <p:cNvPr id="145" name="Crossfuze editorial"/>
          <p:cNvSpPr txBox="1"/>
          <p:nvPr/>
        </p:nvSpPr>
        <p:spPr>
          <a:xfrm>
            <a:off x="749808" y="3429000"/>
            <a:ext cx="1892807" cy="987552"/>
          </a:xfrm>
          <a:prstGeom prst="rect">
            <a:avLst/>
          </a:prstGeom>
          <a:noFill/>
        </p:spPr>
        <p:txBody>
          <a:bodyPr wrap="square" lIns="32004" tIns="0" rIns="32004" bIns="0" anchor="ctr">
            <a:spAutoFit/>
          </a:bodyPr>
          <a:lstStyle/>
          <a:p>
            <a:pPr algn="ctr"/>
            <a:r>
              <a:rPr sz="1500" b="0">
                <a:solidFill>
                  <a:srgbClr val="F2F2F4"/>
                </a:solidFill>
                <a:latin typeface="Source Sans 3"/>
              </a:rPr>
              <a:t>Requester, role,
asset and policy</a:t>
            </a:r>
          </a:p>
        </p:txBody>
      </p:sp>
      <p:sp>
        <p:nvSpPr>
          <p:cNvPr id="146" name="Crossfuze editorial"/>
          <p:cNvSpPr txBox="1"/>
          <p:nvPr/>
        </p:nvSpPr>
        <p:spPr>
          <a:xfrm>
            <a:off x="740664" y="4727448"/>
            <a:ext cx="1920240" cy="347472"/>
          </a:xfrm>
          <a:prstGeom prst="rect">
            <a:avLst/>
          </a:prstGeom>
          <a:noFill/>
        </p:spPr>
        <p:txBody>
          <a:bodyPr wrap="square" lIns="32004" tIns="0" rIns="32004" bIns="0" anchor="ctr">
            <a:spAutoFit/>
          </a:bodyPr>
          <a:lstStyle/>
          <a:p>
            <a:pPr algn="ctr"/>
            <a:r>
              <a:rPr sz="1200" b="1">
                <a:solidFill>
                  <a:srgbClr val="2CB0CD"/>
                </a:solidFill>
                <a:latin typeface="Source Sans 3"/>
              </a:rPr>
              <a:t>Validate</a:t>
            </a:r>
          </a:p>
        </p:txBody>
      </p:sp>
      <p:sp>
        <p:nvSpPr>
          <p:cNvPr id="147" name="Rounded Rectangle 146"/>
          <p:cNvSpPr/>
          <p:nvPr/>
        </p:nvSpPr>
        <p:spPr>
          <a:xfrm>
            <a:off x="2898648" y="1920240"/>
            <a:ext cx="2121408" cy="336499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Crossfuze editorial"/>
          <p:cNvSpPr txBox="1"/>
          <p:nvPr/>
        </p:nvSpPr>
        <p:spPr>
          <a:xfrm>
            <a:off x="2980944" y="2121408"/>
            <a:ext cx="1947672" cy="320040"/>
          </a:xfrm>
          <a:prstGeom prst="rect">
            <a:avLst/>
          </a:prstGeom>
          <a:noFill/>
        </p:spPr>
        <p:txBody>
          <a:bodyPr wrap="square" lIns="32004" tIns="0" rIns="32004" bIns="0" anchor="ctr">
            <a:spAutoFit/>
          </a:bodyPr>
          <a:lstStyle/>
          <a:p>
            <a:pPr algn="ctr"/>
            <a:r>
              <a:rPr sz="1400" b="1">
                <a:solidFill>
                  <a:srgbClr val="8FFFDB"/>
                </a:solidFill>
                <a:latin typeface="Source Sans 3"/>
              </a:rPr>
              <a:t>02</a:t>
            </a:r>
          </a:p>
        </p:txBody>
      </p:sp>
      <p:sp>
        <p:nvSpPr>
          <p:cNvPr id="149" name="Crossfuze editorial"/>
          <p:cNvSpPr txBox="1"/>
          <p:nvPr/>
        </p:nvSpPr>
        <p:spPr>
          <a:xfrm>
            <a:off x="2980944" y="2569464"/>
            <a:ext cx="1947672" cy="429768"/>
          </a:xfrm>
          <a:prstGeom prst="rect">
            <a:avLst/>
          </a:prstGeom>
          <a:noFill/>
        </p:spPr>
        <p:txBody>
          <a:bodyPr wrap="square" lIns="32004" tIns="0" rIns="32004" bIns="0" anchor="ctr">
            <a:spAutoFit/>
          </a:bodyPr>
          <a:lstStyle/>
          <a:p>
            <a:pPr algn="ctr"/>
            <a:r>
              <a:rPr sz="2200" b="1">
                <a:solidFill>
                  <a:srgbClr val="8FFFDB"/>
                </a:solidFill>
                <a:latin typeface="Source Sans 3"/>
              </a:rPr>
              <a:t>DECIDE</a:t>
            </a:r>
          </a:p>
        </p:txBody>
      </p:sp>
      <p:sp>
        <p:nvSpPr>
          <p:cNvPr id="150" name="Crossfuze editorial"/>
          <p:cNvSpPr txBox="1"/>
          <p:nvPr/>
        </p:nvSpPr>
        <p:spPr>
          <a:xfrm>
            <a:off x="3008376" y="3429000"/>
            <a:ext cx="1892807" cy="987552"/>
          </a:xfrm>
          <a:prstGeom prst="rect">
            <a:avLst/>
          </a:prstGeom>
          <a:noFill/>
        </p:spPr>
        <p:txBody>
          <a:bodyPr wrap="square" lIns="32004" tIns="0" rIns="32004" bIns="0" anchor="ctr">
            <a:spAutoFit/>
          </a:bodyPr>
          <a:lstStyle/>
          <a:p>
            <a:pPr algn="ctr"/>
            <a:r>
              <a:rPr sz="1500" b="0">
                <a:solidFill>
                  <a:srgbClr val="F2F2F4"/>
                </a:solidFill>
                <a:latin typeface="Source Sans 3"/>
              </a:rPr>
              <a:t>Check entitlement
and confidence</a:t>
            </a:r>
          </a:p>
        </p:txBody>
      </p:sp>
      <p:sp>
        <p:nvSpPr>
          <p:cNvPr id="151" name="Crossfuze editorial"/>
          <p:cNvSpPr txBox="1"/>
          <p:nvPr/>
        </p:nvSpPr>
        <p:spPr>
          <a:xfrm>
            <a:off x="2999232" y="4727448"/>
            <a:ext cx="1920240" cy="347472"/>
          </a:xfrm>
          <a:prstGeom prst="rect">
            <a:avLst/>
          </a:prstGeom>
          <a:noFill/>
        </p:spPr>
        <p:txBody>
          <a:bodyPr wrap="square" lIns="32004" tIns="0" rIns="32004" bIns="0" anchor="ctr">
            <a:spAutoFit/>
          </a:bodyPr>
          <a:lstStyle/>
          <a:p>
            <a:pPr algn="ctr"/>
            <a:r>
              <a:rPr sz="1200" b="1">
                <a:solidFill>
                  <a:srgbClr val="2CB0CD"/>
                </a:solidFill>
                <a:latin typeface="Source Sans 3"/>
              </a:rPr>
              <a:t>Bound</a:t>
            </a:r>
          </a:p>
        </p:txBody>
      </p:sp>
      <p:sp>
        <p:nvSpPr>
          <p:cNvPr id="152" name="Rounded Rectangle 151"/>
          <p:cNvSpPr/>
          <p:nvPr/>
        </p:nvSpPr>
        <p:spPr>
          <a:xfrm>
            <a:off x="5157216" y="1920240"/>
            <a:ext cx="2121408" cy="336499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Crossfuze editorial"/>
          <p:cNvSpPr txBox="1"/>
          <p:nvPr/>
        </p:nvSpPr>
        <p:spPr>
          <a:xfrm>
            <a:off x="5239512" y="2121408"/>
            <a:ext cx="1947672" cy="320040"/>
          </a:xfrm>
          <a:prstGeom prst="rect">
            <a:avLst/>
          </a:prstGeom>
          <a:noFill/>
        </p:spPr>
        <p:txBody>
          <a:bodyPr wrap="square" lIns="32004" tIns="0" rIns="32004" bIns="0" anchor="ctr">
            <a:spAutoFit/>
          </a:bodyPr>
          <a:lstStyle/>
          <a:p>
            <a:pPr algn="ctr"/>
            <a:r>
              <a:rPr sz="1400" b="1">
                <a:solidFill>
                  <a:srgbClr val="8FFFDB"/>
                </a:solidFill>
                <a:latin typeface="Source Sans 3"/>
              </a:rPr>
              <a:t>03</a:t>
            </a:r>
          </a:p>
        </p:txBody>
      </p:sp>
      <p:sp>
        <p:nvSpPr>
          <p:cNvPr id="154" name="Crossfuze editorial"/>
          <p:cNvSpPr txBox="1"/>
          <p:nvPr/>
        </p:nvSpPr>
        <p:spPr>
          <a:xfrm>
            <a:off x="5239512" y="2569464"/>
            <a:ext cx="1947672" cy="429768"/>
          </a:xfrm>
          <a:prstGeom prst="rect">
            <a:avLst/>
          </a:prstGeom>
          <a:noFill/>
        </p:spPr>
        <p:txBody>
          <a:bodyPr wrap="square" lIns="32004" tIns="0" rIns="32004" bIns="0" anchor="ctr">
            <a:spAutoFit/>
          </a:bodyPr>
          <a:lstStyle/>
          <a:p>
            <a:pPr algn="ctr"/>
            <a:r>
              <a:rPr sz="2200" b="1">
                <a:solidFill>
                  <a:srgbClr val="8FFFDB"/>
                </a:solidFill>
                <a:latin typeface="Source Sans 3"/>
              </a:rPr>
              <a:t>ACT</a:t>
            </a:r>
          </a:p>
        </p:txBody>
      </p:sp>
      <p:sp>
        <p:nvSpPr>
          <p:cNvPr id="155" name="Crossfuze editorial"/>
          <p:cNvSpPr txBox="1"/>
          <p:nvPr/>
        </p:nvSpPr>
        <p:spPr>
          <a:xfrm>
            <a:off x="5266944" y="3429000"/>
            <a:ext cx="1892807" cy="987552"/>
          </a:xfrm>
          <a:prstGeom prst="rect">
            <a:avLst/>
          </a:prstGeom>
          <a:noFill/>
        </p:spPr>
        <p:txBody>
          <a:bodyPr wrap="square" lIns="32004" tIns="0" rIns="32004" bIns="0" anchor="ctr">
            <a:spAutoFit/>
          </a:bodyPr>
          <a:lstStyle/>
          <a:p>
            <a:pPr algn="ctr"/>
            <a:r>
              <a:rPr sz="1500" b="0">
                <a:solidFill>
                  <a:srgbClr val="F2F2F4"/>
                </a:solidFill>
                <a:latin typeface="Source Sans 3"/>
              </a:rPr>
              <a:t>Run approved
access workflow</a:t>
            </a:r>
          </a:p>
        </p:txBody>
      </p:sp>
      <p:sp>
        <p:nvSpPr>
          <p:cNvPr id="156" name="Crossfuze editorial"/>
          <p:cNvSpPr txBox="1"/>
          <p:nvPr/>
        </p:nvSpPr>
        <p:spPr>
          <a:xfrm>
            <a:off x="5257800" y="4727448"/>
            <a:ext cx="1920240" cy="347472"/>
          </a:xfrm>
          <a:prstGeom prst="rect">
            <a:avLst/>
          </a:prstGeom>
          <a:noFill/>
        </p:spPr>
        <p:txBody>
          <a:bodyPr wrap="square" lIns="32004" tIns="0" rIns="32004" bIns="0" anchor="ctr">
            <a:spAutoFit/>
          </a:bodyPr>
          <a:lstStyle/>
          <a:p>
            <a:pPr algn="ctr"/>
            <a:r>
              <a:rPr sz="1200" b="1">
                <a:solidFill>
                  <a:srgbClr val="2CB0CD"/>
                </a:solidFill>
                <a:latin typeface="Source Sans 3"/>
              </a:rPr>
              <a:t>Approve</a:t>
            </a:r>
          </a:p>
        </p:txBody>
      </p:sp>
      <p:sp>
        <p:nvSpPr>
          <p:cNvPr id="157" name="Rounded Rectangle 156"/>
          <p:cNvSpPr/>
          <p:nvPr/>
        </p:nvSpPr>
        <p:spPr>
          <a:xfrm>
            <a:off x="7415783" y="1920240"/>
            <a:ext cx="2121408" cy="336499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Crossfuze editorial"/>
          <p:cNvSpPr txBox="1"/>
          <p:nvPr/>
        </p:nvSpPr>
        <p:spPr>
          <a:xfrm>
            <a:off x="7498079" y="2121408"/>
            <a:ext cx="1947672" cy="320040"/>
          </a:xfrm>
          <a:prstGeom prst="rect">
            <a:avLst/>
          </a:prstGeom>
          <a:noFill/>
        </p:spPr>
        <p:txBody>
          <a:bodyPr wrap="square" lIns="32004" tIns="0" rIns="32004" bIns="0" anchor="ctr">
            <a:spAutoFit/>
          </a:bodyPr>
          <a:lstStyle/>
          <a:p>
            <a:pPr algn="ctr"/>
            <a:r>
              <a:rPr sz="1400" b="1">
                <a:solidFill>
                  <a:srgbClr val="8FFFDB"/>
                </a:solidFill>
                <a:latin typeface="Source Sans 3"/>
              </a:rPr>
              <a:t>04</a:t>
            </a:r>
          </a:p>
        </p:txBody>
      </p:sp>
      <p:sp>
        <p:nvSpPr>
          <p:cNvPr id="159" name="Crossfuze editorial"/>
          <p:cNvSpPr txBox="1"/>
          <p:nvPr/>
        </p:nvSpPr>
        <p:spPr>
          <a:xfrm>
            <a:off x="7498079" y="2569464"/>
            <a:ext cx="1947672" cy="429768"/>
          </a:xfrm>
          <a:prstGeom prst="rect">
            <a:avLst/>
          </a:prstGeom>
          <a:noFill/>
        </p:spPr>
        <p:txBody>
          <a:bodyPr wrap="square" lIns="32004" tIns="0" rIns="32004" bIns="0" anchor="ctr">
            <a:spAutoFit/>
          </a:bodyPr>
          <a:lstStyle/>
          <a:p>
            <a:pPr algn="ctr"/>
            <a:r>
              <a:rPr sz="2200" b="1">
                <a:solidFill>
                  <a:srgbClr val="8FFFDB"/>
                </a:solidFill>
                <a:latin typeface="Source Sans 3"/>
              </a:rPr>
              <a:t>SECURE</a:t>
            </a:r>
          </a:p>
        </p:txBody>
      </p:sp>
      <p:sp>
        <p:nvSpPr>
          <p:cNvPr id="160" name="Crossfuze editorial"/>
          <p:cNvSpPr txBox="1"/>
          <p:nvPr/>
        </p:nvSpPr>
        <p:spPr>
          <a:xfrm>
            <a:off x="7525511" y="3429000"/>
            <a:ext cx="1892807" cy="987552"/>
          </a:xfrm>
          <a:prstGeom prst="rect">
            <a:avLst/>
          </a:prstGeom>
          <a:noFill/>
        </p:spPr>
        <p:txBody>
          <a:bodyPr wrap="square" lIns="32004" tIns="0" rIns="32004" bIns="0" anchor="ctr">
            <a:spAutoFit/>
          </a:bodyPr>
          <a:lstStyle/>
          <a:p>
            <a:pPr algn="ctr"/>
            <a:r>
              <a:rPr sz="1500" b="0">
                <a:solidFill>
                  <a:srgbClr val="F2F2F4"/>
                </a:solidFill>
                <a:latin typeface="Source Sans 3"/>
              </a:rPr>
              <a:t>Audit, exception
and safe stop</a:t>
            </a:r>
          </a:p>
        </p:txBody>
      </p:sp>
      <p:sp>
        <p:nvSpPr>
          <p:cNvPr id="161" name="Crossfuze editorial"/>
          <p:cNvSpPr txBox="1"/>
          <p:nvPr/>
        </p:nvSpPr>
        <p:spPr>
          <a:xfrm>
            <a:off x="7516367" y="4727448"/>
            <a:ext cx="1920240" cy="347472"/>
          </a:xfrm>
          <a:prstGeom prst="rect">
            <a:avLst/>
          </a:prstGeom>
          <a:noFill/>
        </p:spPr>
        <p:txBody>
          <a:bodyPr wrap="square" lIns="32004" tIns="0" rIns="32004" bIns="0" anchor="ctr">
            <a:spAutoFit/>
          </a:bodyPr>
          <a:lstStyle/>
          <a:p>
            <a:pPr algn="ctr"/>
            <a:r>
              <a:rPr sz="1200" b="1">
                <a:solidFill>
                  <a:srgbClr val="2CB0CD"/>
                </a:solidFill>
                <a:latin typeface="Source Sans 3"/>
              </a:rPr>
              <a:t>Observe</a:t>
            </a:r>
          </a:p>
        </p:txBody>
      </p:sp>
      <p:sp>
        <p:nvSpPr>
          <p:cNvPr id="162" name="Rounded Rectangle 161"/>
          <p:cNvSpPr/>
          <p:nvPr/>
        </p:nvSpPr>
        <p:spPr>
          <a:xfrm>
            <a:off x="9674352" y="1920240"/>
            <a:ext cx="2121408" cy="336499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Crossfuze editorial"/>
          <p:cNvSpPr txBox="1"/>
          <p:nvPr/>
        </p:nvSpPr>
        <p:spPr>
          <a:xfrm>
            <a:off x="9756648" y="2121408"/>
            <a:ext cx="1947672" cy="320040"/>
          </a:xfrm>
          <a:prstGeom prst="rect">
            <a:avLst/>
          </a:prstGeom>
          <a:noFill/>
        </p:spPr>
        <p:txBody>
          <a:bodyPr wrap="square" lIns="32004" tIns="0" rIns="32004" bIns="0" anchor="ctr">
            <a:spAutoFit/>
          </a:bodyPr>
          <a:lstStyle/>
          <a:p>
            <a:pPr algn="ctr"/>
            <a:r>
              <a:rPr sz="1400" b="1">
                <a:solidFill>
                  <a:srgbClr val="8FFFDB"/>
                </a:solidFill>
                <a:latin typeface="Source Sans 3"/>
              </a:rPr>
              <a:t>05</a:t>
            </a:r>
          </a:p>
        </p:txBody>
      </p:sp>
      <p:sp>
        <p:nvSpPr>
          <p:cNvPr id="164" name="Crossfuze editorial"/>
          <p:cNvSpPr txBox="1"/>
          <p:nvPr/>
        </p:nvSpPr>
        <p:spPr>
          <a:xfrm>
            <a:off x="9756648" y="2569464"/>
            <a:ext cx="1947672" cy="429768"/>
          </a:xfrm>
          <a:prstGeom prst="rect">
            <a:avLst/>
          </a:prstGeom>
          <a:noFill/>
        </p:spPr>
        <p:txBody>
          <a:bodyPr wrap="square" lIns="32004" tIns="0" rIns="32004" bIns="0" anchor="ctr">
            <a:spAutoFit/>
          </a:bodyPr>
          <a:lstStyle/>
          <a:p>
            <a:pPr algn="ctr"/>
            <a:r>
              <a:rPr sz="2200" b="1">
                <a:solidFill>
                  <a:srgbClr val="8FFFDB"/>
                </a:solidFill>
                <a:latin typeface="Source Sans 3"/>
              </a:rPr>
              <a:t>MEASURE</a:t>
            </a:r>
          </a:p>
        </p:txBody>
      </p:sp>
      <p:sp>
        <p:nvSpPr>
          <p:cNvPr id="165" name="Crossfuze editorial"/>
          <p:cNvSpPr txBox="1"/>
          <p:nvPr/>
        </p:nvSpPr>
        <p:spPr>
          <a:xfrm>
            <a:off x="9784080" y="3429000"/>
            <a:ext cx="1892807" cy="987552"/>
          </a:xfrm>
          <a:prstGeom prst="rect">
            <a:avLst/>
          </a:prstGeom>
          <a:noFill/>
        </p:spPr>
        <p:txBody>
          <a:bodyPr wrap="square" lIns="32004" tIns="0" rIns="32004" bIns="0" anchor="ctr">
            <a:spAutoFit/>
          </a:bodyPr>
          <a:lstStyle/>
          <a:p>
            <a:pPr algn="ctr"/>
            <a:r>
              <a:rPr sz="1500" b="0">
                <a:solidFill>
                  <a:srgbClr val="F2F2F4"/>
                </a:solidFill>
                <a:latin typeface="Source Sans 3"/>
              </a:rPr>
              <a:t>Resolution time,
usage and quality</a:t>
            </a:r>
          </a:p>
        </p:txBody>
      </p:sp>
      <p:sp>
        <p:nvSpPr>
          <p:cNvPr id="166" name="Crossfuze editorial"/>
          <p:cNvSpPr txBox="1"/>
          <p:nvPr/>
        </p:nvSpPr>
        <p:spPr>
          <a:xfrm>
            <a:off x="9774936" y="4727448"/>
            <a:ext cx="1920240" cy="347472"/>
          </a:xfrm>
          <a:prstGeom prst="rect">
            <a:avLst/>
          </a:prstGeom>
          <a:noFill/>
        </p:spPr>
        <p:txBody>
          <a:bodyPr wrap="square" lIns="32004" tIns="0" rIns="32004" bIns="0" anchor="ctr">
            <a:spAutoFit/>
          </a:bodyPr>
          <a:lstStyle/>
          <a:p>
            <a:pPr algn="ctr"/>
            <a:r>
              <a:rPr sz="1200" b="1">
                <a:solidFill>
                  <a:srgbClr val="2CB0CD"/>
                </a:solidFill>
                <a:latin typeface="Source Sans 3"/>
              </a:rPr>
              <a:t>Reassess</a:t>
            </a:r>
          </a:p>
        </p:txBody>
      </p:sp>
      <p:sp>
        <p:nvSpPr>
          <p:cNvPr id="168" name="Crossfuze editorial"/>
          <p:cNvSpPr txBox="1"/>
          <p:nvPr/>
        </p:nvSpPr>
        <p:spPr>
          <a:xfrm>
            <a:off x="1517777" y="5544939"/>
            <a:ext cx="10671048" cy="347472"/>
          </a:xfrm>
          <a:prstGeom prst="rect">
            <a:avLst/>
          </a:prstGeom>
          <a:noFill/>
        </p:spPr>
        <p:txBody>
          <a:bodyPr wrap="square" lIns="32004" tIns="0" rIns="32004" bIns="0" anchor="ctr">
            <a:spAutoFit/>
          </a:bodyPr>
          <a:lstStyle/>
          <a:p>
            <a:pPr algn="ctr"/>
            <a:r>
              <a:rPr sz="1100" b="0" dirty="0">
                <a:solidFill>
                  <a:srgbClr val="F2F2F4"/>
                </a:solidFill>
                <a:latin typeface="Source Sans 3"/>
              </a:rPr>
              <a:t>ILLUSTRATIVE: zero-touch access request. The real workflow must be mapped and validated against the customer estate.</a:t>
            </a:r>
          </a:p>
        </p:txBody>
      </p:sp>
      <p:grpSp>
        <p:nvGrpSpPr>
          <p:cNvPr id="2" name="Group 1">
            <a:extLst>
              <a:ext uri="{FF2B5EF4-FFF2-40B4-BE49-F238E27FC236}">
                <a16:creationId xmlns:a16="http://schemas.microsoft.com/office/drawing/2014/main" id="{07BEDA68-7881-E894-B8FB-930E46ABF380}"/>
              </a:ext>
            </a:extLst>
          </p:cNvPr>
          <p:cNvGrpSpPr/>
          <p:nvPr/>
        </p:nvGrpSpPr>
        <p:grpSpPr>
          <a:xfrm>
            <a:off x="3086548" y="1662775"/>
            <a:ext cx="8515741" cy="257611"/>
            <a:chOff x="3086481" y="1429239"/>
            <a:chExt cx="8515741" cy="257611"/>
          </a:xfrm>
        </p:grpSpPr>
        <p:sp>
          <p:nvSpPr>
            <p:cNvPr id="46" name="Rounded Rectangle 20">
              <a:extLst>
                <a:ext uri="{FF2B5EF4-FFF2-40B4-BE49-F238E27FC236}">
                  <a16:creationId xmlns:a16="http://schemas.microsoft.com/office/drawing/2014/main" id="{703462F7-1681-9850-FAC9-4814FD79BA6F}"/>
                </a:ext>
                <a:ext uri="{C183D7F6-B498-43B3-948B-1728B52AA6E4}">
                  <adec:decorative xmlns:adec="http://schemas.microsoft.com/office/drawing/2017/decorative" val="1"/>
                </a:ext>
              </a:extLst>
            </p:cNvPr>
            <p:cNvSpPr>
              <a:spLocks/>
            </p:cNvSpPr>
            <p:nvPr/>
          </p:nvSpPr>
          <p:spPr>
            <a:xfrm>
              <a:off x="9858609" y="1458172"/>
              <a:ext cx="1743613" cy="22854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endParaRPr/>
            </a:p>
          </p:txBody>
        </p:sp>
        <p:sp>
          <p:nvSpPr>
            <p:cNvPr id="53" name="Rounded Rectangle 20">
              <a:extLst>
                <a:ext uri="{FF2B5EF4-FFF2-40B4-BE49-F238E27FC236}">
                  <a16:creationId xmlns:a16="http://schemas.microsoft.com/office/drawing/2014/main" id="{2583E463-69E5-149C-547B-ABADB5977207}"/>
                </a:ext>
                <a:ext uri="{C183D7F6-B498-43B3-948B-1728B52AA6E4}">
                  <adec:decorative xmlns:adec="http://schemas.microsoft.com/office/drawing/2017/decorative" val="1"/>
                </a:ext>
              </a:extLst>
            </p:cNvPr>
            <p:cNvSpPr>
              <a:spLocks/>
            </p:cNvSpPr>
            <p:nvPr/>
          </p:nvSpPr>
          <p:spPr>
            <a:xfrm>
              <a:off x="7576320" y="1439210"/>
              <a:ext cx="1743613" cy="22854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70" name="Rounded Rectangle 20">
              <a:extLst>
                <a:ext uri="{FF2B5EF4-FFF2-40B4-BE49-F238E27FC236}">
                  <a16:creationId xmlns:a16="http://schemas.microsoft.com/office/drawing/2014/main" id="{F160491D-2AEF-C8D8-AF9A-91D3DD5702A0}"/>
                </a:ext>
                <a:ext uri="{C183D7F6-B498-43B3-948B-1728B52AA6E4}">
                  <adec:decorative xmlns:adec="http://schemas.microsoft.com/office/drawing/2017/decorative" val="1"/>
                </a:ext>
              </a:extLst>
            </p:cNvPr>
            <p:cNvSpPr>
              <a:spLocks/>
            </p:cNvSpPr>
            <p:nvPr/>
          </p:nvSpPr>
          <p:spPr>
            <a:xfrm>
              <a:off x="5383692" y="1429239"/>
              <a:ext cx="1743613" cy="22854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71" name="Rounded Rectangle 20">
              <a:extLst>
                <a:ext uri="{FF2B5EF4-FFF2-40B4-BE49-F238E27FC236}">
                  <a16:creationId xmlns:a16="http://schemas.microsoft.com/office/drawing/2014/main" id="{D0F7894E-AC17-23B7-16BF-E29C99330495}"/>
                </a:ext>
                <a:ext uri="{C183D7F6-B498-43B3-948B-1728B52AA6E4}">
                  <adec:decorative xmlns:adec="http://schemas.microsoft.com/office/drawing/2017/decorative" val="1"/>
                </a:ext>
              </a:extLst>
            </p:cNvPr>
            <p:cNvSpPr>
              <a:spLocks/>
            </p:cNvSpPr>
            <p:nvPr/>
          </p:nvSpPr>
          <p:spPr>
            <a:xfrm>
              <a:off x="3086481" y="1458310"/>
              <a:ext cx="1743613" cy="22854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grpSp>
    </p:spTree>
    <p:extLst>
      <p:ext uri="{BB962C8B-B14F-4D97-AF65-F5344CB8AC3E}">
        <p14:creationId xmlns:p14="http://schemas.microsoft.com/office/powerpoint/2010/main" val="439988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B831-1A5F-08D0-7B6C-B5297D6156E5}"/>
            </a:ext>
          </a:extLst>
        </p:cNvPr>
        <p:cNvGrpSpPr/>
        <p:nvPr/>
      </p:nvGrpSpPr>
      <p:grpSpPr>
        <a:xfrm>
          <a:off x="0" y="0"/>
          <a:ext cx="0" cy="0"/>
          <a:chOff x="0" y="0"/>
          <a:chExt cx="0" cy="0"/>
        </a:xfrm>
      </p:grpSpPr>
      <p:pic>
        <p:nvPicPr>
          <p:cNvPr id="101" name="Picture 100" descr="A blue and purple background&#10;&#10;AI-generated content may be incorrect.">
            <a:extLst>
              <a:ext uri="{FF2B5EF4-FFF2-40B4-BE49-F238E27FC236}">
                <a16:creationId xmlns:a16="http://schemas.microsoft.com/office/drawing/2014/main" id="{13EB3EE3-9FD2-4C78-089A-078DFEF0B854}"/>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795" y="893"/>
            <a:ext cx="12190415" cy="6857107"/>
          </a:xfrm>
          <a:prstGeom prst="rect">
            <a:avLst/>
          </a:prstGeom>
        </p:spPr>
      </p:pic>
      <p:sp>
        <p:nvSpPr>
          <p:cNvPr id="3" name="Donut 2" hidden="1">
            <a:extLst>
              <a:ext uri="{FF2B5EF4-FFF2-40B4-BE49-F238E27FC236}">
                <a16:creationId xmlns:a16="http://schemas.microsoft.com/office/drawing/2014/main" id="{9A9ADC14-567B-2A4C-14EE-8DC8BE081AED}"/>
              </a:ext>
            </a:extLst>
          </p:cNvPr>
          <p:cNvSpPr>
            <a:spLocks noChangeAspect="1"/>
          </p:cNvSpPr>
          <p:nvPr/>
        </p:nvSpPr>
        <p:spPr>
          <a:xfrm>
            <a:off x="2322513" y="1390565"/>
            <a:ext cx="7543800" cy="7543800"/>
          </a:xfrm>
          <a:prstGeom prst="donut">
            <a:avLst>
              <a:gd name="adj" fmla="val 19363"/>
            </a:avLst>
          </a:prstGeom>
          <a:gradFill>
            <a:gsLst>
              <a:gs pos="16000">
                <a:schemeClr val="tx2">
                  <a:lumMod val="90000"/>
                  <a:lumOff val="10000"/>
                </a:schemeClr>
              </a:gs>
              <a:gs pos="100000">
                <a:schemeClr val="accent1"/>
              </a:gs>
            </a:gsLst>
            <a:lin ang="16200000" scaled="0"/>
          </a:gradFill>
          <a:ln w="6350" cap="flat">
            <a:noFill/>
            <a:prstDash val="solid"/>
            <a:miter/>
          </a:ln>
        </p:spPr>
        <p:txBody>
          <a:bodyPr/>
          <a:lstStyle/>
          <a:p>
            <a:endParaRPr lang="en-US" dirty="0">
              <a:solidFill>
                <a:schemeClr val="tx1"/>
              </a:solidFill>
            </a:endParaRPr>
          </a:p>
        </p:txBody>
      </p:sp>
      <p:sp>
        <p:nvSpPr>
          <p:cNvPr id="152" name="Title 1">
            <a:extLst>
              <a:ext uri="{FF2B5EF4-FFF2-40B4-BE49-F238E27FC236}">
                <a16:creationId xmlns:a16="http://schemas.microsoft.com/office/drawing/2014/main" id="{79D0B6AC-F980-C778-449A-4E0C66F9219F}"/>
              </a:ext>
            </a:extLst>
          </p:cNvPr>
          <p:cNvSpPr>
            <a:spLocks noGrp="1"/>
          </p:cNvSpPr>
          <p:nvPr>
            <p:ph type="title"/>
          </p:nvPr>
        </p:nvSpPr>
        <p:spPr>
          <a:xfrm>
            <a:off x="860901" y="530352"/>
            <a:ext cx="10467023" cy="737654"/>
          </a:xfrm>
        </p:spPr>
        <p:txBody>
          <a:bodyPr wrap="square"/>
          <a:lstStyle/>
          <a:p>
            <a:pPr algn="ctr"/>
            <a:r>
              <a:rPr lang="en-US" sz="3100" b="1" dirty="0">
                <a:solidFill>
                  <a:srgbClr val="8FFFDB"/>
                </a:solidFill>
                <a:latin typeface="Source Sans 3" panose="020B0504040101010104" pitchFamily="34" charset="77"/>
              </a:rPr>
              <a:t>Value and consumption. Model them together.</a:t>
            </a:r>
          </a:p>
        </p:txBody>
      </p:sp>
      <p:sp>
        <p:nvSpPr>
          <p:cNvPr id="7" name="Slide Number Placeholder 5">
            <a:extLst>
              <a:ext uri="{FF2B5EF4-FFF2-40B4-BE49-F238E27FC236}">
                <a16:creationId xmlns:a16="http://schemas.microsoft.com/office/drawing/2014/main" id="{8EF23B59-F89A-F8DC-F92F-BC4F35D04E75}"/>
              </a:ext>
            </a:extLst>
          </p:cNvPr>
          <p:cNvSpPr txBox="1">
            <a:spLocks/>
          </p:cNvSpPr>
          <p:nvPr/>
        </p:nvSpPr>
        <p:spPr>
          <a:xfrm>
            <a:off x="11076630" y="6536306"/>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7</a:t>
            </a:fld>
            <a:endParaRPr lang="en-US" sz="800" b="0" kern="1200">
              <a:solidFill>
                <a:schemeClr val="bg1"/>
              </a:solidFill>
              <a:ea typeface="+mn-ea"/>
              <a:cs typeface="+mn-cs"/>
            </a:endParaRPr>
          </a:p>
        </p:txBody>
      </p:sp>
      <p:sp>
        <p:nvSpPr>
          <p:cNvPr id="15" name="Footer Placeholder 4">
            <a:extLst>
              <a:ext uri="{FF2B5EF4-FFF2-40B4-BE49-F238E27FC236}">
                <a16:creationId xmlns:a16="http://schemas.microsoft.com/office/drawing/2014/main" id="{A4B8409D-B28E-466B-0C5B-32FF56F9E456}"/>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16" name="Picture 15">
            <a:extLst>
              <a:ext uri="{FF2B5EF4-FFF2-40B4-BE49-F238E27FC236}">
                <a16:creationId xmlns:a16="http://schemas.microsoft.com/office/drawing/2014/main" id="{9C267C99-2B75-B242-3020-776CC594F403}"/>
              </a:ext>
            </a:extLst>
          </p:cNvPr>
          <p:cNvPicPr>
            <a:picLocks noChangeAspect="1"/>
          </p:cNvPicPr>
          <p:nvPr/>
        </p:nvPicPr>
        <p:blipFill>
          <a:blip r:embed="rId4"/>
          <a:stretch>
            <a:fillRect/>
          </a:stretch>
        </p:blipFill>
        <p:spPr>
          <a:xfrm>
            <a:off x="2208212" y="1172047"/>
            <a:ext cx="7772400" cy="4513906"/>
          </a:xfrm>
          <a:prstGeom prst="rect">
            <a:avLst/>
          </a:prstGeom>
        </p:spPr>
      </p:pic>
    </p:spTree>
    <p:extLst>
      <p:ext uri="{BB962C8B-B14F-4D97-AF65-F5344CB8AC3E}">
        <p14:creationId xmlns:p14="http://schemas.microsoft.com/office/powerpoint/2010/main" val="1605597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1000" fill="hold"/>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8AA7-C779-D667-A0A6-34BCE7BF4712}"/>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E9C25626-199B-4931-8F48-D3F334BF7C4B}"/>
              </a:ext>
            </a:extLst>
          </p:cNvPr>
          <p:cNvSpPr>
            <a:spLocks/>
          </p:cNvSpPr>
          <p:nvPr/>
        </p:nvSpPr>
        <p:spPr>
          <a:xfrm>
            <a:off x="4096426" y="2338325"/>
            <a:ext cx="4658920" cy="2330700"/>
          </a:xfrm>
          <a:prstGeom prst="ellipse">
            <a:avLst/>
          </a:prstGeom>
          <a:solidFill>
            <a:schemeClr val="accent1"/>
          </a:solidFill>
          <a:ln>
            <a:noFill/>
          </a:ln>
          <a:effectLst>
            <a:softEdge rad="886023"/>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solidFill>
                <a:schemeClr val="tx1"/>
              </a:solidFill>
            </a:endParaRPr>
          </a:p>
        </p:txBody>
      </p:sp>
      <p:sp>
        <p:nvSpPr>
          <p:cNvPr id="14" name="Title 15">
            <a:extLst>
              <a:ext uri="{FF2B5EF4-FFF2-40B4-BE49-F238E27FC236}">
                <a16:creationId xmlns:a16="http://schemas.microsoft.com/office/drawing/2014/main" id="{159F2CE6-C3C4-1715-F7BE-3A094DA0ECC5}"/>
              </a:ext>
            </a:extLst>
          </p:cNvPr>
          <p:cNvSpPr>
            <a:spLocks noGrp="1"/>
          </p:cNvSpPr>
          <p:nvPr>
            <p:ph type="title"/>
          </p:nvPr>
        </p:nvSpPr>
        <p:spPr/>
        <p:txBody>
          <a:bodyPr wrap="square"/>
          <a:lstStyle/>
          <a:p>
            <a:pPr algn="ctr"/>
            <a:r>
              <a:rPr lang="en-US" sz="3200" b="1">
                <a:solidFill>
                  <a:srgbClr val="F2F2F4"/>
                </a:solidFill>
                <a:latin typeface="Source Sans 3" panose="020B0504040101010104" pitchFamily="34" charset="77"/>
              </a:rPr>
              <a:t>How will we prove the first outcome?</a:t>
            </a:r>
          </a:p>
        </p:txBody>
      </p:sp>
      <p:sp>
        <p:nvSpPr>
          <p:cNvPr id="2" name="Slide Number Placeholder 5">
            <a:extLst>
              <a:ext uri="{FF2B5EF4-FFF2-40B4-BE49-F238E27FC236}">
                <a16:creationId xmlns:a16="http://schemas.microsoft.com/office/drawing/2014/main" id="{F006DD21-4392-8342-E8E0-DC55446210D2}"/>
              </a:ext>
            </a:extLst>
          </p:cNvPr>
          <p:cNvSpPr txBox="1">
            <a:spLocks/>
          </p:cNvSpPr>
          <p:nvPr/>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8</a:t>
            </a:fld>
            <a:endParaRPr lang="en-US" sz="800" b="0" kern="1200">
              <a:solidFill>
                <a:schemeClr val="bg1"/>
              </a:solidFill>
              <a:ea typeface="+mn-ea"/>
              <a:cs typeface="+mn-cs"/>
            </a:endParaRPr>
          </a:p>
        </p:txBody>
      </p:sp>
      <p:sp>
        <p:nvSpPr>
          <p:cNvPr id="6" name="Footer Placeholder 4">
            <a:extLst>
              <a:ext uri="{FF2B5EF4-FFF2-40B4-BE49-F238E27FC236}">
                <a16:creationId xmlns:a16="http://schemas.microsoft.com/office/drawing/2014/main" id="{8B284777-6ADD-0E07-41D3-A4D74FE5BFBC}"/>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1028" name="Rounded Rectangle 1027"/>
          <p:cNvSpPr/>
          <p:nvPr/>
        </p:nvSpPr>
        <p:spPr>
          <a:xfrm>
            <a:off x="984439" y="1697671"/>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Crossfuze editorial"/>
          <p:cNvSpPr txBox="1"/>
          <p:nvPr/>
        </p:nvSpPr>
        <p:spPr>
          <a:xfrm>
            <a:off x="1075879" y="1807399"/>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SUCCESS</a:t>
            </a:r>
          </a:p>
        </p:txBody>
      </p:sp>
      <p:sp>
        <p:nvSpPr>
          <p:cNvPr id="1030" name="Crossfuze editorial"/>
          <p:cNvSpPr txBox="1"/>
          <p:nvPr/>
        </p:nvSpPr>
        <p:spPr>
          <a:xfrm>
            <a:off x="1075879" y="2246311"/>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Completed requests</a:t>
            </a:r>
          </a:p>
        </p:txBody>
      </p:sp>
      <p:sp>
        <p:nvSpPr>
          <p:cNvPr id="1031" name="Rounded Rectangle 1030"/>
          <p:cNvSpPr/>
          <p:nvPr/>
        </p:nvSpPr>
        <p:spPr>
          <a:xfrm>
            <a:off x="4386006" y="1697671"/>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Crossfuze editorial"/>
          <p:cNvSpPr txBox="1"/>
          <p:nvPr/>
        </p:nvSpPr>
        <p:spPr>
          <a:xfrm>
            <a:off x="4477446" y="1807399"/>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SPEED</a:t>
            </a:r>
          </a:p>
        </p:txBody>
      </p:sp>
      <p:sp>
        <p:nvSpPr>
          <p:cNvPr id="1033" name="Crossfuze editorial"/>
          <p:cNvSpPr txBox="1"/>
          <p:nvPr/>
        </p:nvSpPr>
        <p:spPr>
          <a:xfrm>
            <a:off x="4477446" y="2246311"/>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Median fulfilment time</a:t>
            </a:r>
          </a:p>
        </p:txBody>
      </p:sp>
      <p:sp>
        <p:nvSpPr>
          <p:cNvPr id="1034" name="Rounded Rectangle 1033"/>
          <p:cNvSpPr/>
          <p:nvPr/>
        </p:nvSpPr>
        <p:spPr>
          <a:xfrm>
            <a:off x="7787575" y="1697671"/>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Crossfuze editorial"/>
          <p:cNvSpPr txBox="1"/>
          <p:nvPr/>
        </p:nvSpPr>
        <p:spPr>
          <a:xfrm>
            <a:off x="7879015" y="1807399"/>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ESCALATION</a:t>
            </a:r>
          </a:p>
        </p:txBody>
      </p:sp>
      <p:sp>
        <p:nvSpPr>
          <p:cNvPr id="1036" name="Crossfuze editorial"/>
          <p:cNvSpPr txBox="1"/>
          <p:nvPr/>
        </p:nvSpPr>
        <p:spPr>
          <a:xfrm>
            <a:off x="7879015" y="2246311"/>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Human handovers</a:t>
            </a:r>
          </a:p>
        </p:txBody>
      </p:sp>
      <p:sp>
        <p:nvSpPr>
          <p:cNvPr id="1037" name="Rounded Rectangle 1036"/>
          <p:cNvSpPr/>
          <p:nvPr/>
        </p:nvSpPr>
        <p:spPr>
          <a:xfrm>
            <a:off x="984439" y="2941255"/>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Crossfuze editorial"/>
          <p:cNvSpPr txBox="1"/>
          <p:nvPr/>
        </p:nvSpPr>
        <p:spPr>
          <a:xfrm>
            <a:off x="1075879" y="3050983"/>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QUALITY</a:t>
            </a:r>
          </a:p>
        </p:txBody>
      </p:sp>
      <p:sp>
        <p:nvSpPr>
          <p:cNvPr id="1039" name="Crossfuze editorial"/>
          <p:cNvSpPr txBox="1"/>
          <p:nvPr/>
        </p:nvSpPr>
        <p:spPr>
          <a:xfrm>
            <a:off x="1075879" y="3489895"/>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Incorrect actions</a:t>
            </a:r>
          </a:p>
        </p:txBody>
      </p:sp>
      <p:sp>
        <p:nvSpPr>
          <p:cNvPr id="1040" name="Rounded Rectangle 1039"/>
          <p:cNvSpPr/>
          <p:nvPr/>
        </p:nvSpPr>
        <p:spPr>
          <a:xfrm>
            <a:off x="4386006" y="2941255"/>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Crossfuze editorial"/>
          <p:cNvSpPr txBox="1"/>
          <p:nvPr/>
        </p:nvSpPr>
        <p:spPr>
          <a:xfrm>
            <a:off x="4477446" y="3050983"/>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CONTROL</a:t>
            </a:r>
          </a:p>
        </p:txBody>
      </p:sp>
      <p:sp>
        <p:nvSpPr>
          <p:cNvPr id="1042" name="Crossfuze editorial"/>
          <p:cNvSpPr txBox="1"/>
          <p:nvPr/>
        </p:nvSpPr>
        <p:spPr>
          <a:xfrm>
            <a:off x="4477446" y="3489895"/>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Stop/rollback test</a:t>
            </a:r>
          </a:p>
        </p:txBody>
      </p:sp>
      <p:sp>
        <p:nvSpPr>
          <p:cNvPr id="1043" name="Rounded Rectangle 1042"/>
          <p:cNvSpPr/>
          <p:nvPr/>
        </p:nvSpPr>
        <p:spPr>
          <a:xfrm>
            <a:off x="7787575" y="2941255"/>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Crossfuze editorial"/>
          <p:cNvSpPr txBox="1"/>
          <p:nvPr/>
        </p:nvSpPr>
        <p:spPr>
          <a:xfrm>
            <a:off x="7879015" y="3050983"/>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ADOPTION</a:t>
            </a:r>
          </a:p>
        </p:txBody>
      </p:sp>
      <p:sp>
        <p:nvSpPr>
          <p:cNvPr id="1045" name="Crossfuze editorial"/>
          <p:cNvSpPr txBox="1"/>
          <p:nvPr/>
        </p:nvSpPr>
        <p:spPr>
          <a:xfrm>
            <a:off x="7879015" y="3489895"/>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Workflow usage</a:t>
            </a:r>
          </a:p>
        </p:txBody>
      </p:sp>
      <p:sp>
        <p:nvSpPr>
          <p:cNvPr id="1046" name="Rounded Rectangle 1045"/>
          <p:cNvSpPr/>
          <p:nvPr/>
        </p:nvSpPr>
        <p:spPr>
          <a:xfrm>
            <a:off x="984439" y="4184839"/>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Crossfuze editorial"/>
          <p:cNvSpPr txBox="1"/>
          <p:nvPr/>
        </p:nvSpPr>
        <p:spPr>
          <a:xfrm>
            <a:off x="1075879" y="4294567"/>
            <a:ext cx="2889504" cy="356616"/>
          </a:xfrm>
          <a:prstGeom prst="rect">
            <a:avLst/>
          </a:prstGeom>
          <a:noFill/>
        </p:spPr>
        <p:txBody>
          <a:bodyPr wrap="square" lIns="32004" tIns="0" rIns="32004" bIns="0" anchor="ctr">
            <a:spAutoFit/>
          </a:bodyPr>
          <a:lstStyle/>
          <a:p>
            <a:pPr algn="ctr"/>
            <a:r>
              <a:rPr sz="1800" b="1" dirty="0">
                <a:solidFill>
                  <a:srgbClr val="8FFFDB"/>
                </a:solidFill>
                <a:latin typeface="Source Sans 3"/>
              </a:rPr>
              <a:t>COST</a:t>
            </a:r>
          </a:p>
        </p:txBody>
      </p:sp>
      <p:sp>
        <p:nvSpPr>
          <p:cNvPr id="1048" name="Crossfuze editorial"/>
          <p:cNvSpPr txBox="1"/>
          <p:nvPr/>
        </p:nvSpPr>
        <p:spPr>
          <a:xfrm>
            <a:off x="1106181" y="4724335"/>
            <a:ext cx="2889504" cy="310896"/>
          </a:xfrm>
          <a:prstGeom prst="rect">
            <a:avLst/>
          </a:prstGeom>
          <a:noFill/>
        </p:spPr>
        <p:txBody>
          <a:bodyPr wrap="square" lIns="32004" tIns="0" rIns="32004" bIns="0" anchor="ctr">
            <a:spAutoFit/>
          </a:bodyPr>
          <a:lstStyle/>
          <a:p>
            <a:pPr algn="ctr"/>
            <a:r>
              <a:rPr sz="1240" b="0" dirty="0">
                <a:solidFill>
                  <a:srgbClr val="F2F2F4"/>
                </a:solidFill>
                <a:latin typeface="Source Sans 3"/>
              </a:rPr>
              <a:t>Cost per completion</a:t>
            </a:r>
          </a:p>
        </p:txBody>
      </p:sp>
      <p:sp>
        <p:nvSpPr>
          <p:cNvPr id="1049" name="Rounded Rectangle 1048"/>
          <p:cNvSpPr/>
          <p:nvPr/>
        </p:nvSpPr>
        <p:spPr>
          <a:xfrm>
            <a:off x="4386006" y="4184839"/>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50" name="Crossfuze editorial"/>
          <p:cNvSpPr txBox="1"/>
          <p:nvPr/>
        </p:nvSpPr>
        <p:spPr>
          <a:xfrm>
            <a:off x="4477446" y="4294567"/>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CONSUMPTION</a:t>
            </a:r>
          </a:p>
        </p:txBody>
      </p:sp>
      <p:sp>
        <p:nvSpPr>
          <p:cNvPr id="1051" name="Crossfuze editorial"/>
          <p:cNvSpPr txBox="1"/>
          <p:nvPr/>
        </p:nvSpPr>
        <p:spPr>
          <a:xfrm>
            <a:off x="4477446" y="4733479"/>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Assists per result</a:t>
            </a:r>
          </a:p>
        </p:txBody>
      </p:sp>
      <p:sp>
        <p:nvSpPr>
          <p:cNvPr id="1052" name="Rounded Rectangle 1051"/>
          <p:cNvSpPr/>
          <p:nvPr/>
        </p:nvSpPr>
        <p:spPr>
          <a:xfrm>
            <a:off x="7787575" y="4184839"/>
            <a:ext cx="3090672" cy="1088136"/>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3" name="Crossfuze editorial"/>
          <p:cNvSpPr txBox="1"/>
          <p:nvPr/>
        </p:nvSpPr>
        <p:spPr>
          <a:xfrm>
            <a:off x="7879015" y="4294567"/>
            <a:ext cx="2889504" cy="356616"/>
          </a:xfrm>
          <a:prstGeom prst="rect">
            <a:avLst/>
          </a:prstGeom>
          <a:noFill/>
        </p:spPr>
        <p:txBody>
          <a:bodyPr wrap="square" lIns="32004" tIns="0" rIns="32004" bIns="0" anchor="ctr">
            <a:spAutoFit/>
          </a:bodyPr>
          <a:lstStyle/>
          <a:p>
            <a:pPr algn="ctr"/>
            <a:r>
              <a:rPr sz="1800" b="1">
                <a:solidFill>
                  <a:srgbClr val="8FFFDB"/>
                </a:solidFill>
                <a:latin typeface="Source Sans 3"/>
              </a:rPr>
              <a:t>VALUE</a:t>
            </a:r>
          </a:p>
        </p:txBody>
      </p:sp>
      <p:sp>
        <p:nvSpPr>
          <p:cNvPr id="1054" name="Crossfuze editorial"/>
          <p:cNvSpPr txBox="1"/>
          <p:nvPr/>
        </p:nvSpPr>
        <p:spPr>
          <a:xfrm>
            <a:off x="7879015" y="4733479"/>
            <a:ext cx="2889504" cy="310896"/>
          </a:xfrm>
          <a:prstGeom prst="rect">
            <a:avLst/>
          </a:prstGeom>
          <a:noFill/>
        </p:spPr>
        <p:txBody>
          <a:bodyPr wrap="square" lIns="32004" tIns="0" rIns="32004" bIns="0" anchor="ctr">
            <a:spAutoFit/>
          </a:bodyPr>
          <a:lstStyle/>
          <a:p>
            <a:pPr algn="ctr"/>
            <a:r>
              <a:rPr sz="1240" b="0">
                <a:solidFill>
                  <a:srgbClr val="F2F2F4"/>
                </a:solidFill>
                <a:latin typeface="Source Sans 3"/>
              </a:rPr>
              <a:t>Hours/cost returned</a:t>
            </a:r>
          </a:p>
        </p:txBody>
      </p:sp>
      <p:sp>
        <p:nvSpPr>
          <p:cNvPr id="1056" name="Crossfuze editorial"/>
          <p:cNvSpPr txBox="1"/>
          <p:nvPr/>
        </p:nvSpPr>
        <p:spPr>
          <a:xfrm>
            <a:off x="2081717" y="5491948"/>
            <a:ext cx="8257031" cy="265176"/>
          </a:xfrm>
          <a:prstGeom prst="rect">
            <a:avLst/>
          </a:prstGeom>
          <a:noFill/>
        </p:spPr>
        <p:txBody>
          <a:bodyPr wrap="square" lIns="32004" tIns="0" rIns="32004" bIns="0" anchor="ctr">
            <a:spAutoFit/>
          </a:bodyPr>
          <a:lstStyle/>
          <a:p>
            <a:pPr algn="ctr"/>
            <a:r>
              <a:rPr sz="1000" b="0" dirty="0">
                <a:solidFill>
                  <a:srgbClr val="F2F2F4"/>
                </a:solidFill>
                <a:latin typeface="Source Sans 3"/>
              </a:rPr>
              <a:t>Proposed success measures. Define reporting ownership and baselines in the signed scope.</a:t>
            </a:r>
          </a:p>
        </p:txBody>
      </p:sp>
    </p:spTree>
    <p:extLst>
      <p:ext uri="{BB962C8B-B14F-4D97-AF65-F5344CB8AC3E}">
        <p14:creationId xmlns:p14="http://schemas.microsoft.com/office/powerpoint/2010/main" val="174095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par>
                                    <p:cTn id="8" presetID="6" presetClass="emph" presetSubtype="0" fill="hold" grpId="1" nodeType="withEffect">
                                      <p:stCondLst>
                                        <p:cond delay="800"/>
                                      </p:stCondLst>
                                      <p:childTnLst>
                                        <p:animScale>
                                          <p:cBhvr>
                                            <p:cTn id="9" dur="10" fill="hold"/>
                                            <p:tgtEl>
                                              <p:spTgt spid="3"/>
                                            </p:tgtEl>
                                          </p:cBhvr>
                                          <p:by x="90000" y="90000"/>
                                        </p:animScale>
                                      </p:childTnLst>
                                    </p:cTn>
                                  </p:par>
                                  <p:par>
                                    <p:cTn id="10" presetID="6" presetClass="emph" presetSubtype="0" decel="100000" fill="hold" grpId="2" nodeType="withEffect">
                                      <p:stCondLst>
                                        <p:cond delay="800"/>
                                      </p:stCondLst>
                                      <p:childTnLst>
                                        <p:animScale>
                                          <p:cBhvr>
                                            <p:cTn id="11" dur="750" fill="hold"/>
                                            <p:tgtEl>
                                              <p:spTgt spid="3"/>
                                            </p:tgtEl>
                                          </p:cBhvr>
                                          <p:by x="111110" y="11111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nodeType="withEffect">
                                      <p:stCondLst>
                                        <p:cond delay="150"/>
                                      </p:stCondLst>
                                      <p:childTnLst>
                                        <p:animMotion origin="layout" path="M -0.01719 -0.00023 L -1.25E-6 1.85185E-6 " pathEditMode="relative" rAng="0" ptsTypes="AA">
                                          <p:cBhvr>
                                            <p:cTn id="9" dur="500" fill="hold"/>
                                            <p:tgtEl>
                                              <p:spTgt spid="8"/>
                                            </p:tgtEl>
                                            <p:attrNameLst>
                                              <p:attrName>ppt_x</p:attrName>
                                              <p:attrName>ppt_y</p:attrName>
                                            </p:attrNameLst>
                                          </p:cBhvr>
                                          <p:rCtr x="859" y="0"/>
                                        </p:animMotion>
                                      </p:childTnLst>
                                    </p:cTn>
                                  </p:par>
                                  <p:par>
                                    <p:cTn id="10" presetID="10" presetClass="entr" presetSubtype="0" fill="hold" nodeType="withEffect">
                                      <p:stCondLst>
                                        <p:cond delay="3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42" presetClass="path" presetSubtype="0" decel="100000" fill="hold" nodeType="withEffect">
                                      <p:stCondLst>
                                        <p:cond delay="300"/>
                                      </p:stCondLst>
                                      <p:childTnLst>
                                        <p:animMotion origin="layout" path="M -0.01719 -0.00023 L -1.25E-6 1.85185E-6 " pathEditMode="relative" rAng="0" ptsTypes="AA">
                                          <p:cBhvr>
                                            <p:cTn id="14" dur="500" fill="hold"/>
                                            <p:tgtEl>
                                              <p:spTgt spid="9"/>
                                            </p:tgtEl>
                                            <p:attrNameLst>
                                              <p:attrName>ppt_x</p:attrName>
                                              <p:attrName>ppt_y</p:attrName>
                                            </p:attrNameLst>
                                          </p:cBhvr>
                                          <p:rCtr x="859" y="0"/>
                                        </p:animMotion>
                                      </p:childTnLst>
                                    </p:cTn>
                                  </p:par>
                                  <p:par>
                                    <p:cTn id="15" presetID="10" presetClass="entr" presetSubtype="0" fill="hold" nodeType="withEffect">
                                      <p:stCondLst>
                                        <p:cond delay="4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42" presetClass="path" presetSubtype="0" decel="100000" fill="hold" nodeType="withEffect">
                                      <p:stCondLst>
                                        <p:cond delay="450"/>
                                      </p:stCondLst>
                                      <p:childTnLst>
                                        <p:animMotion origin="layout" path="M -0.01719 -0.00023 L -1.25E-6 1.85185E-6 " pathEditMode="relative" rAng="0" ptsTypes="AA">
                                          <p:cBhvr>
                                            <p:cTn id="19" dur="500" fill="hold"/>
                                            <p:tgtEl>
                                              <p:spTgt spid="11"/>
                                            </p:tgtEl>
                                            <p:attrNameLst>
                                              <p:attrName>ppt_x</p:attrName>
                                              <p:attrName>ppt_y</p:attrName>
                                            </p:attrNameLst>
                                          </p:cBhvr>
                                          <p:rCtr x="859" y="0"/>
                                        </p:animMotion>
                                      </p:childTnLst>
                                    </p:cTn>
                                  </p:par>
                                  <p:par>
                                    <p:cTn id="20" presetID="10" presetClass="entr" presetSubtype="0"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childTnLst>
                                    </p:cTn>
                                  </p:par>
                                  <p:par>
                                    <p:cTn id="23" presetID="42" presetClass="path" presetSubtype="0" decel="100000" fill="hold" nodeType="withEffect">
                                      <p:stCondLst>
                                        <p:cond delay="600"/>
                                      </p:stCondLst>
                                      <p:childTnLst>
                                        <p:animMotion origin="layout" path="M -0.01719 -0.00023 L -1.25E-6 1.85185E-6 " pathEditMode="relative" rAng="0" ptsTypes="AA">
                                          <p:cBhvr>
                                            <p:cTn id="24" dur="500" fill="hold"/>
                                            <p:tgtEl>
                                              <p:spTgt spid="13"/>
                                            </p:tgtEl>
                                            <p:attrNameLst>
                                              <p:attrName>ppt_x</p:attrName>
                                              <p:attrName>ppt_y</p:attrName>
                                            </p:attrNameLst>
                                          </p:cBhvr>
                                          <p:rCtr x="859" y="0"/>
                                        </p:animMotion>
                                      </p:childTnLst>
                                    </p:cTn>
                                  </p:par>
                                  <p:par>
                                    <p:cTn id="25" presetID="10" presetClass="entr" presetSubtype="0" fill="hold" nodeType="withEffect">
                                      <p:stCondLst>
                                        <p:cond delay="15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42" presetClass="path" presetSubtype="0" decel="100000" fill="hold" nodeType="withEffect">
                                      <p:stCondLst>
                                        <p:cond delay="150"/>
                                      </p:stCondLst>
                                      <p:childTnLst>
                                        <p:animMotion origin="layout" path="M 0.01666 -0.00046 L 3.75E-6 1.85185E-6 " pathEditMode="relative" rAng="0" ptsTypes="AA">
                                          <p:cBhvr>
                                            <p:cTn id="29" dur="500" fill="hold"/>
                                            <p:tgtEl>
                                              <p:spTgt spid="29"/>
                                            </p:tgtEl>
                                            <p:attrNameLst>
                                              <p:attrName>ppt_x</p:attrName>
                                              <p:attrName>ppt_y</p:attrName>
                                            </p:attrNameLst>
                                          </p:cBhvr>
                                          <p:rCtr x="-833" y="23"/>
                                        </p:animMotion>
                                      </p:childTnLst>
                                    </p:cTn>
                                  </p:par>
                                  <p:par>
                                    <p:cTn id="30" presetID="10" presetClass="entr" presetSubtype="0" fill="hold" nodeType="withEffect">
                                      <p:stCondLst>
                                        <p:cond delay="30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250"/>
                                            <p:tgtEl>
                                              <p:spTgt spid="33"/>
                                            </p:tgtEl>
                                          </p:cBhvr>
                                        </p:animEffect>
                                      </p:childTnLst>
                                    </p:cTn>
                                  </p:par>
                                  <p:par>
                                    <p:cTn id="33" presetID="42" presetClass="path" presetSubtype="0" decel="100000" fill="hold" nodeType="withEffect">
                                      <p:stCondLst>
                                        <p:cond delay="300"/>
                                      </p:stCondLst>
                                      <p:childTnLst>
                                        <p:animMotion origin="layout" path="M 0.01666 -0.00046 L 3.75E-6 1.85185E-6 " pathEditMode="relative" rAng="0" ptsTypes="AA">
                                          <p:cBhvr>
                                            <p:cTn id="34" dur="500" fill="hold"/>
                                            <p:tgtEl>
                                              <p:spTgt spid="33"/>
                                            </p:tgtEl>
                                            <p:attrNameLst>
                                              <p:attrName>ppt_x</p:attrName>
                                              <p:attrName>ppt_y</p:attrName>
                                            </p:attrNameLst>
                                          </p:cBhvr>
                                          <p:rCtr x="-833" y="23"/>
                                        </p:animMotion>
                                      </p:childTnLst>
                                    </p:cTn>
                                  </p:par>
                                  <p:par>
                                    <p:cTn id="35" presetID="10" presetClass="entr" presetSubtype="0" fill="hold" nodeType="withEffect">
                                      <p:stCondLst>
                                        <p:cond delay="45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250"/>
                                            <p:tgtEl>
                                              <p:spTgt spid="31"/>
                                            </p:tgtEl>
                                          </p:cBhvr>
                                        </p:animEffect>
                                      </p:childTnLst>
                                    </p:cTn>
                                  </p:par>
                                  <p:par>
                                    <p:cTn id="38" presetID="42" presetClass="path" presetSubtype="0" decel="100000" fill="hold" nodeType="withEffect">
                                      <p:stCondLst>
                                        <p:cond delay="450"/>
                                      </p:stCondLst>
                                      <p:childTnLst>
                                        <p:animMotion origin="layout" path="M 0.01666 -0.00046 L 3.75E-6 1.85185E-6 " pathEditMode="relative" rAng="0" ptsTypes="AA">
                                          <p:cBhvr>
                                            <p:cTn id="39" dur="500" fill="hold"/>
                                            <p:tgtEl>
                                              <p:spTgt spid="31"/>
                                            </p:tgtEl>
                                            <p:attrNameLst>
                                              <p:attrName>ppt_x</p:attrName>
                                              <p:attrName>ppt_y</p:attrName>
                                            </p:attrNameLst>
                                          </p:cBhvr>
                                          <p:rCtr x="-833" y="23"/>
                                        </p:animMotion>
                                      </p:childTnLst>
                                    </p:cTn>
                                  </p:par>
                                  <p:par>
                                    <p:cTn id="40" presetID="10" presetClass="entr" presetSubtype="0" fill="hold" nodeType="withEffect">
                                      <p:stCondLst>
                                        <p:cond delay="6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50"/>
                                            <p:tgtEl>
                                              <p:spTgt spid="15"/>
                                            </p:tgtEl>
                                          </p:cBhvr>
                                        </p:animEffect>
                                      </p:childTnLst>
                                    </p:cTn>
                                  </p:par>
                                  <p:par>
                                    <p:cTn id="43" presetID="42" presetClass="path" presetSubtype="0" decel="100000" fill="hold" nodeType="withEffect">
                                      <p:stCondLst>
                                        <p:cond delay="600"/>
                                      </p:stCondLst>
                                      <p:childTnLst>
                                        <p:animMotion origin="layout" path="M 0.01666 -0.00046 L 3.75E-6 1.85185E-6 " pathEditMode="relative" rAng="0" ptsTypes="AA">
                                          <p:cBhvr>
                                            <p:cTn id="44" dur="500" fill="hold"/>
                                            <p:tgtEl>
                                              <p:spTgt spid="15"/>
                                            </p:tgtEl>
                                            <p:attrNameLst>
                                              <p:attrName>ppt_x</p:attrName>
                                              <p:attrName>ppt_y</p:attrName>
                                            </p:attrNameLst>
                                          </p:cBhvr>
                                          <p:rCtr x="-833" y="23"/>
                                        </p:animMotion>
                                      </p:childTnLst>
                                    </p:cTn>
                                  </p:par>
                                  <p:par>
                                    <p:cTn id="45" presetID="10" presetClass="entr" presetSubtype="0" fill="hold" grpId="0" nodeType="withEffect">
                                      <p:stCondLst>
                                        <p:cond delay="80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250"/>
                                            <p:tgtEl>
                                              <p:spTgt spid="3"/>
                                            </p:tgtEl>
                                          </p:cBhvr>
                                        </p:animEffect>
                                      </p:childTnLst>
                                    </p:cTn>
                                  </p:par>
                                  <p:par>
                                    <p:cTn id="48" presetID="6" presetClass="emph" presetSubtype="0" fill="hold" grpId="1" nodeType="withEffect">
                                      <p:stCondLst>
                                        <p:cond delay="800"/>
                                      </p:stCondLst>
                                      <p:childTnLst>
                                        <p:animScale>
                                          <p:cBhvr>
                                            <p:cTn id="49" dur="10" fill="hold"/>
                                            <p:tgtEl>
                                              <p:spTgt spid="3"/>
                                            </p:tgtEl>
                                          </p:cBhvr>
                                          <p:by x="90000" y="90000"/>
                                        </p:animScale>
                                      </p:childTnLst>
                                    </p:cTn>
                                  </p:par>
                                  <p:par>
                                    <p:cTn id="50" presetID="6" presetClass="emph" presetSubtype="0" decel="100000" fill="hold" grpId="2" nodeType="withEffect">
                                      <p:stCondLst>
                                        <p:cond delay="800"/>
                                      </p:stCondLst>
                                      <p:childTnLst>
                                        <p:animScale>
                                          <p:cBhvr>
                                            <p:cTn id="51" dur="750" fill="hold"/>
                                            <p:tgtEl>
                                              <p:spTgt spid="3"/>
                                            </p:tgtEl>
                                          </p:cBhvr>
                                          <p:by x="111110" y="111110"/>
                                        </p:animScale>
                                      </p:childTnLst>
                                    </p:cTn>
                                  </p:par>
                                  <p:par>
                                    <p:cTn id="52" presetID="23" presetClass="entr" presetSubtype="16" fill="hold" nodeType="withEffect">
                                      <p:stCondLst>
                                        <p:cond delay="750"/>
                                      </p:stCondLst>
                                      <p:childTnLst>
                                        <p:set>
                                          <p:cBhvr>
                                            <p:cTn id="53" dur="1" fill="hold">
                                              <p:stCondLst>
                                                <p:cond delay="0"/>
                                              </p:stCondLst>
                                            </p:cTn>
                                            <p:tgtEl>
                                              <p:spTgt spid="35"/>
                                            </p:tgtEl>
                                            <p:attrNameLst>
                                              <p:attrName>style.visibility</p:attrName>
                                            </p:attrNameLst>
                                          </p:cBhvr>
                                          <p:to>
                                            <p:strVal val="visible"/>
                                          </p:to>
                                        </p:set>
                                        <p:anim calcmode="lin" valueType="num">
                                          <p:cBhvr>
                                            <p:cTn id="54" dur="200" fill="hold"/>
                                            <p:tgtEl>
                                              <p:spTgt spid="35"/>
                                            </p:tgtEl>
                                            <p:attrNameLst>
                                              <p:attrName>ppt_w</p:attrName>
                                            </p:attrNameLst>
                                          </p:cBhvr>
                                          <p:tavLst>
                                            <p:tav tm="0">
                                              <p:val>
                                                <p:fltVal val="0"/>
                                              </p:val>
                                            </p:tav>
                                            <p:tav tm="100000">
                                              <p:val>
                                                <p:strVal val="#ppt_w"/>
                                              </p:val>
                                            </p:tav>
                                          </p:tavLst>
                                        </p:anim>
                                        <p:anim calcmode="lin" valueType="num">
                                          <p:cBhvr>
                                            <p:cTn id="55" dur="200" fill="hold"/>
                                            <p:tgtEl>
                                              <p:spTgt spid="35"/>
                                            </p:tgtEl>
                                            <p:attrNameLst>
                                              <p:attrName>ppt_h</p:attrName>
                                            </p:attrNameLst>
                                          </p:cBhvr>
                                          <p:tavLst>
                                            <p:tav tm="0">
                                              <p:val>
                                                <p:fltVal val="0"/>
                                              </p:val>
                                            </p:tav>
                                            <p:tav tm="100000">
                                              <p:val>
                                                <p:strVal val="#ppt_h"/>
                                              </p:val>
                                            </p:tav>
                                          </p:tavLst>
                                        </p:anim>
                                      </p:childTnLst>
                                    </p:cTn>
                                  </p:par>
                                  <p:par>
                                    <p:cTn id="56" presetID="6" presetClass="emph" presetSubtype="0" fill="hold" nodeType="withEffect">
                                      <p:stCondLst>
                                        <p:cond delay="750"/>
                                      </p:stCondLst>
                                      <p:childTnLst>
                                        <p:animScale>
                                          <p:cBhvr>
                                            <p:cTn id="57" dur="1000" fill="hold"/>
                                            <p:tgtEl>
                                              <p:spTgt spid="35"/>
                                            </p:tgtEl>
                                          </p:cBhvr>
                                          <p:by x="110000" y="110000"/>
                                        </p:animScale>
                                      </p:childTnLst>
                                    </p:cTn>
                                  </p:par>
                                  <p:par>
                                    <p:cTn id="58" presetID="6" presetClass="emph" presetSubtype="0" accel="50000" decel="50000" fill="hold" nodeType="withEffect">
                                      <p:stCondLst>
                                        <p:cond delay="750"/>
                                      </p:stCondLst>
                                      <p:childTnLst>
                                        <p:animScale>
                                          <p:cBhvr>
                                            <p:cTn id="59" dur="250" fill="hold"/>
                                            <p:tgtEl>
                                              <p:spTgt spid="3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80C5-E7FA-9BFF-DF1A-8408D340676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7A7054-F1F0-E3AD-BA81-DBB7014F757C}"/>
              </a:ext>
            </a:extLst>
          </p:cNvPr>
          <p:cNvSpPr>
            <a:spLocks noGrp="1"/>
          </p:cNvSpPr>
          <p:nvPr>
            <p:ph type="title"/>
          </p:nvPr>
        </p:nvSpPr>
        <p:spPr>
          <a:xfrm>
            <a:off x="574074" y="504417"/>
            <a:ext cx="11388194" cy="503151"/>
          </a:xfrm>
        </p:spPr>
        <p:txBody>
          <a:bodyPr wrap="square"/>
          <a:lstStyle/>
          <a:p>
            <a:r>
              <a:rPr lang="en-US" sz="3000" b="1">
                <a:solidFill>
                  <a:srgbClr val="8FFFDB"/>
                </a:solidFill>
              </a:rPr>
              <a:t>Crossfuze AI RunState. Plan it. Prioritise it. Ship it.</a:t>
            </a:r>
          </a:p>
        </p:txBody>
      </p:sp>
      <p:sp>
        <p:nvSpPr>
          <p:cNvPr id="77" name="Subtitle 2">
            <a:extLst>
              <a:ext uri="{FF2B5EF4-FFF2-40B4-BE49-F238E27FC236}">
                <a16:creationId xmlns:a16="http://schemas.microsoft.com/office/drawing/2014/main" id="{C56B312A-EB94-1C26-1098-337D46CE4573}"/>
              </a:ext>
            </a:extLst>
          </p:cNvPr>
          <p:cNvSpPr txBox="1">
            <a:spLocks/>
          </p:cNvSpPr>
          <p:nvPr/>
        </p:nvSpPr>
        <p:spPr>
          <a:xfrm>
            <a:off x="478049" y="1003372"/>
            <a:ext cx="11161601" cy="696849"/>
          </a:xfrm>
          <a:prstGeom prst="rect">
            <a:avLst/>
          </a:prstGeom>
        </p:spPr>
        <p:txBody>
          <a:bodyPr wrap="square"/>
          <a:lstStyle>
            <a:lvl1pPr marL="0" indent="0" algn="l" defTabSz="914126" rtl="0" eaLnBrk="1" latinLnBrk="0" hangingPunct="1">
              <a:lnSpc>
                <a:spcPct val="100000"/>
              </a:lnSpc>
              <a:spcBef>
                <a:spcPts val="0"/>
              </a:spcBef>
              <a:spcAft>
                <a:spcPts val="1000"/>
              </a:spcAft>
              <a:buFont typeface="Source Sans 3" panose="020B0404040101010104" pitchFamily="34" charset="0"/>
              <a:buChar char="​"/>
              <a:defRPr lang="en-US" sz="1799" b="0" i="0" kern="1200" spc="0" baseline="0" dirty="0">
                <a:solidFill>
                  <a:schemeClr val="bg1"/>
                </a:solidFill>
                <a:latin typeface="+mn-lt"/>
                <a:ea typeface="+mn-ea"/>
                <a:cs typeface="Source Sans 3" panose="020B0404040101010104" pitchFamily="34" charset="77"/>
              </a:defRPr>
            </a:lvl1pPr>
            <a:lvl2pPr marL="182825" indent="-182825" algn="l" defTabSz="914126" rtl="0" eaLnBrk="1" latinLnBrk="0" hangingPunct="1">
              <a:lnSpc>
                <a:spcPct val="100000"/>
              </a:lnSpc>
              <a:spcBef>
                <a:spcPts val="0"/>
              </a:spcBef>
              <a:spcAft>
                <a:spcPts val="1000"/>
              </a:spcAft>
              <a:buSzPct val="110000"/>
              <a:buFont typeface="Source Sans 3" panose="020B0404040101010104" pitchFamily="34" charset="0"/>
              <a:buChar char="•"/>
              <a:defRPr sz="1600" b="0" i="0" kern="1200" spc="0" baseline="0">
                <a:solidFill>
                  <a:schemeClr val="bg1"/>
                </a:solidFill>
                <a:latin typeface="+mn-lt"/>
                <a:ea typeface="+mn-ea"/>
                <a:cs typeface="Source Sans 3" panose="020B0404040101010104" pitchFamily="34" charset="77"/>
              </a:defRPr>
            </a:lvl2pPr>
            <a:lvl3pPr marL="365650" indent="-182825" algn="l" defTabSz="914126" rtl="0" eaLnBrk="1" latinLnBrk="0" hangingPunct="1">
              <a:lnSpc>
                <a:spcPct val="100000"/>
              </a:lnSpc>
              <a:spcBef>
                <a:spcPts val="0"/>
              </a:spcBef>
              <a:spcAft>
                <a:spcPts val="1000"/>
              </a:spcAft>
              <a:buSzPct val="110000"/>
              <a:buFont typeface="Source Sans 3" panose="020B0404040101010104" pitchFamily="34" charset="0"/>
              <a:buChar char="•"/>
              <a:defRPr sz="1400" b="0" i="0" kern="1200" spc="0" baseline="0">
                <a:solidFill>
                  <a:schemeClr val="bg1"/>
                </a:solidFill>
                <a:latin typeface="+mn-lt"/>
                <a:ea typeface="+mn-ea"/>
                <a:cs typeface="Source Sans 3" panose="020B0404040101010104" pitchFamily="34" charset="77"/>
              </a:defRPr>
            </a:lvl3pPr>
            <a:lvl4pPr marL="548475" marR="0" indent="-182825" algn="l" defTabSz="914126" rtl="0" eaLnBrk="1" fontAlgn="auto" latinLnBrk="0" hangingPunct="1">
              <a:lnSpc>
                <a:spcPct val="100000"/>
              </a:lnSpc>
              <a:spcBef>
                <a:spcPts val="0"/>
              </a:spcBef>
              <a:spcAft>
                <a:spcPts val="1000"/>
              </a:spcAft>
              <a:buClrTx/>
              <a:buSzPct val="110000"/>
              <a:buFont typeface="Source Sans 3" panose="020B0404040101010104" pitchFamily="34" charset="0"/>
              <a:buChar char="•"/>
              <a:tabLst/>
              <a:defRPr lang="en-US" sz="1400" b="0" i="0" kern="1200" spc="0" baseline="0" dirty="0">
                <a:solidFill>
                  <a:schemeClr val="bg1"/>
                </a:solidFill>
                <a:latin typeface="+mn-lt"/>
                <a:ea typeface="+mn-ea"/>
                <a:cs typeface="Source Sans 3" panose="020B0704040101010104" pitchFamily="34" charset="0"/>
              </a:defRPr>
            </a:lvl4pPr>
            <a:lvl5pPr marL="731301" indent="-182825" algn="l" defTabSz="914126" rtl="0" eaLnBrk="1" latinLnBrk="0" hangingPunct="1">
              <a:lnSpc>
                <a:spcPct val="100000"/>
              </a:lnSpc>
              <a:spcBef>
                <a:spcPts val="0"/>
              </a:spcBef>
              <a:spcAft>
                <a:spcPts val="1000"/>
              </a:spcAft>
              <a:buSzPct val="110000"/>
              <a:buFont typeface="Source Sans 3" panose="020B0404040101010104" pitchFamily="34" charset="0"/>
              <a:buChar char="•"/>
              <a:defRPr sz="1400" b="0" i="0" kern="1200" spc="0" baseline="0">
                <a:solidFill>
                  <a:schemeClr val="bg1"/>
                </a:solidFill>
                <a:latin typeface="+mn-lt"/>
                <a:ea typeface="+mn-ea"/>
                <a:cs typeface="Source Sans 3" panose="020B0704040101010104" pitchFamily="34" charset="0"/>
              </a:defRPr>
            </a:lvl5pPr>
            <a:lvl6pPr marL="731301" indent="-182825" algn="l" defTabSz="914126" rtl="0" eaLnBrk="1" latinLnBrk="0" hangingPunct="1">
              <a:lnSpc>
                <a:spcPct val="100000"/>
              </a:lnSpc>
              <a:spcBef>
                <a:spcPts val="0"/>
              </a:spcBef>
              <a:spcAft>
                <a:spcPts val="1000"/>
              </a:spcAft>
              <a:buSzPct val="110000"/>
              <a:buFont typeface="Source Sans 3" panose="020B0404040101010104" pitchFamily="34" charset="0"/>
              <a:buChar char="•"/>
              <a:defRPr sz="1400" b="0" i="0" kern="1200">
                <a:solidFill>
                  <a:schemeClr val="bg1"/>
                </a:solidFill>
                <a:latin typeface="+mn-lt"/>
                <a:ea typeface="+mn-ea"/>
                <a:cs typeface="Source Sans 3" panose="020B0504040101010104" pitchFamily="34" charset="77"/>
              </a:defRPr>
            </a:lvl6pPr>
            <a:lvl7pPr marL="731301" indent="-182825" algn="l" defTabSz="914126" rtl="0" eaLnBrk="1" latinLnBrk="0" hangingPunct="1">
              <a:lnSpc>
                <a:spcPct val="100000"/>
              </a:lnSpc>
              <a:spcBef>
                <a:spcPts val="0"/>
              </a:spcBef>
              <a:spcAft>
                <a:spcPts val="1000"/>
              </a:spcAft>
              <a:buSzPct val="110000"/>
              <a:buFont typeface="Source Sans 3" panose="020B0404040101010104" pitchFamily="34" charset="0"/>
              <a:buChar char="•"/>
              <a:defRPr sz="1400" kern="1200">
                <a:solidFill>
                  <a:schemeClr val="bg1"/>
                </a:solidFill>
                <a:latin typeface="+mn-lt"/>
                <a:ea typeface="+mn-ea"/>
                <a:cs typeface="+mn-cs"/>
              </a:defRPr>
            </a:lvl7pPr>
            <a:lvl8pPr marL="731301" indent="-182825" algn="l" defTabSz="914126" rtl="0" eaLnBrk="1" latinLnBrk="0" hangingPunct="1">
              <a:lnSpc>
                <a:spcPct val="100000"/>
              </a:lnSpc>
              <a:spcBef>
                <a:spcPts val="0"/>
              </a:spcBef>
              <a:spcAft>
                <a:spcPts val="1000"/>
              </a:spcAft>
              <a:buSzPct val="110000"/>
              <a:buFont typeface="Source Sans 3" panose="020B0404040101010104" pitchFamily="34" charset="0"/>
              <a:buChar char="•"/>
              <a:defRPr sz="1400" kern="1200">
                <a:solidFill>
                  <a:schemeClr val="bg1"/>
                </a:solidFill>
                <a:latin typeface="+mn-lt"/>
                <a:ea typeface="+mn-ea"/>
                <a:cs typeface="+mn-cs"/>
              </a:defRPr>
            </a:lvl8pPr>
            <a:lvl9pPr marL="731301" marR="0" indent="-182825" algn="l" defTabSz="914126" rtl="0" eaLnBrk="1" fontAlgn="auto" latinLnBrk="0" hangingPunct="1">
              <a:lnSpc>
                <a:spcPct val="100000"/>
              </a:lnSpc>
              <a:spcBef>
                <a:spcPts val="0"/>
              </a:spcBef>
              <a:spcAft>
                <a:spcPts val="1000"/>
              </a:spcAft>
              <a:buClrTx/>
              <a:buSzPct val="110000"/>
              <a:buFont typeface="Source Sans 3" panose="020B0404040101010104" pitchFamily="34" charset="0"/>
              <a:buChar char="•"/>
              <a:tabLst/>
              <a:defRPr sz="1400" kern="1200">
                <a:solidFill>
                  <a:schemeClr val="bg1"/>
                </a:solidFill>
                <a:latin typeface="+mn-lt"/>
                <a:ea typeface="+mn-ea"/>
                <a:cs typeface="+mn-cs"/>
              </a:defRPr>
            </a:lvl9pPr>
          </a:lstStyle>
          <a:p>
            <a:pPr>
              <a:buNone/>
            </a:pPr>
            <a:r>
              <a:rPr lang="en-US" sz="1400">
                <a:solidFill>
                  <a:srgbClr val="F2F2F4"/>
                </a:solidFill>
              </a:rPr>
              <a:t>Turn the first agreed Zero into a governed delivery plan, within contracted capacity.</a:t>
            </a:r>
          </a:p>
          <a:p>
            <a:pPr>
              <a:buNone/>
            </a:pPr>
            <a:endParaRPr lang="en-US"/>
          </a:p>
        </p:txBody>
      </p:sp>
      <p:sp>
        <p:nvSpPr>
          <p:cNvPr id="2" name="Footer Placeholder 4">
            <a:extLst>
              <a:ext uri="{FF2B5EF4-FFF2-40B4-BE49-F238E27FC236}">
                <a16:creationId xmlns:a16="http://schemas.microsoft.com/office/drawing/2014/main" id="{103F0714-BDD0-C07E-D1AE-ED64EBDBE4B3}"/>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78" name="Rounded Rectangle 77"/>
          <p:cNvSpPr/>
          <p:nvPr/>
        </p:nvSpPr>
        <p:spPr>
          <a:xfrm>
            <a:off x="630936" y="2295144"/>
            <a:ext cx="3200400" cy="3575304"/>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Crossfuze editorial"/>
          <p:cNvSpPr txBox="1"/>
          <p:nvPr/>
        </p:nvSpPr>
        <p:spPr>
          <a:xfrm>
            <a:off x="722375" y="2532888"/>
            <a:ext cx="3017520" cy="576072"/>
          </a:xfrm>
          <a:prstGeom prst="rect">
            <a:avLst/>
          </a:prstGeom>
          <a:noFill/>
        </p:spPr>
        <p:txBody>
          <a:bodyPr wrap="square" lIns="32004" tIns="0" rIns="32004" bIns="0" anchor="ctr">
            <a:spAutoFit/>
          </a:bodyPr>
          <a:lstStyle/>
          <a:p>
            <a:pPr algn="ctr"/>
            <a:r>
              <a:rPr sz="2200" b="1">
                <a:solidFill>
                  <a:srgbClr val="8FFFDB"/>
                </a:solidFill>
                <a:latin typeface="Source Sans 3"/>
              </a:rPr>
              <a:t>AI ACTION PLAN</a:t>
            </a:r>
          </a:p>
        </p:txBody>
      </p:sp>
      <p:sp>
        <p:nvSpPr>
          <p:cNvPr id="80" name="Crossfuze editorial"/>
          <p:cNvSpPr txBox="1"/>
          <p:nvPr/>
        </p:nvSpPr>
        <p:spPr>
          <a:xfrm>
            <a:off x="722375" y="3319272"/>
            <a:ext cx="3017520" cy="320040"/>
          </a:xfrm>
          <a:prstGeom prst="rect">
            <a:avLst/>
          </a:prstGeom>
          <a:noFill/>
        </p:spPr>
        <p:txBody>
          <a:bodyPr wrap="square" lIns="32004" tIns="0" rIns="32004" bIns="0" anchor="ctr">
            <a:spAutoFit/>
          </a:bodyPr>
          <a:lstStyle/>
          <a:p>
            <a:pPr algn="ctr"/>
            <a:r>
              <a:rPr sz="1300" b="1">
                <a:solidFill>
                  <a:srgbClr val="8FFFDB"/>
                </a:solidFill>
                <a:latin typeface="Source Sans 3"/>
              </a:rPr>
              <a:t>ADVISORY · 2 REVIEWS</a:t>
            </a:r>
          </a:p>
        </p:txBody>
      </p:sp>
      <p:sp>
        <p:nvSpPr>
          <p:cNvPr id="81" name="Crossfuze editorial"/>
          <p:cNvSpPr txBox="1"/>
          <p:nvPr/>
        </p:nvSpPr>
        <p:spPr>
          <a:xfrm>
            <a:off x="822959" y="3995928"/>
            <a:ext cx="2825496" cy="1490472"/>
          </a:xfrm>
          <a:prstGeom prst="rect">
            <a:avLst/>
          </a:prstGeom>
          <a:noFill/>
        </p:spPr>
        <p:txBody>
          <a:bodyPr wrap="square" lIns="32004" tIns="0" rIns="32004" bIns="0" anchor="ctr">
            <a:spAutoFit/>
          </a:bodyPr>
          <a:lstStyle/>
          <a:p>
            <a:pPr algn="ctr"/>
            <a:r>
              <a:rPr sz="1400" b="0">
                <a:solidFill>
                  <a:srgbClr val="F2F2F4"/>
                </a:solidFill>
                <a:latin typeface="Source Sans 3"/>
              </a:rPr>
              <a:t>Baseline, readiness and risks
Experience maps &amp; draft stories
90-day AI roadmap</a:t>
            </a:r>
          </a:p>
        </p:txBody>
      </p:sp>
      <p:sp>
        <p:nvSpPr>
          <p:cNvPr id="82" name="Rounded Rectangle 81"/>
          <p:cNvSpPr/>
          <p:nvPr/>
        </p:nvSpPr>
        <p:spPr>
          <a:xfrm>
            <a:off x="4489704" y="2295144"/>
            <a:ext cx="3200400" cy="3575304"/>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Crossfuze editorial"/>
          <p:cNvSpPr txBox="1"/>
          <p:nvPr/>
        </p:nvSpPr>
        <p:spPr>
          <a:xfrm>
            <a:off x="4581144" y="2532888"/>
            <a:ext cx="3017520" cy="576072"/>
          </a:xfrm>
          <a:prstGeom prst="rect">
            <a:avLst/>
          </a:prstGeom>
          <a:noFill/>
        </p:spPr>
        <p:txBody>
          <a:bodyPr wrap="square" lIns="32004" tIns="0" rIns="32004" bIns="0" anchor="ctr">
            <a:spAutoFit/>
          </a:bodyPr>
          <a:lstStyle/>
          <a:p>
            <a:pPr algn="ctr"/>
            <a:r>
              <a:rPr sz="2200" b="1">
                <a:solidFill>
                  <a:srgbClr val="8FFFDB"/>
                </a:solidFill>
                <a:latin typeface="Source Sans 3"/>
              </a:rPr>
              <a:t>BACKLOG CYCLES</a:t>
            </a:r>
          </a:p>
        </p:txBody>
      </p:sp>
      <p:sp>
        <p:nvSpPr>
          <p:cNvPr id="84" name="Crossfuze editorial"/>
          <p:cNvSpPr txBox="1"/>
          <p:nvPr/>
        </p:nvSpPr>
        <p:spPr>
          <a:xfrm>
            <a:off x="4581144" y="3319272"/>
            <a:ext cx="3017520" cy="320040"/>
          </a:xfrm>
          <a:prstGeom prst="rect">
            <a:avLst/>
          </a:prstGeom>
          <a:noFill/>
        </p:spPr>
        <p:txBody>
          <a:bodyPr wrap="square" lIns="32004" tIns="0" rIns="32004" bIns="0" anchor="ctr">
            <a:spAutoFit/>
          </a:bodyPr>
          <a:lstStyle/>
          <a:p>
            <a:pPr algn="ctr"/>
            <a:r>
              <a:rPr sz="1300" b="1">
                <a:solidFill>
                  <a:srgbClr val="8FFFDB"/>
                </a:solidFill>
                <a:latin typeface="Source Sans 3"/>
              </a:rPr>
              <a:t>UP TO 4 CYCLES</a:t>
            </a:r>
          </a:p>
        </p:txBody>
      </p:sp>
      <p:sp>
        <p:nvSpPr>
          <p:cNvPr id="85" name="Crossfuze editorial"/>
          <p:cNvSpPr txBox="1"/>
          <p:nvPr/>
        </p:nvSpPr>
        <p:spPr>
          <a:xfrm>
            <a:off x="4681728" y="3995928"/>
            <a:ext cx="2825496" cy="1490472"/>
          </a:xfrm>
          <a:prstGeom prst="rect">
            <a:avLst/>
          </a:prstGeom>
          <a:noFill/>
        </p:spPr>
        <p:txBody>
          <a:bodyPr wrap="square" lIns="32004" tIns="0" rIns="32004" bIns="0" anchor="ctr">
            <a:spAutoFit/>
          </a:bodyPr>
          <a:lstStyle/>
          <a:p>
            <a:pPr algn="ctr"/>
            <a:r>
              <a:rPr sz="1400" b="0">
                <a:solidFill>
                  <a:srgbClr val="F2F2F4"/>
                </a:solidFill>
                <a:latin typeface="Source Sans 3"/>
              </a:rPr>
              <a:t>Feasibility and estimates
Customer-approved stories
Three-month capacity plan</a:t>
            </a:r>
          </a:p>
        </p:txBody>
      </p:sp>
      <p:sp>
        <p:nvSpPr>
          <p:cNvPr id="86" name="Rounded Rectangle 85"/>
          <p:cNvSpPr/>
          <p:nvPr/>
        </p:nvSpPr>
        <p:spPr>
          <a:xfrm>
            <a:off x="8348472" y="2295144"/>
            <a:ext cx="3200400" cy="3575304"/>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Crossfuze editorial"/>
          <p:cNvSpPr txBox="1"/>
          <p:nvPr/>
        </p:nvSpPr>
        <p:spPr>
          <a:xfrm>
            <a:off x="8439912" y="2532888"/>
            <a:ext cx="3017520" cy="576072"/>
          </a:xfrm>
          <a:prstGeom prst="rect">
            <a:avLst/>
          </a:prstGeom>
          <a:noFill/>
        </p:spPr>
        <p:txBody>
          <a:bodyPr wrap="square" lIns="32004" tIns="0" rIns="32004" bIns="0" anchor="ctr">
            <a:spAutoFit/>
          </a:bodyPr>
          <a:lstStyle/>
          <a:p>
            <a:pPr algn="ctr"/>
            <a:r>
              <a:rPr sz="2200" b="1">
                <a:solidFill>
                  <a:srgbClr val="8FFFDB"/>
                </a:solidFill>
                <a:latin typeface="Source Sans 3"/>
              </a:rPr>
              <a:t>EXTEND SERVICES</a:t>
            </a:r>
          </a:p>
        </p:txBody>
      </p:sp>
      <p:sp>
        <p:nvSpPr>
          <p:cNvPr id="88" name="Crossfuze editorial"/>
          <p:cNvSpPr txBox="1"/>
          <p:nvPr/>
        </p:nvSpPr>
        <p:spPr>
          <a:xfrm>
            <a:off x="8439912" y="3319272"/>
            <a:ext cx="3017520" cy="320040"/>
          </a:xfrm>
          <a:prstGeom prst="rect">
            <a:avLst/>
          </a:prstGeom>
          <a:noFill/>
        </p:spPr>
        <p:txBody>
          <a:bodyPr wrap="square" lIns="32004" tIns="0" rIns="32004" bIns="0" anchor="ctr">
            <a:spAutoFit/>
          </a:bodyPr>
          <a:lstStyle/>
          <a:p>
            <a:pPr algn="ctr"/>
            <a:r>
              <a:rPr sz="1300" b="1">
                <a:solidFill>
                  <a:srgbClr val="8FFFDB"/>
                </a:solidFill>
                <a:latin typeface="Source Sans 3"/>
              </a:rPr>
              <a:t>80 HOURS × 9 MONTHS</a:t>
            </a:r>
          </a:p>
        </p:txBody>
      </p:sp>
      <p:sp>
        <p:nvSpPr>
          <p:cNvPr id="89" name="Crossfuze editorial"/>
          <p:cNvSpPr txBox="1"/>
          <p:nvPr/>
        </p:nvSpPr>
        <p:spPr>
          <a:xfrm>
            <a:off x="8540496" y="3995928"/>
            <a:ext cx="2825496" cy="1490472"/>
          </a:xfrm>
          <a:prstGeom prst="rect">
            <a:avLst/>
          </a:prstGeom>
          <a:noFill/>
        </p:spPr>
        <p:txBody>
          <a:bodyPr wrap="square" lIns="32004" tIns="0" rIns="32004" bIns="0" anchor="ctr">
            <a:spAutoFit/>
          </a:bodyPr>
          <a:lstStyle/>
          <a:p>
            <a:pPr algn="ctr"/>
            <a:r>
              <a:rPr sz="1350" b="0">
                <a:solidFill>
                  <a:srgbClr val="F2F2F4"/>
                </a:solidFill>
                <a:latin typeface="Source Sans 3"/>
              </a:rPr>
              <a:t>Named Technical Lead
Configure and test approved work
Customer UAT before release</a:t>
            </a:r>
          </a:p>
        </p:txBody>
      </p:sp>
    </p:spTree>
    <p:extLst>
      <p:ext uri="{BB962C8B-B14F-4D97-AF65-F5344CB8AC3E}">
        <p14:creationId xmlns:p14="http://schemas.microsoft.com/office/powerpoint/2010/main" val="3342643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3D6A-F57B-2DBC-96FA-F7394CFC786F}"/>
            </a:ext>
          </a:extLst>
        </p:cNvPr>
        <p:cNvGrpSpPr/>
        <p:nvPr/>
      </p:nvGrpSpPr>
      <p:grpSpPr>
        <a:xfrm>
          <a:off x="0" y="0"/>
          <a:ext cx="0" cy="0"/>
          <a:chOff x="0" y="0"/>
          <a:chExt cx="0" cy="0"/>
        </a:xfrm>
      </p:grpSpPr>
      <p:pic>
        <p:nvPicPr>
          <p:cNvPr id="2" name="Picture 1"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3" name="Rectangle 2"/>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5" name="TextBox 4"/>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A 12-month delivery rhythm.</a:t>
            </a:r>
          </a:p>
        </p:txBody>
      </p:sp>
      <p:sp>
        <p:nvSpPr>
          <p:cNvPr id="6" name="TextBox 5"/>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Advisory sets direction. Backlog Cycles prepare customer-approved work. Extend delivers within monthly capacity.</a:t>
            </a:r>
          </a:p>
        </p:txBody>
      </p:sp>
      <p:sp>
        <p:nvSpPr>
          <p:cNvPr id="7" name="Rectangle 6"/>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9" name="TextBox 8"/>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10</a:t>
            </a:r>
          </a:p>
        </p:txBody>
      </p:sp>
      <p:sp>
        <p:nvSpPr>
          <p:cNvPr id="10" name="TextBox 9"/>
          <p:cNvSpPr txBox="1"/>
          <p:nvPr/>
        </p:nvSpPr>
        <p:spPr>
          <a:xfrm>
            <a:off x="2670048"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a:t>
            </a:r>
          </a:p>
        </p:txBody>
      </p:sp>
      <p:sp>
        <p:nvSpPr>
          <p:cNvPr id="11" name="TextBox 10"/>
          <p:cNvSpPr txBox="1"/>
          <p:nvPr/>
        </p:nvSpPr>
        <p:spPr>
          <a:xfrm>
            <a:off x="3364991"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M2</a:t>
            </a:r>
          </a:p>
        </p:txBody>
      </p:sp>
      <p:sp>
        <p:nvSpPr>
          <p:cNvPr id="12" name="TextBox 11"/>
          <p:cNvSpPr txBox="1"/>
          <p:nvPr/>
        </p:nvSpPr>
        <p:spPr>
          <a:xfrm>
            <a:off x="4059935"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M3</a:t>
            </a:r>
          </a:p>
        </p:txBody>
      </p:sp>
      <p:sp>
        <p:nvSpPr>
          <p:cNvPr id="13" name="TextBox 12"/>
          <p:cNvSpPr txBox="1"/>
          <p:nvPr/>
        </p:nvSpPr>
        <p:spPr>
          <a:xfrm>
            <a:off x="4754880"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M4</a:t>
            </a:r>
          </a:p>
        </p:txBody>
      </p:sp>
      <p:sp>
        <p:nvSpPr>
          <p:cNvPr id="14" name="TextBox 13"/>
          <p:cNvSpPr txBox="1"/>
          <p:nvPr/>
        </p:nvSpPr>
        <p:spPr>
          <a:xfrm>
            <a:off x="5449824"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M5</a:t>
            </a:r>
          </a:p>
        </p:txBody>
      </p:sp>
      <p:sp>
        <p:nvSpPr>
          <p:cNvPr id="15" name="TextBox 14"/>
          <p:cNvSpPr txBox="1"/>
          <p:nvPr/>
        </p:nvSpPr>
        <p:spPr>
          <a:xfrm>
            <a:off x="6144768"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M6</a:t>
            </a:r>
          </a:p>
        </p:txBody>
      </p:sp>
      <p:sp>
        <p:nvSpPr>
          <p:cNvPr id="16" name="TextBox 15"/>
          <p:cNvSpPr txBox="1"/>
          <p:nvPr/>
        </p:nvSpPr>
        <p:spPr>
          <a:xfrm>
            <a:off x="6839712"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M7</a:t>
            </a:r>
          </a:p>
        </p:txBody>
      </p:sp>
      <p:sp>
        <p:nvSpPr>
          <p:cNvPr id="17" name="TextBox 16"/>
          <p:cNvSpPr txBox="1"/>
          <p:nvPr/>
        </p:nvSpPr>
        <p:spPr>
          <a:xfrm>
            <a:off x="7534656"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M8</a:t>
            </a:r>
          </a:p>
        </p:txBody>
      </p:sp>
      <p:sp>
        <p:nvSpPr>
          <p:cNvPr id="18" name="TextBox 17"/>
          <p:cNvSpPr txBox="1"/>
          <p:nvPr/>
        </p:nvSpPr>
        <p:spPr>
          <a:xfrm>
            <a:off x="8229600"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M9</a:t>
            </a:r>
          </a:p>
        </p:txBody>
      </p:sp>
      <p:sp>
        <p:nvSpPr>
          <p:cNvPr id="19" name="TextBox 18"/>
          <p:cNvSpPr txBox="1"/>
          <p:nvPr/>
        </p:nvSpPr>
        <p:spPr>
          <a:xfrm>
            <a:off x="8924544"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M10</a:t>
            </a:r>
          </a:p>
        </p:txBody>
      </p:sp>
      <p:sp>
        <p:nvSpPr>
          <p:cNvPr id="20" name="TextBox 19"/>
          <p:cNvSpPr txBox="1"/>
          <p:nvPr/>
        </p:nvSpPr>
        <p:spPr>
          <a:xfrm>
            <a:off x="9619488"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M11</a:t>
            </a:r>
          </a:p>
        </p:txBody>
      </p:sp>
      <p:sp>
        <p:nvSpPr>
          <p:cNvPr id="21" name="TextBox 20"/>
          <p:cNvSpPr txBox="1"/>
          <p:nvPr/>
        </p:nvSpPr>
        <p:spPr>
          <a:xfrm>
            <a:off x="10314432"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M12</a:t>
            </a:r>
          </a:p>
        </p:txBody>
      </p:sp>
      <p:sp>
        <p:nvSpPr>
          <p:cNvPr id="22" name="TextBox 21"/>
          <p:cNvSpPr txBox="1"/>
          <p:nvPr/>
        </p:nvSpPr>
        <p:spPr>
          <a:xfrm>
            <a:off x="594360" y="2432304"/>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ADVISORY</a:t>
            </a:r>
          </a:p>
        </p:txBody>
      </p:sp>
      <p:sp>
        <p:nvSpPr>
          <p:cNvPr id="23" name="Rounded Rectangle 22"/>
          <p:cNvSpPr/>
          <p:nvPr/>
        </p:nvSpPr>
        <p:spPr>
          <a:xfrm>
            <a:off x="2670048"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364991"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059935"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754880"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449824"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44768"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839712"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534656"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229600"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924544"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619488"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314432"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3118104"/>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BACKLOG CYCLES</a:t>
            </a:r>
          </a:p>
        </p:txBody>
      </p:sp>
      <p:sp>
        <p:nvSpPr>
          <p:cNvPr id="36" name="Rounded Rectangle 35"/>
          <p:cNvSpPr/>
          <p:nvPr/>
        </p:nvSpPr>
        <p:spPr>
          <a:xfrm>
            <a:off x="2670048"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3364991"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4059935"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754880"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449824"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144768"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839712"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7534656"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8229600"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924544"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9619488"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10314432"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4360" y="3803903"/>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ONBOARDING</a:t>
            </a:r>
          </a:p>
        </p:txBody>
      </p:sp>
      <p:sp>
        <p:nvSpPr>
          <p:cNvPr id="49" name="Rounded Rectangle 48"/>
          <p:cNvSpPr/>
          <p:nvPr/>
        </p:nvSpPr>
        <p:spPr>
          <a:xfrm>
            <a:off x="2670048"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3364991"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059935"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754880"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449824"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144768"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839712"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7534656"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8229600"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8924544"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9619488"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10314432"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4360" y="4489703"/>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EXTEND DELIVERY</a:t>
            </a:r>
          </a:p>
        </p:txBody>
      </p:sp>
      <p:sp>
        <p:nvSpPr>
          <p:cNvPr id="62" name="Rounded Rectangle 61"/>
          <p:cNvSpPr/>
          <p:nvPr/>
        </p:nvSpPr>
        <p:spPr>
          <a:xfrm>
            <a:off x="2670048"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3364991"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4059935"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4754880"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449824"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6144768"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6839712"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7534656"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8229600"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8924544"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9619488"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10314432"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2670048" y="2414016"/>
            <a:ext cx="1335024" cy="33832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670048" y="24140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PLAN</a:t>
            </a:r>
          </a:p>
        </p:txBody>
      </p:sp>
      <p:sp>
        <p:nvSpPr>
          <p:cNvPr id="76" name="Rounded Rectangle 75"/>
          <p:cNvSpPr/>
          <p:nvPr/>
        </p:nvSpPr>
        <p:spPr>
          <a:xfrm>
            <a:off x="6839712" y="2414016"/>
            <a:ext cx="1335024" cy="33832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839712" y="24140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REFRESH</a:t>
            </a:r>
          </a:p>
        </p:txBody>
      </p:sp>
      <p:sp>
        <p:nvSpPr>
          <p:cNvPr id="78" name="Rounded Rectangle 77"/>
          <p:cNvSpPr/>
          <p:nvPr/>
        </p:nvSpPr>
        <p:spPr>
          <a:xfrm>
            <a:off x="4059935" y="3099816"/>
            <a:ext cx="1335024"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059935" y="30998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CYCLE 1</a:t>
            </a:r>
          </a:p>
        </p:txBody>
      </p:sp>
      <p:sp>
        <p:nvSpPr>
          <p:cNvPr id="80" name="Rounded Rectangle 79"/>
          <p:cNvSpPr/>
          <p:nvPr/>
        </p:nvSpPr>
        <p:spPr>
          <a:xfrm>
            <a:off x="6144768" y="3099816"/>
            <a:ext cx="1335024"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144768" y="30998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CYCLE 2</a:t>
            </a:r>
          </a:p>
        </p:txBody>
      </p:sp>
      <p:sp>
        <p:nvSpPr>
          <p:cNvPr id="82" name="Rounded Rectangle 81"/>
          <p:cNvSpPr/>
          <p:nvPr/>
        </p:nvSpPr>
        <p:spPr>
          <a:xfrm>
            <a:off x="8229600" y="3099816"/>
            <a:ext cx="1335024"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229600" y="30998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CYCLE 3</a:t>
            </a:r>
          </a:p>
        </p:txBody>
      </p:sp>
      <p:sp>
        <p:nvSpPr>
          <p:cNvPr id="84" name="Rounded Rectangle 83"/>
          <p:cNvSpPr/>
          <p:nvPr/>
        </p:nvSpPr>
        <p:spPr>
          <a:xfrm>
            <a:off x="10314432" y="3099816"/>
            <a:ext cx="640080"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314432" y="3099816"/>
            <a:ext cx="640080"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C4</a:t>
            </a:r>
          </a:p>
        </p:txBody>
      </p:sp>
      <p:sp>
        <p:nvSpPr>
          <p:cNvPr id="86" name="Rounded Rectangle 85"/>
          <p:cNvSpPr/>
          <p:nvPr/>
        </p:nvSpPr>
        <p:spPr>
          <a:xfrm>
            <a:off x="4059935" y="3785615"/>
            <a:ext cx="640080" cy="33832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059935" y="3785615"/>
            <a:ext cx="640080"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M3</a:t>
            </a:r>
          </a:p>
        </p:txBody>
      </p:sp>
      <p:sp>
        <p:nvSpPr>
          <p:cNvPr id="88" name="Rounded Rectangle 87"/>
          <p:cNvSpPr/>
          <p:nvPr/>
        </p:nvSpPr>
        <p:spPr>
          <a:xfrm>
            <a:off x="4754880" y="4471416"/>
            <a:ext cx="6199632" cy="33832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754880" y="4471416"/>
            <a:ext cx="6199632"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80 HOURS / MONTH  ·  NINE MONTHS</a:t>
            </a:r>
          </a:p>
        </p:txBody>
      </p:sp>
      <p:sp>
        <p:nvSpPr>
          <p:cNvPr id="90" name="Rounded Rectangle 89"/>
          <p:cNvSpPr/>
          <p:nvPr/>
        </p:nvSpPr>
        <p:spPr>
          <a:xfrm>
            <a:off x="649224" y="5120640"/>
            <a:ext cx="10863072" cy="7498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50392" y="5212080"/>
            <a:ext cx="10305288" cy="265176"/>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MONTH 3 IS ONBOARDING — EXTEND SPRINTS START IN MONTH 4</a:t>
            </a:r>
          </a:p>
        </p:txBody>
      </p:sp>
      <p:sp>
        <p:nvSpPr>
          <p:cNvPr id="92" name="TextBox 91"/>
          <p:cNvSpPr txBox="1"/>
          <p:nvPr/>
        </p:nvSpPr>
        <p:spPr>
          <a:xfrm>
            <a:off x="850392" y="5522976"/>
            <a:ext cx="10259568" cy="228600"/>
          </a:xfrm>
          <a:prstGeom prst="rect">
            <a:avLst/>
          </a:prstGeom>
          <a:noFill/>
        </p:spPr>
        <p:txBody>
          <a:bodyPr wrap="square" lIns="0" tIns="0" rIns="0" bIns="0" anchor="ctr">
            <a:spAutoFit/>
          </a:bodyPr>
          <a:lstStyle/>
          <a:p>
            <a:pPr algn="l">
              <a:spcAft>
                <a:spcPts val="0"/>
              </a:spcAft>
            </a:pPr>
            <a:r>
              <a:rPr sz="1100" b="0" i="0">
                <a:solidFill>
                  <a:srgbClr val="F2F2F4"/>
                </a:solidFill>
                <a:latin typeface="Source Sans 3"/>
              </a:rPr>
              <a:t>Delivery depends on approved sprint-ready stories, access, technical acceptance and customer testing.</a:t>
            </a:r>
          </a:p>
        </p:txBody>
      </p:sp>
    </p:spTree>
    <p:extLst>
      <p:ext uri="{BB962C8B-B14F-4D97-AF65-F5344CB8AC3E}">
        <p14:creationId xmlns:p14="http://schemas.microsoft.com/office/powerpoint/2010/main" val="2123509226"/>
      </p:ext>
    </p:extLst>
  </p:cSld>
  <p:clrMapOvr>
    <a:masterClrMapping/>
  </p:clrMapOvr>
  <p:transition spd="slow">
    <p:strips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80 hours of capacity. Clear boundaries.</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A defined monthly allocation supporting approved ServiceNow platform work.</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13</a:t>
            </a:r>
          </a:p>
        </p:txBody>
      </p:sp>
      <p:sp>
        <p:nvSpPr>
          <p:cNvPr id="13" name="Rounded Rectangle 12"/>
          <p:cNvSpPr/>
          <p:nvPr/>
        </p:nvSpPr>
        <p:spPr>
          <a:xfrm>
            <a:off x="685800" y="1993392"/>
            <a:ext cx="3127248" cy="3246120"/>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 y="2212848"/>
            <a:ext cx="2615184" cy="1097280"/>
          </a:xfrm>
          <a:prstGeom prst="rect">
            <a:avLst/>
          </a:prstGeom>
          <a:noFill/>
        </p:spPr>
        <p:txBody>
          <a:bodyPr wrap="square" lIns="0" tIns="0" rIns="0" bIns="0" anchor="ctr">
            <a:spAutoFit/>
          </a:bodyPr>
          <a:lstStyle/>
          <a:p>
            <a:pPr algn="ctr">
              <a:spcAft>
                <a:spcPts val="0"/>
              </a:spcAft>
            </a:pPr>
            <a:r>
              <a:rPr sz="6700" b="1" i="0">
                <a:solidFill>
                  <a:srgbClr val="8FFFDB"/>
                </a:solidFill>
                <a:latin typeface="Source Sans 3"/>
              </a:rPr>
              <a:t>80</a:t>
            </a:r>
          </a:p>
        </p:txBody>
      </p:sp>
      <p:sp>
        <p:nvSpPr>
          <p:cNvPr id="15" name="TextBox 14"/>
          <p:cNvSpPr txBox="1"/>
          <p:nvPr/>
        </p:nvSpPr>
        <p:spPr>
          <a:xfrm>
            <a:off x="941832" y="3264408"/>
            <a:ext cx="2569464" cy="384048"/>
          </a:xfrm>
          <a:prstGeom prst="rect">
            <a:avLst/>
          </a:prstGeom>
          <a:noFill/>
        </p:spPr>
        <p:txBody>
          <a:bodyPr wrap="square" lIns="0" tIns="0" rIns="0" bIns="0" anchor="ctr">
            <a:spAutoFit/>
          </a:bodyPr>
          <a:lstStyle/>
          <a:p>
            <a:pPr algn="ctr">
              <a:spcAft>
                <a:spcPts val="0"/>
              </a:spcAft>
            </a:pPr>
            <a:r>
              <a:rPr sz="2000" b="1" i="0">
                <a:solidFill>
                  <a:srgbClr val="F2F2F4"/>
                </a:solidFill>
                <a:latin typeface="Source Sans 3"/>
              </a:rPr>
              <a:t>HOURS / MONTH</a:t>
            </a:r>
          </a:p>
        </p:txBody>
      </p:sp>
      <p:sp>
        <p:nvSpPr>
          <p:cNvPr id="16" name="TextBox 15"/>
          <p:cNvSpPr txBox="1"/>
          <p:nvPr/>
        </p:nvSpPr>
        <p:spPr>
          <a:xfrm>
            <a:off x="896112" y="3831336"/>
            <a:ext cx="2651760" cy="338328"/>
          </a:xfrm>
          <a:prstGeom prst="rect">
            <a:avLst/>
          </a:prstGeom>
          <a:noFill/>
        </p:spPr>
        <p:txBody>
          <a:bodyPr wrap="square" lIns="0" tIns="0" rIns="0" bIns="0" anchor="ctr">
            <a:spAutoFit/>
          </a:bodyPr>
          <a:lstStyle/>
          <a:p>
            <a:pPr algn="ctr">
              <a:spcAft>
                <a:spcPts val="0"/>
              </a:spcAft>
            </a:pPr>
            <a:r>
              <a:rPr sz="1300" b="1" i="0">
                <a:solidFill>
                  <a:srgbClr val="2CB0CD"/>
                </a:solidFill>
                <a:latin typeface="Source Sans 3"/>
              </a:rPr>
              <a:t>Months 4–12 · 9 months</a:t>
            </a:r>
          </a:p>
        </p:txBody>
      </p:sp>
      <p:sp>
        <p:nvSpPr>
          <p:cNvPr id="17" name="TextBox 16"/>
          <p:cNvSpPr txBox="1"/>
          <p:nvPr/>
        </p:nvSpPr>
        <p:spPr>
          <a:xfrm>
            <a:off x="868680" y="4398264"/>
            <a:ext cx="2743200" cy="521207"/>
          </a:xfrm>
          <a:prstGeom prst="rect">
            <a:avLst/>
          </a:prstGeom>
          <a:noFill/>
        </p:spPr>
        <p:txBody>
          <a:bodyPr wrap="square" lIns="0" tIns="0" rIns="0" bIns="0" anchor="ctr">
            <a:spAutoFit/>
          </a:bodyPr>
          <a:lstStyle/>
          <a:p>
            <a:pPr algn="ctr">
              <a:spcAft>
                <a:spcPts val="0"/>
              </a:spcAft>
            </a:pPr>
            <a:r>
              <a:rPr sz="1200" b="0" i="0">
                <a:solidFill>
                  <a:srgbClr val="F2F2F4"/>
                </a:solidFill>
                <a:latin typeface="Source Sans 3"/>
              </a:rPr>
              <a:t>Unused hours expire monthly.</a:t>
            </a:r>
          </a:p>
          <a:p>
            <a:pPr algn="ctr">
              <a:spcAft>
                <a:spcPts val="0"/>
              </a:spcAft>
            </a:pPr>
            <a:r>
              <a:rPr sz="1200" b="0" i="0">
                <a:solidFill>
                  <a:srgbClr val="F2F2F4"/>
                </a:solidFill>
                <a:latin typeface="Source Sans 3"/>
              </a:rPr>
              <a:t>No rollover or pooled balance.</a:t>
            </a:r>
          </a:p>
        </p:txBody>
      </p:sp>
      <p:sp>
        <p:nvSpPr>
          <p:cNvPr id="18" name="Rounded Rectangle 17"/>
          <p:cNvSpPr/>
          <p:nvPr/>
        </p:nvSpPr>
        <p:spPr>
          <a:xfrm>
            <a:off x="4069080" y="1993392"/>
            <a:ext cx="3511296" cy="3246120"/>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79392" y="2304288"/>
            <a:ext cx="3108960" cy="384048"/>
          </a:xfrm>
          <a:prstGeom prst="rect">
            <a:avLst/>
          </a:prstGeom>
          <a:noFill/>
        </p:spPr>
        <p:txBody>
          <a:bodyPr wrap="square" lIns="0" tIns="0" rIns="0" bIns="0" anchor="ctr">
            <a:spAutoFit/>
          </a:bodyPr>
          <a:lstStyle/>
          <a:p>
            <a:pPr algn="l">
              <a:spcAft>
                <a:spcPts val="0"/>
              </a:spcAft>
            </a:pPr>
            <a:r>
              <a:rPr sz="1600" b="1" i="0">
                <a:solidFill>
                  <a:srgbClr val="8FFFDB"/>
                </a:solidFill>
                <a:latin typeface="Source Sans 3"/>
              </a:rPr>
              <a:t>WITHIN EXTEND SCOPE</a:t>
            </a:r>
          </a:p>
        </p:txBody>
      </p:sp>
      <p:sp>
        <p:nvSpPr>
          <p:cNvPr id="20" name="TextBox 19"/>
          <p:cNvSpPr txBox="1"/>
          <p:nvPr/>
        </p:nvSpPr>
        <p:spPr>
          <a:xfrm>
            <a:off x="4279392" y="2916936"/>
            <a:ext cx="2980944" cy="1837943"/>
          </a:xfrm>
          <a:prstGeom prst="rect">
            <a:avLst/>
          </a:prstGeom>
          <a:noFill/>
        </p:spPr>
        <p:txBody>
          <a:bodyPr wrap="square" lIns="0" tIns="0" rIns="0" bIns="0" anchor="t">
            <a:spAutoFit/>
          </a:bodyPr>
          <a:lstStyle/>
          <a:p>
            <a:pPr algn="l">
              <a:spcAft>
                <a:spcPts val="0"/>
              </a:spcAft>
            </a:pPr>
            <a:r>
              <a:rPr sz="1400" b="0" i="0">
                <a:solidFill>
                  <a:srgbClr val="F2F2F4"/>
                </a:solidFill>
                <a:latin typeface="Source Sans 3"/>
              </a:rPr>
              <a:t>• Approved enhancements</a:t>
            </a:r>
          </a:p>
          <a:p>
            <a:pPr algn="l">
              <a:spcAft>
                <a:spcPts val="0"/>
              </a:spcAft>
            </a:pPr>
            <a:r>
              <a:rPr sz="1400" b="0" i="0">
                <a:solidFill>
                  <a:srgbClr val="F2F2F4"/>
                </a:solidFill>
                <a:latin typeface="Source Sans 3"/>
              </a:rPr>
              <a:t>• Platform administration</a:t>
            </a:r>
          </a:p>
          <a:p>
            <a:pPr algn="l">
              <a:spcAft>
                <a:spcPts val="0"/>
              </a:spcAft>
            </a:pPr>
            <a:r>
              <a:rPr sz="1400" b="0" i="0">
                <a:solidFill>
                  <a:srgbClr val="F2F2F4"/>
                </a:solidFill>
                <a:latin typeface="Source Sans 3"/>
              </a:rPr>
              <a:t>• Defect remediation / support</a:t>
            </a:r>
          </a:p>
          <a:p>
            <a:pPr algn="l">
              <a:spcAft>
                <a:spcPts val="0"/>
              </a:spcAft>
            </a:pPr>
            <a:r>
              <a:rPr sz="1400" b="0" i="0">
                <a:solidFill>
                  <a:srgbClr val="F2F2F4"/>
                </a:solidFill>
                <a:latin typeface="Source Sans 3"/>
              </a:rPr>
              <a:t>• Configuration and testing</a:t>
            </a:r>
          </a:p>
        </p:txBody>
      </p:sp>
      <p:sp>
        <p:nvSpPr>
          <p:cNvPr id="21" name="Rounded Rectangle 20"/>
          <p:cNvSpPr/>
          <p:nvPr/>
        </p:nvSpPr>
        <p:spPr>
          <a:xfrm>
            <a:off x="7827264" y="1993392"/>
            <a:ext cx="3630168" cy="3246120"/>
          </a:xfrm>
          <a:prstGeom prst="roundRect">
            <a:avLst/>
          </a:prstGeom>
          <a:solidFill>
            <a:srgbClr val="040E3D"/>
          </a:solidFill>
          <a:ln w="10160">
            <a:solidFill>
              <a:srgbClr val="C0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28431" y="2304288"/>
            <a:ext cx="3236976" cy="384048"/>
          </a:xfrm>
          <a:prstGeom prst="rect">
            <a:avLst/>
          </a:prstGeom>
          <a:noFill/>
        </p:spPr>
        <p:txBody>
          <a:bodyPr wrap="square" lIns="0" tIns="0" rIns="0" bIns="0" anchor="ctr">
            <a:spAutoFit/>
          </a:bodyPr>
          <a:lstStyle/>
          <a:p>
            <a:pPr algn="l">
              <a:spcAft>
                <a:spcPts val="0"/>
              </a:spcAft>
            </a:pPr>
            <a:r>
              <a:rPr sz="1600" b="1" i="0">
                <a:solidFill>
                  <a:srgbClr val="C0A6FF"/>
                </a:solidFill>
                <a:latin typeface="Source Sans 3"/>
              </a:rPr>
              <a:t>SEPARATE SCOPE NEEDED</a:t>
            </a:r>
          </a:p>
        </p:txBody>
      </p:sp>
      <p:sp>
        <p:nvSpPr>
          <p:cNvPr id="23" name="TextBox 22"/>
          <p:cNvSpPr txBox="1"/>
          <p:nvPr/>
        </p:nvSpPr>
        <p:spPr>
          <a:xfrm>
            <a:off x="8037575" y="2907792"/>
            <a:ext cx="3163824" cy="1901952"/>
          </a:xfrm>
          <a:prstGeom prst="rect">
            <a:avLst/>
          </a:prstGeom>
          <a:noFill/>
        </p:spPr>
        <p:txBody>
          <a:bodyPr wrap="square" lIns="0" tIns="0" rIns="0" bIns="0" anchor="t">
            <a:spAutoFit/>
          </a:bodyPr>
          <a:lstStyle/>
          <a:p>
            <a:pPr algn="l">
              <a:spcAft>
                <a:spcPts val="0"/>
              </a:spcAft>
            </a:pPr>
            <a:r>
              <a:rPr sz="1350" b="0" i="0">
                <a:solidFill>
                  <a:srgbClr val="F2F2F4"/>
                </a:solidFill>
                <a:latin typeface="Source Sans 3"/>
              </a:rPr>
              <a:t>• New-module implementation</a:t>
            </a:r>
          </a:p>
          <a:p>
            <a:pPr algn="l">
              <a:spcAft>
                <a:spcPts val="0"/>
              </a:spcAft>
            </a:pPr>
            <a:r>
              <a:rPr sz="1350" b="0" i="0">
                <a:solidFill>
                  <a:srgbClr val="F2F2F4"/>
                </a:solidFill>
                <a:latin typeface="Source Sans 3"/>
              </a:rPr>
              <a:t>• Standalone professional services</a:t>
            </a:r>
          </a:p>
          <a:p>
            <a:pPr algn="l">
              <a:spcAft>
                <a:spcPts val="0"/>
              </a:spcAft>
            </a:pPr>
            <a:r>
              <a:rPr sz="1350" b="0" i="0">
                <a:solidFill>
                  <a:srgbClr val="F2F2F4"/>
                </a:solidFill>
                <a:latin typeface="Source Sans 3"/>
              </a:rPr>
              <a:t>• Any single item over 40 hours</a:t>
            </a:r>
          </a:p>
          <a:p>
            <a:pPr algn="l">
              <a:spcAft>
                <a:spcPts val="0"/>
              </a:spcAft>
            </a:pPr>
            <a:r>
              <a:rPr sz="1350" b="0" i="0">
                <a:solidFill>
                  <a:srgbClr val="F2F2F4"/>
                </a:solidFill>
                <a:latin typeface="Source Sans 3"/>
              </a:rPr>
              <a:t>• Changes to agreed functionality</a:t>
            </a:r>
          </a:p>
        </p:txBody>
      </p:sp>
      <p:sp>
        <p:nvSpPr>
          <p:cNvPr id="24" name="TextBox 23"/>
          <p:cNvSpPr txBox="1"/>
          <p:nvPr/>
        </p:nvSpPr>
        <p:spPr>
          <a:xfrm>
            <a:off x="786384" y="5586984"/>
            <a:ext cx="10735056" cy="466344"/>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Work starts only once onboarding, story approval and Technical Lead acceptance requirements are satisfied.</a:t>
            </a:r>
          </a:p>
        </p:txBody>
      </p:sp>
    </p:spTree>
    <p:extLst>
      <p:ext uri="{BB962C8B-B14F-4D97-AF65-F5344CB8AC3E}">
        <p14:creationId xmlns:p14="http://schemas.microsoft.com/office/powerpoint/2010/main" val="2233317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6F2A-EA23-8048-BDB8-C01F8FE6985A}"/>
            </a:ext>
          </a:extLst>
        </p:cNvPr>
        <p:cNvGrpSpPr/>
        <p:nvPr/>
      </p:nvGrpSpPr>
      <p:grpSpPr>
        <a:xfrm>
          <a:off x="0" y="0"/>
          <a:ext cx="0" cy="0"/>
          <a:chOff x="0" y="0"/>
          <a:chExt cx="0" cy="0"/>
        </a:xfrm>
      </p:grpSpPr>
      <p:sp>
        <p:nvSpPr>
          <p:cNvPr id="42" name="Rounded Rectangle 16">
            <a:extLst>
              <a:ext uri="{FF2B5EF4-FFF2-40B4-BE49-F238E27FC236}">
                <a16:creationId xmlns:a16="http://schemas.microsoft.com/office/drawing/2014/main" id="{2C9AF761-4BA6-3F68-36C8-480EFB9242C3}"/>
              </a:ext>
              <a:ext uri="{C183D7F6-B498-43B3-948B-1728B52AA6E4}">
                <adec:decorative xmlns:adec="http://schemas.microsoft.com/office/drawing/2017/decorative" val="1"/>
              </a:ext>
            </a:extLst>
          </p:cNvPr>
          <p:cNvSpPr/>
          <p:nvPr/>
        </p:nvSpPr>
        <p:spPr>
          <a:xfrm>
            <a:off x="8052179" y="1835217"/>
            <a:ext cx="3862317" cy="4163992"/>
          </a:xfrm>
          <a:prstGeom prst="roundRect">
            <a:avLst>
              <a:gd name="adj" fmla="val 3836"/>
            </a:avLst>
          </a:prstGeom>
          <a:solidFill>
            <a:schemeClr val="tx2">
              <a:alpha val="5289"/>
            </a:schemeClr>
          </a:solidFill>
          <a:ln w="6350">
            <a:solidFill>
              <a:schemeClr val="accent1"/>
            </a:solidFill>
          </a:ln>
          <a:scene3d>
            <a:camera prst="orthographicFront"/>
            <a:lightRig rig="brightRoom" dir="t">
              <a:rot lat="0" lon="0" rev="0"/>
            </a:lightRig>
          </a:scene3d>
          <a:sp3d extrusionH="38100" prstMaterial="translucentPowder">
            <a:bevelT w="114300" h="1143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b="1">
              <a:solidFill>
                <a:srgbClr val="FFFFFF"/>
              </a:solidFill>
              <a:latin typeface="Source Sans 3" panose="020B0504040101010104" pitchFamily="34" charset="77"/>
            </a:endParaRPr>
          </a:p>
        </p:txBody>
      </p:sp>
      <p:sp>
        <p:nvSpPr>
          <p:cNvPr id="2" name="Title 1">
            <a:extLst>
              <a:ext uri="{FF2B5EF4-FFF2-40B4-BE49-F238E27FC236}">
                <a16:creationId xmlns:a16="http://schemas.microsoft.com/office/drawing/2014/main" id="{3EE9782F-D75F-A737-A392-F2F48E98884D}"/>
              </a:ext>
            </a:extLst>
          </p:cNvPr>
          <p:cNvSpPr>
            <a:spLocks noGrp="1"/>
          </p:cNvSpPr>
          <p:nvPr>
            <p:ph type="title"/>
          </p:nvPr>
        </p:nvSpPr>
        <p:spPr/>
        <p:txBody>
          <a:bodyPr wrap="square" anchor="t"/>
          <a:lstStyle/>
          <a:p>
            <a:r>
              <a:rPr lang="en-US" sz="3100" b="1">
                <a:solidFill>
                  <a:srgbClr val="8FFFDB"/>
                </a:solidFill>
              </a:rPr>
              <a:t>Continuous delivery. Shared accountability.</a:t>
            </a:r>
            <a:br>
              <a:rPr lang="en-US">
                <a:solidFill>
                  <a:schemeClr val="accent1"/>
                </a:solidFill>
              </a:rPr>
            </a:br>
            <a:endParaRPr lang="en-US">
              <a:solidFill>
                <a:schemeClr val="accent1"/>
              </a:solidFill>
            </a:endParaRPr>
          </a:p>
        </p:txBody>
      </p:sp>
      <p:sp>
        <p:nvSpPr>
          <p:cNvPr id="4" name="TextBox 3">
            <a:extLst>
              <a:ext uri="{FF2B5EF4-FFF2-40B4-BE49-F238E27FC236}">
                <a16:creationId xmlns:a16="http://schemas.microsoft.com/office/drawing/2014/main" id="{297CAB83-2380-547A-5558-031F0FA98C9F}"/>
              </a:ext>
            </a:extLst>
          </p:cNvPr>
          <p:cNvSpPr txBox="1"/>
          <p:nvPr/>
        </p:nvSpPr>
        <p:spPr>
          <a:xfrm>
            <a:off x="8040138" y="4244655"/>
            <a:ext cx="3874358" cy="877163"/>
          </a:xfrm>
          <a:prstGeom prst="rect">
            <a:avLst/>
          </a:prstGeom>
          <a:noFill/>
        </p:spPr>
        <p:txBody>
          <a:bodyPr wrap="square" anchor="ctr">
            <a:spAutoFit/>
          </a:bodyPr>
          <a:lstStyle/>
          <a:p>
            <a:pPr algn="ctr" defTabSz="456766">
              <a:lnSpc>
                <a:spcPct val="85000"/>
              </a:lnSpc>
              <a:defRPr/>
            </a:pPr>
            <a:r>
              <a:rPr lang="en-US" sz="6800" b="1">
                <a:solidFill>
                  <a:srgbClr val="8FFFDB"/>
                </a:solidFill>
                <a:latin typeface="Source Sans 3"/>
                <a:cs typeface="Source Sans 3" panose="020B0404040101010104" pitchFamily="34" charset="77"/>
              </a:rPr>
              <a:t>3</a:t>
            </a:r>
            <a:endParaRPr lang="en-US" sz="6000" b="1" baseline="30000">
              <a:solidFill>
                <a:schemeClr val="accent1"/>
              </a:solidFill>
              <a:latin typeface="Source Sans 3"/>
              <a:cs typeface="Source Sans 3" panose="020B0404040101010104" pitchFamily="34" charset="77"/>
            </a:endParaRPr>
          </a:p>
        </p:txBody>
      </p:sp>
      <p:sp>
        <p:nvSpPr>
          <p:cNvPr id="17" name="TextBox 16">
            <a:extLst>
              <a:ext uri="{FF2B5EF4-FFF2-40B4-BE49-F238E27FC236}">
                <a16:creationId xmlns:a16="http://schemas.microsoft.com/office/drawing/2014/main" id="{42792CB2-C338-B465-BF2E-33142650747B}"/>
              </a:ext>
            </a:extLst>
          </p:cNvPr>
          <p:cNvSpPr txBox="1"/>
          <p:nvPr/>
        </p:nvSpPr>
        <p:spPr>
          <a:xfrm>
            <a:off x="8040138" y="5091330"/>
            <a:ext cx="3862317" cy="563231"/>
          </a:xfrm>
          <a:prstGeom prst="rect">
            <a:avLst/>
          </a:prstGeom>
          <a:noFill/>
        </p:spPr>
        <p:txBody>
          <a:bodyPr wrap="square">
            <a:spAutoFit/>
          </a:bodyPr>
          <a:lstStyle/>
          <a:p>
            <a:pPr algn="ctr" defTabSz="456766">
              <a:lnSpc>
                <a:spcPct val="85000"/>
              </a:lnSpc>
              <a:defRPr/>
            </a:pPr>
            <a:r>
              <a:rPr lang="en-US" sz="1500">
                <a:solidFill>
                  <a:srgbClr val="F2F2F4"/>
                </a:solidFill>
                <a:latin typeface="Source Sans 3" panose="020B0504040101010104" pitchFamily="34" charset="77"/>
                <a:cs typeface="Source Sans 3" panose="020B0404040101010104" pitchFamily="34" charset="77"/>
              </a:rPr>
              <a:t>months · refresh the
approved work plan</a:t>
            </a:r>
            <a:endParaRPr lang="en-US" sz="1800" baseline="30000">
              <a:solidFill>
                <a:schemeClr val="bg2"/>
              </a:solidFill>
              <a:latin typeface="Source Sans 3" panose="020B0504040101010104" pitchFamily="34" charset="77"/>
              <a:cs typeface="Source Sans 3" panose="020B0404040101010104" pitchFamily="34" charset="77"/>
            </a:endParaRPr>
          </a:p>
        </p:txBody>
      </p:sp>
      <p:sp>
        <p:nvSpPr>
          <p:cNvPr id="29" name="TextBox 28">
            <a:extLst>
              <a:ext uri="{FF2B5EF4-FFF2-40B4-BE49-F238E27FC236}">
                <a16:creationId xmlns:a16="http://schemas.microsoft.com/office/drawing/2014/main" id="{EDF98D31-759A-7A94-516B-FB42A0079667}"/>
              </a:ext>
            </a:extLst>
          </p:cNvPr>
          <p:cNvSpPr txBox="1"/>
          <p:nvPr/>
        </p:nvSpPr>
        <p:spPr>
          <a:xfrm>
            <a:off x="739546" y="2059359"/>
            <a:ext cx="6717122" cy="800219"/>
          </a:xfrm>
          <a:prstGeom prst="rect">
            <a:avLst/>
          </a:prstGeom>
          <a:noFill/>
        </p:spPr>
        <p:txBody>
          <a:bodyPr wrap="square" lIns="0" tIns="0" rIns="0" bIns="0" rtlCol="0" anchor="ctr">
            <a:spAutoFit/>
          </a:bodyPr>
          <a:lstStyle/>
          <a:p>
            <a:pPr marL="0" marR="0" lvl="0" indent="0" algn="l" defTabSz="456903"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2F2F4"/>
                </a:solidFill>
                <a:effectLst/>
                <a:uLnTx/>
                <a:uFillTx/>
                <a:latin typeface="Source Sans 3" panose="020B0504040101010104" pitchFamily="34" charset="77"/>
                <a:ea typeface="+mn-ea"/>
                <a:cs typeface="+mn-cs"/>
              </a:rPr>
              <a:t>You own demand and priorities.
Customer Product Owner approves stories, UAT and production.</a:t>
            </a:r>
          </a:p>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srgbClr val="F2F2F4"/>
              </a:solidFill>
              <a:effectLst/>
              <a:uLnTx/>
              <a:uFillTx/>
              <a:latin typeface="Source Sans 3" panose="020B0504040101010104" pitchFamily="34" charset="77"/>
              <a:ea typeface="+mn-ea"/>
              <a:cs typeface="+mn-cs"/>
            </a:endParaRPr>
          </a:p>
        </p:txBody>
      </p:sp>
      <p:sp>
        <p:nvSpPr>
          <p:cNvPr id="32" name="TextBox 31">
            <a:extLst>
              <a:ext uri="{FF2B5EF4-FFF2-40B4-BE49-F238E27FC236}">
                <a16:creationId xmlns:a16="http://schemas.microsoft.com/office/drawing/2014/main" id="{EB5B4098-4D53-BF63-39DB-991B2FBE170A}"/>
              </a:ext>
            </a:extLst>
          </p:cNvPr>
          <p:cNvSpPr txBox="1"/>
          <p:nvPr/>
        </p:nvSpPr>
        <p:spPr>
          <a:xfrm>
            <a:off x="739545" y="3380980"/>
            <a:ext cx="6717122" cy="800219"/>
          </a:xfrm>
          <a:prstGeom prst="rect">
            <a:avLst/>
          </a:prstGeom>
          <a:noFill/>
        </p:spPr>
        <p:txBody>
          <a:bodyPr wrap="square" lIns="0" tIns="0" rIns="0" bIns="0" rtlCol="0" anchor="ctr">
            <a:spAutoFit/>
          </a:bodyPr>
          <a:lstStyle/>
          <a:p>
            <a:pPr defTabSz="456903">
              <a:defRPr/>
            </a:pPr>
            <a:r>
              <a:rPr lang="en-US" sz="1500" b="1">
                <a:solidFill>
                  <a:srgbClr val="F2F2F4"/>
                </a:solidFill>
                <a:latin typeface="Source Sans 3" panose="020B0504040101010104" pitchFamily="34" charset="77"/>
              </a:rPr>
              <a:t>We bring approved work into delivery.
Crossfuze TL assesses, plans, configures and tests stories.</a:t>
            </a:r>
          </a:p>
          <a:p>
            <a:pPr defTabSz="456903">
              <a:defRPr/>
            </a:pPr>
            <a:endParaRPr kumimoji="0" lang="en-US" sz="1600" b="0" i="0" u="none" strike="noStrike" kern="1200" cap="none" spc="0" normalizeH="0" baseline="0" noProof="0">
              <a:ln>
                <a:noFill/>
              </a:ln>
              <a:solidFill>
                <a:schemeClr val="bg1"/>
              </a:solidFill>
              <a:effectLst/>
              <a:uLnTx/>
              <a:uFillTx/>
              <a:latin typeface="Source Sans 3"/>
              <a:ea typeface="+mn-ea"/>
              <a:cs typeface="+mn-cs"/>
            </a:endParaRPr>
          </a:p>
        </p:txBody>
      </p:sp>
      <p:sp>
        <p:nvSpPr>
          <p:cNvPr id="33" name="TextBox 32">
            <a:extLst>
              <a:ext uri="{FF2B5EF4-FFF2-40B4-BE49-F238E27FC236}">
                <a16:creationId xmlns:a16="http://schemas.microsoft.com/office/drawing/2014/main" id="{BB5B8E4E-1882-B0F8-CEBF-620E4381256B}"/>
              </a:ext>
            </a:extLst>
          </p:cNvPr>
          <p:cNvSpPr txBox="1"/>
          <p:nvPr/>
        </p:nvSpPr>
        <p:spPr>
          <a:xfrm>
            <a:off x="751587" y="4702223"/>
            <a:ext cx="6525048" cy="800219"/>
          </a:xfrm>
          <a:prstGeom prst="rect">
            <a:avLst/>
          </a:prstGeom>
          <a:noFill/>
        </p:spPr>
        <p:txBody>
          <a:bodyPr wrap="square" lIns="0" tIns="0" rIns="0" bIns="0" rtlCol="0" anchor="ctr">
            <a:spAutoFit/>
          </a:bodyPr>
          <a:lstStyle/>
          <a:p>
            <a:pPr defTabSz="456903">
              <a:defRPr/>
            </a:pPr>
            <a:r>
              <a:rPr lang="en-US" sz="1500" b="1">
                <a:solidFill>
                  <a:srgbClr val="F2F2F4"/>
                </a:solidFill>
                <a:latin typeface="Source Sans 3" panose="020B0504040101010104" pitchFamily="34" charset="77"/>
              </a:rPr>
              <a:t>You retain control of AI decisions.
Customer approves data, human oversight and monitoring.</a:t>
            </a:r>
            <a:br>
              <a:rPr lang="en-US" sz="2000" b="1">
                <a:solidFill>
                  <a:srgbClr val="FFFFFF"/>
                </a:solidFill>
                <a:latin typeface="Source Sans 3" panose="020B0504040101010104" pitchFamily="34" charset="77"/>
              </a:rPr>
            </a:br>
            <a:endParaRPr lang="en-US" sz="2000" b="1">
              <a:solidFill>
                <a:srgbClr val="FFFFFF"/>
              </a:solidFill>
              <a:latin typeface="Source Sans 3" panose="020B0504040101010104" pitchFamily="34" charset="77"/>
            </a:endParaRPr>
          </a:p>
        </p:txBody>
      </p:sp>
      <p:cxnSp>
        <p:nvCxnSpPr>
          <p:cNvPr id="43" name="Straight Connector 42">
            <a:extLst>
              <a:ext uri="{FF2B5EF4-FFF2-40B4-BE49-F238E27FC236}">
                <a16:creationId xmlns:a16="http://schemas.microsoft.com/office/drawing/2014/main" id="{1BEEC62B-79B9-9E9C-A6AC-2299F1BB71FF}"/>
              </a:ext>
              <a:ext uri="{C183D7F6-B498-43B3-948B-1728B52AA6E4}">
                <adec:decorative xmlns:adec="http://schemas.microsoft.com/office/drawing/2017/decorative" val="1"/>
              </a:ext>
            </a:extLst>
          </p:cNvPr>
          <p:cNvCxnSpPr>
            <a:cxnSpLocks/>
          </p:cNvCxnSpPr>
          <p:nvPr/>
        </p:nvCxnSpPr>
        <p:spPr>
          <a:xfrm flipH="1">
            <a:off x="739545" y="3120090"/>
            <a:ext cx="6525048" cy="758"/>
          </a:xfrm>
          <a:prstGeom prst="line">
            <a:avLst/>
          </a:prstGeom>
          <a:ln w="9525" cap="rnd">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4A52D5A-00B3-F03C-A5E0-7462AA95B0B2}"/>
              </a:ext>
              <a:ext uri="{C183D7F6-B498-43B3-948B-1728B52AA6E4}">
                <adec:decorative xmlns:adec="http://schemas.microsoft.com/office/drawing/2017/decorative" val="1"/>
              </a:ext>
            </a:extLst>
          </p:cNvPr>
          <p:cNvCxnSpPr>
            <a:cxnSpLocks/>
          </p:cNvCxnSpPr>
          <p:nvPr/>
        </p:nvCxnSpPr>
        <p:spPr>
          <a:xfrm flipH="1">
            <a:off x="739545" y="4441332"/>
            <a:ext cx="6525048" cy="758"/>
          </a:xfrm>
          <a:prstGeom prst="line">
            <a:avLst/>
          </a:prstGeom>
          <a:ln w="9525" cap="rnd">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C52CAA0-4216-EE78-63B6-7B02DA409151}"/>
              </a:ext>
              <a:ext uri="{C183D7F6-B498-43B3-948B-1728B52AA6E4}">
                <adec:decorative xmlns:adec="http://schemas.microsoft.com/office/drawing/2017/decorative" val="1"/>
              </a:ext>
            </a:extLst>
          </p:cNvPr>
          <p:cNvCxnSpPr>
            <a:cxnSpLocks/>
          </p:cNvCxnSpPr>
          <p:nvPr/>
        </p:nvCxnSpPr>
        <p:spPr>
          <a:xfrm flipH="1">
            <a:off x="8351360" y="3904717"/>
            <a:ext cx="3192459" cy="0"/>
          </a:xfrm>
          <a:prstGeom prst="line">
            <a:avLst/>
          </a:prstGeom>
          <a:ln w="9525" cap="rnd">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B6787D4-09E4-AC9A-F8A9-0FA3CD639F60}"/>
              </a:ext>
            </a:extLst>
          </p:cNvPr>
          <p:cNvSpPr txBox="1"/>
          <p:nvPr/>
        </p:nvSpPr>
        <p:spPr>
          <a:xfrm>
            <a:off x="8052179" y="2175154"/>
            <a:ext cx="3855928" cy="877163"/>
          </a:xfrm>
          <a:prstGeom prst="rect">
            <a:avLst/>
          </a:prstGeom>
          <a:noFill/>
        </p:spPr>
        <p:txBody>
          <a:bodyPr wrap="square" anchor="ctr">
            <a:spAutoFit/>
          </a:bodyPr>
          <a:lstStyle/>
          <a:p>
            <a:pPr algn="ctr" defTabSz="456766">
              <a:lnSpc>
                <a:spcPct val="85000"/>
              </a:lnSpc>
              <a:defRPr/>
            </a:pPr>
            <a:r>
              <a:rPr lang="en-US" sz="6800" b="1">
                <a:solidFill>
                  <a:srgbClr val="8FFFDB"/>
                </a:solidFill>
                <a:latin typeface="Source Sans 3"/>
                <a:cs typeface="Source Sans 3" panose="020B0404040101010104" pitchFamily="34" charset="77"/>
              </a:rPr>
              <a:t>12</a:t>
            </a:r>
            <a:endParaRPr lang="en-US" sz="6000" b="1" baseline="30000">
              <a:solidFill>
                <a:schemeClr val="accent1"/>
              </a:solidFill>
              <a:latin typeface="Source Sans 3"/>
              <a:cs typeface="Source Sans 3" panose="020B0404040101010104" pitchFamily="34" charset="77"/>
            </a:endParaRPr>
          </a:p>
        </p:txBody>
      </p:sp>
      <p:sp>
        <p:nvSpPr>
          <p:cNvPr id="11" name="TextBox 10">
            <a:extLst>
              <a:ext uri="{FF2B5EF4-FFF2-40B4-BE49-F238E27FC236}">
                <a16:creationId xmlns:a16="http://schemas.microsoft.com/office/drawing/2014/main" id="{77D73664-0EAC-5741-9138-50BB8BA4A38A}"/>
              </a:ext>
            </a:extLst>
          </p:cNvPr>
          <p:cNvSpPr txBox="1"/>
          <p:nvPr/>
        </p:nvSpPr>
        <p:spPr>
          <a:xfrm>
            <a:off x="8058568" y="3001549"/>
            <a:ext cx="3855928" cy="563231"/>
          </a:xfrm>
          <a:prstGeom prst="rect">
            <a:avLst/>
          </a:prstGeom>
          <a:noFill/>
        </p:spPr>
        <p:txBody>
          <a:bodyPr wrap="square">
            <a:spAutoFit/>
          </a:bodyPr>
          <a:lstStyle/>
          <a:p>
            <a:pPr algn="ctr" defTabSz="456766">
              <a:lnSpc>
                <a:spcPct val="85000"/>
              </a:lnSpc>
              <a:defRPr/>
            </a:pPr>
            <a:r>
              <a:rPr lang="en-US" sz="1500">
                <a:solidFill>
                  <a:srgbClr val="F2F2F4"/>
                </a:solidFill>
                <a:latin typeface="Source Sans 3" panose="020B0504040101010104" pitchFamily="34" charset="77"/>
                <a:cs typeface="Source Sans 3" panose="020B0404040101010104" pitchFamily="34" charset="77"/>
              </a:rPr>
              <a:t>months of joint planning
and continuous improvement</a:t>
            </a:r>
            <a:endParaRPr lang="en-US" sz="1800" baseline="30000">
              <a:solidFill>
                <a:schemeClr val="bg2"/>
              </a:solidFill>
              <a:latin typeface="Source Sans 3" panose="020B0504040101010104" pitchFamily="34" charset="77"/>
              <a:cs typeface="Source Sans 3" panose="020B0404040101010104" pitchFamily="34" charset="77"/>
            </a:endParaRPr>
          </a:p>
        </p:txBody>
      </p:sp>
      <p:sp>
        <p:nvSpPr>
          <p:cNvPr id="5" name="Footer Placeholder 4">
            <a:extLst>
              <a:ext uri="{FF2B5EF4-FFF2-40B4-BE49-F238E27FC236}">
                <a16:creationId xmlns:a16="http://schemas.microsoft.com/office/drawing/2014/main" id="{21B76FE1-A76E-0F59-9C4A-30575E31FBF6}"/>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415109037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5AB3F-2FCF-2411-B6A6-07378A7AF180}"/>
            </a:ext>
          </a:extLst>
        </p:cNvPr>
        <p:cNvGrpSpPr/>
        <p:nvPr/>
      </p:nvGrpSpPr>
      <p:grpSpPr>
        <a:xfrm>
          <a:off x="0" y="0"/>
          <a:ext cx="0" cy="0"/>
          <a:chOff x="0" y="0"/>
          <a:chExt cx="0" cy="0"/>
        </a:xfrm>
      </p:grpSpPr>
      <p:pic>
        <p:nvPicPr>
          <p:cNvPr id="20" name="Crossfuze road background" descr="Glowing road leading to a zero"/>
          <p:cNvPicPr>
            <a:picLocks noChangeAspect="1"/>
          </p:cNvPicPr>
          <p:nvPr/>
        </p:nvPicPr>
        <p:blipFill>
          <a:blip r:embed="rId3"/>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D85DD65D-07A4-1924-C165-42331D5F1DF4}"/>
              </a:ext>
            </a:extLst>
          </p:cNvPr>
          <p:cNvSpPr/>
          <p:nvPr/>
        </p:nvSpPr>
        <p:spPr>
          <a:xfrm rot="10800000" flipH="1">
            <a:off x="2209224" y="893"/>
            <a:ext cx="7602607" cy="6856214"/>
          </a:xfrm>
          <a:prstGeom prst="rect">
            <a:avLst/>
          </a:prstGeom>
          <a:gradFill>
            <a:gsLst>
              <a:gs pos="61000">
                <a:srgbClr val="040E3D">
                  <a:alpha val="67020"/>
                </a:srgbClr>
              </a:gs>
              <a:gs pos="23000">
                <a:schemeClr val="tx2"/>
              </a:gs>
              <a:gs pos="93000">
                <a:schemeClr val="tx2">
                  <a:alpha val="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2" name="Rectangle 11">
            <a:extLst>
              <a:ext uri="{FF2B5EF4-FFF2-40B4-BE49-F238E27FC236}">
                <a16:creationId xmlns:a16="http://schemas.microsoft.com/office/drawing/2014/main" id="{2725703B-06E3-C756-9B25-35C992E5E40A}"/>
              </a:ext>
            </a:extLst>
          </p:cNvPr>
          <p:cNvSpPr/>
          <p:nvPr/>
        </p:nvSpPr>
        <p:spPr>
          <a:xfrm rot="10800000" flipH="1">
            <a:off x="476" y="893"/>
            <a:ext cx="7602607" cy="6856214"/>
          </a:xfrm>
          <a:prstGeom prst="rect">
            <a:avLst/>
          </a:prstGeom>
          <a:gradFill>
            <a:gsLst>
              <a:gs pos="61000">
                <a:srgbClr val="040E3D">
                  <a:alpha val="67020"/>
                </a:srgbClr>
              </a:gs>
              <a:gs pos="23000">
                <a:schemeClr val="tx2"/>
              </a:gs>
              <a:gs pos="93000">
                <a:schemeClr val="tx2">
                  <a:alpha val="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a:extLst>
              <a:ext uri="{FF2B5EF4-FFF2-40B4-BE49-F238E27FC236}">
                <a16:creationId xmlns:a16="http://schemas.microsoft.com/office/drawing/2014/main" id="{26E61470-3056-CD1F-107A-ABE493CCB73C}"/>
              </a:ext>
            </a:extLst>
          </p:cNvPr>
          <p:cNvSpPr txBox="1"/>
          <p:nvPr/>
        </p:nvSpPr>
        <p:spPr>
          <a:xfrm>
            <a:off x="504291" y="2003865"/>
            <a:ext cx="3553495" cy="1067578"/>
          </a:xfrm>
          <a:prstGeom prst="rect">
            <a:avLst/>
          </a:prstGeom>
          <a:noFill/>
        </p:spPr>
        <p:txBody>
          <a:bodyPr wrap="square" lIns="0" tIns="0" rIns="0" bIns="0" rtlCol="0" anchor="b">
            <a:spAutoFit/>
          </a:bodyPr>
          <a:lstStyle/>
          <a:p>
            <a:pPr>
              <a:lnSpc>
                <a:spcPct val="80000"/>
              </a:lnSpc>
            </a:pPr>
            <a:endParaRPr/>
          </a:p>
        </p:txBody>
      </p:sp>
      <p:sp>
        <p:nvSpPr>
          <p:cNvPr id="9" name="TextBox 8">
            <a:extLst>
              <a:ext uri="{FF2B5EF4-FFF2-40B4-BE49-F238E27FC236}">
                <a16:creationId xmlns:a16="http://schemas.microsoft.com/office/drawing/2014/main" id="{3C6DAE01-EFC8-2FAD-84FB-7951678513E5}"/>
              </a:ext>
            </a:extLst>
          </p:cNvPr>
          <p:cNvSpPr txBox="1"/>
          <p:nvPr/>
        </p:nvSpPr>
        <p:spPr>
          <a:xfrm>
            <a:off x="504289" y="2994835"/>
            <a:ext cx="4900782" cy="1067578"/>
          </a:xfrm>
          <a:prstGeom prst="rect">
            <a:avLst/>
          </a:prstGeom>
          <a:noFill/>
        </p:spPr>
        <p:txBody>
          <a:bodyPr wrap="square" lIns="0" tIns="0" rIns="0" bIns="0" rtlCol="0" anchor="b">
            <a:spAutoFit/>
          </a:bodyPr>
          <a:lstStyle/>
          <a:p>
            <a:pPr>
              <a:lnSpc>
                <a:spcPct val="80000"/>
              </a:lnSpc>
            </a:pPr>
            <a:endParaRPr/>
          </a:p>
        </p:txBody>
      </p:sp>
      <p:sp>
        <p:nvSpPr>
          <p:cNvPr id="13" name="TextBox 12">
            <a:extLst>
              <a:ext uri="{FF2B5EF4-FFF2-40B4-BE49-F238E27FC236}">
                <a16:creationId xmlns:a16="http://schemas.microsoft.com/office/drawing/2014/main" id="{BC8547D4-CBF2-A8DF-CD9B-4AD66E469535}"/>
              </a:ext>
            </a:extLst>
          </p:cNvPr>
          <p:cNvSpPr txBox="1"/>
          <p:nvPr/>
        </p:nvSpPr>
        <p:spPr>
          <a:xfrm>
            <a:off x="504290" y="3985806"/>
            <a:ext cx="5933766" cy="1067578"/>
          </a:xfrm>
          <a:prstGeom prst="rect">
            <a:avLst/>
          </a:prstGeom>
          <a:noFill/>
        </p:spPr>
        <p:txBody>
          <a:bodyPr wrap="square" lIns="0" tIns="0" rIns="0" bIns="0" rtlCol="0" anchor="b">
            <a:spAutoFit/>
          </a:bodyPr>
          <a:lstStyle/>
          <a:p>
            <a:pPr>
              <a:lnSpc>
                <a:spcPct val="80000"/>
              </a:lnSpc>
            </a:pPr>
            <a:endParaRPr/>
          </a:p>
        </p:txBody>
      </p:sp>
      <p:sp>
        <p:nvSpPr>
          <p:cNvPr id="16" name="Close headline 1"/>
          <p:cNvSpPr txBox="1"/>
          <p:nvPr/>
        </p:nvSpPr>
        <p:spPr>
          <a:xfrm>
            <a:off x="566928" y="1874519"/>
            <a:ext cx="5806440" cy="978408"/>
          </a:xfrm>
          <a:prstGeom prst="rect">
            <a:avLst/>
          </a:prstGeom>
          <a:noFill/>
        </p:spPr>
        <p:txBody>
          <a:bodyPr wrap="square" lIns="32004" tIns="0" rIns="32004" bIns="0" anchor="ctr">
            <a:spAutoFit/>
          </a:bodyPr>
          <a:lstStyle/>
          <a:p>
            <a:pPr algn="l"/>
            <a:r>
              <a:rPr sz="4500" b="1">
                <a:solidFill>
                  <a:srgbClr val="8FFFDB"/>
                </a:solidFill>
                <a:latin typeface="Source Sans 3"/>
              </a:rPr>
              <a:t>Agree the first</a:t>
            </a:r>
          </a:p>
        </p:txBody>
      </p:sp>
      <p:sp>
        <p:nvSpPr>
          <p:cNvPr id="17" name="Close headline 2"/>
          <p:cNvSpPr txBox="1"/>
          <p:nvPr/>
        </p:nvSpPr>
        <p:spPr>
          <a:xfrm>
            <a:off x="566928" y="2862072"/>
            <a:ext cx="5806440" cy="996696"/>
          </a:xfrm>
          <a:prstGeom prst="rect">
            <a:avLst/>
          </a:prstGeom>
          <a:noFill/>
        </p:spPr>
        <p:txBody>
          <a:bodyPr wrap="square" lIns="32004" tIns="0" rIns="32004" bIns="0" anchor="ctr">
            <a:spAutoFit/>
          </a:bodyPr>
          <a:lstStyle/>
          <a:p>
            <a:pPr algn="l"/>
            <a:r>
              <a:rPr sz="4500" b="1">
                <a:solidFill>
                  <a:srgbClr val="F2F2F4"/>
                </a:solidFill>
                <a:latin typeface="Source Sans 3"/>
              </a:rPr>
              <a:t>safe outcome.</a:t>
            </a:r>
          </a:p>
        </p:txBody>
      </p:sp>
      <p:sp>
        <p:nvSpPr>
          <p:cNvPr id="18" name="Close message"/>
          <p:cNvSpPr txBox="1"/>
          <p:nvPr/>
        </p:nvSpPr>
        <p:spPr>
          <a:xfrm>
            <a:off x="576072" y="4297680"/>
            <a:ext cx="5285232" cy="548640"/>
          </a:xfrm>
          <a:prstGeom prst="rect">
            <a:avLst/>
          </a:prstGeom>
          <a:noFill/>
        </p:spPr>
        <p:txBody>
          <a:bodyPr wrap="square" lIns="32004" tIns="0" rIns="32004" bIns="0" anchor="ctr">
            <a:spAutoFit/>
          </a:bodyPr>
          <a:lstStyle/>
          <a:p>
            <a:pPr algn="l"/>
            <a:r>
              <a:rPr sz="1500" b="0">
                <a:solidFill>
                  <a:srgbClr val="F2F2F4"/>
                </a:solidFill>
                <a:latin typeface="Source Sans 3"/>
              </a:rPr>
              <a:t>Confirm the first Zero, measures, owners and scope for a tailored AI RunState proposal.</a:t>
            </a:r>
          </a:p>
        </p:txBody>
      </p:sp>
      <p:sp>
        <p:nvSpPr>
          <p:cNvPr id="19" name="Close next step"/>
          <p:cNvSpPr txBox="1"/>
          <p:nvPr/>
        </p:nvSpPr>
        <p:spPr>
          <a:xfrm>
            <a:off x="576072" y="5239512"/>
            <a:ext cx="5321808" cy="356616"/>
          </a:xfrm>
          <a:prstGeom prst="rect">
            <a:avLst/>
          </a:prstGeom>
          <a:noFill/>
        </p:spPr>
        <p:txBody>
          <a:bodyPr wrap="square" lIns="32004" tIns="0" rIns="32004" bIns="0" anchor="ctr">
            <a:spAutoFit/>
          </a:bodyPr>
          <a:lstStyle/>
          <a:p>
            <a:pPr algn="l"/>
            <a:r>
              <a:rPr sz="1300" b="1">
                <a:solidFill>
                  <a:srgbClr val="8FFFDB"/>
                </a:solidFill>
                <a:latin typeface="Source Sans 3"/>
              </a:rPr>
              <a:t>NEXT STEP  →  Agree scope and request the AI RunState proposal.</a:t>
            </a:r>
          </a:p>
        </p:txBody>
      </p:sp>
    </p:spTree>
    <p:extLst>
      <p:ext uri="{BB962C8B-B14F-4D97-AF65-F5344CB8AC3E}">
        <p14:creationId xmlns:p14="http://schemas.microsoft.com/office/powerpoint/2010/main" val="389324260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FAFCD9-75E9-1318-1A8E-9BB1E6614471}"/>
            </a:ext>
          </a:extLst>
        </p:cNvPr>
        <p:cNvGrpSpPr/>
        <p:nvPr/>
      </p:nvGrpSpPr>
      <p:grpSpPr>
        <a:xfrm>
          <a:off x="0" y="0"/>
          <a:ext cx="0" cy="0"/>
          <a:chOff x="0" y="0"/>
          <a:chExt cx="0" cy="0"/>
        </a:xfrm>
      </p:grpSpPr>
      <p:pic>
        <p:nvPicPr>
          <p:cNvPr id="7" name="Road to Zero cover image">
            <a:extLst>
              <a:ext uri="{FF2B5EF4-FFF2-40B4-BE49-F238E27FC236}">
                <a16:creationId xmlns:a16="http://schemas.microsoft.com/office/drawing/2014/main" id="{953B6061-EF4D-98F2-952D-2FF176C73B04}"/>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587" y="1786"/>
            <a:ext cx="12185651" cy="6854429"/>
          </a:xfrm>
          <a:prstGeom prst="rect">
            <a:avLst/>
          </a:prstGeom>
        </p:spPr>
      </p:pic>
      <p:pic>
        <p:nvPicPr>
          <p:cNvPr id="13" name="Crossfuze logo">
            <a:extLst>
              <a:ext uri="{FF2B5EF4-FFF2-40B4-BE49-F238E27FC236}">
                <a16:creationId xmlns:a16="http://schemas.microsoft.com/office/drawing/2014/main" id="{5775B43A-977F-0438-4127-186BFCD51DE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2920" y="384048"/>
            <a:ext cx="1600200" cy="457200"/>
          </a:xfrm>
          <a:prstGeom prst="rect">
            <a:avLst/>
          </a:prstGeom>
        </p:spPr>
      </p:pic>
      <p:sp>
        <p:nvSpPr>
          <p:cNvPr id="213" name="Edition">
            <a:extLst>
              <a:ext uri="{FF2B5EF4-FFF2-40B4-BE49-F238E27FC236}">
                <a16:creationId xmlns:a16="http://schemas.microsoft.com/office/drawing/2014/main" id="{72E98228-3A92-9AF1-FC2D-BDE4FEB9C468}"/>
              </a:ext>
            </a:extLst>
          </p:cNvPr>
          <p:cNvSpPr txBox="1"/>
          <p:nvPr/>
        </p:nvSpPr>
        <p:spPr>
          <a:xfrm>
            <a:off x="7863840" y="457200"/>
            <a:ext cx="3840480" cy="320040"/>
          </a:xfrm>
          <a:prstGeom prst="rect">
            <a:avLst/>
          </a:prstGeom>
          <a:noFill/>
        </p:spPr>
        <p:txBody>
          <a:bodyPr wrap="square" lIns="0" tIns="0" rIns="0" bIns="0" anchor="ctr">
            <a:noAutofit/>
          </a:bodyPr>
          <a:lstStyle/>
          <a:p>
            <a:pPr algn="r">
              <a:spcAft>
                <a:spcPts val="0"/>
              </a:spcAft>
            </a:pPr>
            <a:r>
              <a:rPr lang="en-GB" sz="1000" b="1" dirty="0">
                <a:solidFill>
                  <a:srgbClr val="FFFFFF">
                    <a:alpha val="75000"/>
                  </a:srgbClr>
                </a:solidFill>
                <a:latin typeface="Source Sans 3"/>
                <a:cs typeface="Source Sans 3"/>
              </a:rPr>
              <a:t>EDITION 2026</a:t>
            </a:r>
          </a:p>
        </p:txBody>
      </p:sp>
      <p:sp>
        <p:nvSpPr>
          <p:cNvPr id="214" name="Cover eyebrow">
            <a:extLst>
              <a:ext uri="{FF2B5EF4-FFF2-40B4-BE49-F238E27FC236}">
                <a16:creationId xmlns:a16="http://schemas.microsoft.com/office/drawing/2014/main" id="{B9DA3447-E697-86D0-12D6-9A104BB88FA4}"/>
              </a:ext>
            </a:extLst>
          </p:cNvPr>
          <p:cNvSpPr txBox="1"/>
          <p:nvPr/>
        </p:nvSpPr>
        <p:spPr>
          <a:xfrm>
            <a:off x="548640" y="1481328"/>
            <a:ext cx="6400800" cy="320040"/>
          </a:xfrm>
          <a:prstGeom prst="rect">
            <a:avLst/>
          </a:prstGeom>
          <a:noFill/>
        </p:spPr>
        <p:txBody>
          <a:bodyPr wrap="square" lIns="0" tIns="0" rIns="0" bIns="0" anchor="t">
            <a:noAutofit/>
          </a:bodyPr>
          <a:lstStyle/>
          <a:p>
            <a:pPr algn="l">
              <a:spcAft>
                <a:spcPts val="0"/>
              </a:spcAft>
            </a:pPr>
            <a:r>
              <a:rPr lang="en-GB" sz="1100" b="1" spc="300" dirty="0">
                <a:solidFill>
                  <a:srgbClr val="8FFFDB"/>
                </a:solidFill>
                <a:latin typeface="Source Sans 3"/>
                <a:cs typeface="Source Sans 3"/>
              </a:rPr>
              <a:t>MEETING TWO  ·  WORKING SESSION</a:t>
            </a:r>
          </a:p>
        </p:txBody>
      </p:sp>
      <p:sp>
        <p:nvSpPr>
          <p:cNvPr id="215" name="Cover title">
            <a:extLst>
              <a:ext uri="{FF2B5EF4-FFF2-40B4-BE49-F238E27FC236}">
                <a16:creationId xmlns:a16="http://schemas.microsoft.com/office/drawing/2014/main" id="{95FC0567-6A84-0D9E-1232-DF4B1267D043}"/>
              </a:ext>
            </a:extLst>
          </p:cNvPr>
          <p:cNvSpPr txBox="1"/>
          <p:nvPr/>
        </p:nvSpPr>
        <p:spPr>
          <a:xfrm>
            <a:off x="502920" y="1783080"/>
            <a:ext cx="6583680" cy="2240280"/>
          </a:xfrm>
          <a:prstGeom prst="rect">
            <a:avLst/>
          </a:prstGeom>
          <a:noFill/>
        </p:spPr>
        <p:txBody>
          <a:bodyPr wrap="square" lIns="0" tIns="0" rIns="0" bIns="0" anchor="t">
            <a:noAutofit/>
          </a:bodyPr>
          <a:lstStyle/>
          <a:p>
            <a:pPr algn="l">
              <a:lnSpc>
                <a:spcPct val="85000"/>
              </a:lnSpc>
              <a:spcAft>
                <a:spcPts val="0"/>
              </a:spcAft>
            </a:pPr>
            <a:r>
              <a:rPr lang="en-GB" sz="7200" b="1" dirty="0">
                <a:solidFill>
                  <a:srgbClr val="FFFFFF"/>
                </a:solidFill>
                <a:latin typeface="Source Sans 3"/>
                <a:cs typeface="Source Sans 3"/>
              </a:rPr>
              <a:t>Appendix</a:t>
            </a:r>
            <a:endParaRPr lang="en-GB" sz="7200" b="1" dirty="0">
              <a:solidFill>
                <a:srgbClr val="8FFFDB"/>
              </a:solidFill>
              <a:latin typeface="Source Sans 3"/>
              <a:cs typeface="Source Sans 3"/>
            </a:endParaRPr>
          </a:p>
        </p:txBody>
      </p:sp>
      <p:sp>
        <p:nvSpPr>
          <p:cNvPr id="216" name="Cover subtitle">
            <a:extLst>
              <a:ext uri="{FF2B5EF4-FFF2-40B4-BE49-F238E27FC236}">
                <a16:creationId xmlns:a16="http://schemas.microsoft.com/office/drawing/2014/main" id="{AF96B9B3-6316-4301-2446-05DC26725522}"/>
              </a:ext>
            </a:extLst>
          </p:cNvPr>
          <p:cNvSpPr txBox="1"/>
          <p:nvPr/>
        </p:nvSpPr>
        <p:spPr>
          <a:xfrm>
            <a:off x="548640" y="4069080"/>
            <a:ext cx="6035040" cy="502920"/>
          </a:xfrm>
          <a:prstGeom prst="rect">
            <a:avLst/>
          </a:prstGeom>
          <a:noFill/>
        </p:spPr>
        <p:txBody>
          <a:bodyPr wrap="square" lIns="0" tIns="0" rIns="0" bIns="0" anchor="t">
            <a:noAutofit/>
          </a:bodyPr>
          <a:lstStyle/>
          <a:p>
            <a:pPr algn="l">
              <a:spcAft>
                <a:spcPts val="0"/>
              </a:spcAft>
            </a:pPr>
            <a:r>
              <a:rPr lang="en-GB" sz="2400" b="0" dirty="0">
                <a:solidFill>
                  <a:srgbClr val="FFFFFF"/>
                </a:solidFill>
                <a:latin typeface="Source Sans 3"/>
                <a:cs typeface="Source Sans 3"/>
              </a:rPr>
              <a:t>From readiness to results.</a:t>
            </a:r>
          </a:p>
        </p:txBody>
      </p:sp>
      <p:sp>
        <p:nvSpPr>
          <p:cNvPr id="219" name="Partner line">
            <a:extLst>
              <a:ext uri="{FF2B5EF4-FFF2-40B4-BE49-F238E27FC236}">
                <a16:creationId xmlns:a16="http://schemas.microsoft.com/office/drawing/2014/main" id="{7EE03CC0-282B-30EF-D57D-D02DDCAB6891}"/>
              </a:ext>
            </a:extLst>
          </p:cNvPr>
          <p:cNvSpPr txBox="1"/>
          <p:nvPr/>
        </p:nvSpPr>
        <p:spPr>
          <a:xfrm>
            <a:off x="548640" y="6217920"/>
            <a:ext cx="6858000" cy="256032"/>
          </a:xfrm>
          <a:prstGeom prst="rect">
            <a:avLst/>
          </a:prstGeom>
          <a:noFill/>
        </p:spPr>
        <p:txBody>
          <a:bodyPr wrap="square" lIns="0" tIns="0" rIns="0" bIns="0" anchor="t">
            <a:noAutofit/>
          </a:bodyPr>
          <a:lstStyle/>
          <a:p>
            <a:pPr algn="l">
              <a:spcAft>
                <a:spcPts val="0"/>
              </a:spcAft>
            </a:pPr>
            <a:r>
              <a:rPr lang="en-GB" sz="1000" b="0" dirty="0">
                <a:solidFill>
                  <a:srgbClr val="FFFFFF">
                    <a:alpha val="65000"/>
                  </a:srgbClr>
                </a:solidFill>
                <a:latin typeface="Source Sans 3"/>
                <a:cs typeface="Source Sans 3"/>
              </a:rPr>
              <a:t>Crossfuze · ServiceNow Elite Partner</a:t>
            </a:r>
          </a:p>
        </p:txBody>
      </p:sp>
    </p:spTree>
    <p:extLst>
      <p:ext uri="{BB962C8B-B14F-4D97-AF65-F5344CB8AC3E}">
        <p14:creationId xmlns:p14="http://schemas.microsoft.com/office/powerpoint/2010/main" val="250424266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7B5674-C9D1-3F1A-602F-0B4CD8DA5AD1}"/>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BE644991-36F8-CCF3-B800-0C609E65D5D2}"/>
              </a:ext>
            </a:extLst>
          </p:cNvPr>
          <p:cNvPicPr/>
          <p:nvPr/>
        </p:nvPicPr>
        <p:blipFill>
          <a:blip r:embed="rId3" cstate="screen">
            <a:extLst>
              <a:ext uri="{28A0092B-C50C-407E-A947-70E740481C1C}">
                <a14:useLocalDpi xmlns:a14="http://schemas.microsoft.com/office/drawing/2010/main"/>
              </a:ext>
            </a:extLst>
          </a:blip>
          <a:srcRect l="7" r="7"/>
          <a:stretch/>
        </p:blipFill>
        <p:spPr>
          <a:xfrm>
            <a:off x="1" y="0"/>
            <a:ext cx="12193418" cy="6858000"/>
          </a:xfrm>
          <a:prstGeom prst="rect">
            <a:avLst/>
          </a:prstGeom>
        </p:spPr>
      </p:pic>
      <p:sp>
        <p:nvSpPr>
          <p:cNvPr id="34" name="bg_gradient">
            <a:extLst>
              <a:ext uri="{FF2B5EF4-FFF2-40B4-BE49-F238E27FC236}">
                <a16:creationId xmlns:a16="http://schemas.microsoft.com/office/drawing/2014/main" id="{13DD0D43-972D-D1D6-5381-354AE5D4B988}"/>
              </a:ext>
            </a:extLst>
          </p:cNvPr>
          <p:cNvSpPr/>
          <p:nvPr/>
        </p:nvSpPr>
        <p:spPr>
          <a:xfrm flipH="1">
            <a:off x="625353" y="1561481"/>
            <a:ext cx="10938109" cy="5573846"/>
          </a:xfrm>
          <a:prstGeom prst="roundRect">
            <a:avLst>
              <a:gd name="adj" fmla="val 4034"/>
            </a:avLst>
          </a:prstGeom>
          <a:gradFill flip="none" rotWithShape="1">
            <a:gsLst>
              <a:gs pos="92000">
                <a:schemeClr val="accent5">
                  <a:alpha val="0"/>
                </a:schemeClr>
              </a:gs>
              <a:gs pos="0">
                <a:srgbClr val="C0A6FF">
                  <a:alpha val="19055"/>
                </a:srgbClr>
              </a:gs>
            </a:gsLst>
            <a:lin ang="540000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pPr>
            <a:endParaRPr lang="en-US" sz="900" spc="-70" dirty="0">
              <a:solidFill>
                <a:schemeClr val="accent6"/>
              </a:solidFill>
              <a:latin typeface="Source Sans 3"/>
            </a:endParaRPr>
          </a:p>
        </p:txBody>
      </p:sp>
      <p:sp>
        <p:nvSpPr>
          <p:cNvPr id="7" name="bg_frame">
            <a:extLst>
              <a:ext uri="{FF2B5EF4-FFF2-40B4-BE49-F238E27FC236}">
                <a16:creationId xmlns:a16="http://schemas.microsoft.com/office/drawing/2014/main" id="{ECE71F56-2C1B-A585-F5C0-FDAE66E11730}"/>
              </a:ext>
            </a:extLst>
          </p:cNvPr>
          <p:cNvSpPr/>
          <p:nvPr/>
        </p:nvSpPr>
        <p:spPr>
          <a:xfrm flipH="1">
            <a:off x="625353" y="1561481"/>
            <a:ext cx="10938109" cy="5573846"/>
          </a:xfrm>
          <a:prstGeom prst="roundRect">
            <a:avLst>
              <a:gd name="adj" fmla="val 4034"/>
            </a:avLst>
          </a:prstGeom>
          <a:noFill/>
          <a:ln w="3175">
            <a:gradFill>
              <a:gsLst>
                <a:gs pos="0">
                  <a:srgbClr val="C0A6FF">
                    <a:alpha val="53000"/>
                  </a:srgbClr>
                </a:gs>
                <a:gs pos="49000">
                  <a:schemeClr val="accent3">
                    <a:alpha val="14000"/>
                  </a:schemeClr>
                </a:gs>
                <a:gs pos="65000">
                  <a:srgbClr val="C0A6FF">
                    <a:alpha val="0"/>
                  </a:srgbClr>
                </a:gs>
              </a:gsLst>
              <a:lin ang="5400000" scaled="1"/>
            </a:grad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pPr>
            <a:endParaRPr lang="en-US" sz="900" spc="-70" dirty="0">
              <a:solidFill>
                <a:schemeClr val="accent6"/>
              </a:solidFill>
              <a:latin typeface="Source Sans 3"/>
            </a:endParaRPr>
          </a:p>
        </p:txBody>
      </p:sp>
      <p:grpSp>
        <p:nvGrpSpPr>
          <p:cNvPr id="89" name="!!g1">
            <a:extLst>
              <a:ext uri="{FF2B5EF4-FFF2-40B4-BE49-F238E27FC236}">
                <a16:creationId xmlns:a16="http://schemas.microsoft.com/office/drawing/2014/main" id="{FBFA46F2-B520-6E09-6C05-0F150126AA27}"/>
              </a:ext>
            </a:extLst>
          </p:cNvPr>
          <p:cNvGrpSpPr/>
          <p:nvPr/>
        </p:nvGrpSpPr>
        <p:grpSpPr>
          <a:xfrm>
            <a:off x="1010048" y="3048396"/>
            <a:ext cx="1908684" cy="2379708"/>
            <a:chOff x="1010048" y="3048396"/>
            <a:chExt cx="1908684" cy="2379708"/>
          </a:xfrm>
        </p:grpSpPr>
        <p:sp>
          <p:nvSpPr>
            <p:cNvPr id="81" name="Rounded Rectangle 80">
              <a:extLst>
                <a:ext uri="{FF2B5EF4-FFF2-40B4-BE49-F238E27FC236}">
                  <a16:creationId xmlns:a16="http://schemas.microsoft.com/office/drawing/2014/main" id="{655B875A-28CC-214C-1DD9-EDA0B75460C6}"/>
                </a:ext>
              </a:extLst>
            </p:cNvPr>
            <p:cNvSpPr/>
            <p:nvPr/>
          </p:nvSpPr>
          <p:spPr>
            <a:xfrm>
              <a:off x="1010048"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37" name="Rounded Rectangle 36">
              <a:extLst>
                <a:ext uri="{FF2B5EF4-FFF2-40B4-BE49-F238E27FC236}">
                  <a16:creationId xmlns:a16="http://schemas.microsoft.com/office/drawing/2014/main" id="{7C323C43-49E0-4F99-7AD4-099A8BBC828D}"/>
                </a:ext>
              </a:extLst>
            </p:cNvPr>
            <p:cNvSpPr/>
            <p:nvPr/>
          </p:nvSpPr>
          <p:spPr>
            <a:xfrm>
              <a:off x="1012369"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19" name="TextBox 18">
              <a:extLst>
                <a:ext uri="{FF2B5EF4-FFF2-40B4-BE49-F238E27FC236}">
                  <a16:creationId xmlns:a16="http://schemas.microsoft.com/office/drawing/2014/main" id="{2C75C9DF-9444-3E15-CDA7-CC15A59A009F}"/>
                </a:ext>
              </a:extLst>
            </p:cNvPr>
            <p:cNvSpPr txBox="1">
              <a:spLocks/>
            </p:cNvSpPr>
            <p:nvPr/>
          </p:nvSpPr>
          <p:spPr>
            <a:xfrm>
              <a:off x="1375640" y="4650613"/>
              <a:ext cx="1179823" cy="645906"/>
            </a:xfrm>
            <a:prstGeom prst="rect">
              <a:avLst/>
            </a:prstGeom>
            <a:noFill/>
          </p:spPr>
          <p:txBody>
            <a:bodyPr wrap="none" rtlCol="0">
              <a:spAutoFit/>
            </a:bodyPr>
            <a:lstStyle/>
            <a:p>
              <a:pPr lvl="0" algn="ctr">
                <a:lnSpc>
                  <a:spcPct val="90000"/>
                </a:lnSpc>
                <a:defRPr/>
              </a:pPr>
              <a:r>
                <a:rPr lang="en-US" sz="1998" b="1">
                  <a:solidFill>
                    <a:srgbClr val="8FFFDB"/>
                  </a:solidFill>
                  <a:latin typeface="Source Sans 3" panose="020B0504040101010104" pitchFamily="34" charset="77"/>
                </a:rPr>
                <a:t>Touch</a:t>
              </a:r>
              <a:br>
                <a:rPr lang="en-US" sz="1998" b="1">
                  <a:solidFill>
                    <a:srgbClr val="8FFFDB"/>
                  </a:solidFill>
                  <a:latin typeface="Source Sans 3" panose="020B0504040101010104" pitchFamily="34" charset="77"/>
                </a:rPr>
              </a:br>
              <a:r>
                <a:rPr lang="en-US" sz="1998" b="1">
                  <a:solidFill>
                    <a:schemeClr val="bg1"/>
                  </a:solidFill>
                  <a:latin typeface="Source Sans 3" panose="020B0504040101010104" pitchFamily="34" charset="77"/>
                </a:rPr>
                <a:t>Support</a:t>
              </a:r>
            </a:p>
          </p:txBody>
        </p:sp>
        <p:cxnSp>
          <p:nvCxnSpPr>
            <p:cNvPr id="21" name="Straight Connector 20">
              <a:extLst>
                <a:ext uri="{FF2B5EF4-FFF2-40B4-BE49-F238E27FC236}">
                  <a16:creationId xmlns:a16="http://schemas.microsoft.com/office/drawing/2014/main" id="{E89032C2-8D8E-9EE5-A4DD-1A811C73EC28}"/>
                </a:ext>
              </a:extLst>
            </p:cNvPr>
            <p:cNvCxnSpPr>
              <a:cxnSpLocks/>
            </p:cNvCxnSpPr>
            <p:nvPr/>
          </p:nvCxnSpPr>
          <p:spPr>
            <a:xfrm>
              <a:off x="1196293"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58F0491-FABB-A52C-C9DC-4E832D2D6CFE}"/>
                </a:ext>
              </a:extLst>
            </p:cNvPr>
            <p:cNvSpPr txBox="1">
              <a:spLocks/>
            </p:cNvSpPr>
            <p:nvPr/>
          </p:nvSpPr>
          <p:spPr>
            <a:xfrm>
              <a:off x="1575445" y="3183884"/>
              <a:ext cx="780216" cy="1445796"/>
            </a:xfrm>
            <a:prstGeom prst="rect">
              <a:avLst/>
            </a:prstGeom>
            <a:noFill/>
          </p:spPr>
          <p:txBody>
            <a:bodyPr wrap="square" rtlCol="0">
              <a:spAutoFit/>
            </a:bodyPr>
            <a:lstStyle/>
            <a:p>
              <a:pPr algn="ctr" defTabSz="913578">
                <a:defRPr/>
              </a:pPr>
              <a:r>
                <a:rPr lang="en-US" sz="8794" b="1">
                  <a:solidFill>
                    <a:srgbClr val="FFFFFF"/>
                  </a:solidFill>
                  <a:latin typeface="Source Sans 3" panose="020B0504040101010104" pitchFamily="34" charset="77"/>
                  <a:cs typeface="Source Sans 3" panose="020B0604040101010104" pitchFamily="34" charset="0"/>
                </a:rPr>
                <a:t>0</a:t>
              </a:r>
            </a:p>
          </p:txBody>
        </p:sp>
        <p:sp>
          <p:nvSpPr>
            <p:cNvPr id="57" name="Rounded Rectangle 20">
              <a:extLst>
                <a:ext uri="{FF2B5EF4-FFF2-40B4-BE49-F238E27FC236}">
                  <a16:creationId xmlns:a16="http://schemas.microsoft.com/office/drawing/2014/main" id="{A7F146F6-8CAE-5451-9CE7-92B00F385E7F}"/>
                </a:ext>
                <a:ext uri="{C183D7F6-B498-43B3-948B-1728B52AA6E4}">
                  <adec:decorative xmlns:adec="http://schemas.microsoft.com/office/drawing/2017/decorative" val="1"/>
                </a:ext>
              </a:extLst>
            </p:cNvPr>
            <p:cNvSpPr>
              <a:spLocks/>
            </p:cNvSpPr>
            <p:nvPr/>
          </p:nvSpPr>
          <p:spPr>
            <a:xfrm>
              <a:off x="1086994"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900" b="1">
                  <a:solidFill>
                    <a:schemeClr val="tx2"/>
                  </a:solidFill>
                  <a:latin typeface="Source Sans 3" panose="020B0504040101010104" pitchFamily="34" charset="77"/>
                </a:rPr>
                <a:t>Head of Service Desk</a:t>
              </a:r>
            </a:p>
          </p:txBody>
        </p:sp>
      </p:grpSp>
      <p:sp>
        <p:nvSpPr>
          <p:cNvPr id="29" name="Title 28">
            <a:extLst>
              <a:ext uri="{FF2B5EF4-FFF2-40B4-BE49-F238E27FC236}">
                <a16:creationId xmlns:a16="http://schemas.microsoft.com/office/drawing/2014/main" id="{E8B10B4A-333D-08A8-D088-929DAF46C847}"/>
              </a:ext>
            </a:extLst>
          </p:cNvPr>
          <p:cNvSpPr>
            <a:spLocks noGrp="1"/>
          </p:cNvSpPr>
          <p:nvPr>
            <p:ph type="title"/>
          </p:nvPr>
        </p:nvSpPr>
        <p:spPr>
          <a:xfrm>
            <a:off x="552925" y="530352"/>
            <a:ext cx="11082973" cy="594360"/>
          </a:xfrm>
        </p:spPr>
        <p:txBody>
          <a:bodyPr wrap="square"/>
          <a:lstStyle/>
          <a:p>
            <a:pPr algn="ctr"/>
            <a:r>
              <a:rPr lang="en-US" sz="3500" dirty="0">
                <a:solidFill>
                  <a:schemeClr val="accent1"/>
                </a:solidFill>
              </a:rPr>
              <a:t>What does your evidence say?</a:t>
            </a:r>
          </a:p>
        </p:txBody>
      </p:sp>
      <p:sp>
        <p:nvSpPr>
          <p:cNvPr id="33" name="Text Placeholder 32">
            <a:extLst>
              <a:ext uri="{FF2B5EF4-FFF2-40B4-BE49-F238E27FC236}">
                <a16:creationId xmlns:a16="http://schemas.microsoft.com/office/drawing/2014/main" id="{008D36D3-79F7-E36B-DDD6-290A808F1317}"/>
              </a:ext>
            </a:extLst>
          </p:cNvPr>
          <p:cNvSpPr>
            <a:spLocks noGrp="1"/>
          </p:cNvSpPr>
          <p:nvPr>
            <p:ph type="body" sz="quarter" idx="11"/>
          </p:nvPr>
        </p:nvSpPr>
        <p:spPr>
          <a:xfrm>
            <a:off x="1467643" y="6467293"/>
            <a:ext cx="9253538" cy="109728"/>
          </a:xfrm>
        </p:spPr>
        <p:txBody>
          <a:bodyPr/>
          <a:lstStyle/>
          <a:p>
            <a:pPr algn="ctr"/>
            <a:r>
              <a:rPr lang="en-US" dirty="0"/>
              <a:t>Projected outcomes shown are illustrative, not guaranteed.</a:t>
            </a:r>
          </a:p>
        </p:txBody>
      </p:sp>
      <p:grpSp>
        <p:nvGrpSpPr>
          <p:cNvPr id="90" name="!!g2">
            <a:extLst>
              <a:ext uri="{FF2B5EF4-FFF2-40B4-BE49-F238E27FC236}">
                <a16:creationId xmlns:a16="http://schemas.microsoft.com/office/drawing/2014/main" id="{850FA2AA-F335-4E39-6FFA-2F876D998C59}"/>
              </a:ext>
            </a:extLst>
          </p:cNvPr>
          <p:cNvGrpSpPr/>
          <p:nvPr/>
        </p:nvGrpSpPr>
        <p:grpSpPr>
          <a:xfrm>
            <a:off x="3087911" y="3048396"/>
            <a:ext cx="1910518" cy="2379708"/>
            <a:chOff x="3087911" y="3048396"/>
            <a:chExt cx="1910518" cy="2379708"/>
          </a:xfrm>
        </p:grpSpPr>
        <p:sp>
          <p:nvSpPr>
            <p:cNvPr id="82" name="Rounded Rectangle 81">
              <a:extLst>
                <a:ext uri="{FF2B5EF4-FFF2-40B4-BE49-F238E27FC236}">
                  <a16:creationId xmlns:a16="http://schemas.microsoft.com/office/drawing/2014/main" id="{8A5235F5-E180-4AA6-78DB-62C311244D72}"/>
                </a:ext>
              </a:extLst>
            </p:cNvPr>
            <p:cNvSpPr/>
            <p:nvPr/>
          </p:nvSpPr>
          <p:spPr>
            <a:xfrm>
              <a:off x="3092066"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39" name="Rounded Rectangle 38">
              <a:extLst>
                <a:ext uri="{FF2B5EF4-FFF2-40B4-BE49-F238E27FC236}">
                  <a16:creationId xmlns:a16="http://schemas.microsoft.com/office/drawing/2014/main" id="{E89F768B-FB98-68FD-CE0B-F0783A802E42}"/>
                </a:ext>
              </a:extLst>
            </p:cNvPr>
            <p:cNvSpPr/>
            <p:nvPr/>
          </p:nvSpPr>
          <p:spPr>
            <a:xfrm>
              <a:off x="3087911"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23" name="TextBox 22">
              <a:extLst>
                <a:ext uri="{FF2B5EF4-FFF2-40B4-BE49-F238E27FC236}">
                  <a16:creationId xmlns:a16="http://schemas.microsoft.com/office/drawing/2014/main" id="{BC024472-C1A4-7D3F-9ACC-D1FF31031D37}"/>
                </a:ext>
              </a:extLst>
            </p:cNvPr>
            <p:cNvSpPr txBox="1">
              <a:spLocks/>
            </p:cNvSpPr>
            <p:nvPr/>
          </p:nvSpPr>
          <p:spPr>
            <a:xfrm>
              <a:off x="3412024" y="4650613"/>
              <a:ext cx="1235914"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1998" b="1">
                  <a:solidFill>
                    <a:srgbClr val="8FFFDB"/>
                  </a:solidFill>
                  <a:latin typeface="Source Sans 3" panose="020B0504040101010104" pitchFamily="34" charset="77"/>
                </a:rPr>
                <a:t>Service</a:t>
              </a:r>
            </a:p>
            <a:p>
              <a:pPr lvl="0">
                <a:lnSpc>
                  <a:spcPct val="90000"/>
                </a:lnSpc>
                <a:defRPr/>
              </a:pPr>
              <a:r>
                <a:rPr lang="en-US" sz="1998" b="1">
                  <a:latin typeface="Source Sans 3" panose="020B0504040101010104" pitchFamily="34" charset="77"/>
                </a:rPr>
                <a:t>Outages</a:t>
              </a:r>
            </a:p>
          </p:txBody>
        </p:sp>
        <p:sp>
          <p:nvSpPr>
            <p:cNvPr id="44" name="TextBox 43">
              <a:extLst>
                <a:ext uri="{FF2B5EF4-FFF2-40B4-BE49-F238E27FC236}">
                  <a16:creationId xmlns:a16="http://schemas.microsoft.com/office/drawing/2014/main" id="{55D5F1B7-7E0A-EFD6-9D92-6F3672037612}"/>
                </a:ext>
              </a:extLst>
            </p:cNvPr>
            <p:cNvSpPr txBox="1">
              <a:spLocks/>
            </p:cNvSpPr>
            <p:nvPr/>
          </p:nvSpPr>
          <p:spPr>
            <a:xfrm>
              <a:off x="3639875" y="3183884"/>
              <a:ext cx="780216" cy="1445796"/>
            </a:xfrm>
            <a:prstGeom prst="rect">
              <a:avLst/>
            </a:prstGeom>
            <a:noFill/>
          </p:spPr>
          <p:txBody>
            <a:bodyPr wrap="square" rtlCol="0">
              <a:spAutoFit/>
            </a:bodyPr>
            <a:lstStyle/>
            <a:p>
              <a:pPr algn="ctr" defTabSz="913578">
                <a:defRPr/>
              </a:pPr>
              <a:r>
                <a:rPr lang="en-US" sz="8794" b="1" dirty="0">
                  <a:solidFill>
                    <a:srgbClr val="FFFFFF"/>
                  </a:solidFill>
                  <a:latin typeface="Source Sans 3" panose="020B0504040101010104" pitchFamily="34" charset="77"/>
                  <a:cs typeface="Source Sans 3" panose="020B0604040101010104" pitchFamily="34" charset="0"/>
                </a:rPr>
                <a:t>0</a:t>
              </a:r>
            </a:p>
          </p:txBody>
        </p:sp>
        <p:sp>
          <p:nvSpPr>
            <p:cNvPr id="56" name="Rounded Rectangle 20">
              <a:extLst>
                <a:ext uri="{FF2B5EF4-FFF2-40B4-BE49-F238E27FC236}">
                  <a16:creationId xmlns:a16="http://schemas.microsoft.com/office/drawing/2014/main" id="{11489479-4BAA-0D32-2C29-7485855C21D6}"/>
                </a:ext>
                <a:ext uri="{C183D7F6-B498-43B3-948B-1728B52AA6E4}">
                  <adec:decorative xmlns:adec="http://schemas.microsoft.com/office/drawing/2017/decorative" val="1"/>
                </a:ext>
              </a:extLst>
            </p:cNvPr>
            <p:cNvSpPr>
              <a:spLocks/>
            </p:cNvSpPr>
            <p:nvPr/>
          </p:nvSpPr>
          <p:spPr>
            <a:xfrm>
              <a:off x="3158402"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900" b="1">
                  <a:solidFill>
                    <a:schemeClr val="tx2"/>
                  </a:solidFill>
                  <a:latin typeface="Source Sans 3" panose="020B0504040101010104" pitchFamily="34" charset="77"/>
                </a:rPr>
                <a:t>Head of Tech Operations</a:t>
              </a:r>
            </a:p>
          </p:txBody>
        </p:sp>
        <p:cxnSp>
          <p:nvCxnSpPr>
            <p:cNvPr id="65" name="Straight Connector 64">
              <a:extLst>
                <a:ext uri="{FF2B5EF4-FFF2-40B4-BE49-F238E27FC236}">
                  <a16:creationId xmlns:a16="http://schemas.microsoft.com/office/drawing/2014/main" id="{515E5E87-585E-318E-FD04-D1A7846BB209}"/>
                </a:ext>
              </a:extLst>
            </p:cNvPr>
            <p:cNvCxnSpPr>
              <a:cxnSpLocks/>
            </p:cNvCxnSpPr>
            <p:nvPr/>
          </p:nvCxnSpPr>
          <p:spPr>
            <a:xfrm>
              <a:off x="3271835"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91" name="!!g3">
            <a:extLst>
              <a:ext uri="{FF2B5EF4-FFF2-40B4-BE49-F238E27FC236}">
                <a16:creationId xmlns:a16="http://schemas.microsoft.com/office/drawing/2014/main" id="{D4F9B894-F47F-7960-1B55-F80BD13E3E13}"/>
              </a:ext>
            </a:extLst>
          </p:cNvPr>
          <p:cNvGrpSpPr/>
          <p:nvPr/>
        </p:nvGrpSpPr>
        <p:grpSpPr>
          <a:xfrm>
            <a:off x="5138915" y="3048396"/>
            <a:ext cx="1909130" cy="2379708"/>
            <a:chOff x="5138915" y="3048396"/>
            <a:chExt cx="1909130" cy="2379708"/>
          </a:xfrm>
        </p:grpSpPr>
        <p:sp>
          <p:nvSpPr>
            <p:cNvPr id="83" name="Rounded Rectangle 82">
              <a:extLst>
                <a:ext uri="{FF2B5EF4-FFF2-40B4-BE49-F238E27FC236}">
                  <a16:creationId xmlns:a16="http://schemas.microsoft.com/office/drawing/2014/main" id="{E1E70C08-48B8-85B0-6421-C62239DA1FB9}"/>
                </a:ext>
              </a:extLst>
            </p:cNvPr>
            <p:cNvSpPr/>
            <p:nvPr/>
          </p:nvSpPr>
          <p:spPr>
            <a:xfrm>
              <a:off x="5138915"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42" name="Rounded Rectangle 41">
              <a:extLst>
                <a:ext uri="{FF2B5EF4-FFF2-40B4-BE49-F238E27FC236}">
                  <a16:creationId xmlns:a16="http://schemas.microsoft.com/office/drawing/2014/main" id="{FCA801CB-0DA1-0925-1E0F-612FB1029985}"/>
                </a:ext>
              </a:extLst>
            </p:cNvPr>
            <p:cNvSpPr/>
            <p:nvPr/>
          </p:nvSpPr>
          <p:spPr>
            <a:xfrm>
              <a:off x="5141682"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30" name="TextBox 29">
              <a:extLst>
                <a:ext uri="{FF2B5EF4-FFF2-40B4-BE49-F238E27FC236}">
                  <a16:creationId xmlns:a16="http://schemas.microsoft.com/office/drawing/2014/main" id="{8CE57D37-50BF-F080-FEE4-3415E052607D}"/>
                </a:ext>
              </a:extLst>
            </p:cNvPr>
            <p:cNvSpPr txBox="1">
              <a:spLocks/>
            </p:cNvSpPr>
            <p:nvPr/>
          </p:nvSpPr>
          <p:spPr>
            <a:xfrm>
              <a:off x="5602258" y="4650613"/>
              <a:ext cx="984309"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1998" b="1">
                  <a:solidFill>
                    <a:srgbClr val="8FFFDB"/>
                  </a:solidFill>
                  <a:latin typeface="Source Sans 3" panose="020B0504040101010104" pitchFamily="34" charset="77"/>
                </a:rPr>
                <a:t>Asset </a:t>
              </a:r>
              <a:br>
                <a:rPr lang="en-US" sz="1998" b="1">
                  <a:latin typeface="Source Sans 3" panose="020B0504040101010104" pitchFamily="34" charset="77"/>
                </a:rPr>
              </a:br>
              <a:r>
                <a:rPr lang="en-US" sz="1998" b="1">
                  <a:latin typeface="Source Sans 3" panose="020B0504040101010104" pitchFamily="34" charset="77"/>
                </a:rPr>
                <a:t>Issues</a:t>
              </a:r>
            </a:p>
          </p:txBody>
        </p:sp>
        <p:sp>
          <p:nvSpPr>
            <p:cNvPr id="45" name="TextBox 44">
              <a:extLst>
                <a:ext uri="{FF2B5EF4-FFF2-40B4-BE49-F238E27FC236}">
                  <a16:creationId xmlns:a16="http://schemas.microsoft.com/office/drawing/2014/main" id="{0599504E-0324-E07E-6B7D-72A191A4F78D}"/>
                </a:ext>
              </a:extLst>
            </p:cNvPr>
            <p:cNvSpPr txBox="1">
              <a:spLocks/>
            </p:cNvSpPr>
            <p:nvPr/>
          </p:nvSpPr>
          <p:spPr>
            <a:xfrm>
              <a:off x="5704305" y="3183884"/>
              <a:ext cx="780216" cy="1445796"/>
            </a:xfrm>
            <a:prstGeom prst="rect">
              <a:avLst/>
            </a:prstGeom>
            <a:noFill/>
          </p:spPr>
          <p:txBody>
            <a:bodyPr wrap="square" rtlCol="0">
              <a:spAutoFit/>
            </a:bodyPr>
            <a:lstStyle/>
            <a:p>
              <a:pPr algn="ctr" defTabSz="913578">
                <a:defRPr/>
              </a:pPr>
              <a:r>
                <a:rPr lang="en-US" sz="8794" b="1">
                  <a:solidFill>
                    <a:srgbClr val="FFFFFF"/>
                  </a:solidFill>
                  <a:latin typeface="Source Sans 3" panose="020B0504040101010104" pitchFamily="34" charset="77"/>
                  <a:cs typeface="Source Sans 3" panose="020B0604040101010104" pitchFamily="34" charset="0"/>
                </a:rPr>
                <a:t>0</a:t>
              </a:r>
            </a:p>
          </p:txBody>
        </p:sp>
        <p:sp>
          <p:nvSpPr>
            <p:cNvPr id="55" name="Rounded Rectangle 20">
              <a:extLst>
                <a:ext uri="{FF2B5EF4-FFF2-40B4-BE49-F238E27FC236}">
                  <a16:creationId xmlns:a16="http://schemas.microsoft.com/office/drawing/2014/main" id="{505530FA-D604-B4B5-B736-3F42C6C057B0}"/>
                </a:ext>
                <a:ext uri="{C183D7F6-B498-43B3-948B-1728B52AA6E4}">
                  <adec:decorative xmlns:adec="http://schemas.microsoft.com/office/drawing/2017/decorative" val="1"/>
                </a:ext>
              </a:extLst>
            </p:cNvPr>
            <p:cNvSpPr>
              <a:spLocks/>
            </p:cNvSpPr>
            <p:nvPr/>
          </p:nvSpPr>
          <p:spPr>
            <a:xfrm>
              <a:off x="5225394"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900" b="1">
                  <a:solidFill>
                    <a:schemeClr val="tx2"/>
                  </a:solidFill>
                  <a:latin typeface="Source Sans 3" panose="020B0504040101010104" pitchFamily="34" charset="77"/>
                </a:rPr>
                <a:t>Head of Asset Mgmt.</a:t>
              </a:r>
            </a:p>
          </p:txBody>
        </p:sp>
        <p:cxnSp>
          <p:nvCxnSpPr>
            <p:cNvPr id="66" name="Straight Connector 65">
              <a:extLst>
                <a:ext uri="{FF2B5EF4-FFF2-40B4-BE49-F238E27FC236}">
                  <a16:creationId xmlns:a16="http://schemas.microsoft.com/office/drawing/2014/main" id="{5A71DF9A-AE8F-93D8-B347-BE26F209EDA2}"/>
                </a:ext>
              </a:extLst>
            </p:cNvPr>
            <p:cNvCxnSpPr>
              <a:cxnSpLocks/>
            </p:cNvCxnSpPr>
            <p:nvPr/>
          </p:nvCxnSpPr>
          <p:spPr>
            <a:xfrm>
              <a:off x="5325606"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92" name="!!g4">
            <a:extLst>
              <a:ext uri="{FF2B5EF4-FFF2-40B4-BE49-F238E27FC236}">
                <a16:creationId xmlns:a16="http://schemas.microsoft.com/office/drawing/2014/main" id="{65D10972-76B3-8D52-7A96-6331EC35EFA4}"/>
              </a:ext>
            </a:extLst>
          </p:cNvPr>
          <p:cNvGrpSpPr/>
          <p:nvPr/>
        </p:nvGrpSpPr>
        <p:grpSpPr>
          <a:xfrm>
            <a:off x="7217225" y="3048396"/>
            <a:ext cx="1910071" cy="2379708"/>
            <a:chOff x="7217225" y="3048396"/>
            <a:chExt cx="1910071" cy="2379708"/>
          </a:xfrm>
        </p:grpSpPr>
        <p:sp>
          <p:nvSpPr>
            <p:cNvPr id="84" name="Rounded Rectangle 83">
              <a:extLst>
                <a:ext uri="{FF2B5EF4-FFF2-40B4-BE49-F238E27FC236}">
                  <a16:creationId xmlns:a16="http://schemas.microsoft.com/office/drawing/2014/main" id="{397F1DE8-DA45-A4D3-5349-14E4899549F3}"/>
                </a:ext>
              </a:extLst>
            </p:cNvPr>
            <p:cNvSpPr/>
            <p:nvPr/>
          </p:nvSpPr>
          <p:spPr>
            <a:xfrm>
              <a:off x="7220933"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53" name="Rounded Rectangle 52">
              <a:extLst>
                <a:ext uri="{FF2B5EF4-FFF2-40B4-BE49-F238E27FC236}">
                  <a16:creationId xmlns:a16="http://schemas.microsoft.com/office/drawing/2014/main" id="{8338F5A7-DD22-CD83-097A-B001987166B7}"/>
                </a:ext>
              </a:extLst>
            </p:cNvPr>
            <p:cNvSpPr/>
            <p:nvPr/>
          </p:nvSpPr>
          <p:spPr>
            <a:xfrm>
              <a:off x="7217225"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dirty="0">
                <a:solidFill>
                  <a:srgbClr val="000000"/>
                </a:solidFill>
                <a:latin typeface="Source Sans 3" panose="020B0504040101010104" pitchFamily="34" charset="77"/>
              </a:endParaRPr>
            </a:p>
          </p:txBody>
        </p:sp>
        <p:sp>
          <p:nvSpPr>
            <p:cNvPr id="36" name="TextBox 35">
              <a:extLst>
                <a:ext uri="{FF2B5EF4-FFF2-40B4-BE49-F238E27FC236}">
                  <a16:creationId xmlns:a16="http://schemas.microsoft.com/office/drawing/2014/main" id="{F1D6C88F-93E9-93A0-E9A5-E6E729E136FB}"/>
                </a:ext>
              </a:extLst>
            </p:cNvPr>
            <p:cNvSpPr txBox="1">
              <a:spLocks/>
            </p:cNvSpPr>
            <p:nvPr/>
          </p:nvSpPr>
          <p:spPr>
            <a:xfrm>
              <a:off x="7481589" y="4650613"/>
              <a:ext cx="1354505"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1998" b="1">
                  <a:solidFill>
                    <a:srgbClr val="8FFFDB"/>
                  </a:solidFill>
                  <a:latin typeface="Source Sans 3" panose="020B0504040101010104" pitchFamily="34" charset="77"/>
                </a:rPr>
                <a:t>Severe</a:t>
              </a:r>
            </a:p>
            <a:p>
              <a:pPr defTabSz="456903">
                <a:lnSpc>
                  <a:spcPct val="90000"/>
                </a:lnSpc>
                <a:defRPr/>
              </a:pPr>
              <a:r>
                <a:rPr lang="en-US" sz="1998" b="1">
                  <a:latin typeface="Source Sans 3" panose="020B0504040101010104" pitchFamily="34" charset="77"/>
                </a:rPr>
                <a:t>Breaches</a:t>
              </a:r>
            </a:p>
          </p:txBody>
        </p:sp>
        <p:sp>
          <p:nvSpPr>
            <p:cNvPr id="46" name="TextBox 45">
              <a:extLst>
                <a:ext uri="{FF2B5EF4-FFF2-40B4-BE49-F238E27FC236}">
                  <a16:creationId xmlns:a16="http://schemas.microsoft.com/office/drawing/2014/main" id="{25613399-19DF-2F6A-005D-1FD997E85DF6}"/>
                </a:ext>
              </a:extLst>
            </p:cNvPr>
            <p:cNvSpPr txBox="1">
              <a:spLocks/>
            </p:cNvSpPr>
            <p:nvPr/>
          </p:nvSpPr>
          <p:spPr>
            <a:xfrm>
              <a:off x="7768735" y="3183884"/>
              <a:ext cx="780216" cy="1445796"/>
            </a:xfrm>
            <a:prstGeom prst="rect">
              <a:avLst/>
            </a:prstGeom>
            <a:noFill/>
          </p:spPr>
          <p:txBody>
            <a:bodyPr wrap="square" rtlCol="0">
              <a:spAutoFit/>
            </a:bodyPr>
            <a:lstStyle/>
            <a:p>
              <a:pPr algn="ctr" defTabSz="913578">
                <a:defRPr/>
              </a:pPr>
              <a:r>
                <a:rPr lang="en-US" sz="8794" b="1">
                  <a:solidFill>
                    <a:srgbClr val="FFFFFF"/>
                  </a:solidFill>
                  <a:latin typeface="Source Sans 3" panose="020B0504040101010104" pitchFamily="34" charset="77"/>
                  <a:cs typeface="Source Sans 3" panose="020B0604040101010104" pitchFamily="34" charset="0"/>
                </a:rPr>
                <a:t>0</a:t>
              </a:r>
            </a:p>
          </p:txBody>
        </p:sp>
        <p:sp>
          <p:nvSpPr>
            <p:cNvPr id="54" name="Rounded Rectangle 20">
              <a:extLst>
                <a:ext uri="{FF2B5EF4-FFF2-40B4-BE49-F238E27FC236}">
                  <a16:creationId xmlns:a16="http://schemas.microsoft.com/office/drawing/2014/main" id="{C5FB5A43-B045-97A8-C95D-6A664D48FC56}"/>
                </a:ext>
                <a:ext uri="{C183D7F6-B498-43B3-948B-1728B52AA6E4}">
                  <adec:decorative xmlns:adec="http://schemas.microsoft.com/office/drawing/2017/decorative" val="1"/>
                </a:ext>
              </a:extLst>
            </p:cNvPr>
            <p:cNvSpPr>
              <a:spLocks/>
            </p:cNvSpPr>
            <p:nvPr/>
          </p:nvSpPr>
          <p:spPr>
            <a:xfrm>
              <a:off x="7287263"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900" b="1">
                  <a:solidFill>
                    <a:schemeClr val="tx2"/>
                  </a:solidFill>
                  <a:latin typeface="Source Sans 3" panose="020B0504040101010104" pitchFamily="34" charset="77"/>
                </a:rPr>
                <a:t>CISO</a:t>
              </a:r>
            </a:p>
          </p:txBody>
        </p:sp>
        <p:cxnSp>
          <p:nvCxnSpPr>
            <p:cNvPr id="67" name="Straight Connector 66">
              <a:extLst>
                <a:ext uri="{FF2B5EF4-FFF2-40B4-BE49-F238E27FC236}">
                  <a16:creationId xmlns:a16="http://schemas.microsoft.com/office/drawing/2014/main" id="{73D08EE9-D27B-371E-CD1F-A52F9BD32FB6}"/>
                </a:ext>
              </a:extLst>
            </p:cNvPr>
            <p:cNvCxnSpPr>
              <a:cxnSpLocks/>
            </p:cNvCxnSpPr>
            <p:nvPr/>
          </p:nvCxnSpPr>
          <p:spPr>
            <a:xfrm>
              <a:off x="7401149"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93" name="!!g5">
            <a:extLst>
              <a:ext uri="{FF2B5EF4-FFF2-40B4-BE49-F238E27FC236}">
                <a16:creationId xmlns:a16="http://schemas.microsoft.com/office/drawing/2014/main" id="{D736A565-BC8C-5F67-B50B-3472E3507CE5}"/>
              </a:ext>
            </a:extLst>
          </p:cNvPr>
          <p:cNvGrpSpPr/>
          <p:nvPr/>
        </p:nvGrpSpPr>
        <p:grpSpPr>
          <a:xfrm>
            <a:off x="9274816" y="3048396"/>
            <a:ext cx="1909801" cy="2379708"/>
            <a:chOff x="9274816" y="3048396"/>
            <a:chExt cx="1909801" cy="2379708"/>
          </a:xfrm>
        </p:grpSpPr>
        <p:sp>
          <p:nvSpPr>
            <p:cNvPr id="85" name="Rounded Rectangle 84">
              <a:extLst>
                <a:ext uri="{FF2B5EF4-FFF2-40B4-BE49-F238E27FC236}">
                  <a16:creationId xmlns:a16="http://schemas.microsoft.com/office/drawing/2014/main" id="{2E60F95C-11DD-290B-AEBA-CCE684559447}"/>
                </a:ext>
              </a:extLst>
            </p:cNvPr>
            <p:cNvSpPr/>
            <p:nvPr/>
          </p:nvSpPr>
          <p:spPr>
            <a:xfrm>
              <a:off x="9274816"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58" name="Rounded Rectangle 57">
              <a:extLst>
                <a:ext uri="{FF2B5EF4-FFF2-40B4-BE49-F238E27FC236}">
                  <a16:creationId xmlns:a16="http://schemas.microsoft.com/office/drawing/2014/main" id="{F0BDBD57-8171-FD8A-4455-B5D329D7F5F6}"/>
                </a:ext>
              </a:extLst>
            </p:cNvPr>
            <p:cNvSpPr/>
            <p:nvPr/>
          </p:nvSpPr>
          <p:spPr>
            <a:xfrm>
              <a:off x="9278254"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40" name="TextBox 39">
              <a:extLst>
                <a:ext uri="{FF2B5EF4-FFF2-40B4-BE49-F238E27FC236}">
                  <a16:creationId xmlns:a16="http://schemas.microsoft.com/office/drawing/2014/main" id="{E62A7366-A491-11B1-3AF6-0BCBA26576D4}"/>
                </a:ext>
              </a:extLst>
            </p:cNvPr>
            <p:cNvSpPr txBox="1">
              <a:spLocks/>
            </p:cNvSpPr>
            <p:nvPr/>
          </p:nvSpPr>
          <p:spPr>
            <a:xfrm>
              <a:off x="9365730" y="4650613"/>
              <a:ext cx="1715086"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1998" b="1">
                  <a:solidFill>
                    <a:srgbClr val="8FFFDB"/>
                  </a:solidFill>
                  <a:latin typeface="Source Sans 3" panose="020B0504040101010104" pitchFamily="34" charset="77"/>
                </a:rPr>
                <a:t>Misaligned</a:t>
              </a:r>
              <a:br>
                <a:rPr lang="en-US" sz="1998" b="1">
                  <a:solidFill>
                    <a:srgbClr val="8FFFDB"/>
                  </a:solidFill>
                  <a:latin typeface="Source Sans 3" panose="020B0504040101010104" pitchFamily="34" charset="77"/>
                </a:rPr>
              </a:br>
              <a:r>
                <a:rPr lang="en-US" sz="1998" b="1">
                  <a:latin typeface="Source Sans 3" panose="020B0504040101010104" pitchFamily="34" charset="77"/>
                </a:rPr>
                <a:t>Investments</a:t>
              </a:r>
            </a:p>
          </p:txBody>
        </p:sp>
        <p:sp>
          <p:nvSpPr>
            <p:cNvPr id="47" name="TextBox 46">
              <a:extLst>
                <a:ext uri="{FF2B5EF4-FFF2-40B4-BE49-F238E27FC236}">
                  <a16:creationId xmlns:a16="http://schemas.microsoft.com/office/drawing/2014/main" id="{7C5F4230-46F8-0260-ACDE-4CE015FEE392}"/>
                </a:ext>
              </a:extLst>
            </p:cNvPr>
            <p:cNvSpPr txBox="1">
              <a:spLocks/>
            </p:cNvSpPr>
            <p:nvPr/>
          </p:nvSpPr>
          <p:spPr>
            <a:xfrm>
              <a:off x="9833166" y="3183884"/>
              <a:ext cx="780216" cy="1445796"/>
            </a:xfrm>
            <a:prstGeom prst="rect">
              <a:avLst/>
            </a:prstGeom>
            <a:noFill/>
          </p:spPr>
          <p:txBody>
            <a:bodyPr wrap="square" rtlCol="0">
              <a:spAutoFit/>
            </a:bodyPr>
            <a:lstStyle/>
            <a:p>
              <a:pPr algn="ctr" defTabSz="913578">
                <a:defRPr/>
              </a:pPr>
              <a:r>
                <a:rPr lang="en-US" sz="8794" b="1">
                  <a:solidFill>
                    <a:srgbClr val="FFFFFF"/>
                  </a:solidFill>
                  <a:latin typeface="Source Sans 3" panose="020B0504040101010104" pitchFamily="34" charset="77"/>
                  <a:cs typeface="Source Sans 3" panose="020B0604040101010104" pitchFamily="34" charset="0"/>
                </a:rPr>
                <a:t>0</a:t>
              </a:r>
            </a:p>
          </p:txBody>
        </p:sp>
        <p:sp>
          <p:nvSpPr>
            <p:cNvPr id="5" name="Rounded Rectangle 20">
              <a:extLst>
                <a:ext uri="{FF2B5EF4-FFF2-40B4-BE49-F238E27FC236}">
                  <a16:creationId xmlns:a16="http://schemas.microsoft.com/office/drawing/2014/main" id="{C35DFEDB-E91C-537F-C1E0-CFB914179A4A}"/>
                </a:ext>
                <a:ext uri="{C183D7F6-B498-43B3-948B-1728B52AA6E4}">
                  <adec:decorative xmlns:adec="http://schemas.microsoft.com/office/drawing/2017/decorative" val="1"/>
                </a:ext>
              </a:extLst>
            </p:cNvPr>
            <p:cNvSpPr>
              <a:spLocks/>
            </p:cNvSpPr>
            <p:nvPr/>
          </p:nvSpPr>
          <p:spPr>
            <a:xfrm>
              <a:off x="9351694"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900" b="1" spc="-20" dirty="0">
                  <a:solidFill>
                    <a:schemeClr val="tx2"/>
                  </a:solidFill>
                  <a:latin typeface="Source Sans 3" panose="020B0504040101010104" pitchFamily="34" charset="77"/>
                </a:rPr>
                <a:t>Head of Strategy &amp; Planning</a:t>
              </a:r>
            </a:p>
          </p:txBody>
        </p:sp>
        <p:cxnSp>
          <p:nvCxnSpPr>
            <p:cNvPr id="68" name="Straight Connector 67">
              <a:extLst>
                <a:ext uri="{FF2B5EF4-FFF2-40B4-BE49-F238E27FC236}">
                  <a16:creationId xmlns:a16="http://schemas.microsoft.com/office/drawing/2014/main" id="{C6C8D833-458B-DA0B-5683-FF68803AE168}"/>
                </a:ext>
              </a:extLst>
            </p:cNvPr>
            <p:cNvCxnSpPr>
              <a:cxnSpLocks/>
            </p:cNvCxnSpPr>
            <p:nvPr/>
          </p:nvCxnSpPr>
          <p:spPr>
            <a:xfrm>
              <a:off x="9462178"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4" name="power_glass_pill">
            <a:extLst>
              <a:ext uri="{FF2B5EF4-FFF2-40B4-BE49-F238E27FC236}">
                <a16:creationId xmlns:a16="http://schemas.microsoft.com/office/drawing/2014/main" id="{9894E4DF-4B55-7CC5-5742-F3D69F3ADC97}"/>
              </a:ext>
            </a:extLst>
          </p:cNvPr>
          <p:cNvGrpSpPr/>
          <p:nvPr/>
        </p:nvGrpSpPr>
        <p:grpSpPr>
          <a:xfrm>
            <a:off x="4223657" y="1321231"/>
            <a:ext cx="3960024" cy="468441"/>
            <a:chOff x="4223657" y="1528046"/>
            <a:chExt cx="3960024" cy="468441"/>
          </a:xfrm>
        </p:grpSpPr>
        <p:sp>
          <p:nvSpPr>
            <p:cNvPr id="6" name="Rounded Rectangle 5">
              <a:extLst>
                <a:ext uri="{FF2B5EF4-FFF2-40B4-BE49-F238E27FC236}">
                  <a16:creationId xmlns:a16="http://schemas.microsoft.com/office/drawing/2014/main" id="{63875DDB-7A90-A79E-B536-8B243C2D2635}"/>
                </a:ext>
              </a:extLst>
            </p:cNvPr>
            <p:cNvSpPr/>
            <p:nvPr/>
          </p:nvSpPr>
          <p:spPr>
            <a:xfrm rot="5400000">
              <a:off x="5969448" y="-217745"/>
              <a:ext cx="468441" cy="3960024"/>
            </a:xfrm>
            <a:prstGeom prst="roundRect">
              <a:avLst>
                <a:gd name="adj" fmla="val 50000"/>
              </a:avLst>
            </a:prstGeom>
            <a:gradFill flip="none" rotWithShape="1">
              <a:gsLst>
                <a:gs pos="0">
                  <a:srgbClr val="040E3D"/>
                </a:gs>
                <a:gs pos="99000">
                  <a:srgbClr val="040E3D"/>
                </a:gs>
              </a:gsLst>
              <a:path path="circle">
                <a:fillToRect l="100000" b="100000"/>
              </a:path>
              <a:tileRect t="-100000" r="-100000"/>
            </a:gradFill>
            <a:ln>
              <a:gradFill>
                <a:gsLst>
                  <a:gs pos="0">
                    <a:srgbClr val="C0A6FF">
                      <a:alpha val="49654"/>
                    </a:srgbClr>
                  </a:gs>
                  <a:gs pos="100000">
                    <a:srgbClr val="6400EC">
                      <a:alpha val="25000"/>
                    </a:srgbClr>
                  </a:gs>
                </a:gsLst>
                <a:lin ang="0" scaled="0"/>
              </a:gradFill>
            </a:ln>
            <a:effectLst>
              <a:glow rad="1467347">
                <a:schemeClr val="accent5">
                  <a:satMod val="175000"/>
                  <a:alpha val="13213"/>
                </a:schemeClr>
              </a:glow>
              <a:outerShdw blurRad="744542" dist="353637" dir="8580000" sx="94000" sy="94000" algn="t" rotWithShape="0">
                <a:prstClr val="black">
                  <a:alpha val="40000"/>
                </a:prstClr>
              </a:outerShdw>
            </a:effectLst>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endParaRPr lang="en-US" sz="1600" b="1">
                <a:solidFill>
                  <a:srgbClr val="000000"/>
                </a:solidFill>
                <a:latin typeface="Source Sans 3"/>
              </a:endParaRPr>
            </a:p>
          </p:txBody>
        </p:sp>
        <p:grpSp>
          <p:nvGrpSpPr>
            <p:cNvPr id="13" name="Group 12">
              <a:extLst>
                <a:ext uri="{FF2B5EF4-FFF2-40B4-BE49-F238E27FC236}">
                  <a16:creationId xmlns:a16="http://schemas.microsoft.com/office/drawing/2014/main" id="{28CC0B6A-043C-EB94-F651-65C95BF2F110}"/>
                </a:ext>
              </a:extLst>
            </p:cNvPr>
            <p:cNvGrpSpPr/>
            <p:nvPr/>
          </p:nvGrpSpPr>
          <p:grpSpPr>
            <a:xfrm>
              <a:off x="4427718" y="1613211"/>
              <a:ext cx="3551899" cy="274247"/>
              <a:chOff x="4322020" y="1354854"/>
              <a:chExt cx="3552824" cy="274318"/>
            </a:xfrm>
          </p:grpSpPr>
          <p:sp>
            <p:nvSpPr>
              <p:cNvPr id="15" name="Rounded Rectangle 20">
                <a:extLst>
                  <a:ext uri="{FF2B5EF4-FFF2-40B4-BE49-F238E27FC236}">
                    <a16:creationId xmlns:a16="http://schemas.microsoft.com/office/drawing/2014/main" id="{6F600603-3E7C-6E19-18E5-6C734C9DFADA}"/>
                  </a:ext>
                  <a:ext uri="{C183D7F6-B498-43B3-948B-1728B52AA6E4}">
                    <adec:decorative xmlns:adec="http://schemas.microsoft.com/office/drawing/2017/decorative" val="1"/>
                  </a:ext>
                </a:extLst>
              </p:cNvPr>
              <p:cNvSpPr>
                <a:spLocks/>
              </p:cNvSpPr>
              <p:nvPr/>
            </p:nvSpPr>
            <p:spPr>
              <a:xfrm>
                <a:off x="4322020" y="1354854"/>
                <a:ext cx="3552824" cy="274318"/>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766"/>
                <a:r>
                  <a:rPr lang="en-US" sz="1600" b="1" dirty="0">
                    <a:solidFill>
                      <a:schemeClr val="bg1"/>
                    </a:solidFill>
                    <a:latin typeface="Source Sans 3" panose="020B0504040101010104" pitchFamily="34" charset="77"/>
                    <a:cs typeface="Source Sans 3" panose="020B0504040101010104" pitchFamily="34" charset="77"/>
                  </a:rPr>
                  <a:t>Strategy        Governance        Data</a:t>
                </a:r>
              </a:p>
            </p:txBody>
          </p:sp>
        </p:grpSp>
      </p:grpSp>
      <p:pic>
        <p:nvPicPr>
          <p:cNvPr id="3" name="Picture 15">
            <a:extLst>
              <a:ext uri="{FF2B5EF4-FFF2-40B4-BE49-F238E27FC236}">
                <a16:creationId xmlns:a16="http://schemas.microsoft.com/office/drawing/2014/main" id="{F0154E90-F8E4-4520-37C5-89F9F1982A89}"/>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9837" y="6353915"/>
            <a:ext cx="980334" cy="280022"/>
          </a:xfrm>
          <a:prstGeom prst="rect">
            <a:avLst/>
          </a:prstGeom>
        </p:spPr>
      </p:pic>
      <p:sp>
        <p:nvSpPr>
          <p:cNvPr id="8" name="Slide Number Placeholder 5">
            <a:extLst>
              <a:ext uri="{FF2B5EF4-FFF2-40B4-BE49-F238E27FC236}">
                <a16:creationId xmlns:a16="http://schemas.microsoft.com/office/drawing/2014/main" id="{AC9B3649-A223-559E-91D6-FA5FC6F0F079}"/>
              </a:ext>
            </a:extLst>
          </p:cNvPr>
          <p:cNvSpPr txBox="1">
            <a:spLocks/>
          </p:cNvSpPr>
          <p:nvPr/>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15</a:t>
            </a:fld>
            <a:endParaRPr lang="en-US" sz="800" b="0" kern="1200">
              <a:solidFill>
                <a:schemeClr val="bg1"/>
              </a:solidFill>
              <a:ea typeface="+mn-ea"/>
              <a:cs typeface="+mn-cs"/>
            </a:endParaRPr>
          </a:p>
        </p:txBody>
      </p:sp>
      <p:sp>
        <p:nvSpPr>
          <p:cNvPr id="9" name="Footer Placeholder 4">
            <a:extLst>
              <a:ext uri="{FF2B5EF4-FFF2-40B4-BE49-F238E27FC236}">
                <a16:creationId xmlns:a16="http://schemas.microsoft.com/office/drawing/2014/main" id="{1146D403-A12A-CE62-DDE1-1EF300FE465D}"/>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94" name="Rounded Rectangle 93"/>
          <p:cNvSpPr/>
          <p:nvPr/>
        </p:nvSpPr>
        <p:spPr>
          <a:xfrm>
            <a:off x="585216" y="1975104"/>
            <a:ext cx="2121408" cy="309067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Domain 1"/>
          <p:cNvSpPr txBox="1"/>
          <p:nvPr/>
        </p:nvSpPr>
        <p:spPr>
          <a:xfrm>
            <a:off x="649224" y="2093976"/>
            <a:ext cx="1993392" cy="347472"/>
          </a:xfrm>
          <a:prstGeom prst="rect">
            <a:avLst/>
          </a:prstGeom>
          <a:noFill/>
        </p:spPr>
        <p:txBody>
          <a:bodyPr wrap="square" lIns="32004" tIns="0" rIns="32004" bIns="0" anchor="ctr">
            <a:spAutoFit/>
          </a:bodyPr>
          <a:lstStyle/>
          <a:p>
            <a:pPr algn="ctr"/>
            <a:r>
              <a:rPr sz="1400" b="1">
                <a:solidFill>
                  <a:srgbClr val="8FFFDB"/>
                </a:solidFill>
                <a:latin typeface="Source Sans 3"/>
              </a:rPr>
              <a:t>DATA</a:t>
            </a:r>
          </a:p>
        </p:txBody>
      </p:sp>
      <p:sp>
        <p:nvSpPr>
          <p:cNvPr id="96" name="Awaiting evidence"/>
          <p:cNvSpPr txBox="1"/>
          <p:nvPr/>
        </p:nvSpPr>
        <p:spPr>
          <a:xfrm>
            <a:off x="658368" y="2907792"/>
            <a:ext cx="1975104" cy="402336"/>
          </a:xfrm>
          <a:prstGeom prst="rect">
            <a:avLst/>
          </a:prstGeom>
          <a:noFill/>
        </p:spPr>
        <p:txBody>
          <a:bodyPr wrap="square" lIns="32004" tIns="0" rIns="32004" bIns="0" anchor="ctr">
            <a:spAutoFit/>
          </a:bodyPr>
          <a:lstStyle/>
          <a:p>
            <a:pPr algn="ctr"/>
            <a:r>
              <a:rPr sz="3000" b="1">
                <a:solidFill>
                  <a:srgbClr val="F2F2F4"/>
                </a:solidFill>
                <a:latin typeface="Source Sans 3"/>
              </a:rPr>
              <a:t>—</a:t>
            </a:r>
          </a:p>
        </p:txBody>
      </p:sp>
      <p:sp>
        <p:nvSpPr>
          <p:cNvPr id="97" name="Evidence status"/>
          <p:cNvSpPr txBox="1"/>
          <p:nvPr/>
        </p:nvSpPr>
        <p:spPr>
          <a:xfrm>
            <a:off x="658368" y="3438144"/>
            <a:ext cx="1975104" cy="292608"/>
          </a:xfrm>
          <a:prstGeom prst="rect">
            <a:avLst/>
          </a:prstGeom>
          <a:noFill/>
        </p:spPr>
        <p:txBody>
          <a:bodyPr wrap="square" lIns="32004" tIns="0" rIns="32004" bIns="0" anchor="ctr">
            <a:spAutoFit/>
          </a:bodyPr>
          <a:lstStyle/>
          <a:p>
            <a:pPr algn="ctr"/>
            <a:r>
              <a:rPr sz="1019" b="1">
                <a:solidFill>
                  <a:srgbClr val="F2F2F4"/>
                </a:solidFill>
                <a:latin typeface="Source Sans 3"/>
              </a:rPr>
              <a:t>TO VERIFY</a:t>
            </a:r>
          </a:p>
        </p:txBody>
      </p:sp>
      <p:sp>
        <p:nvSpPr>
          <p:cNvPr id="98" name="Evidence description"/>
          <p:cNvSpPr txBox="1"/>
          <p:nvPr/>
        </p:nvSpPr>
        <p:spPr>
          <a:xfrm>
            <a:off x="722376" y="3950208"/>
            <a:ext cx="1847088" cy="950976"/>
          </a:xfrm>
          <a:prstGeom prst="rect">
            <a:avLst/>
          </a:prstGeom>
          <a:noFill/>
        </p:spPr>
        <p:txBody>
          <a:bodyPr wrap="square" lIns="32004" tIns="0" rIns="32004" bIns="0" anchor="ctr">
            <a:spAutoFit/>
          </a:bodyPr>
          <a:lstStyle/>
          <a:p>
            <a:pPr algn="ctr"/>
            <a:r>
              <a:rPr sz="1150" b="0">
                <a:solidFill>
                  <a:srgbClr val="F2F2F4"/>
                </a:solidFill>
                <a:latin typeface="Source Sans 3"/>
              </a:rPr>
              <a:t>CMDB, classification, CSDM and service context</a:t>
            </a:r>
          </a:p>
        </p:txBody>
      </p:sp>
      <p:sp>
        <p:nvSpPr>
          <p:cNvPr id="99" name="Rounded Rectangle 98"/>
          <p:cNvSpPr/>
          <p:nvPr/>
        </p:nvSpPr>
        <p:spPr>
          <a:xfrm>
            <a:off x="2852928" y="1975104"/>
            <a:ext cx="2121408" cy="309067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Domain 2"/>
          <p:cNvSpPr txBox="1"/>
          <p:nvPr/>
        </p:nvSpPr>
        <p:spPr>
          <a:xfrm>
            <a:off x="2916936" y="2093976"/>
            <a:ext cx="1993392" cy="347472"/>
          </a:xfrm>
          <a:prstGeom prst="rect">
            <a:avLst/>
          </a:prstGeom>
          <a:noFill/>
        </p:spPr>
        <p:txBody>
          <a:bodyPr wrap="square" lIns="32004" tIns="0" rIns="32004" bIns="0" anchor="ctr">
            <a:spAutoFit/>
          </a:bodyPr>
          <a:lstStyle/>
          <a:p>
            <a:pPr algn="ctr"/>
            <a:r>
              <a:rPr sz="1400" b="1">
                <a:solidFill>
                  <a:srgbClr val="8FFFDB"/>
                </a:solidFill>
                <a:latin typeface="Source Sans 3"/>
              </a:rPr>
              <a:t>KNOWLEDGE</a:t>
            </a:r>
          </a:p>
        </p:txBody>
      </p:sp>
      <p:sp>
        <p:nvSpPr>
          <p:cNvPr id="101" name="Awaiting evidence"/>
          <p:cNvSpPr txBox="1"/>
          <p:nvPr/>
        </p:nvSpPr>
        <p:spPr>
          <a:xfrm>
            <a:off x="2926080" y="2907792"/>
            <a:ext cx="1975104" cy="402336"/>
          </a:xfrm>
          <a:prstGeom prst="rect">
            <a:avLst/>
          </a:prstGeom>
          <a:noFill/>
        </p:spPr>
        <p:txBody>
          <a:bodyPr wrap="square" lIns="32004" tIns="0" rIns="32004" bIns="0" anchor="ctr">
            <a:spAutoFit/>
          </a:bodyPr>
          <a:lstStyle/>
          <a:p>
            <a:pPr algn="ctr"/>
            <a:r>
              <a:rPr sz="3000" b="1">
                <a:solidFill>
                  <a:srgbClr val="F2F2F4"/>
                </a:solidFill>
                <a:latin typeface="Source Sans 3"/>
              </a:rPr>
              <a:t>—</a:t>
            </a:r>
          </a:p>
        </p:txBody>
      </p:sp>
      <p:sp>
        <p:nvSpPr>
          <p:cNvPr id="102" name="Evidence status"/>
          <p:cNvSpPr txBox="1"/>
          <p:nvPr/>
        </p:nvSpPr>
        <p:spPr>
          <a:xfrm>
            <a:off x="2926080" y="3438144"/>
            <a:ext cx="1975104" cy="292608"/>
          </a:xfrm>
          <a:prstGeom prst="rect">
            <a:avLst/>
          </a:prstGeom>
          <a:noFill/>
        </p:spPr>
        <p:txBody>
          <a:bodyPr wrap="square" lIns="32004" tIns="0" rIns="32004" bIns="0" anchor="ctr">
            <a:spAutoFit/>
          </a:bodyPr>
          <a:lstStyle/>
          <a:p>
            <a:pPr algn="ctr"/>
            <a:r>
              <a:rPr sz="1019" b="1">
                <a:solidFill>
                  <a:srgbClr val="F2F2F4"/>
                </a:solidFill>
                <a:latin typeface="Source Sans 3"/>
              </a:rPr>
              <a:t>TO VERIFY</a:t>
            </a:r>
          </a:p>
        </p:txBody>
      </p:sp>
      <p:sp>
        <p:nvSpPr>
          <p:cNvPr id="103" name="Evidence description"/>
          <p:cNvSpPr txBox="1"/>
          <p:nvPr/>
        </p:nvSpPr>
        <p:spPr>
          <a:xfrm>
            <a:off x="2990088" y="3950208"/>
            <a:ext cx="1847088" cy="950976"/>
          </a:xfrm>
          <a:prstGeom prst="rect">
            <a:avLst/>
          </a:prstGeom>
          <a:noFill/>
        </p:spPr>
        <p:txBody>
          <a:bodyPr wrap="square" lIns="32004" tIns="0" rIns="32004" bIns="0" anchor="ctr">
            <a:spAutoFit/>
          </a:bodyPr>
          <a:lstStyle/>
          <a:p>
            <a:pPr algn="ctr"/>
            <a:r>
              <a:rPr sz="1150" b="0">
                <a:solidFill>
                  <a:srgbClr val="F2F2F4"/>
                </a:solidFill>
                <a:latin typeface="Source Sans 3"/>
              </a:rPr>
              <a:t>Owned, approved, current grounding content</a:t>
            </a:r>
          </a:p>
        </p:txBody>
      </p:sp>
      <p:sp>
        <p:nvSpPr>
          <p:cNvPr id="104" name="Rounded Rectangle 103"/>
          <p:cNvSpPr/>
          <p:nvPr/>
        </p:nvSpPr>
        <p:spPr>
          <a:xfrm>
            <a:off x="5120640" y="1975104"/>
            <a:ext cx="2121408" cy="309067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Domain 3"/>
          <p:cNvSpPr txBox="1"/>
          <p:nvPr/>
        </p:nvSpPr>
        <p:spPr>
          <a:xfrm>
            <a:off x="5184648" y="2093976"/>
            <a:ext cx="1993392" cy="347472"/>
          </a:xfrm>
          <a:prstGeom prst="rect">
            <a:avLst/>
          </a:prstGeom>
          <a:noFill/>
        </p:spPr>
        <p:txBody>
          <a:bodyPr wrap="square" lIns="32004" tIns="0" rIns="32004" bIns="0" anchor="ctr">
            <a:spAutoFit/>
          </a:bodyPr>
          <a:lstStyle/>
          <a:p>
            <a:pPr algn="ctr"/>
            <a:r>
              <a:rPr sz="1400" b="1">
                <a:solidFill>
                  <a:srgbClr val="8FFFDB"/>
                </a:solidFill>
                <a:latin typeface="Source Sans 3"/>
              </a:rPr>
              <a:t>WORKFLOW</a:t>
            </a:r>
          </a:p>
        </p:txBody>
      </p:sp>
      <p:sp>
        <p:nvSpPr>
          <p:cNvPr id="106" name="Awaiting evidence"/>
          <p:cNvSpPr txBox="1"/>
          <p:nvPr/>
        </p:nvSpPr>
        <p:spPr>
          <a:xfrm>
            <a:off x="5193792" y="2907792"/>
            <a:ext cx="1975104" cy="402336"/>
          </a:xfrm>
          <a:prstGeom prst="rect">
            <a:avLst/>
          </a:prstGeom>
          <a:noFill/>
        </p:spPr>
        <p:txBody>
          <a:bodyPr wrap="square" lIns="32004" tIns="0" rIns="32004" bIns="0" anchor="ctr">
            <a:spAutoFit/>
          </a:bodyPr>
          <a:lstStyle/>
          <a:p>
            <a:pPr algn="ctr"/>
            <a:r>
              <a:rPr sz="3000" b="1">
                <a:solidFill>
                  <a:srgbClr val="F2F2F4"/>
                </a:solidFill>
                <a:latin typeface="Source Sans 3"/>
              </a:rPr>
              <a:t>—</a:t>
            </a:r>
          </a:p>
        </p:txBody>
      </p:sp>
      <p:sp>
        <p:nvSpPr>
          <p:cNvPr id="107" name="Evidence status"/>
          <p:cNvSpPr txBox="1"/>
          <p:nvPr/>
        </p:nvSpPr>
        <p:spPr>
          <a:xfrm>
            <a:off x="5193792" y="3438144"/>
            <a:ext cx="1975104" cy="292608"/>
          </a:xfrm>
          <a:prstGeom prst="rect">
            <a:avLst/>
          </a:prstGeom>
          <a:noFill/>
        </p:spPr>
        <p:txBody>
          <a:bodyPr wrap="square" lIns="32004" tIns="0" rIns="32004" bIns="0" anchor="ctr">
            <a:spAutoFit/>
          </a:bodyPr>
          <a:lstStyle/>
          <a:p>
            <a:pPr algn="ctr"/>
            <a:r>
              <a:rPr sz="1019" b="1">
                <a:solidFill>
                  <a:srgbClr val="F2F2F4"/>
                </a:solidFill>
                <a:latin typeface="Source Sans 3"/>
              </a:rPr>
              <a:t>TO VERIFY</a:t>
            </a:r>
          </a:p>
        </p:txBody>
      </p:sp>
      <p:sp>
        <p:nvSpPr>
          <p:cNvPr id="108" name="Evidence description"/>
          <p:cNvSpPr txBox="1"/>
          <p:nvPr/>
        </p:nvSpPr>
        <p:spPr>
          <a:xfrm>
            <a:off x="5257800" y="3950208"/>
            <a:ext cx="1847088" cy="950976"/>
          </a:xfrm>
          <a:prstGeom prst="rect">
            <a:avLst/>
          </a:prstGeom>
          <a:noFill/>
        </p:spPr>
        <p:txBody>
          <a:bodyPr wrap="square" lIns="32004" tIns="0" rIns="32004" bIns="0" anchor="ctr">
            <a:spAutoFit/>
          </a:bodyPr>
          <a:lstStyle/>
          <a:p>
            <a:pPr algn="ctr"/>
            <a:r>
              <a:rPr sz="1150" b="0">
                <a:solidFill>
                  <a:srgbClr val="F2F2F4"/>
                </a:solidFill>
                <a:latin typeface="Source Sans 3"/>
              </a:rPr>
              <a:t>Deterministic action, exceptions and rollback</a:t>
            </a:r>
          </a:p>
        </p:txBody>
      </p:sp>
      <p:sp>
        <p:nvSpPr>
          <p:cNvPr id="109" name="Rounded Rectangle 108"/>
          <p:cNvSpPr/>
          <p:nvPr/>
        </p:nvSpPr>
        <p:spPr>
          <a:xfrm>
            <a:off x="7388352" y="1975104"/>
            <a:ext cx="2121408" cy="309067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Domain 4"/>
          <p:cNvSpPr txBox="1"/>
          <p:nvPr/>
        </p:nvSpPr>
        <p:spPr>
          <a:xfrm>
            <a:off x="7452360" y="2093976"/>
            <a:ext cx="1993392" cy="347472"/>
          </a:xfrm>
          <a:prstGeom prst="rect">
            <a:avLst/>
          </a:prstGeom>
          <a:noFill/>
        </p:spPr>
        <p:txBody>
          <a:bodyPr wrap="square" lIns="32004" tIns="0" rIns="32004" bIns="0" anchor="ctr">
            <a:spAutoFit/>
          </a:bodyPr>
          <a:lstStyle/>
          <a:p>
            <a:pPr algn="ctr"/>
            <a:r>
              <a:rPr sz="1400" b="1">
                <a:solidFill>
                  <a:srgbClr val="8FFFDB"/>
                </a:solidFill>
                <a:latin typeface="Source Sans 3"/>
              </a:rPr>
              <a:t>CONTROLS</a:t>
            </a:r>
          </a:p>
        </p:txBody>
      </p:sp>
      <p:sp>
        <p:nvSpPr>
          <p:cNvPr id="111" name="Awaiting evidence"/>
          <p:cNvSpPr txBox="1"/>
          <p:nvPr/>
        </p:nvSpPr>
        <p:spPr>
          <a:xfrm>
            <a:off x="7461504" y="2907792"/>
            <a:ext cx="1975104" cy="402336"/>
          </a:xfrm>
          <a:prstGeom prst="rect">
            <a:avLst/>
          </a:prstGeom>
          <a:noFill/>
        </p:spPr>
        <p:txBody>
          <a:bodyPr wrap="square" lIns="32004" tIns="0" rIns="32004" bIns="0" anchor="ctr">
            <a:spAutoFit/>
          </a:bodyPr>
          <a:lstStyle/>
          <a:p>
            <a:pPr algn="ctr"/>
            <a:r>
              <a:rPr sz="3000" b="1">
                <a:solidFill>
                  <a:srgbClr val="F2F2F4"/>
                </a:solidFill>
                <a:latin typeface="Source Sans 3"/>
              </a:rPr>
              <a:t>—</a:t>
            </a:r>
          </a:p>
        </p:txBody>
      </p:sp>
      <p:sp>
        <p:nvSpPr>
          <p:cNvPr id="112" name="Evidence status"/>
          <p:cNvSpPr txBox="1"/>
          <p:nvPr/>
        </p:nvSpPr>
        <p:spPr>
          <a:xfrm>
            <a:off x="7461504" y="3438144"/>
            <a:ext cx="1975104" cy="292608"/>
          </a:xfrm>
          <a:prstGeom prst="rect">
            <a:avLst/>
          </a:prstGeom>
          <a:noFill/>
        </p:spPr>
        <p:txBody>
          <a:bodyPr wrap="square" lIns="32004" tIns="0" rIns="32004" bIns="0" anchor="ctr">
            <a:spAutoFit/>
          </a:bodyPr>
          <a:lstStyle/>
          <a:p>
            <a:pPr algn="ctr"/>
            <a:r>
              <a:rPr sz="1019" b="1">
                <a:solidFill>
                  <a:srgbClr val="F2F2F4"/>
                </a:solidFill>
                <a:latin typeface="Source Sans 3"/>
              </a:rPr>
              <a:t>TO VERIFY</a:t>
            </a:r>
          </a:p>
        </p:txBody>
      </p:sp>
      <p:sp>
        <p:nvSpPr>
          <p:cNvPr id="113" name="Evidence description"/>
          <p:cNvSpPr txBox="1"/>
          <p:nvPr/>
        </p:nvSpPr>
        <p:spPr>
          <a:xfrm>
            <a:off x="7525512" y="3950208"/>
            <a:ext cx="1847088" cy="950976"/>
          </a:xfrm>
          <a:prstGeom prst="rect">
            <a:avLst/>
          </a:prstGeom>
          <a:noFill/>
        </p:spPr>
        <p:txBody>
          <a:bodyPr wrap="square" lIns="32004" tIns="0" rIns="32004" bIns="0" anchor="ctr">
            <a:spAutoFit/>
          </a:bodyPr>
          <a:lstStyle/>
          <a:p>
            <a:pPr algn="ctr"/>
            <a:r>
              <a:rPr sz="1150" b="0">
                <a:solidFill>
                  <a:srgbClr val="F2F2F4"/>
                </a:solidFill>
                <a:latin typeface="Source Sans 3"/>
              </a:rPr>
              <a:t>Authority, audit, kill switch and escalation</a:t>
            </a:r>
          </a:p>
        </p:txBody>
      </p:sp>
      <p:sp>
        <p:nvSpPr>
          <p:cNvPr id="114" name="Rounded Rectangle 113"/>
          <p:cNvSpPr/>
          <p:nvPr/>
        </p:nvSpPr>
        <p:spPr>
          <a:xfrm>
            <a:off x="9656064" y="1975104"/>
            <a:ext cx="2121408" cy="3090672"/>
          </a:xfrm>
          <a:prstGeom prst="roundRect">
            <a:avLst/>
          </a:prstGeom>
          <a:solidFill>
            <a:srgbClr val="040E3D"/>
          </a:solidFill>
          <a:ln w="825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Domain 5"/>
          <p:cNvSpPr txBox="1"/>
          <p:nvPr/>
        </p:nvSpPr>
        <p:spPr>
          <a:xfrm>
            <a:off x="9720072" y="2093976"/>
            <a:ext cx="1993392" cy="347472"/>
          </a:xfrm>
          <a:prstGeom prst="rect">
            <a:avLst/>
          </a:prstGeom>
          <a:noFill/>
        </p:spPr>
        <p:txBody>
          <a:bodyPr wrap="square" lIns="32004" tIns="0" rIns="32004" bIns="0" anchor="ctr">
            <a:spAutoFit/>
          </a:bodyPr>
          <a:lstStyle/>
          <a:p>
            <a:pPr algn="ctr"/>
            <a:r>
              <a:rPr sz="1400" b="1">
                <a:solidFill>
                  <a:srgbClr val="8FFFDB"/>
                </a:solidFill>
                <a:latin typeface="Source Sans 3"/>
              </a:rPr>
              <a:t>VALUE</a:t>
            </a:r>
          </a:p>
        </p:txBody>
      </p:sp>
      <p:sp>
        <p:nvSpPr>
          <p:cNvPr id="116" name="Awaiting evidence"/>
          <p:cNvSpPr txBox="1"/>
          <p:nvPr/>
        </p:nvSpPr>
        <p:spPr>
          <a:xfrm>
            <a:off x="9729216" y="2907792"/>
            <a:ext cx="1975104" cy="402336"/>
          </a:xfrm>
          <a:prstGeom prst="rect">
            <a:avLst/>
          </a:prstGeom>
          <a:noFill/>
        </p:spPr>
        <p:txBody>
          <a:bodyPr wrap="square" lIns="32004" tIns="0" rIns="32004" bIns="0" anchor="ctr">
            <a:spAutoFit/>
          </a:bodyPr>
          <a:lstStyle/>
          <a:p>
            <a:pPr algn="ctr"/>
            <a:r>
              <a:rPr sz="3000" b="1">
                <a:solidFill>
                  <a:srgbClr val="F2F2F4"/>
                </a:solidFill>
                <a:latin typeface="Source Sans 3"/>
              </a:rPr>
              <a:t>—</a:t>
            </a:r>
          </a:p>
        </p:txBody>
      </p:sp>
      <p:sp>
        <p:nvSpPr>
          <p:cNvPr id="117" name="Evidence status"/>
          <p:cNvSpPr txBox="1"/>
          <p:nvPr/>
        </p:nvSpPr>
        <p:spPr>
          <a:xfrm>
            <a:off x="9729216" y="3438144"/>
            <a:ext cx="1975104" cy="292608"/>
          </a:xfrm>
          <a:prstGeom prst="rect">
            <a:avLst/>
          </a:prstGeom>
          <a:noFill/>
        </p:spPr>
        <p:txBody>
          <a:bodyPr wrap="square" lIns="32004" tIns="0" rIns="32004" bIns="0" anchor="ctr">
            <a:spAutoFit/>
          </a:bodyPr>
          <a:lstStyle/>
          <a:p>
            <a:pPr algn="ctr"/>
            <a:r>
              <a:rPr sz="1019" b="1">
                <a:solidFill>
                  <a:srgbClr val="F2F2F4"/>
                </a:solidFill>
                <a:latin typeface="Source Sans 3"/>
              </a:rPr>
              <a:t>TO VERIFY</a:t>
            </a:r>
          </a:p>
        </p:txBody>
      </p:sp>
      <p:sp>
        <p:nvSpPr>
          <p:cNvPr id="118" name="Evidence description"/>
          <p:cNvSpPr txBox="1"/>
          <p:nvPr/>
        </p:nvSpPr>
        <p:spPr>
          <a:xfrm>
            <a:off x="9793224" y="3950208"/>
            <a:ext cx="1847088" cy="950976"/>
          </a:xfrm>
          <a:prstGeom prst="rect">
            <a:avLst/>
          </a:prstGeom>
          <a:noFill/>
        </p:spPr>
        <p:txBody>
          <a:bodyPr wrap="square" lIns="32004" tIns="0" rIns="32004" bIns="0" anchor="ctr">
            <a:spAutoFit/>
          </a:bodyPr>
          <a:lstStyle/>
          <a:p>
            <a:pPr algn="ctr"/>
            <a:r>
              <a:rPr sz="1150" b="0">
                <a:solidFill>
                  <a:srgbClr val="F2F2F4"/>
                </a:solidFill>
                <a:latin typeface="Source Sans 3"/>
              </a:rPr>
              <a:t>Volume, entitlement, consumption and owner</a:t>
            </a:r>
          </a:p>
        </p:txBody>
      </p:sp>
      <p:sp>
        <p:nvSpPr>
          <p:cNvPr id="119" name="Rectangle 118"/>
          <p:cNvSpPr/>
          <p:nvPr/>
        </p:nvSpPr>
        <p:spPr>
          <a:xfrm>
            <a:off x="704088" y="5541264"/>
            <a:ext cx="10853928" cy="338328"/>
          </a:xfrm>
          <a:prstGeom prst="rect">
            <a:avLst/>
          </a:prstGeom>
          <a:solidFill>
            <a:srgbClr val="040E3D"/>
          </a:solidFill>
          <a:ln w="8255">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Crossfuze editorial"/>
          <p:cNvSpPr txBox="1"/>
          <p:nvPr/>
        </p:nvSpPr>
        <p:spPr>
          <a:xfrm>
            <a:off x="768096" y="5559552"/>
            <a:ext cx="10762488" cy="292608"/>
          </a:xfrm>
          <a:prstGeom prst="rect">
            <a:avLst/>
          </a:prstGeom>
          <a:noFill/>
        </p:spPr>
        <p:txBody>
          <a:bodyPr wrap="square" lIns="32004" tIns="0" rIns="32004" bIns="0" anchor="ctr">
            <a:spAutoFit/>
          </a:bodyPr>
          <a:lstStyle/>
          <a:p>
            <a:pPr algn="ctr"/>
            <a:r>
              <a:rPr sz="1050" b="0">
                <a:solidFill>
                  <a:srgbClr val="F2F2F4"/>
                </a:solidFill>
                <a:latin typeface="Source Sans 3"/>
              </a:rPr>
              <a:t>No implied customer score. Replace TO VERIFY only when findings are observed, validated or explicitly labelled provisional.</a:t>
            </a:r>
          </a:p>
        </p:txBody>
      </p:sp>
      <p:sp>
        <p:nvSpPr>
          <p:cNvPr id="121" name="Rectangle 120"/>
          <p:cNvSpPr/>
          <p:nvPr/>
        </p:nvSpPr>
        <p:spPr>
          <a:xfrm>
            <a:off x="493776" y="5074920"/>
            <a:ext cx="11183112" cy="841248"/>
          </a:xfrm>
          <a:prstGeom prst="rect">
            <a:avLst/>
          </a:prstGeom>
          <a:solidFill>
            <a:srgbClr val="040E3D"/>
          </a:solidFill>
          <a:ln w="8255">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Scorecard clarification"/>
          <p:cNvSpPr txBox="1"/>
          <p:nvPr/>
        </p:nvSpPr>
        <p:spPr>
          <a:xfrm>
            <a:off x="950976" y="5239512"/>
            <a:ext cx="10378440" cy="457200"/>
          </a:xfrm>
          <a:prstGeom prst="rect">
            <a:avLst/>
          </a:prstGeom>
          <a:noFill/>
        </p:spPr>
        <p:txBody>
          <a:bodyPr wrap="square" lIns="32004" tIns="0" rIns="32004" bIns="0" anchor="ctr">
            <a:spAutoFit/>
          </a:bodyPr>
          <a:lstStyle/>
          <a:p>
            <a:pPr algn="ctr"/>
            <a:r>
              <a:rPr sz="1290" b="1">
                <a:solidFill>
                  <a:srgbClr val="F2F2F4"/>
                </a:solidFill>
                <a:latin typeface="Source Sans 3"/>
              </a:rPr>
              <a:t>Five decisions for the chosen workflow. The detailed seven-dimension score sits in the Decision Brief.</a:t>
            </a:r>
          </a:p>
        </p:txBody>
      </p:sp>
    </p:spTree>
    <p:extLst>
      <p:ext uri="{BB962C8B-B14F-4D97-AF65-F5344CB8AC3E}">
        <p14:creationId xmlns:p14="http://schemas.microsoft.com/office/powerpoint/2010/main" val="43013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4B7F-FB5F-F7A5-5003-EFB6C514A64F}"/>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0C5CBE4D-424E-94CA-4302-845745DDFC92}"/>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8" name="Picture 7">
            <a:extLst>
              <a:ext uri="{FF2B5EF4-FFF2-40B4-BE49-F238E27FC236}">
                <a16:creationId xmlns:a16="http://schemas.microsoft.com/office/drawing/2014/main" id="{B03A3CC4-017B-EF22-3DC1-F3EF8D31CD50}"/>
              </a:ext>
            </a:extLst>
          </p:cNvPr>
          <p:cNvPicPr>
            <a:picLocks noChangeAspect="1"/>
          </p:cNvPicPr>
          <p:nvPr/>
        </p:nvPicPr>
        <p:blipFill>
          <a:blip r:embed="rId3"/>
          <a:stretch>
            <a:fillRect/>
          </a:stretch>
        </p:blipFill>
        <p:spPr>
          <a:xfrm>
            <a:off x="648751" y="1908995"/>
            <a:ext cx="11166175" cy="4187314"/>
          </a:xfrm>
          <a:prstGeom prst="rect">
            <a:avLst/>
          </a:prstGeom>
        </p:spPr>
      </p:pic>
      <p:sp>
        <p:nvSpPr>
          <p:cNvPr id="2" name="TextBox 1">
            <a:extLst>
              <a:ext uri="{FF2B5EF4-FFF2-40B4-BE49-F238E27FC236}">
                <a16:creationId xmlns:a16="http://schemas.microsoft.com/office/drawing/2014/main" id="{601EDF67-BB2C-0AD6-3B54-55DD3D095379}"/>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1C4A6734-DAC9-F3CF-C08E-79D163216582}"/>
              </a:ext>
            </a:extLst>
          </p:cNvPr>
          <p:cNvPicPr/>
          <p:nvPr/>
        </p:nvPicPr>
        <p:blipFill>
          <a:blip>
            <a:extLst>
              <a:ext uri="{96DAC541-7B7A-43D3-8B79-37D633B846F1}">
                <asvg:svgBlip xmlns:asvg="http://schemas.microsoft.com/office/drawing/2016/SVG/main" r:embed="rId4"/>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768D066F-DC56-CD04-5D7B-6EF721853ED3}"/>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272D2D52-D885-ADB7-C021-31CA3D29BC06}"/>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271034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DCE53-3788-E0BD-A73E-2BF73E1CEB6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0BEB985-803B-AC66-1A7C-D20859B240B2}"/>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sp>
        <p:nvSpPr>
          <p:cNvPr id="2" name="TextBox 1">
            <a:extLst>
              <a:ext uri="{FF2B5EF4-FFF2-40B4-BE49-F238E27FC236}">
                <a16:creationId xmlns:a16="http://schemas.microsoft.com/office/drawing/2014/main" id="{7F9EA9E6-8CDD-0A98-C9B8-C616D6D820A8}"/>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8A2E573D-05EA-C1A2-E056-8250BA941E2B}"/>
              </a:ext>
            </a:extLst>
          </p:cNvPr>
          <p:cNvPicPr/>
          <p:nvPr/>
        </p:nvPicPr>
        <p:blipFill>
          <a:blip>
            <a:extLst>
              <a:ext uri="{96DAC541-7B7A-43D3-8B79-37D633B846F1}">
                <asvg:svgBlip xmlns:asvg="http://schemas.microsoft.com/office/drawing/2016/SVG/main" r:embed="rId3"/>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E26837CF-7238-B45C-22B6-E442C9DD2EBA}"/>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142BECCA-7445-792A-9458-AC59F293F423}"/>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4" name="Picture 3">
            <a:extLst>
              <a:ext uri="{FF2B5EF4-FFF2-40B4-BE49-F238E27FC236}">
                <a16:creationId xmlns:a16="http://schemas.microsoft.com/office/drawing/2014/main" id="{C2979F75-FE6B-AE71-0E8C-7CBA9C323059}"/>
              </a:ext>
            </a:extLst>
          </p:cNvPr>
          <p:cNvPicPr>
            <a:picLocks noChangeAspect="1"/>
          </p:cNvPicPr>
          <p:nvPr/>
        </p:nvPicPr>
        <p:blipFill>
          <a:blip r:embed="rId4"/>
          <a:stretch>
            <a:fillRect/>
          </a:stretch>
        </p:blipFill>
        <p:spPr>
          <a:xfrm>
            <a:off x="648751" y="1908995"/>
            <a:ext cx="11166175" cy="4187314"/>
          </a:xfrm>
          <a:prstGeom prst="rect">
            <a:avLst/>
          </a:prstGeom>
        </p:spPr>
      </p:pic>
    </p:spTree>
    <p:extLst>
      <p:ext uri="{BB962C8B-B14F-4D97-AF65-F5344CB8AC3E}">
        <p14:creationId xmlns:p14="http://schemas.microsoft.com/office/powerpoint/2010/main" val="3303455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A5DC-957C-E2A1-61C5-88E311DF85ED}"/>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2AB305C-E5DE-0D04-077D-B0464046E66E}"/>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sp>
        <p:nvSpPr>
          <p:cNvPr id="2" name="TextBox 1">
            <a:extLst>
              <a:ext uri="{FF2B5EF4-FFF2-40B4-BE49-F238E27FC236}">
                <a16:creationId xmlns:a16="http://schemas.microsoft.com/office/drawing/2014/main" id="{2E024DA8-3D94-DD4F-3620-56E0174DF322}"/>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A4CD88E4-30F6-7F4B-9F4F-C4BEEE26C722}"/>
              </a:ext>
            </a:extLst>
          </p:cNvPr>
          <p:cNvPicPr/>
          <p:nvPr/>
        </p:nvPicPr>
        <p:blipFill>
          <a:blip>
            <a:extLst>
              <a:ext uri="{96DAC541-7B7A-43D3-8B79-37D633B846F1}">
                <asvg:svgBlip xmlns:asvg="http://schemas.microsoft.com/office/drawing/2016/SVG/main" r:embed="rId3"/>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CC300311-FD00-9E92-EC66-ED7536687085}"/>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C3B86028-E6A7-7F1C-9231-21BF66085556}"/>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4" name="Picture 3">
            <a:extLst>
              <a:ext uri="{FF2B5EF4-FFF2-40B4-BE49-F238E27FC236}">
                <a16:creationId xmlns:a16="http://schemas.microsoft.com/office/drawing/2014/main" id="{C2678F36-2C52-3140-D607-1901E641AE7B}"/>
              </a:ext>
            </a:extLst>
          </p:cNvPr>
          <p:cNvPicPr>
            <a:picLocks noChangeAspect="1"/>
          </p:cNvPicPr>
          <p:nvPr/>
        </p:nvPicPr>
        <p:blipFill>
          <a:blip r:embed="rId4"/>
          <a:stretch>
            <a:fillRect/>
          </a:stretch>
        </p:blipFill>
        <p:spPr>
          <a:xfrm>
            <a:off x="648751" y="1908995"/>
            <a:ext cx="11166175" cy="4187314"/>
          </a:xfrm>
          <a:prstGeom prst="rect">
            <a:avLst/>
          </a:prstGeom>
        </p:spPr>
      </p:pic>
      <p:pic>
        <p:nvPicPr>
          <p:cNvPr id="6" name="Picture 5">
            <a:extLst>
              <a:ext uri="{FF2B5EF4-FFF2-40B4-BE49-F238E27FC236}">
                <a16:creationId xmlns:a16="http://schemas.microsoft.com/office/drawing/2014/main" id="{575724B0-53D6-3DCE-187C-4CA6EA95E254}"/>
              </a:ext>
            </a:extLst>
          </p:cNvPr>
          <p:cNvPicPr>
            <a:picLocks noChangeAspect="1"/>
          </p:cNvPicPr>
          <p:nvPr/>
        </p:nvPicPr>
        <p:blipFill>
          <a:blip r:embed="rId5"/>
          <a:stretch>
            <a:fillRect/>
          </a:stretch>
        </p:blipFill>
        <p:spPr>
          <a:xfrm>
            <a:off x="648753" y="1907651"/>
            <a:ext cx="11166173" cy="4187314"/>
          </a:xfrm>
          <a:prstGeom prst="rect">
            <a:avLst/>
          </a:prstGeom>
        </p:spPr>
      </p:pic>
    </p:spTree>
    <p:extLst>
      <p:ext uri="{BB962C8B-B14F-4D97-AF65-F5344CB8AC3E}">
        <p14:creationId xmlns:p14="http://schemas.microsoft.com/office/powerpoint/2010/main" val="182313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51CE-0EF2-B620-44F1-01A68ACB45E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D0BBCFA-DF44-523A-484B-A04626A54214}"/>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7" name="Picture 6">
            <a:extLst>
              <a:ext uri="{FF2B5EF4-FFF2-40B4-BE49-F238E27FC236}">
                <a16:creationId xmlns:a16="http://schemas.microsoft.com/office/drawing/2014/main" id="{8F50B913-D3ED-B627-BB66-16062621334B}"/>
              </a:ext>
            </a:extLst>
          </p:cNvPr>
          <p:cNvPicPr>
            <a:picLocks noChangeAspect="1"/>
          </p:cNvPicPr>
          <p:nvPr/>
        </p:nvPicPr>
        <p:blipFill>
          <a:blip r:embed="rId3"/>
          <a:stretch>
            <a:fillRect/>
          </a:stretch>
        </p:blipFill>
        <p:spPr>
          <a:xfrm>
            <a:off x="648751" y="1907651"/>
            <a:ext cx="11166175" cy="4187314"/>
          </a:xfrm>
          <a:prstGeom prst="rect">
            <a:avLst/>
          </a:prstGeom>
        </p:spPr>
      </p:pic>
      <p:sp>
        <p:nvSpPr>
          <p:cNvPr id="2" name="TextBox 1">
            <a:extLst>
              <a:ext uri="{FF2B5EF4-FFF2-40B4-BE49-F238E27FC236}">
                <a16:creationId xmlns:a16="http://schemas.microsoft.com/office/drawing/2014/main" id="{D0037925-4DFC-191E-58B0-CA945310C2A4}"/>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2E731F86-E940-ADEA-6208-FCA66133FF55}"/>
              </a:ext>
            </a:extLst>
          </p:cNvPr>
          <p:cNvPicPr/>
          <p:nvPr/>
        </p:nvPicPr>
        <p:blipFill>
          <a:blip>
            <a:extLst>
              <a:ext uri="{96DAC541-7B7A-43D3-8B79-37D633B846F1}">
                <asvg:svgBlip xmlns:asvg="http://schemas.microsoft.com/office/drawing/2016/SVG/main" r:embed="rId4"/>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05F1C554-E1D0-6E16-CB6F-D45A6D58C226}"/>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1C7EAAAA-FD7C-969B-FC00-06C8FE3521A5}"/>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84391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67EA63-4D86-4556-4E60-3A3192FBA5E4}"/>
            </a:ext>
          </a:extLst>
        </p:cNvPr>
        <p:cNvGrpSpPr/>
        <p:nvPr/>
      </p:nvGrpSpPr>
      <p:grpSpPr>
        <a:xfrm>
          <a:off x="0" y="0"/>
          <a:ext cx="0" cy="0"/>
          <a:chOff x="0" y="0"/>
          <a:chExt cx="0" cy="0"/>
        </a:xfrm>
      </p:grpSpPr>
      <p:pic>
        <p:nvPicPr>
          <p:cNvPr id="188" name="Picture 187">
            <a:extLst>
              <a:ext uri="{FF2B5EF4-FFF2-40B4-BE49-F238E27FC236}">
                <a16:creationId xmlns:a16="http://schemas.microsoft.com/office/drawing/2014/main" id="{6958F68B-905F-5962-9716-596E1CF23429}"/>
              </a:ext>
              <a:ext uri="{C183D7F6-B498-43B3-948B-1728B52AA6E4}">
                <adec:decorative xmlns:adec="http://schemas.microsoft.com/office/drawing/2017/decorative" val="1"/>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a:fillRect/>
          </a:stretch>
        </p:blipFill>
        <p:spPr>
          <a:xfrm>
            <a:off x="6726374" y="137050"/>
            <a:ext cx="4985412" cy="4985203"/>
          </a:xfrm>
          <a:prstGeom prst="rect">
            <a:avLst/>
          </a:prstGeom>
        </p:spPr>
      </p:pic>
      <p:sp>
        <p:nvSpPr>
          <p:cNvPr id="189" name="Rectangle 188">
            <a:extLst>
              <a:ext uri="{FF2B5EF4-FFF2-40B4-BE49-F238E27FC236}">
                <a16:creationId xmlns:a16="http://schemas.microsoft.com/office/drawing/2014/main" id="{A1A387F3-E8D3-FD58-CAF5-3210D0B624F8}"/>
              </a:ext>
            </a:extLst>
          </p:cNvPr>
          <p:cNvSpPr/>
          <p:nvPr/>
        </p:nvSpPr>
        <p:spPr>
          <a:xfrm>
            <a:off x="1034086" y="30406"/>
            <a:ext cx="11154444" cy="6850856"/>
          </a:xfrm>
          <a:prstGeom prst="rect">
            <a:avLst/>
          </a:prstGeom>
          <a:gradFill flip="none" rotWithShape="1">
            <a:gsLst>
              <a:gs pos="23000">
                <a:srgbClr val="040E3D"/>
              </a:gs>
              <a:gs pos="42000">
                <a:srgbClr val="040E3D">
                  <a:alpha val="75538"/>
                </a:srgbClr>
              </a:gs>
              <a:gs pos="69000">
                <a:srgbClr val="040E3D">
                  <a:alpha val="0"/>
                </a:srgbClr>
              </a:gs>
            </a:gsLst>
            <a:path path="circle">
              <a:fillToRect l="100000" t="100000"/>
            </a:path>
            <a:tileRect r="-100000" b="-100000"/>
          </a:gradFill>
          <a:ln w="12700" cap="flat" cmpd="sng" algn="ctr">
            <a:noFill/>
            <a:prstDash val="solid"/>
            <a:miter lim="800000"/>
          </a:ln>
          <a:effectLst/>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grpSp>
        <p:nvGrpSpPr>
          <p:cNvPr id="1026" name="Group 1025">
            <a:extLst>
              <a:ext uri="{FF2B5EF4-FFF2-40B4-BE49-F238E27FC236}">
                <a16:creationId xmlns:a16="http://schemas.microsoft.com/office/drawing/2014/main" id="{A6DCE0A9-17C2-D727-70F9-9774D68E6B42}"/>
              </a:ext>
            </a:extLst>
          </p:cNvPr>
          <p:cNvGrpSpPr/>
          <p:nvPr/>
        </p:nvGrpSpPr>
        <p:grpSpPr>
          <a:xfrm>
            <a:off x="4169266" y="1724164"/>
            <a:ext cx="7792587" cy="4578998"/>
            <a:chOff x="4164001" y="1723718"/>
            <a:chExt cx="7794617" cy="4580191"/>
          </a:xfrm>
        </p:grpSpPr>
        <p:cxnSp>
          <p:nvCxnSpPr>
            <p:cNvPr id="1027" name="Straight Arrow Connector 1026">
              <a:extLst>
                <a:ext uri="{FF2B5EF4-FFF2-40B4-BE49-F238E27FC236}">
                  <a16:creationId xmlns:a16="http://schemas.microsoft.com/office/drawing/2014/main" id="{1C182D2F-C900-F64A-4A57-A93F5C910785}"/>
                </a:ext>
              </a:extLst>
            </p:cNvPr>
            <p:cNvCxnSpPr>
              <a:cxnSpLocks/>
              <a:endCxn id="214" idx="0"/>
            </p:cNvCxnSpPr>
            <p:nvPr/>
          </p:nvCxnSpPr>
          <p:spPr>
            <a:xfrm>
              <a:off x="4823148" y="2591804"/>
              <a:ext cx="102606" cy="2650641"/>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29" name="Straight Arrow Connector 1028">
              <a:extLst>
                <a:ext uri="{FF2B5EF4-FFF2-40B4-BE49-F238E27FC236}">
                  <a16:creationId xmlns:a16="http://schemas.microsoft.com/office/drawing/2014/main" id="{E4A732D9-3416-5A87-92DA-27AF3F799758}"/>
                </a:ext>
              </a:extLst>
            </p:cNvPr>
            <p:cNvCxnSpPr>
              <a:cxnSpLocks/>
            </p:cNvCxnSpPr>
            <p:nvPr/>
          </p:nvCxnSpPr>
          <p:spPr>
            <a:xfrm>
              <a:off x="4823148" y="2591804"/>
              <a:ext cx="1429905" cy="3357384"/>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1" name="Straight Arrow Connector 1030">
              <a:extLst>
                <a:ext uri="{FF2B5EF4-FFF2-40B4-BE49-F238E27FC236}">
                  <a16:creationId xmlns:a16="http://schemas.microsoft.com/office/drawing/2014/main" id="{B37F4FFA-C37C-414E-0A89-65695AA5ECA3}"/>
                </a:ext>
              </a:extLst>
            </p:cNvPr>
            <p:cNvCxnSpPr>
              <a:cxnSpLocks/>
              <a:stCxn id="215" idx="0"/>
            </p:cNvCxnSpPr>
            <p:nvPr/>
          </p:nvCxnSpPr>
          <p:spPr>
            <a:xfrm>
              <a:off x="4824877" y="2542922"/>
              <a:ext cx="3172584" cy="2734005"/>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2" name="Straight Arrow Connector 1031">
              <a:extLst>
                <a:ext uri="{FF2B5EF4-FFF2-40B4-BE49-F238E27FC236}">
                  <a16:creationId xmlns:a16="http://schemas.microsoft.com/office/drawing/2014/main" id="{115C6DBD-13E6-DDBD-416F-36C0FEAE10DA}"/>
                </a:ext>
              </a:extLst>
            </p:cNvPr>
            <p:cNvCxnSpPr>
              <a:cxnSpLocks/>
              <a:stCxn id="215" idx="0"/>
            </p:cNvCxnSpPr>
            <p:nvPr/>
          </p:nvCxnSpPr>
          <p:spPr>
            <a:xfrm>
              <a:off x="4824877" y="2542922"/>
              <a:ext cx="6827568" cy="1315588"/>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4" name="Straight Arrow Connector 1033">
              <a:extLst>
                <a:ext uri="{FF2B5EF4-FFF2-40B4-BE49-F238E27FC236}">
                  <a16:creationId xmlns:a16="http://schemas.microsoft.com/office/drawing/2014/main" id="{AA5D0E16-538A-EC4A-7122-B9A77628A5BB}"/>
                </a:ext>
              </a:extLst>
            </p:cNvPr>
            <p:cNvCxnSpPr>
              <a:cxnSpLocks/>
            </p:cNvCxnSpPr>
            <p:nvPr/>
          </p:nvCxnSpPr>
          <p:spPr>
            <a:xfrm>
              <a:off x="4823148" y="2591804"/>
              <a:ext cx="6167807" cy="32735"/>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6" name="Straight Arrow Connector 1035">
              <a:extLst>
                <a:ext uri="{FF2B5EF4-FFF2-40B4-BE49-F238E27FC236}">
                  <a16:creationId xmlns:a16="http://schemas.microsoft.com/office/drawing/2014/main" id="{D55E2A36-26D2-E7E3-562F-9CDD2BA37F2B}"/>
                </a:ext>
              </a:extLst>
            </p:cNvPr>
            <p:cNvCxnSpPr>
              <a:cxnSpLocks/>
            </p:cNvCxnSpPr>
            <p:nvPr/>
          </p:nvCxnSpPr>
          <p:spPr>
            <a:xfrm flipV="1">
              <a:off x="4823148" y="2059364"/>
              <a:ext cx="4359820" cy="532440"/>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7" name="Straight Arrow Connector 1036">
              <a:extLst>
                <a:ext uri="{FF2B5EF4-FFF2-40B4-BE49-F238E27FC236}">
                  <a16:creationId xmlns:a16="http://schemas.microsoft.com/office/drawing/2014/main" id="{9F04390A-2136-34D5-4EFE-ED16997FE2BA}"/>
                </a:ext>
              </a:extLst>
            </p:cNvPr>
            <p:cNvCxnSpPr>
              <a:cxnSpLocks/>
            </p:cNvCxnSpPr>
            <p:nvPr/>
          </p:nvCxnSpPr>
          <p:spPr>
            <a:xfrm flipH="1">
              <a:off x="4311818" y="2591804"/>
              <a:ext cx="511330" cy="1257924"/>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8" name="Straight Arrow Connector 1037">
              <a:extLst>
                <a:ext uri="{FF2B5EF4-FFF2-40B4-BE49-F238E27FC236}">
                  <a16:creationId xmlns:a16="http://schemas.microsoft.com/office/drawing/2014/main" id="{15AB37B6-8CD5-F71A-2247-FB928B3DB2BB}"/>
                </a:ext>
              </a:extLst>
            </p:cNvPr>
            <p:cNvCxnSpPr>
              <a:cxnSpLocks/>
              <a:stCxn id="215" idx="7"/>
            </p:cNvCxnSpPr>
            <p:nvPr/>
          </p:nvCxnSpPr>
          <p:spPr>
            <a:xfrm flipV="1">
              <a:off x="4857181" y="2080167"/>
              <a:ext cx="1869609" cy="476136"/>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39" name="Straight Arrow Connector 1038">
              <a:extLst>
                <a:ext uri="{FF2B5EF4-FFF2-40B4-BE49-F238E27FC236}">
                  <a16:creationId xmlns:a16="http://schemas.microsoft.com/office/drawing/2014/main" id="{5800C2D7-F8DD-ACDB-2E56-D7D0D3BE0194}"/>
                </a:ext>
              </a:extLst>
            </p:cNvPr>
            <p:cNvCxnSpPr>
              <a:cxnSpLocks/>
              <a:stCxn id="215" idx="1"/>
              <a:endCxn id="212" idx="0"/>
            </p:cNvCxnSpPr>
            <p:nvPr/>
          </p:nvCxnSpPr>
          <p:spPr>
            <a:xfrm>
              <a:off x="4792573" y="2556303"/>
              <a:ext cx="3206494" cy="3629494"/>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0" name="Straight Arrow Connector 1039">
              <a:extLst>
                <a:ext uri="{FF2B5EF4-FFF2-40B4-BE49-F238E27FC236}">
                  <a16:creationId xmlns:a16="http://schemas.microsoft.com/office/drawing/2014/main" id="{6358A942-C5B2-DD58-0813-C38D7A32B5C1}"/>
                </a:ext>
              </a:extLst>
            </p:cNvPr>
            <p:cNvCxnSpPr>
              <a:cxnSpLocks/>
              <a:stCxn id="215" idx="6"/>
              <a:endCxn id="210" idx="7"/>
            </p:cNvCxnSpPr>
            <p:nvPr/>
          </p:nvCxnSpPr>
          <p:spPr>
            <a:xfrm>
              <a:off x="4870561" y="2588607"/>
              <a:ext cx="4893256" cy="3331719"/>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1" name="Straight Arrow Connector 1040">
              <a:extLst>
                <a:ext uri="{FF2B5EF4-FFF2-40B4-BE49-F238E27FC236}">
                  <a16:creationId xmlns:a16="http://schemas.microsoft.com/office/drawing/2014/main" id="{5428D663-6978-3C02-451B-D002F5F4E3E5}"/>
                </a:ext>
              </a:extLst>
            </p:cNvPr>
            <p:cNvCxnSpPr>
              <a:cxnSpLocks/>
              <a:endCxn id="210" idx="7"/>
            </p:cNvCxnSpPr>
            <p:nvPr/>
          </p:nvCxnSpPr>
          <p:spPr>
            <a:xfrm flipH="1">
              <a:off x="9763817" y="5276927"/>
              <a:ext cx="1083254" cy="643398"/>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2" name="Straight Arrow Connector 1041">
              <a:extLst>
                <a:ext uri="{FF2B5EF4-FFF2-40B4-BE49-F238E27FC236}">
                  <a16:creationId xmlns:a16="http://schemas.microsoft.com/office/drawing/2014/main" id="{DB195D55-44F4-A8FD-B0A7-6A9169305A4D}"/>
                </a:ext>
              </a:extLst>
            </p:cNvPr>
            <p:cNvCxnSpPr>
              <a:cxnSpLocks/>
              <a:stCxn id="209" idx="1"/>
            </p:cNvCxnSpPr>
            <p:nvPr/>
          </p:nvCxnSpPr>
          <p:spPr>
            <a:xfrm flipH="1">
              <a:off x="7997460" y="5255826"/>
              <a:ext cx="2823093" cy="967883"/>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3" name="Straight Arrow Connector 1042">
              <a:extLst>
                <a:ext uri="{FF2B5EF4-FFF2-40B4-BE49-F238E27FC236}">
                  <a16:creationId xmlns:a16="http://schemas.microsoft.com/office/drawing/2014/main" id="{9F06C5F6-31FA-BB7A-2B6A-8ACD15CDF8DD}"/>
                </a:ext>
              </a:extLst>
            </p:cNvPr>
            <p:cNvCxnSpPr>
              <a:cxnSpLocks/>
            </p:cNvCxnSpPr>
            <p:nvPr/>
          </p:nvCxnSpPr>
          <p:spPr>
            <a:xfrm flipH="1">
              <a:off x="7997461" y="5276927"/>
              <a:ext cx="2849611" cy="0"/>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4" name="Straight Arrow Connector 1043">
              <a:extLst>
                <a:ext uri="{FF2B5EF4-FFF2-40B4-BE49-F238E27FC236}">
                  <a16:creationId xmlns:a16="http://schemas.microsoft.com/office/drawing/2014/main" id="{480B3BA4-86BE-30C3-BD76-468675A917D0}"/>
                </a:ext>
              </a:extLst>
            </p:cNvPr>
            <p:cNvCxnSpPr>
              <a:cxnSpLocks/>
              <a:stCxn id="209" idx="0"/>
            </p:cNvCxnSpPr>
            <p:nvPr/>
          </p:nvCxnSpPr>
          <p:spPr>
            <a:xfrm flipH="1">
              <a:off x="6253053" y="5242445"/>
              <a:ext cx="4599804" cy="706742"/>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5" name="Straight Arrow Connector 1044">
              <a:extLst>
                <a:ext uri="{FF2B5EF4-FFF2-40B4-BE49-F238E27FC236}">
                  <a16:creationId xmlns:a16="http://schemas.microsoft.com/office/drawing/2014/main" id="{F3707BD1-2E5F-A476-B6B1-4F0F4F9B59A1}"/>
                </a:ext>
              </a:extLst>
            </p:cNvPr>
            <p:cNvCxnSpPr>
              <a:cxnSpLocks/>
            </p:cNvCxnSpPr>
            <p:nvPr/>
          </p:nvCxnSpPr>
          <p:spPr>
            <a:xfrm flipV="1">
              <a:off x="10847072" y="3698068"/>
              <a:ext cx="805373" cy="1418417"/>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6" name="Straight Arrow Connector 1045">
              <a:extLst>
                <a:ext uri="{FF2B5EF4-FFF2-40B4-BE49-F238E27FC236}">
                  <a16:creationId xmlns:a16="http://schemas.microsoft.com/office/drawing/2014/main" id="{3A6DC07E-EE0C-3F8A-6FAA-198224D8D9AE}"/>
                </a:ext>
              </a:extLst>
            </p:cNvPr>
            <p:cNvCxnSpPr>
              <a:cxnSpLocks/>
            </p:cNvCxnSpPr>
            <p:nvPr/>
          </p:nvCxnSpPr>
          <p:spPr>
            <a:xfrm flipV="1">
              <a:off x="10847072" y="2624540"/>
              <a:ext cx="143884" cy="2652388"/>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7" name="Straight Arrow Connector 1046">
              <a:extLst>
                <a:ext uri="{FF2B5EF4-FFF2-40B4-BE49-F238E27FC236}">
                  <a16:creationId xmlns:a16="http://schemas.microsoft.com/office/drawing/2014/main" id="{5B1660BE-E32D-36C9-F166-9EAB7A85B6D6}"/>
                </a:ext>
              </a:extLst>
            </p:cNvPr>
            <p:cNvCxnSpPr>
              <a:cxnSpLocks/>
              <a:stCxn id="213" idx="1"/>
            </p:cNvCxnSpPr>
            <p:nvPr/>
          </p:nvCxnSpPr>
          <p:spPr>
            <a:xfrm flipH="1" flipV="1">
              <a:off x="4311818" y="3849728"/>
              <a:ext cx="1910633" cy="2070597"/>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8" name="Straight Arrow Connector 1047">
              <a:extLst>
                <a:ext uri="{FF2B5EF4-FFF2-40B4-BE49-F238E27FC236}">
                  <a16:creationId xmlns:a16="http://schemas.microsoft.com/office/drawing/2014/main" id="{670974B5-BEEB-9172-50CC-215623518FF1}"/>
                </a:ext>
              </a:extLst>
            </p:cNvPr>
            <p:cNvCxnSpPr>
              <a:cxnSpLocks/>
              <a:stCxn id="209" idx="1"/>
            </p:cNvCxnSpPr>
            <p:nvPr/>
          </p:nvCxnSpPr>
          <p:spPr>
            <a:xfrm flipH="1" flipV="1">
              <a:off x="6726790" y="2080167"/>
              <a:ext cx="4093764" cy="3175659"/>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49" name="Straight Arrow Connector 1048">
              <a:extLst>
                <a:ext uri="{FF2B5EF4-FFF2-40B4-BE49-F238E27FC236}">
                  <a16:creationId xmlns:a16="http://schemas.microsoft.com/office/drawing/2014/main" id="{60BC4406-D603-2B57-E23B-45AF593321F7}"/>
                </a:ext>
              </a:extLst>
            </p:cNvPr>
            <p:cNvCxnSpPr>
              <a:cxnSpLocks/>
              <a:stCxn id="209" idx="1"/>
              <a:endCxn id="215" idx="1"/>
            </p:cNvCxnSpPr>
            <p:nvPr/>
          </p:nvCxnSpPr>
          <p:spPr>
            <a:xfrm flipH="1" flipV="1">
              <a:off x="4792573" y="2556303"/>
              <a:ext cx="6027980" cy="2699523"/>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0" name="Straight Arrow Connector 1049">
              <a:extLst>
                <a:ext uri="{FF2B5EF4-FFF2-40B4-BE49-F238E27FC236}">
                  <a16:creationId xmlns:a16="http://schemas.microsoft.com/office/drawing/2014/main" id="{14ABD448-E21F-241D-E13D-B6769FE1E383}"/>
                </a:ext>
              </a:extLst>
            </p:cNvPr>
            <p:cNvCxnSpPr>
              <a:cxnSpLocks/>
              <a:stCxn id="206" idx="6"/>
              <a:endCxn id="207" idx="1"/>
            </p:cNvCxnSpPr>
            <p:nvPr/>
          </p:nvCxnSpPr>
          <p:spPr>
            <a:xfrm>
              <a:off x="9224243" y="2068579"/>
              <a:ext cx="1732770" cy="529252"/>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1" name="Straight Arrow Connector 1050">
              <a:extLst>
                <a:ext uri="{FF2B5EF4-FFF2-40B4-BE49-F238E27FC236}">
                  <a16:creationId xmlns:a16="http://schemas.microsoft.com/office/drawing/2014/main" id="{614C8768-576A-D78D-926E-03201D90021E}"/>
                </a:ext>
              </a:extLst>
            </p:cNvPr>
            <p:cNvCxnSpPr>
              <a:cxnSpLocks/>
              <a:stCxn id="206" idx="1"/>
            </p:cNvCxnSpPr>
            <p:nvPr/>
          </p:nvCxnSpPr>
          <p:spPr>
            <a:xfrm>
              <a:off x="9146255" y="2036276"/>
              <a:ext cx="2506190" cy="1822235"/>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2" name="Straight Arrow Connector 1051">
              <a:extLst>
                <a:ext uri="{FF2B5EF4-FFF2-40B4-BE49-F238E27FC236}">
                  <a16:creationId xmlns:a16="http://schemas.microsoft.com/office/drawing/2014/main" id="{DE0BBE86-E872-19B9-0953-8F8089B0B044}"/>
                </a:ext>
              </a:extLst>
            </p:cNvPr>
            <p:cNvCxnSpPr>
              <a:cxnSpLocks/>
            </p:cNvCxnSpPr>
            <p:nvPr/>
          </p:nvCxnSpPr>
          <p:spPr>
            <a:xfrm>
              <a:off x="9182968" y="2059364"/>
              <a:ext cx="1664103" cy="3217563"/>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3" name="Straight Arrow Connector 1052">
              <a:extLst>
                <a:ext uri="{FF2B5EF4-FFF2-40B4-BE49-F238E27FC236}">
                  <a16:creationId xmlns:a16="http://schemas.microsoft.com/office/drawing/2014/main" id="{C2DAD677-20A2-259F-1C2B-C4D8C5B208FC}"/>
                </a:ext>
              </a:extLst>
            </p:cNvPr>
            <p:cNvCxnSpPr>
              <a:cxnSpLocks/>
              <a:endCxn id="210" idx="1"/>
            </p:cNvCxnSpPr>
            <p:nvPr/>
          </p:nvCxnSpPr>
          <p:spPr>
            <a:xfrm>
              <a:off x="9182968" y="2059364"/>
              <a:ext cx="516241" cy="3860961"/>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4" name="Straight Arrow Connector 1053">
              <a:extLst>
                <a:ext uri="{FF2B5EF4-FFF2-40B4-BE49-F238E27FC236}">
                  <a16:creationId xmlns:a16="http://schemas.microsoft.com/office/drawing/2014/main" id="{7DA1BFB5-F6F2-19F3-1526-685B7F0A0D86}"/>
                </a:ext>
              </a:extLst>
            </p:cNvPr>
            <p:cNvCxnSpPr>
              <a:cxnSpLocks/>
            </p:cNvCxnSpPr>
            <p:nvPr/>
          </p:nvCxnSpPr>
          <p:spPr>
            <a:xfrm flipH="1">
              <a:off x="7997460" y="2059364"/>
              <a:ext cx="1185508" cy="4164345"/>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5" name="Straight Arrow Connector 1054">
              <a:extLst>
                <a:ext uri="{FF2B5EF4-FFF2-40B4-BE49-F238E27FC236}">
                  <a16:creationId xmlns:a16="http://schemas.microsoft.com/office/drawing/2014/main" id="{FFB51F60-42B6-5903-8734-409D7A771F9F}"/>
                </a:ext>
              </a:extLst>
            </p:cNvPr>
            <p:cNvCxnSpPr>
              <a:cxnSpLocks/>
              <a:stCxn id="206" idx="0"/>
            </p:cNvCxnSpPr>
            <p:nvPr/>
          </p:nvCxnSpPr>
          <p:spPr>
            <a:xfrm flipH="1">
              <a:off x="7997461" y="2022895"/>
              <a:ext cx="1181098" cy="3254032"/>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6" name="Straight Arrow Connector 1055">
              <a:extLst>
                <a:ext uri="{FF2B5EF4-FFF2-40B4-BE49-F238E27FC236}">
                  <a16:creationId xmlns:a16="http://schemas.microsoft.com/office/drawing/2014/main" id="{1FC3D2AC-3D75-4C4D-BBAB-4C1C54643854}"/>
                </a:ext>
              </a:extLst>
            </p:cNvPr>
            <p:cNvCxnSpPr>
              <a:cxnSpLocks/>
            </p:cNvCxnSpPr>
            <p:nvPr/>
          </p:nvCxnSpPr>
          <p:spPr>
            <a:xfrm flipH="1">
              <a:off x="6253053" y="2059364"/>
              <a:ext cx="2929915" cy="3889823"/>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7" name="Straight Arrow Connector 1056">
              <a:extLst>
                <a:ext uri="{FF2B5EF4-FFF2-40B4-BE49-F238E27FC236}">
                  <a16:creationId xmlns:a16="http://schemas.microsoft.com/office/drawing/2014/main" id="{D4DB45E5-0858-A25F-DA5D-2ED578B15E28}"/>
                </a:ext>
              </a:extLst>
            </p:cNvPr>
            <p:cNvCxnSpPr>
              <a:cxnSpLocks/>
            </p:cNvCxnSpPr>
            <p:nvPr/>
          </p:nvCxnSpPr>
          <p:spPr>
            <a:xfrm flipH="1">
              <a:off x="4931372" y="2059364"/>
              <a:ext cx="4251596" cy="3217563"/>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8" name="Straight Arrow Connector 1057">
              <a:extLst>
                <a:ext uri="{FF2B5EF4-FFF2-40B4-BE49-F238E27FC236}">
                  <a16:creationId xmlns:a16="http://schemas.microsoft.com/office/drawing/2014/main" id="{7270DA39-834E-D179-CE43-B5FC190EBB7D}"/>
                </a:ext>
              </a:extLst>
            </p:cNvPr>
            <p:cNvCxnSpPr>
              <a:cxnSpLocks/>
              <a:endCxn id="204" idx="6"/>
            </p:cNvCxnSpPr>
            <p:nvPr/>
          </p:nvCxnSpPr>
          <p:spPr>
            <a:xfrm flipH="1">
              <a:off x="6767476" y="2059364"/>
              <a:ext cx="2415492" cy="7136"/>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59" name="Straight Arrow Connector 1058">
              <a:extLst>
                <a:ext uri="{FF2B5EF4-FFF2-40B4-BE49-F238E27FC236}">
                  <a16:creationId xmlns:a16="http://schemas.microsoft.com/office/drawing/2014/main" id="{CD69E5E6-FA90-6102-C6DC-8CF05C0F8947}"/>
                </a:ext>
              </a:extLst>
            </p:cNvPr>
            <p:cNvCxnSpPr>
              <a:cxnSpLocks/>
              <a:stCxn id="206" idx="7"/>
            </p:cNvCxnSpPr>
            <p:nvPr/>
          </p:nvCxnSpPr>
          <p:spPr>
            <a:xfrm flipH="1">
              <a:off x="4311818" y="2036276"/>
              <a:ext cx="4899045" cy="1813453"/>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0" name="Straight Arrow Connector 1059">
              <a:extLst>
                <a:ext uri="{FF2B5EF4-FFF2-40B4-BE49-F238E27FC236}">
                  <a16:creationId xmlns:a16="http://schemas.microsoft.com/office/drawing/2014/main" id="{33D2A31A-966D-DB5A-0E94-440FA39EEDBC}"/>
                </a:ext>
              </a:extLst>
            </p:cNvPr>
            <p:cNvCxnSpPr>
              <a:cxnSpLocks/>
              <a:endCxn id="214" idx="1"/>
            </p:cNvCxnSpPr>
            <p:nvPr/>
          </p:nvCxnSpPr>
          <p:spPr>
            <a:xfrm flipH="1" flipV="1">
              <a:off x="4893450" y="5255826"/>
              <a:ext cx="1359603" cy="693362"/>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1" name="Straight Arrow Connector 1060">
              <a:extLst>
                <a:ext uri="{FF2B5EF4-FFF2-40B4-BE49-F238E27FC236}">
                  <a16:creationId xmlns:a16="http://schemas.microsoft.com/office/drawing/2014/main" id="{A333B000-174E-F666-8DFE-2CB711C79804}"/>
                </a:ext>
              </a:extLst>
            </p:cNvPr>
            <p:cNvCxnSpPr>
              <a:cxnSpLocks/>
              <a:endCxn id="212" idx="1"/>
            </p:cNvCxnSpPr>
            <p:nvPr/>
          </p:nvCxnSpPr>
          <p:spPr>
            <a:xfrm>
              <a:off x="6253053" y="5949188"/>
              <a:ext cx="1713711" cy="249990"/>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2" name="Straight Arrow Connector 1061">
              <a:extLst>
                <a:ext uri="{FF2B5EF4-FFF2-40B4-BE49-F238E27FC236}">
                  <a16:creationId xmlns:a16="http://schemas.microsoft.com/office/drawing/2014/main" id="{24A66612-9E25-B762-CBC6-15D02E87EEEA}"/>
                </a:ext>
              </a:extLst>
            </p:cNvPr>
            <p:cNvCxnSpPr>
              <a:cxnSpLocks/>
            </p:cNvCxnSpPr>
            <p:nvPr/>
          </p:nvCxnSpPr>
          <p:spPr>
            <a:xfrm>
              <a:off x="6253053" y="5949188"/>
              <a:ext cx="3475437" cy="0"/>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3" name="Straight Arrow Connector 1062">
              <a:extLst>
                <a:ext uri="{FF2B5EF4-FFF2-40B4-BE49-F238E27FC236}">
                  <a16:creationId xmlns:a16="http://schemas.microsoft.com/office/drawing/2014/main" id="{D31BC35B-DC26-ECBE-339F-2A007F948B43}"/>
                </a:ext>
              </a:extLst>
            </p:cNvPr>
            <p:cNvCxnSpPr>
              <a:cxnSpLocks/>
              <a:stCxn id="213" idx="0"/>
              <a:endCxn id="208" idx="7"/>
            </p:cNvCxnSpPr>
            <p:nvPr/>
          </p:nvCxnSpPr>
          <p:spPr>
            <a:xfrm flipV="1">
              <a:off x="6254755" y="3837834"/>
              <a:ext cx="5443232" cy="2069111"/>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4" name="Straight Arrow Connector 1063">
              <a:extLst>
                <a:ext uri="{FF2B5EF4-FFF2-40B4-BE49-F238E27FC236}">
                  <a16:creationId xmlns:a16="http://schemas.microsoft.com/office/drawing/2014/main" id="{7779E053-6081-A1CA-9A2D-6EF3D46F63EB}"/>
                </a:ext>
              </a:extLst>
            </p:cNvPr>
            <p:cNvCxnSpPr>
              <a:cxnSpLocks/>
            </p:cNvCxnSpPr>
            <p:nvPr/>
          </p:nvCxnSpPr>
          <p:spPr>
            <a:xfrm flipV="1">
              <a:off x="6253053" y="2624540"/>
              <a:ext cx="4737902" cy="3324648"/>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5" name="Straight Arrow Connector 1064">
              <a:extLst>
                <a:ext uri="{FF2B5EF4-FFF2-40B4-BE49-F238E27FC236}">
                  <a16:creationId xmlns:a16="http://schemas.microsoft.com/office/drawing/2014/main" id="{237DE768-B39A-5A69-67E6-22139F4EC4E4}"/>
                </a:ext>
              </a:extLst>
            </p:cNvPr>
            <p:cNvCxnSpPr>
              <a:cxnSpLocks/>
              <a:stCxn id="204" idx="6"/>
            </p:cNvCxnSpPr>
            <p:nvPr/>
          </p:nvCxnSpPr>
          <p:spPr>
            <a:xfrm flipH="1">
              <a:off x="4311818" y="2066501"/>
              <a:ext cx="2455658" cy="1783228"/>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6" name="Straight Arrow Connector 1065">
              <a:extLst>
                <a:ext uri="{FF2B5EF4-FFF2-40B4-BE49-F238E27FC236}">
                  <a16:creationId xmlns:a16="http://schemas.microsoft.com/office/drawing/2014/main" id="{74E5CD9E-C0AD-55BE-977F-4A2F808DF320}"/>
                </a:ext>
              </a:extLst>
            </p:cNvPr>
            <p:cNvCxnSpPr>
              <a:cxnSpLocks/>
              <a:stCxn id="213" idx="0"/>
            </p:cNvCxnSpPr>
            <p:nvPr/>
          </p:nvCxnSpPr>
          <p:spPr>
            <a:xfrm flipV="1">
              <a:off x="6254755" y="2080167"/>
              <a:ext cx="472035" cy="3826777"/>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7" name="Straight Arrow Connector 1066">
              <a:extLst>
                <a:ext uri="{FF2B5EF4-FFF2-40B4-BE49-F238E27FC236}">
                  <a16:creationId xmlns:a16="http://schemas.microsoft.com/office/drawing/2014/main" id="{AB480D10-FBFA-0143-28D0-8E4077604D6D}"/>
                </a:ext>
              </a:extLst>
            </p:cNvPr>
            <p:cNvCxnSpPr/>
            <p:nvPr/>
          </p:nvCxnSpPr>
          <p:spPr>
            <a:xfrm flipH="1" flipV="1">
              <a:off x="10906789" y="2464308"/>
              <a:ext cx="681150" cy="1233971"/>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8" name="Straight Arrow Connector 1067">
              <a:extLst>
                <a:ext uri="{FF2B5EF4-FFF2-40B4-BE49-F238E27FC236}">
                  <a16:creationId xmlns:a16="http://schemas.microsoft.com/office/drawing/2014/main" id="{7500C576-E844-DC94-200C-061704105978}"/>
                </a:ext>
              </a:extLst>
            </p:cNvPr>
            <p:cNvCxnSpPr>
              <a:cxnSpLocks/>
              <a:endCxn id="212" idx="0"/>
            </p:cNvCxnSpPr>
            <p:nvPr/>
          </p:nvCxnSpPr>
          <p:spPr>
            <a:xfrm flipH="1">
              <a:off x="7999068" y="5949188"/>
              <a:ext cx="1729422" cy="236609"/>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69" name="Straight Arrow Connector 1068">
              <a:extLst>
                <a:ext uri="{FF2B5EF4-FFF2-40B4-BE49-F238E27FC236}">
                  <a16:creationId xmlns:a16="http://schemas.microsoft.com/office/drawing/2014/main" id="{34BCA542-8B3D-91C6-DF7F-91FAA1FDD157}"/>
                </a:ext>
              </a:extLst>
            </p:cNvPr>
            <p:cNvCxnSpPr>
              <a:cxnSpLocks/>
              <a:endCxn id="211" idx="0"/>
            </p:cNvCxnSpPr>
            <p:nvPr/>
          </p:nvCxnSpPr>
          <p:spPr>
            <a:xfrm>
              <a:off x="4311818" y="3849728"/>
              <a:ext cx="3675384" cy="1380851"/>
            </a:xfrm>
            <a:prstGeom prst="straightConnector1">
              <a:avLst/>
            </a:prstGeom>
            <a:noFill/>
            <a:ln w="12700" cap="flat" cmpd="sng" algn="ctr">
              <a:solidFill>
                <a:srgbClr val="FFFFFF">
                  <a:alpha val="13196"/>
                </a:srgbClr>
              </a:solidFill>
              <a:prstDash val="solid"/>
              <a:miter lim="800000"/>
              <a:headEnd type="oval"/>
              <a:tailEnd type="oval"/>
            </a:ln>
            <a:effectLst/>
          </p:spPr>
        </p:cxnSp>
        <p:cxnSp>
          <p:nvCxnSpPr>
            <p:cNvPr id="1070" name="Straight Arrow Connector 1069">
              <a:extLst>
                <a:ext uri="{FF2B5EF4-FFF2-40B4-BE49-F238E27FC236}">
                  <a16:creationId xmlns:a16="http://schemas.microsoft.com/office/drawing/2014/main" id="{3D190B71-0F13-3002-C547-7F4D8709C36C}"/>
                </a:ext>
              </a:extLst>
            </p:cNvPr>
            <p:cNvCxnSpPr>
              <a:cxnSpLocks/>
            </p:cNvCxnSpPr>
            <p:nvPr/>
          </p:nvCxnSpPr>
          <p:spPr>
            <a:xfrm flipH="1" flipV="1">
              <a:off x="7997460" y="5116484"/>
              <a:ext cx="1731030" cy="672261"/>
            </a:xfrm>
            <a:prstGeom prst="straightConnector1">
              <a:avLst/>
            </a:prstGeom>
            <a:noFill/>
            <a:ln w="12700" cap="flat" cmpd="sng" algn="ctr">
              <a:solidFill>
                <a:srgbClr val="FFFFFF">
                  <a:alpha val="13196"/>
                </a:srgbClr>
              </a:solidFill>
              <a:prstDash val="solid"/>
              <a:miter lim="800000"/>
              <a:headEnd type="oval"/>
              <a:tailEnd type="oval"/>
            </a:ln>
            <a:effectLst/>
          </p:spPr>
        </p:cxnSp>
        <p:sp>
          <p:nvSpPr>
            <p:cNvPr id="1071" name="Oval 1070">
              <a:extLst>
                <a:ext uri="{FF2B5EF4-FFF2-40B4-BE49-F238E27FC236}">
                  <a16:creationId xmlns:a16="http://schemas.microsoft.com/office/drawing/2014/main" id="{DF021B81-48AB-3CAD-EA19-1478E2B4E889}"/>
                </a:ext>
              </a:extLst>
            </p:cNvPr>
            <p:cNvSpPr/>
            <p:nvPr/>
          </p:nvSpPr>
          <p:spPr>
            <a:xfrm>
              <a:off x="5588101" y="2343151"/>
              <a:ext cx="3596569" cy="3408530"/>
            </a:xfrm>
            <a:prstGeom prst="ellipse">
              <a:avLst/>
            </a:prstGeom>
            <a:gradFill flip="none" rotWithShape="1">
              <a:gsLst>
                <a:gs pos="29000">
                  <a:srgbClr val="040E3D"/>
                </a:gs>
                <a:gs pos="72000">
                  <a:srgbClr val="040E3D">
                    <a:alpha val="0"/>
                  </a:srgbClr>
                </a:gs>
              </a:gsLst>
              <a:path path="circle">
                <a:fillToRect l="50000" t="50000" r="50000" b="50000"/>
              </a:path>
              <a:tileRect/>
            </a:gradFill>
            <a:ln w="12700" cap="flat" cmpd="sng" algn="ctr">
              <a:noFill/>
              <a:prstDash val="solid"/>
              <a:miter lim="800000"/>
            </a:ln>
            <a:effectLst/>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1072" name="Oval 1071">
              <a:extLst>
                <a:ext uri="{FF2B5EF4-FFF2-40B4-BE49-F238E27FC236}">
                  <a16:creationId xmlns:a16="http://schemas.microsoft.com/office/drawing/2014/main" id="{93EDF442-A5E0-7E03-7839-27547268F218}"/>
                </a:ext>
              </a:extLst>
            </p:cNvPr>
            <p:cNvSpPr/>
            <p:nvPr/>
          </p:nvSpPr>
          <p:spPr>
            <a:xfrm>
              <a:off x="7862146" y="2499289"/>
              <a:ext cx="2957099" cy="2802493"/>
            </a:xfrm>
            <a:prstGeom prst="ellipse">
              <a:avLst/>
            </a:prstGeom>
            <a:gradFill flip="none" rotWithShape="1">
              <a:gsLst>
                <a:gs pos="29000">
                  <a:srgbClr val="040E3D"/>
                </a:gs>
                <a:gs pos="72000">
                  <a:srgbClr val="040E3D">
                    <a:alpha val="0"/>
                  </a:srgbClr>
                </a:gs>
              </a:gsLst>
              <a:path path="circle">
                <a:fillToRect l="50000" t="50000" r="50000" b="50000"/>
              </a:path>
              <a:tileRect/>
            </a:gradFill>
            <a:ln w="12700" cap="flat" cmpd="sng" algn="ctr">
              <a:noFill/>
              <a:prstDash val="solid"/>
              <a:miter lim="800000"/>
            </a:ln>
            <a:effectLst/>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grpSp>
          <p:nvGrpSpPr>
            <p:cNvPr id="1073" name="Group 1072">
              <a:extLst>
                <a:ext uri="{FF2B5EF4-FFF2-40B4-BE49-F238E27FC236}">
                  <a16:creationId xmlns:a16="http://schemas.microsoft.com/office/drawing/2014/main" id="{C620BB64-F6CA-3725-3392-F47F527C5BD0}"/>
                </a:ext>
              </a:extLst>
            </p:cNvPr>
            <p:cNvGrpSpPr/>
            <p:nvPr/>
          </p:nvGrpSpPr>
          <p:grpSpPr>
            <a:xfrm>
              <a:off x="4268172" y="2020817"/>
              <a:ext cx="7443168" cy="4256348"/>
              <a:chOff x="4206953" y="2019926"/>
              <a:chExt cx="7448989" cy="4259677"/>
            </a:xfrm>
          </p:grpSpPr>
          <p:sp>
            <p:nvSpPr>
              <p:cNvPr id="204" name="Oval 203">
                <a:extLst>
                  <a:ext uri="{FF2B5EF4-FFF2-40B4-BE49-F238E27FC236}">
                    <a16:creationId xmlns:a16="http://schemas.microsoft.com/office/drawing/2014/main" id="{92940B81-6999-4E11-13A3-48DC10A88B60}"/>
                  </a:ext>
                </a:extLst>
              </p:cNvPr>
              <p:cNvSpPr>
                <a:spLocks noChangeAspect="1"/>
              </p:cNvSpPr>
              <p:nvPr/>
            </p:nvSpPr>
            <p:spPr>
              <a:xfrm>
                <a:off x="6616755" y="2019926"/>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05" name="Oval 204">
                <a:extLst>
                  <a:ext uri="{FF2B5EF4-FFF2-40B4-BE49-F238E27FC236}">
                    <a16:creationId xmlns:a16="http://schemas.microsoft.com/office/drawing/2014/main" id="{16F4F01D-CA0A-B984-F2D5-E1DEE7A5B88B}"/>
                  </a:ext>
                </a:extLst>
              </p:cNvPr>
              <p:cNvSpPr>
                <a:spLocks noChangeAspect="1"/>
              </p:cNvSpPr>
              <p:nvPr/>
            </p:nvSpPr>
            <p:spPr>
              <a:xfrm>
                <a:off x="4206953" y="3810614"/>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06" name="Oval 205">
                <a:extLst>
                  <a:ext uri="{FF2B5EF4-FFF2-40B4-BE49-F238E27FC236}">
                    <a16:creationId xmlns:a16="http://schemas.microsoft.com/office/drawing/2014/main" id="{F8D64D23-E860-4BD4-C266-55DD92164DEF}"/>
                  </a:ext>
                </a:extLst>
              </p:cNvPr>
              <p:cNvSpPr>
                <a:spLocks noChangeAspect="1"/>
              </p:cNvSpPr>
              <p:nvPr/>
            </p:nvSpPr>
            <p:spPr>
              <a:xfrm>
                <a:off x="9075438" y="2022006"/>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07" name="Oval 206">
                <a:extLst>
                  <a:ext uri="{FF2B5EF4-FFF2-40B4-BE49-F238E27FC236}">
                    <a16:creationId xmlns:a16="http://schemas.microsoft.com/office/drawing/2014/main" id="{DDB1789B-2160-616F-3D2E-FC3964B41823}"/>
                  </a:ext>
                </a:extLst>
              </p:cNvPr>
              <p:cNvSpPr>
                <a:spLocks noChangeAspect="1"/>
              </p:cNvSpPr>
              <p:nvPr/>
            </p:nvSpPr>
            <p:spPr>
              <a:xfrm>
                <a:off x="10887608" y="2584001"/>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08" name="Oval 207">
                <a:extLst>
                  <a:ext uri="{FF2B5EF4-FFF2-40B4-BE49-F238E27FC236}">
                    <a16:creationId xmlns:a16="http://schemas.microsoft.com/office/drawing/2014/main" id="{E12CC680-16D6-88AD-C822-0E82491CD339}"/>
                  </a:ext>
                </a:extLst>
              </p:cNvPr>
              <p:cNvSpPr>
                <a:spLocks noChangeAspect="1"/>
              </p:cNvSpPr>
              <p:nvPr/>
            </p:nvSpPr>
            <p:spPr>
              <a:xfrm>
                <a:off x="11564502" y="3824973"/>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09" name="Oval 208">
                <a:extLst>
                  <a:ext uri="{FF2B5EF4-FFF2-40B4-BE49-F238E27FC236}">
                    <a16:creationId xmlns:a16="http://schemas.microsoft.com/office/drawing/2014/main" id="{C3162924-FCBE-9F8C-9DB5-788795C7879A}"/>
                  </a:ext>
                </a:extLst>
              </p:cNvPr>
              <p:cNvSpPr>
                <a:spLocks noChangeAspect="1"/>
              </p:cNvSpPr>
              <p:nvPr/>
            </p:nvSpPr>
            <p:spPr>
              <a:xfrm>
                <a:off x="10751042" y="5244074"/>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10" name="Oval 209">
                <a:extLst>
                  <a:ext uri="{FF2B5EF4-FFF2-40B4-BE49-F238E27FC236}">
                    <a16:creationId xmlns:a16="http://schemas.microsoft.com/office/drawing/2014/main" id="{48251CD6-E9AD-FEE7-15F3-B5D76CBFEEDC}"/>
                  </a:ext>
                </a:extLst>
              </p:cNvPr>
              <p:cNvSpPr>
                <a:spLocks noChangeAspect="1"/>
              </p:cNvSpPr>
              <p:nvPr/>
            </p:nvSpPr>
            <p:spPr>
              <a:xfrm>
                <a:off x="9628824" y="5909093"/>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11" name="Oval 210">
                <a:extLst>
                  <a:ext uri="{FF2B5EF4-FFF2-40B4-BE49-F238E27FC236}">
                    <a16:creationId xmlns:a16="http://schemas.microsoft.com/office/drawing/2014/main" id="{824095FF-A708-7E92-1366-0674284E3018}"/>
                  </a:ext>
                </a:extLst>
              </p:cNvPr>
              <p:cNvSpPr>
                <a:spLocks noChangeAspect="1"/>
              </p:cNvSpPr>
              <p:nvPr/>
            </p:nvSpPr>
            <p:spPr>
              <a:xfrm>
                <a:off x="7883152" y="5232199"/>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12" name="Oval 211">
                <a:extLst>
                  <a:ext uri="{FF2B5EF4-FFF2-40B4-BE49-F238E27FC236}">
                    <a16:creationId xmlns:a16="http://schemas.microsoft.com/office/drawing/2014/main" id="{D9176878-575C-1683-7E82-B16835EF2992}"/>
                  </a:ext>
                </a:extLst>
              </p:cNvPr>
              <p:cNvSpPr>
                <a:spLocks noChangeAspect="1"/>
              </p:cNvSpPr>
              <p:nvPr/>
            </p:nvSpPr>
            <p:spPr>
              <a:xfrm>
                <a:off x="7895027" y="6188163"/>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13" name="Oval 212">
                <a:extLst>
                  <a:ext uri="{FF2B5EF4-FFF2-40B4-BE49-F238E27FC236}">
                    <a16:creationId xmlns:a16="http://schemas.microsoft.com/office/drawing/2014/main" id="{F686451F-8C6F-075E-62D5-A57B9F216E42}"/>
                  </a:ext>
                </a:extLst>
              </p:cNvPr>
              <p:cNvSpPr>
                <a:spLocks noChangeAspect="1"/>
              </p:cNvSpPr>
              <p:nvPr/>
            </p:nvSpPr>
            <p:spPr>
              <a:xfrm>
                <a:off x="6149354" y="5909093"/>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14" name="Oval 213">
                <a:extLst>
                  <a:ext uri="{FF2B5EF4-FFF2-40B4-BE49-F238E27FC236}">
                    <a16:creationId xmlns:a16="http://schemas.microsoft.com/office/drawing/2014/main" id="{EEC77537-F779-AE88-6DDE-F408C2CE08C0}"/>
                  </a:ext>
                </a:extLst>
              </p:cNvPr>
              <p:cNvSpPr>
                <a:spLocks noChangeAspect="1"/>
              </p:cNvSpPr>
              <p:nvPr/>
            </p:nvSpPr>
            <p:spPr>
              <a:xfrm>
                <a:off x="4819317" y="5244074"/>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215" name="Oval 214">
                <a:extLst>
                  <a:ext uri="{FF2B5EF4-FFF2-40B4-BE49-F238E27FC236}">
                    <a16:creationId xmlns:a16="http://schemas.microsoft.com/office/drawing/2014/main" id="{E1D05470-32FD-6F8D-A7C6-F6EB72998062}"/>
                  </a:ext>
                </a:extLst>
              </p:cNvPr>
              <p:cNvSpPr>
                <a:spLocks noChangeAspect="1"/>
              </p:cNvSpPr>
              <p:nvPr/>
            </p:nvSpPr>
            <p:spPr>
              <a:xfrm>
                <a:off x="4718361" y="2542440"/>
                <a:ext cx="91440" cy="91440"/>
              </a:xfrm>
              <a:prstGeom prst="ellipse">
                <a:avLst/>
              </a:prstGeom>
              <a:solidFill>
                <a:srgbClr val="8FFFDB"/>
              </a:solidFill>
              <a:ln w="12700" cap="flat" cmpd="sng" algn="ctr">
                <a:noFill/>
                <a:prstDash val="solid"/>
                <a:miter lim="800000"/>
              </a:ln>
              <a:effectLst>
                <a:glow rad="38100">
                  <a:srgbClr val="8FFFDB">
                    <a:alpha val="20000"/>
                  </a:srgbClr>
                </a:glow>
              </a:effectLst>
              <a:scene3d>
                <a:camera prst="orthographicFront"/>
                <a:lightRig rig="threePt" dir="t"/>
              </a:scene3d>
              <a:sp3d>
                <a:bevelT w="19050" h="12700"/>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grpSp>
        <p:pic>
          <p:nvPicPr>
            <p:cNvPr id="1074" name="Picture 1073" descr="A red line art logo&#10;&#10;Description automatically generated with medium confidence">
              <a:extLst>
                <a:ext uri="{FF2B5EF4-FFF2-40B4-BE49-F238E27FC236}">
                  <a16:creationId xmlns:a16="http://schemas.microsoft.com/office/drawing/2014/main" id="{4FCA94B8-2782-9BA9-7FD6-404739E8DF5D}"/>
                </a:ext>
              </a:extLst>
            </p:cNvPr>
            <p:cNvPicPr>
              <a:picLocks/>
            </p:cNvPicPr>
            <p:nvPr/>
          </p:nvPicPr>
          <p:blipFill>
            <a:blip r:embed="rId4" cstate="screen">
              <a:extLst>
                <a:ext uri="{BEBA8EAE-BF5A-486C-A8C5-ECC9F3942E4B}">
                  <a14:imgProps xmlns:a14="http://schemas.microsoft.com/office/drawing/2010/main">
                    <a14:imgLayer r:embed="rId5">
                      <a14:imgEffect>
                        <a14:brightnessContrast bright="-8000"/>
                      </a14:imgEffect>
                    </a14:imgLayer>
                  </a14:imgProps>
                </a:ext>
                <a:ext uri="{28A0092B-C50C-407E-A947-70E740481C1C}">
                  <a14:useLocalDpi xmlns:a14="http://schemas.microsoft.com/office/drawing/2010/main"/>
                </a:ext>
              </a:extLst>
            </a:blip>
            <a:stretch>
              <a:fillRect/>
            </a:stretch>
          </p:blipFill>
          <p:spPr>
            <a:xfrm>
              <a:off x="6629213" y="1724504"/>
              <a:ext cx="425465" cy="425467"/>
            </a:xfrm>
            <a:prstGeom prst="roundRect">
              <a:avLst>
                <a:gd name="adj" fmla="val 15585"/>
              </a:avLst>
            </a:prstGeom>
            <a:solidFill>
              <a:srgbClr val="FFFFFF">
                <a:shade val="85000"/>
              </a:srgbClr>
            </a:solidFill>
            <a:ln>
              <a:noFill/>
            </a:ln>
            <a:effectLst/>
          </p:spPr>
        </p:pic>
        <p:pic>
          <p:nvPicPr>
            <p:cNvPr id="1075" name="Picture 1074" descr="A logo with a small dot&#10;&#10;AI-generated content may be incorrect.">
              <a:extLst>
                <a:ext uri="{FF2B5EF4-FFF2-40B4-BE49-F238E27FC236}">
                  <a16:creationId xmlns:a16="http://schemas.microsoft.com/office/drawing/2014/main" id="{25723046-1A3D-3F9B-1328-FD65020BAADF}"/>
                </a:ext>
              </a:extLst>
            </p:cNvPr>
            <p:cNvPicPr>
              <a:picLocks/>
            </p:cNvPicPr>
            <p:nvPr/>
          </p:nvPicPr>
          <p:blipFill>
            <a:blip r:embed="rId6" cstate="screen">
              <a:extLst>
                <a:ext uri="{BEBA8EAE-BF5A-486C-A8C5-ECC9F3942E4B}">
                  <a14:imgProps xmlns:a14="http://schemas.microsoft.com/office/drawing/2010/main">
                    <a14:imgLayer r:embed="rId7">
                      <a14:imgEffect>
                        <a14:brightnessContrast bright="-8000"/>
                      </a14:imgEffect>
                    </a14:imgLayer>
                  </a14:imgProps>
                </a:ext>
                <a:ext uri="{28A0092B-C50C-407E-A947-70E740481C1C}">
                  <a14:useLocalDpi xmlns:a14="http://schemas.microsoft.com/office/drawing/2010/main"/>
                </a:ext>
              </a:extLst>
            </a:blip>
            <a:srcRect/>
            <a:stretch/>
          </p:blipFill>
          <p:spPr>
            <a:xfrm>
              <a:off x="10704901" y="4945785"/>
              <a:ext cx="425145" cy="425145"/>
            </a:xfrm>
            <a:prstGeom prst="roundRect">
              <a:avLst>
                <a:gd name="adj" fmla="val 16886"/>
              </a:avLst>
            </a:prstGeom>
          </p:spPr>
        </p:pic>
        <p:grpSp>
          <p:nvGrpSpPr>
            <p:cNvPr id="1076" name="Group 1075">
              <a:extLst>
                <a:ext uri="{FF2B5EF4-FFF2-40B4-BE49-F238E27FC236}">
                  <a16:creationId xmlns:a16="http://schemas.microsoft.com/office/drawing/2014/main" id="{1199AAB0-3FE4-C290-6DD0-05E7625FFC4D}"/>
                </a:ext>
              </a:extLst>
            </p:cNvPr>
            <p:cNvGrpSpPr>
              <a:grpSpLocks/>
            </p:cNvGrpSpPr>
            <p:nvPr/>
          </p:nvGrpSpPr>
          <p:grpSpPr>
            <a:xfrm>
              <a:off x="4697591" y="2254057"/>
              <a:ext cx="425467" cy="425467"/>
              <a:chOff x="2404311" y="92540"/>
              <a:chExt cx="320040" cy="320040"/>
            </a:xfrm>
          </p:grpSpPr>
          <p:sp>
            <p:nvSpPr>
              <p:cNvPr id="202" name="Rounded Rectangle 201">
                <a:extLst>
                  <a:ext uri="{FF2B5EF4-FFF2-40B4-BE49-F238E27FC236}">
                    <a16:creationId xmlns:a16="http://schemas.microsoft.com/office/drawing/2014/main" id="{30E3AA41-EC2A-6B64-4BF2-A99301C0F5D5}"/>
                  </a:ext>
                </a:extLst>
              </p:cNvPr>
              <p:cNvSpPr>
                <a:spLocks/>
              </p:cNvSpPr>
              <p:nvPr/>
            </p:nvSpPr>
            <p:spPr>
              <a:xfrm>
                <a:off x="2404311" y="92540"/>
                <a:ext cx="320040" cy="320040"/>
              </a:xfrm>
              <a:prstGeom prst="roundRect">
                <a:avLst>
                  <a:gd name="adj" fmla="val 14503"/>
                </a:avLst>
              </a:prstGeom>
              <a:solidFill>
                <a:srgbClr val="F2F2F4"/>
              </a:solidFill>
              <a:ln w="12700" cap="flat" cmpd="sng" algn="ctr">
                <a:noFill/>
                <a:prstDash val="solid"/>
                <a:miter lim="800000"/>
              </a:ln>
              <a:effectLst/>
            </p:spPr>
            <p:txBody>
              <a:bodyPr rtlCol="0" anchor="ctr"/>
              <a:lstStyle/>
              <a:p>
                <a:pPr defTabSz="456903">
                  <a:defRPr/>
                </a:pPr>
                <a:endParaRPr lang="en-US" sz="1400">
                  <a:solidFill>
                    <a:srgbClr val="000000"/>
                  </a:solidFill>
                  <a:latin typeface="Source Sans 3" panose="020B0504040101010104" pitchFamily="34" charset="77"/>
                  <a:ea typeface="+mj-ea"/>
                  <a:cs typeface="+mj-cs"/>
                  <a:sym typeface="Source Sans 3"/>
                </a:endParaRPr>
              </a:p>
            </p:txBody>
          </p:sp>
          <p:pic>
            <p:nvPicPr>
              <p:cNvPr id="203" name="Picture 2" descr="Snowflake Blueprints - Shipyard">
                <a:extLst>
                  <a:ext uri="{FF2B5EF4-FFF2-40B4-BE49-F238E27FC236}">
                    <a16:creationId xmlns:a16="http://schemas.microsoft.com/office/drawing/2014/main" id="{57AA25AF-654E-01B3-7FE6-7F11715FAB33}"/>
                  </a:ext>
                </a:extLst>
              </p:cNvPr>
              <p:cNvPicPr>
                <a:picLocks/>
              </p:cNvPicPr>
              <p:nvPr/>
            </p:nvPicPr>
            <p:blipFill>
              <a:blip r:embed="rId8" cstate="screen">
                <a:extLst>
                  <a:ext uri="{28A0092B-C50C-407E-A947-70E740481C1C}">
                    <a14:useLocalDpi xmlns:a14="http://schemas.microsoft.com/office/drawing/2010/main"/>
                  </a:ext>
                </a:extLst>
              </a:blip>
              <a:srcRect/>
              <a:stretch>
                <a:fillRect/>
              </a:stretch>
            </p:blipFill>
            <p:spPr bwMode="auto">
              <a:xfrm>
                <a:off x="2450683" y="138008"/>
                <a:ext cx="232250" cy="233182"/>
              </a:xfrm>
              <a:prstGeom prst="rect">
                <a:avLst/>
              </a:prstGeom>
              <a:noFill/>
              <a:extLst>
                <a:ext uri="{909E8E84-426E-40DD-AFC4-6F175D3DCCD1}">
                  <a14:hiddenFill xmlns:a14="http://schemas.microsoft.com/office/drawing/2010/main">
                    <a:solidFill>
                      <a:srgbClr val="FFFFFF"/>
                    </a:solidFill>
                  </a14:hiddenFill>
                </a:ext>
              </a:extLst>
            </p:spPr>
          </p:pic>
        </p:grpSp>
        <p:pic>
          <p:nvPicPr>
            <p:cNvPr id="1077" name="Picture 1076">
              <a:extLst>
                <a:ext uri="{FF2B5EF4-FFF2-40B4-BE49-F238E27FC236}">
                  <a16:creationId xmlns:a16="http://schemas.microsoft.com/office/drawing/2014/main" id="{B9E48D18-29A1-1F3D-515D-A5C4F53E3463}"/>
                </a:ext>
              </a:extLst>
            </p:cNvPr>
            <p:cNvPicPr>
              <a:picLocks/>
            </p:cNvPicPr>
            <p:nvPr/>
          </p:nvPicPr>
          <p:blipFill>
            <a:blip r:embed="rId9" cstate="screen">
              <a:extLst>
                <a:ext uri="{28A0092B-C50C-407E-A947-70E740481C1C}">
                  <a14:useLocalDpi xmlns:a14="http://schemas.microsoft.com/office/drawing/2010/main"/>
                </a:ext>
              </a:extLst>
            </a:blip>
            <a:stretch>
              <a:fillRect/>
            </a:stretch>
          </p:blipFill>
          <p:spPr>
            <a:xfrm>
              <a:off x="9611215" y="5605753"/>
              <a:ext cx="425143" cy="425145"/>
            </a:xfrm>
            <a:prstGeom prst="rect">
              <a:avLst/>
            </a:prstGeom>
          </p:spPr>
        </p:pic>
        <p:grpSp>
          <p:nvGrpSpPr>
            <p:cNvPr id="1078" name="Group 1077">
              <a:extLst>
                <a:ext uri="{FF2B5EF4-FFF2-40B4-BE49-F238E27FC236}">
                  <a16:creationId xmlns:a16="http://schemas.microsoft.com/office/drawing/2014/main" id="{EC2429F2-32B2-FD26-6274-559321F2606E}"/>
                </a:ext>
              </a:extLst>
            </p:cNvPr>
            <p:cNvGrpSpPr>
              <a:grpSpLocks/>
            </p:cNvGrpSpPr>
            <p:nvPr/>
          </p:nvGrpSpPr>
          <p:grpSpPr>
            <a:xfrm>
              <a:off x="11533475" y="3512239"/>
              <a:ext cx="425143" cy="425145"/>
              <a:chOff x="7876061" y="6074756"/>
              <a:chExt cx="318198" cy="318199"/>
            </a:xfrm>
          </p:grpSpPr>
          <p:sp>
            <p:nvSpPr>
              <p:cNvPr id="200" name="Rectangle: Rounded Corners 66">
                <a:extLst>
                  <a:ext uri="{FF2B5EF4-FFF2-40B4-BE49-F238E27FC236}">
                    <a16:creationId xmlns:a16="http://schemas.microsoft.com/office/drawing/2014/main" id="{58BA7B7A-0FFD-EDAF-DDB8-4412F868C61D}"/>
                  </a:ext>
                </a:extLst>
              </p:cNvPr>
              <p:cNvSpPr>
                <a:spLocks/>
              </p:cNvSpPr>
              <p:nvPr userDrawn="1"/>
            </p:nvSpPr>
            <p:spPr>
              <a:xfrm>
                <a:off x="7876061" y="6074756"/>
                <a:ext cx="318198" cy="318199"/>
              </a:xfrm>
              <a:prstGeom prst="roundRect">
                <a:avLst>
                  <a:gd name="adj" fmla="val 15999"/>
                </a:avLst>
              </a:prstGeom>
              <a:solidFill>
                <a:srgbClr val="FFFFFF"/>
              </a:solidFill>
              <a:ln w="12700" cap="flat" cmpd="sng" algn="ctr">
                <a:noFill/>
                <a:prstDash val="solid"/>
                <a:miter lim="800000"/>
              </a:ln>
              <a:effectLst/>
            </p:spPr>
            <p:txBody>
              <a:bodyPr lIns="90959" tIns="45479" rIns="90959" bIns="45479" rtlCol="0" anchor="ctr"/>
              <a:lstStyle/>
              <a:p>
                <a:pPr defTabSz="456903">
                  <a:defRPr/>
                </a:pPr>
                <a:endParaRPr lang="en-US" sz="1400">
                  <a:solidFill>
                    <a:srgbClr val="FFFFFF"/>
                  </a:solidFill>
                  <a:latin typeface="Source Sans 3" panose="020B0504040101010104" pitchFamily="34" charset="77"/>
                  <a:ea typeface="+mj-ea"/>
                  <a:cs typeface="+mj-cs"/>
                  <a:sym typeface="Source Sans 3"/>
                </a:endParaRPr>
              </a:p>
            </p:txBody>
          </p:sp>
          <p:pic>
            <p:nvPicPr>
              <p:cNvPr id="201" name="Picture 200" descr="A blue and white logo&#10;&#10;AI-generated content may be incorrect.">
                <a:extLst>
                  <a:ext uri="{FF2B5EF4-FFF2-40B4-BE49-F238E27FC236}">
                    <a16:creationId xmlns:a16="http://schemas.microsoft.com/office/drawing/2014/main" id="{E22BA074-3D1E-CD57-D9C6-51A685989F98}"/>
                  </a:ext>
                </a:extLst>
              </p:cNvPr>
              <p:cNvPicPr>
                <a:picLocks/>
              </p:cNvPicPr>
              <p:nvPr userDrawn="1"/>
            </p:nvPicPr>
            <p:blipFill>
              <a:blip r:embed="rId10" cstate="screen">
                <a:extLst>
                  <a:ext uri="{28A0092B-C50C-407E-A947-70E740481C1C}">
                    <a14:useLocalDpi xmlns:a14="http://schemas.microsoft.com/office/drawing/2010/main"/>
                  </a:ext>
                </a:extLst>
              </a:blip>
              <a:stretch>
                <a:fillRect/>
              </a:stretch>
            </p:blipFill>
            <p:spPr>
              <a:xfrm>
                <a:off x="7927748" y="6177891"/>
                <a:ext cx="228530" cy="113008"/>
              </a:xfrm>
              <a:prstGeom prst="rect">
                <a:avLst/>
              </a:prstGeom>
            </p:spPr>
          </p:pic>
        </p:grpSp>
        <p:pic>
          <p:nvPicPr>
            <p:cNvPr id="1079" name="Picture 1078" descr="A blue circle with white letter w and orange circle in center&#10;&#10;AI-generated content may be incorrect.">
              <a:extLst>
                <a:ext uri="{FF2B5EF4-FFF2-40B4-BE49-F238E27FC236}">
                  <a16:creationId xmlns:a16="http://schemas.microsoft.com/office/drawing/2014/main" id="{9A197D9A-2C4C-7F9D-CFB5-672B28338607}"/>
                </a:ext>
              </a:extLst>
            </p:cNvPr>
            <p:cNvPicPr>
              <a:picLocks/>
            </p:cNvPicPr>
            <p:nvPr/>
          </p:nvPicPr>
          <p:blipFill>
            <a:blip r:embed="rId11" cstate="screen">
              <a:extLst>
                <a:ext uri="{28A0092B-C50C-407E-A947-70E740481C1C}">
                  <a14:useLocalDpi xmlns:a14="http://schemas.microsoft.com/office/drawing/2010/main"/>
                </a:ext>
              </a:extLst>
            </a:blip>
            <a:stretch>
              <a:fillRect/>
            </a:stretch>
          </p:blipFill>
          <p:spPr>
            <a:xfrm>
              <a:off x="4164001" y="3622681"/>
              <a:ext cx="420314" cy="420314"/>
            </a:xfrm>
            <a:prstGeom prst="roundRect">
              <a:avLst>
                <a:gd name="adj" fmla="val 14257"/>
              </a:avLst>
            </a:prstGeom>
            <a:solidFill>
              <a:srgbClr val="C0A6FF"/>
            </a:solidFill>
          </p:spPr>
        </p:pic>
        <p:pic>
          <p:nvPicPr>
            <p:cNvPr id="1080" name="Picture 1079">
              <a:extLst>
                <a:ext uri="{FF2B5EF4-FFF2-40B4-BE49-F238E27FC236}">
                  <a16:creationId xmlns:a16="http://schemas.microsoft.com/office/drawing/2014/main" id="{F072E604-EC9E-7183-8971-C56A4DCA2746}"/>
                </a:ext>
              </a:extLst>
            </p:cNvPr>
            <p:cNvPicPr>
              <a:picLocks/>
            </p:cNvPicPr>
            <p:nvPr/>
          </p:nvPicPr>
          <p:blipFill>
            <a:blip r:embed="rId12" cstate="screen">
              <a:extLst>
                <a:ext uri="{28A0092B-C50C-407E-A947-70E740481C1C}">
                  <a14:useLocalDpi xmlns:a14="http://schemas.microsoft.com/office/drawing/2010/main"/>
                </a:ext>
              </a:extLst>
            </a:blip>
            <a:stretch>
              <a:fillRect/>
            </a:stretch>
          </p:blipFill>
          <p:spPr>
            <a:xfrm>
              <a:off x="8975835" y="1723718"/>
              <a:ext cx="425143" cy="425145"/>
            </a:xfrm>
            <a:prstGeom prst="rect">
              <a:avLst/>
            </a:prstGeom>
          </p:spPr>
        </p:pic>
        <p:grpSp>
          <p:nvGrpSpPr>
            <p:cNvPr id="1081" name="Group 1080">
              <a:extLst>
                <a:ext uri="{FF2B5EF4-FFF2-40B4-BE49-F238E27FC236}">
                  <a16:creationId xmlns:a16="http://schemas.microsoft.com/office/drawing/2014/main" id="{3AD60869-F057-3041-4CC9-34A745C49DDC}"/>
                </a:ext>
              </a:extLst>
            </p:cNvPr>
            <p:cNvGrpSpPr/>
            <p:nvPr/>
          </p:nvGrpSpPr>
          <p:grpSpPr>
            <a:xfrm>
              <a:off x="6122208" y="5601821"/>
              <a:ext cx="425467" cy="425467"/>
              <a:chOff x="5598345" y="5903759"/>
              <a:chExt cx="269592" cy="269592"/>
            </a:xfrm>
          </p:grpSpPr>
          <p:sp>
            <p:nvSpPr>
              <p:cNvPr id="198" name="Rounded Rectangle 197">
                <a:extLst>
                  <a:ext uri="{FF2B5EF4-FFF2-40B4-BE49-F238E27FC236}">
                    <a16:creationId xmlns:a16="http://schemas.microsoft.com/office/drawing/2014/main" id="{55AC7C9F-BA52-1EFF-A904-F4CB720E0E7A}"/>
                  </a:ext>
                </a:extLst>
              </p:cNvPr>
              <p:cNvSpPr>
                <a:spLocks/>
              </p:cNvSpPr>
              <p:nvPr/>
            </p:nvSpPr>
            <p:spPr>
              <a:xfrm>
                <a:off x="5598345" y="5903759"/>
                <a:ext cx="269592" cy="269592"/>
              </a:xfrm>
              <a:prstGeom prst="roundRect">
                <a:avLst>
                  <a:gd name="adj" fmla="val 14503"/>
                </a:avLst>
              </a:prstGeom>
              <a:solidFill>
                <a:srgbClr val="F2F2F4"/>
              </a:solidFill>
              <a:ln w="12700" cap="flat" cmpd="sng" algn="ctr">
                <a:noFill/>
                <a:prstDash val="solid"/>
                <a:miter lim="800000"/>
              </a:ln>
              <a:effectLst/>
            </p:spPr>
            <p:txBody>
              <a:bodyPr rtlCol="0" anchor="ctr"/>
              <a:lstStyle/>
              <a:p>
                <a:pPr defTabSz="456903">
                  <a:defRPr/>
                </a:pPr>
                <a:endParaRPr lang="en-US" sz="1400">
                  <a:solidFill>
                    <a:srgbClr val="000000"/>
                  </a:solidFill>
                  <a:latin typeface="Source Sans 3" panose="020B0504040101010104" pitchFamily="34" charset="77"/>
                  <a:ea typeface="+mj-ea"/>
                  <a:cs typeface="+mj-cs"/>
                  <a:sym typeface="Source Sans 3"/>
                </a:endParaRPr>
              </a:p>
            </p:txBody>
          </p:sp>
          <p:pic>
            <p:nvPicPr>
              <p:cNvPr id="199" name="Picture 198">
                <a:extLst>
                  <a:ext uri="{FF2B5EF4-FFF2-40B4-BE49-F238E27FC236}">
                    <a16:creationId xmlns:a16="http://schemas.microsoft.com/office/drawing/2014/main" id="{5F7D98D0-BBEF-E5C8-B6CA-188496B087F9}"/>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5629170" y="5981435"/>
                <a:ext cx="206504" cy="123580"/>
              </a:xfrm>
              <a:prstGeom prst="rect">
                <a:avLst/>
              </a:prstGeom>
            </p:spPr>
          </p:pic>
        </p:grpSp>
        <p:sp>
          <p:nvSpPr>
            <p:cNvPr id="196" name="Rounded Rectangle 195">
              <a:extLst>
                <a:ext uri="{FF2B5EF4-FFF2-40B4-BE49-F238E27FC236}">
                  <a16:creationId xmlns:a16="http://schemas.microsoft.com/office/drawing/2014/main" id="{255764A1-B1FD-812A-E5FB-22D490D74CFD}"/>
                </a:ext>
              </a:extLst>
            </p:cNvPr>
            <p:cNvSpPr>
              <a:spLocks/>
            </p:cNvSpPr>
            <p:nvPr/>
          </p:nvSpPr>
          <p:spPr>
            <a:xfrm>
              <a:off x="7859568" y="5878442"/>
              <a:ext cx="425467" cy="425467"/>
            </a:xfrm>
            <a:prstGeom prst="roundRect">
              <a:avLst>
                <a:gd name="adj" fmla="val 14503"/>
              </a:avLst>
            </a:prstGeom>
            <a:solidFill>
              <a:srgbClr val="F2F2F4"/>
            </a:solidFill>
            <a:ln w="12700" cap="flat" cmpd="sng" algn="ctr">
              <a:noFill/>
              <a:prstDash val="solid"/>
              <a:miter lim="800000"/>
            </a:ln>
            <a:effectLst/>
          </p:spPr>
          <p:txBody>
            <a:bodyPr rtlCol="0" anchor="ctr"/>
            <a:lstStyle/>
            <a:p>
              <a:pPr defTabSz="456903">
                <a:defRPr/>
              </a:pPr>
              <a:endParaRPr lang="en-US" sz="1400">
                <a:solidFill>
                  <a:srgbClr val="000000"/>
                </a:solidFill>
                <a:latin typeface="Source Sans 3" panose="020B0504040101010104" pitchFamily="34" charset="77"/>
                <a:ea typeface="+mj-ea"/>
                <a:cs typeface="+mj-cs"/>
                <a:sym typeface="Source Sans 3"/>
              </a:endParaRPr>
            </a:p>
          </p:txBody>
        </p:sp>
        <p:grpSp>
          <p:nvGrpSpPr>
            <p:cNvPr id="1083" name="Group 1082">
              <a:extLst>
                <a:ext uri="{FF2B5EF4-FFF2-40B4-BE49-F238E27FC236}">
                  <a16:creationId xmlns:a16="http://schemas.microsoft.com/office/drawing/2014/main" id="{22E9D717-5383-E309-3851-9BC58DEDBECB}"/>
                </a:ext>
              </a:extLst>
            </p:cNvPr>
            <p:cNvGrpSpPr/>
            <p:nvPr/>
          </p:nvGrpSpPr>
          <p:grpSpPr>
            <a:xfrm>
              <a:off x="7859568" y="4967296"/>
              <a:ext cx="425467" cy="425467"/>
              <a:chOff x="7859569" y="5123171"/>
              <a:chExt cx="269592" cy="269592"/>
            </a:xfrm>
          </p:grpSpPr>
          <p:sp>
            <p:nvSpPr>
              <p:cNvPr id="194" name="Rounded Rectangle 193">
                <a:extLst>
                  <a:ext uri="{FF2B5EF4-FFF2-40B4-BE49-F238E27FC236}">
                    <a16:creationId xmlns:a16="http://schemas.microsoft.com/office/drawing/2014/main" id="{9C0F2845-0402-0EB6-9C81-F48A76D086E1}"/>
                  </a:ext>
                </a:extLst>
              </p:cNvPr>
              <p:cNvSpPr>
                <a:spLocks/>
              </p:cNvSpPr>
              <p:nvPr/>
            </p:nvSpPr>
            <p:spPr>
              <a:xfrm>
                <a:off x="7859569" y="5123171"/>
                <a:ext cx="269592" cy="269592"/>
              </a:xfrm>
              <a:prstGeom prst="roundRect">
                <a:avLst>
                  <a:gd name="adj" fmla="val 14503"/>
                </a:avLst>
              </a:prstGeom>
              <a:solidFill>
                <a:srgbClr val="F2F2F4"/>
              </a:solidFill>
              <a:ln w="12700" cap="flat" cmpd="sng" algn="ctr">
                <a:noFill/>
                <a:prstDash val="solid"/>
                <a:miter lim="800000"/>
              </a:ln>
              <a:effectLst/>
            </p:spPr>
            <p:txBody>
              <a:bodyPr rtlCol="0" anchor="ctr"/>
              <a:lstStyle/>
              <a:p>
                <a:pPr defTabSz="456903">
                  <a:defRPr/>
                </a:pPr>
                <a:endParaRPr lang="en-US" sz="1400">
                  <a:solidFill>
                    <a:srgbClr val="000000"/>
                  </a:solidFill>
                  <a:latin typeface="Source Sans 3" panose="020B0504040101010104" pitchFamily="34" charset="77"/>
                  <a:ea typeface="+mj-ea"/>
                  <a:cs typeface="+mj-cs"/>
                  <a:sym typeface="Source Sans 3"/>
                </a:endParaRPr>
              </a:p>
            </p:txBody>
          </p:sp>
          <p:pic>
            <p:nvPicPr>
              <p:cNvPr id="195" name="Picture 6" descr="Genesys - Credly">
                <a:hlinkClick r:id="rId14"/>
                <a:extLst>
                  <a:ext uri="{FF2B5EF4-FFF2-40B4-BE49-F238E27FC236}">
                    <a16:creationId xmlns:a16="http://schemas.microsoft.com/office/drawing/2014/main" id="{A32236F6-6C4C-422F-A6E8-A3B9F21A7E0B}"/>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862591" y="5130789"/>
                <a:ext cx="249221" cy="2492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84" name="Group 1083">
              <a:extLst>
                <a:ext uri="{FF2B5EF4-FFF2-40B4-BE49-F238E27FC236}">
                  <a16:creationId xmlns:a16="http://schemas.microsoft.com/office/drawing/2014/main" id="{73FDEF49-7742-688B-9F0D-CADD9754BC71}"/>
                </a:ext>
              </a:extLst>
            </p:cNvPr>
            <p:cNvGrpSpPr/>
            <p:nvPr/>
          </p:nvGrpSpPr>
          <p:grpSpPr>
            <a:xfrm>
              <a:off x="4754359" y="5094074"/>
              <a:ext cx="425467" cy="425467"/>
              <a:chOff x="4625459" y="5559341"/>
              <a:chExt cx="269592" cy="269592"/>
            </a:xfrm>
          </p:grpSpPr>
          <p:sp>
            <p:nvSpPr>
              <p:cNvPr id="192" name="Rounded Rectangle 57">
                <a:extLst>
                  <a:ext uri="{FF2B5EF4-FFF2-40B4-BE49-F238E27FC236}">
                    <a16:creationId xmlns:a16="http://schemas.microsoft.com/office/drawing/2014/main" id="{56B35761-AC95-46D8-108B-96AE96893829}"/>
                  </a:ext>
                </a:extLst>
              </p:cNvPr>
              <p:cNvSpPr>
                <a:spLocks/>
              </p:cNvSpPr>
              <p:nvPr/>
            </p:nvSpPr>
            <p:spPr>
              <a:xfrm>
                <a:off x="4625459" y="5559341"/>
                <a:ext cx="269592" cy="269592"/>
              </a:xfrm>
              <a:prstGeom prst="roundRect">
                <a:avLst>
                  <a:gd name="adj" fmla="val 16873"/>
                </a:avLst>
              </a:prstGeom>
              <a:solidFill>
                <a:srgbClr val="F2F2F4"/>
              </a:solidFill>
              <a:ln w="12700" cap="flat" cmpd="sng" algn="ctr">
                <a:noFill/>
                <a:prstDash val="solid"/>
                <a:miter lim="800000"/>
              </a:ln>
              <a:effectLst/>
            </p:spPr>
            <p:txBody>
              <a:bodyPr rtlCol="0" anchor="ctr"/>
              <a:lstStyle/>
              <a:p>
                <a:pPr defTabSz="456903">
                  <a:defRPr/>
                </a:pPr>
                <a:endParaRPr lang="en-US" sz="1400">
                  <a:solidFill>
                    <a:srgbClr val="000000"/>
                  </a:solidFill>
                  <a:latin typeface="Source Sans 3" panose="020B0504040101010104" pitchFamily="34" charset="77"/>
                  <a:ea typeface="+mj-ea"/>
                  <a:cs typeface="+mj-cs"/>
                  <a:sym typeface="Source Sans 3"/>
                </a:endParaRPr>
              </a:p>
            </p:txBody>
          </p:sp>
          <p:pic>
            <p:nvPicPr>
              <p:cNvPr id="193" name="Picture 9">
                <a:extLst>
                  <a:ext uri="{FF2B5EF4-FFF2-40B4-BE49-F238E27FC236}">
                    <a16:creationId xmlns:a16="http://schemas.microsoft.com/office/drawing/2014/main" id="{02CEBBCE-69F4-A166-A4D7-9822EAC24A9A}"/>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4663931" y="5597037"/>
                <a:ext cx="192331" cy="19233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85" name="Group 1084">
              <a:extLst>
                <a:ext uri="{FF2B5EF4-FFF2-40B4-BE49-F238E27FC236}">
                  <a16:creationId xmlns:a16="http://schemas.microsoft.com/office/drawing/2014/main" id="{A7F091EB-4670-1ACB-79FD-2842D63E164F}"/>
                </a:ext>
              </a:extLst>
            </p:cNvPr>
            <p:cNvGrpSpPr/>
            <p:nvPr/>
          </p:nvGrpSpPr>
          <p:grpSpPr>
            <a:xfrm>
              <a:off x="10849676" y="2280273"/>
              <a:ext cx="425143" cy="425145"/>
              <a:chOff x="11257250" y="2807571"/>
              <a:chExt cx="269387" cy="269388"/>
            </a:xfrm>
          </p:grpSpPr>
          <p:sp>
            <p:nvSpPr>
              <p:cNvPr id="1086" name="Rectangle: Rounded Corners 66">
                <a:extLst>
                  <a:ext uri="{FF2B5EF4-FFF2-40B4-BE49-F238E27FC236}">
                    <a16:creationId xmlns:a16="http://schemas.microsoft.com/office/drawing/2014/main" id="{A5927FC0-666D-0428-F3A5-FAF806D6CA0B}"/>
                  </a:ext>
                </a:extLst>
              </p:cNvPr>
              <p:cNvSpPr>
                <a:spLocks/>
              </p:cNvSpPr>
              <p:nvPr userDrawn="1"/>
            </p:nvSpPr>
            <p:spPr>
              <a:xfrm>
                <a:off x="11257250" y="2807571"/>
                <a:ext cx="269387" cy="269388"/>
              </a:xfrm>
              <a:prstGeom prst="roundRect">
                <a:avLst>
                  <a:gd name="adj" fmla="val 15999"/>
                </a:avLst>
              </a:prstGeom>
              <a:solidFill>
                <a:srgbClr val="FFFFFF"/>
              </a:solidFill>
              <a:ln w="12700" cap="flat" cmpd="sng" algn="ctr">
                <a:noFill/>
                <a:prstDash val="solid"/>
                <a:miter lim="800000"/>
              </a:ln>
              <a:effectLst/>
            </p:spPr>
            <p:txBody>
              <a:bodyPr lIns="90959" tIns="45479" rIns="90959" bIns="45479" rtlCol="0" anchor="ctr"/>
              <a:lstStyle/>
              <a:p>
                <a:pPr defTabSz="456903">
                  <a:defRPr/>
                </a:pPr>
                <a:endParaRPr lang="en-US" sz="1400">
                  <a:solidFill>
                    <a:srgbClr val="FFFFFF"/>
                  </a:solidFill>
                  <a:latin typeface="Source Sans 3" panose="020B0504040101010104" pitchFamily="34" charset="77"/>
                  <a:ea typeface="+mj-ea"/>
                  <a:cs typeface="+mj-cs"/>
                  <a:sym typeface="Source Sans 3"/>
                </a:endParaRPr>
              </a:p>
            </p:txBody>
          </p:sp>
          <p:pic>
            <p:nvPicPr>
              <p:cNvPr id="1087" name="Picture 11">
                <a:extLst>
                  <a:ext uri="{FF2B5EF4-FFF2-40B4-BE49-F238E27FC236}">
                    <a16:creationId xmlns:a16="http://schemas.microsoft.com/office/drawing/2014/main" id="{DEC1106E-1DC2-937A-5D1D-963076DFC3C6}"/>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11300347" y="2882267"/>
                <a:ext cx="193164" cy="13522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16" name="Group 215">
            <a:extLst>
              <a:ext uri="{FF2B5EF4-FFF2-40B4-BE49-F238E27FC236}">
                <a16:creationId xmlns:a16="http://schemas.microsoft.com/office/drawing/2014/main" id="{4C88F9B9-E371-F953-38DE-22D93775E80D}"/>
              </a:ext>
            </a:extLst>
          </p:cNvPr>
          <p:cNvGrpSpPr/>
          <p:nvPr/>
        </p:nvGrpSpPr>
        <p:grpSpPr>
          <a:xfrm>
            <a:off x="6170743" y="3283285"/>
            <a:ext cx="3074638" cy="1171887"/>
            <a:chOff x="6211073" y="3071127"/>
            <a:chExt cx="3075439" cy="1172192"/>
          </a:xfrm>
        </p:grpSpPr>
        <p:sp>
          <p:nvSpPr>
            <p:cNvPr id="217" name="Rounded Rectangle 16">
              <a:extLst>
                <a:ext uri="{FF2B5EF4-FFF2-40B4-BE49-F238E27FC236}">
                  <a16:creationId xmlns:a16="http://schemas.microsoft.com/office/drawing/2014/main" id="{1FE3A0A7-939D-1880-CB2F-B9945E8FCCBB}"/>
                </a:ext>
                <a:ext uri="{C183D7F6-B498-43B3-948B-1728B52AA6E4}">
                  <adec:decorative xmlns:adec="http://schemas.microsoft.com/office/drawing/2017/decorative" val="1"/>
                </a:ext>
              </a:extLst>
            </p:cNvPr>
            <p:cNvSpPr/>
            <p:nvPr/>
          </p:nvSpPr>
          <p:spPr>
            <a:xfrm>
              <a:off x="6211073" y="3182703"/>
              <a:ext cx="3075439" cy="1060616"/>
            </a:xfrm>
            <a:prstGeom prst="roundRect">
              <a:avLst>
                <a:gd name="adj" fmla="val 12019"/>
              </a:avLst>
            </a:prstGeom>
            <a:gradFill>
              <a:gsLst>
                <a:gs pos="0">
                  <a:srgbClr val="040E3D">
                    <a:lumMod val="75000"/>
                    <a:lumOff val="25000"/>
                  </a:srgbClr>
                </a:gs>
                <a:gs pos="35000">
                  <a:srgbClr val="040E3D">
                    <a:alpha val="0"/>
                  </a:srgbClr>
                </a:gs>
                <a:gs pos="100000">
                  <a:srgbClr val="040E3D">
                    <a:lumMod val="25000"/>
                    <a:lumOff val="75000"/>
                  </a:srgbClr>
                </a:gs>
              </a:gsLst>
              <a:lin ang="16200000" scaled="0"/>
            </a:gradFill>
            <a:ln w="12700" cap="flat" cmpd="sng" algn="ctr">
              <a:gradFill>
                <a:gsLst>
                  <a:gs pos="0">
                    <a:srgbClr val="8FFFDB">
                      <a:lumMod val="5000"/>
                      <a:lumOff val="95000"/>
                    </a:srgbClr>
                  </a:gs>
                  <a:gs pos="100000">
                    <a:srgbClr val="040E3D">
                      <a:lumMod val="25000"/>
                      <a:lumOff val="75000"/>
                    </a:srgbClr>
                  </a:gs>
                </a:gsLst>
                <a:lin ang="5400000" scaled="1"/>
              </a:gradFill>
              <a:prstDash val="solid"/>
              <a:miter lim="800000"/>
            </a:ln>
            <a:effectLst/>
            <a:scene3d>
              <a:camera prst="orthographicFront"/>
              <a:lightRig rig="flat" dir="t">
                <a:rot lat="0" lon="0" rev="6000000"/>
              </a:lightRig>
            </a:scene3d>
            <a:sp3d extrusionH="38100" prstMaterial="clear">
              <a:bevelT w="101600" h="88900" prst="coolSlant"/>
              <a:contourClr>
                <a:srgbClr val="FFFFFF"/>
              </a:contourClr>
            </a:sp3d>
          </p:spPr>
          <p:txBody>
            <a:bodyPr rtlCol="0" anchor="ctr"/>
            <a:lstStyle/>
            <a:p>
              <a:pPr defTabSz="455578">
                <a:defRPr/>
              </a:pPr>
              <a:endParaRPr lang="en-US" sz="1596" b="1">
                <a:solidFill>
                  <a:srgbClr val="000000"/>
                </a:solidFill>
                <a:latin typeface="Source Sans 3" panose="020B0504040101010104" pitchFamily="34" charset="77"/>
                <a:ea typeface="+mj-ea"/>
                <a:cs typeface="+mj-cs"/>
                <a:sym typeface="Source Sans 3"/>
              </a:endParaRPr>
            </a:p>
          </p:txBody>
        </p:sp>
        <p:pic>
          <p:nvPicPr>
            <p:cNvPr id="218" name="Group 43" descr="Group 43">
              <a:extLst>
                <a:ext uri="{FF2B5EF4-FFF2-40B4-BE49-F238E27FC236}">
                  <a16:creationId xmlns:a16="http://schemas.microsoft.com/office/drawing/2014/main" id="{BF639319-A261-8199-7ECC-AFAA888317DB}"/>
                </a:ext>
              </a:extLst>
            </p:cNvPr>
            <p:cNvPicPr>
              <a:picLocks/>
            </p:cNvPicPr>
            <p:nvPr/>
          </p:nvPicPr>
          <p:blipFill>
            <a:blip r:embed="rId18" cstate="screen">
              <a:extLst>
                <a:ext uri="{28A0092B-C50C-407E-A947-70E740481C1C}">
                  <a14:useLocalDpi xmlns:a14="http://schemas.microsoft.com/office/drawing/2010/main"/>
                </a:ext>
              </a:extLst>
            </a:blip>
            <a:stretch>
              <a:fillRect/>
            </a:stretch>
          </p:blipFill>
          <p:spPr>
            <a:xfrm>
              <a:off x="6423547" y="3071127"/>
              <a:ext cx="2655813" cy="758805"/>
            </a:xfrm>
            <a:prstGeom prst="rect">
              <a:avLst/>
            </a:prstGeom>
            <a:ln w="12700" cap="flat">
              <a:noFill/>
              <a:miter lim="400000"/>
            </a:ln>
            <a:effectLst/>
          </p:spPr>
        </p:pic>
      </p:grpSp>
      <p:sp>
        <p:nvSpPr>
          <p:cNvPr id="2" name="Title 1">
            <a:extLst>
              <a:ext uri="{FF2B5EF4-FFF2-40B4-BE49-F238E27FC236}">
                <a16:creationId xmlns:a16="http://schemas.microsoft.com/office/drawing/2014/main" id="{52CFA36B-4266-2243-01F7-59E28FE076C2}"/>
              </a:ext>
            </a:extLst>
          </p:cNvPr>
          <p:cNvSpPr>
            <a:spLocks noGrp="1"/>
          </p:cNvSpPr>
          <p:nvPr>
            <p:ph type="title"/>
          </p:nvPr>
        </p:nvSpPr>
        <p:spPr/>
        <p:txBody>
          <a:bodyPr wrap="square"/>
          <a:lstStyle/>
          <a:p>
            <a:r>
              <a:rPr lang="en-US" sz="3600" dirty="0">
                <a:solidFill>
                  <a:srgbClr val="8FFFDB"/>
                </a:solidFill>
              </a:rPr>
              <a:t>Get your data AI-ready</a:t>
            </a:r>
          </a:p>
        </p:txBody>
      </p:sp>
      <p:sp>
        <p:nvSpPr>
          <p:cNvPr id="3" name="Subtitle 2">
            <a:extLst>
              <a:ext uri="{FF2B5EF4-FFF2-40B4-BE49-F238E27FC236}">
                <a16:creationId xmlns:a16="http://schemas.microsoft.com/office/drawing/2014/main" id="{505AE7ED-00C7-0451-1B20-D87549159FA9}"/>
              </a:ext>
            </a:extLst>
          </p:cNvPr>
          <p:cNvSpPr>
            <a:spLocks noGrp="1"/>
          </p:cNvSpPr>
          <p:nvPr>
            <p:ph type="subTitle" idx="1"/>
          </p:nvPr>
        </p:nvSpPr>
        <p:spPr/>
        <p:txBody>
          <a:bodyPr wrap="square"/>
          <a:lstStyle/>
          <a:p>
            <a:r>
              <a:rPr lang="en-US" sz="1800" kern="0">
                <a:solidFill>
                  <a:srgbClr val="F2F2F4"/>
                </a:solidFill>
                <a:latin typeface="Source Sans 3" panose="020B0504040101010104" pitchFamily="34" charset="77"/>
                <a:sym typeface="Source Sans 3"/>
              </a:rPr>
              <a:t>A first use case needs trusted, accessible, governed data.</a:t>
            </a:r>
            <a:endParaRPr lang="en-US"/>
          </a:p>
        </p:txBody>
      </p:sp>
      <p:grpSp>
        <p:nvGrpSpPr>
          <p:cNvPr id="190" name="Group 189">
            <a:extLst>
              <a:ext uri="{FF2B5EF4-FFF2-40B4-BE49-F238E27FC236}">
                <a16:creationId xmlns:a16="http://schemas.microsoft.com/office/drawing/2014/main" id="{CC0FEA41-433A-A3DD-B800-237BE85DBCF6}"/>
              </a:ext>
            </a:extLst>
          </p:cNvPr>
          <p:cNvGrpSpPr/>
          <p:nvPr/>
        </p:nvGrpSpPr>
        <p:grpSpPr>
          <a:xfrm>
            <a:off x="554416" y="1812249"/>
            <a:ext cx="3193554" cy="4283778"/>
            <a:chOff x="548639" y="1810562"/>
            <a:chExt cx="3196884" cy="4288246"/>
          </a:xfrm>
        </p:grpSpPr>
        <p:sp>
          <p:nvSpPr>
            <p:cNvPr id="191" name="Rounded Rectangle 16">
              <a:extLst>
                <a:ext uri="{FF2B5EF4-FFF2-40B4-BE49-F238E27FC236}">
                  <a16:creationId xmlns:a16="http://schemas.microsoft.com/office/drawing/2014/main" id="{50C71344-99AD-2CBB-E662-15D1E5ADD2EF}"/>
                </a:ext>
                <a:ext uri="{C183D7F6-B498-43B3-948B-1728B52AA6E4}">
                  <adec:decorative xmlns:adec="http://schemas.microsoft.com/office/drawing/2017/decorative" val="1"/>
                </a:ext>
              </a:extLst>
            </p:cNvPr>
            <p:cNvSpPr/>
            <p:nvPr/>
          </p:nvSpPr>
          <p:spPr>
            <a:xfrm>
              <a:off x="548639" y="1810562"/>
              <a:ext cx="3196884" cy="4288246"/>
            </a:xfrm>
            <a:prstGeom prst="roundRect">
              <a:avLst>
                <a:gd name="adj" fmla="val 3949"/>
              </a:avLst>
            </a:prstGeom>
            <a:solidFill>
              <a:srgbClr val="040E3D">
                <a:alpha val="5289"/>
              </a:srgbClr>
            </a:solidFill>
            <a:ln w="6350" cap="flat" cmpd="sng" algn="ctr">
              <a:solidFill>
                <a:srgbClr val="FFFFFF"/>
              </a:solidFill>
              <a:prstDash val="solid"/>
              <a:miter lim="800000"/>
            </a:ln>
            <a:effectLst/>
            <a:scene3d>
              <a:camera prst="orthographicFront"/>
              <a:lightRig rig="brightRoom" dir="t">
                <a:rot lat="0" lon="0" rev="0"/>
              </a:lightRig>
            </a:scene3d>
            <a:sp3d extrusionH="38100" prstMaterial="translucentPowder">
              <a:bevelT w="114300" h="114300" prst="coolSlant"/>
              <a:contourClr>
                <a:srgbClr val="FFFFFF"/>
              </a:contourClr>
            </a:sp3d>
          </p:spPr>
          <p:txBody>
            <a:bodyPr rtlCol="0" anchor="ctr"/>
            <a:lstStyle/>
            <a:p>
              <a:pPr defTabSz="456537">
                <a:defRPr/>
              </a:pPr>
              <a:endParaRPr lang="en-US" sz="1599">
                <a:solidFill>
                  <a:srgbClr val="000000"/>
                </a:solidFill>
                <a:latin typeface="Source Sans 3" panose="020B0504040101010104" pitchFamily="34" charset="77"/>
                <a:ea typeface="+mj-ea"/>
                <a:cs typeface="+mj-cs"/>
                <a:sym typeface="Source Sans 3"/>
              </a:endParaRPr>
            </a:p>
          </p:txBody>
        </p:sp>
        <p:sp>
          <p:nvSpPr>
            <p:cNvPr id="1024" name="TextBox 1023">
              <a:extLst>
                <a:ext uri="{FF2B5EF4-FFF2-40B4-BE49-F238E27FC236}">
                  <a16:creationId xmlns:a16="http://schemas.microsoft.com/office/drawing/2014/main" id="{D0AD043F-DBE0-A631-66EB-E72A7BB0EB1E}"/>
                </a:ext>
              </a:extLst>
            </p:cNvPr>
            <p:cNvSpPr txBox="1"/>
            <p:nvPr/>
          </p:nvSpPr>
          <p:spPr>
            <a:xfrm>
              <a:off x="784819" y="2075034"/>
              <a:ext cx="2834517" cy="3673235"/>
            </a:xfrm>
            <a:prstGeom prst="rect">
              <a:avLst/>
            </a:prstGeom>
            <a:noFill/>
          </p:spPr>
          <p:txBody>
            <a:bodyPr wrap="square" lIns="0" tIns="0" rIns="0" bIns="0" rtlCol="0">
              <a:spAutoFit/>
            </a:bodyPr>
            <a:lstStyle/>
            <a:p>
              <a:pPr defTabSz="456537">
                <a:lnSpc>
                  <a:spcPct val="110000"/>
                </a:lnSpc>
                <a:defRPr/>
              </a:pPr>
              <a:r>
                <a:rPr lang="en-US" sz="1599" b="1" dirty="0">
                  <a:solidFill>
                    <a:srgbClr val="8FFFDB"/>
                  </a:solidFill>
                  <a:latin typeface="Source Sans 3" panose="020B0504040101010104" pitchFamily="34" charset="77"/>
                  <a:ea typeface="+mj-ea"/>
                  <a:cs typeface="Source Sans 3" panose="020B0404040101010104" pitchFamily="34" charset="77"/>
                  <a:sym typeface="Source Sans 3"/>
                </a:rPr>
                <a:t>Workflow Data Fabric </a:t>
              </a:r>
            </a:p>
            <a:p>
              <a:pPr defTabSz="456537">
                <a:lnSpc>
                  <a:spcPct val="110000"/>
                </a:lnSpc>
                <a:defRPr/>
              </a:pPr>
              <a:r>
                <a:rPr lang="en-US" sz="1400" dirty="0">
                  <a:solidFill>
                    <a:schemeClr val="bg1"/>
                  </a:solidFill>
                </a:rPr>
                <a:t>Connect your data where it lives, automatically contextualize it with business meaning, and maintain control as you seamlessly move from insights to automated actions all on one platform.</a:t>
              </a:r>
              <a:endParaRPr lang="en-US" sz="1400" dirty="0">
                <a:solidFill>
                  <a:schemeClr val="bg1"/>
                </a:solidFill>
                <a:sym typeface="Source Sans 3"/>
              </a:endParaRPr>
            </a:p>
            <a:p>
              <a:pPr defTabSz="456537">
                <a:lnSpc>
                  <a:spcPct val="110000"/>
                </a:lnSpc>
                <a:defRPr/>
              </a:pPr>
              <a:endParaRPr lang="en-US" sz="1599" dirty="0">
                <a:solidFill>
                  <a:srgbClr val="FFFFFF"/>
                </a:solidFill>
                <a:latin typeface="Source Sans 3" panose="020B0404040101010104" pitchFamily="34" charset="77"/>
                <a:ea typeface="+mj-ea"/>
                <a:cs typeface="Source Sans 3" panose="020B0404040101010104" pitchFamily="34" charset="77"/>
                <a:sym typeface="Source Sans 3"/>
              </a:endParaRPr>
            </a:p>
            <a:p>
              <a:pPr defTabSz="456537">
                <a:lnSpc>
                  <a:spcPct val="110000"/>
                </a:lnSpc>
                <a:defRPr/>
              </a:pPr>
              <a:r>
                <a:rPr lang="en-US" sz="1599" b="1" dirty="0" err="1">
                  <a:solidFill>
                    <a:srgbClr val="8FFFDB"/>
                  </a:solidFill>
                  <a:latin typeface="Source Sans 3" panose="020B0504040101010104" pitchFamily="34" charset="77"/>
                  <a:ea typeface="+mj-ea"/>
                  <a:cs typeface="+mj-cs"/>
                  <a:sym typeface="Source Sans 3"/>
                </a:rPr>
                <a:t>RaptorDB</a:t>
              </a:r>
              <a:r>
                <a:rPr lang="en-US" sz="1599" b="1" dirty="0">
                  <a:solidFill>
                    <a:srgbClr val="8FFFDB"/>
                  </a:solidFill>
                  <a:latin typeface="Source Sans 3" panose="020B0504040101010104" pitchFamily="34" charset="77"/>
                  <a:ea typeface="+mj-ea"/>
                  <a:cs typeface="+mj-cs"/>
                  <a:sym typeface="Source Sans 3"/>
                </a:rPr>
                <a:t> Pro </a:t>
              </a:r>
            </a:p>
            <a:p>
              <a:pPr defTabSz="456537">
                <a:lnSpc>
                  <a:spcPct val="110000"/>
                </a:lnSpc>
                <a:defRPr/>
              </a:pPr>
              <a:r>
                <a:rPr lang="en-US" sz="1399" dirty="0">
                  <a:solidFill>
                    <a:srgbClr val="FFFFFF"/>
                  </a:solidFill>
                  <a:latin typeface="Source Sans 3" panose="020B0404040101010104" pitchFamily="34" charset="77"/>
                  <a:ea typeface="+mj-ea"/>
                  <a:cs typeface="Source Sans 3" panose="020B0404040101010104" pitchFamily="34" charset="77"/>
                  <a:sym typeface="Source Sans 3"/>
                </a:rPr>
                <a:t>Increase AI, workflow, </a:t>
              </a:r>
              <a:br>
                <a:rPr lang="en-US" sz="1399" dirty="0">
                  <a:solidFill>
                    <a:srgbClr val="FFFFFF"/>
                  </a:solidFill>
                  <a:latin typeface="Source Sans 3" panose="020B0404040101010104" pitchFamily="34" charset="77"/>
                  <a:ea typeface="+mj-ea"/>
                  <a:cs typeface="Source Sans 3" panose="020B0404040101010104" pitchFamily="34" charset="77"/>
                  <a:sym typeface="Source Sans 3"/>
                </a:rPr>
              </a:br>
              <a:r>
                <a:rPr lang="en-US" sz="1399" dirty="0">
                  <a:solidFill>
                    <a:srgbClr val="FFFFFF"/>
                  </a:solidFill>
                  <a:latin typeface="Source Sans 3" panose="020B0404040101010104" pitchFamily="34" charset="77"/>
                  <a:ea typeface="+mj-ea"/>
                  <a:cs typeface="Source Sans 3" panose="020B0404040101010104" pitchFamily="34" charset="77"/>
                  <a:sym typeface="Source Sans 3"/>
                </a:rPr>
                <a:t>and reporting performance </a:t>
              </a:r>
              <a:br>
                <a:rPr lang="en-US" sz="1399" dirty="0">
                  <a:solidFill>
                    <a:srgbClr val="FFFFFF"/>
                  </a:solidFill>
                  <a:latin typeface="Source Sans 3" panose="020B0404040101010104" pitchFamily="34" charset="77"/>
                  <a:ea typeface="+mj-ea"/>
                  <a:cs typeface="Source Sans 3" panose="020B0404040101010104" pitchFamily="34" charset="77"/>
                  <a:sym typeface="Source Sans 3"/>
                </a:rPr>
              </a:br>
              <a:r>
                <a:rPr lang="en-US" sz="1399" dirty="0">
                  <a:solidFill>
                    <a:srgbClr val="FFFFFF"/>
                  </a:solidFill>
                  <a:latin typeface="Source Sans 3" panose="020B0404040101010104" pitchFamily="34" charset="77"/>
                  <a:ea typeface="+mj-ea"/>
                  <a:cs typeface="Source Sans 3" panose="020B0404040101010104" pitchFamily="34" charset="77"/>
                  <a:sym typeface="Source Sans 3"/>
                </a:rPr>
                <a:t>with an ultra-fast, next-</a:t>
              </a:r>
              <a:br>
                <a:rPr lang="en-US" sz="1399" dirty="0">
                  <a:solidFill>
                    <a:srgbClr val="FFFFFF"/>
                  </a:solidFill>
                  <a:latin typeface="Source Sans 3" panose="020B0404040101010104" pitchFamily="34" charset="77"/>
                  <a:ea typeface="+mj-ea"/>
                  <a:cs typeface="Source Sans 3" panose="020B0404040101010104" pitchFamily="34" charset="77"/>
                  <a:sym typeface="Source Sans 3"/>
                </a:rPr>
              </a:br>
              <a:r>
                <a:rPr lang="en-US" sz="1399" dirty="0">
                  <a:solidFill>
                    <a:srgbClr val="FFFFFF"/>
                  </a:solidFill>
                  <a:latin typeface="Source Sans 3" panose="020B0404040101010104" pitchFamily="34" charset="77"/>
                  <a:ea typeface="+mj-ea"/>
                  <a:cs typeface="Source Sans 3" panose="020B0404040101010104" pitchFamily="34" charset="77"/>
                  <a:sym typeface="Source Sans 3"/>
                </a:rPr>
                <a:t>gen database engine that’s built for speed and scale.</a:t>
              </a:r>
            </a:p>
            <a:p>
              <a:pPr defTabSz="456537">
                <a:lnSpc>
                  <a:spcPct val="110000"/>
                </a:lnSpc>
                <a:defRPr/>
              </a:pPr>
              <a:endParaRPr lang="en-US" sz="1599" dirty="0">
                <a:solidFill>
                  <a:srgbClr val="FFFFFF"/>
                </a:solidFill>
                <a:latin typeface="Source Sans 3" panose="020B0404040101010104" pitchFamily="34" charset="77"/>
                <a:ea typeface="+mj-ea"/>
                <a:cs typeface="Source Sans 3" panose="020B0404040101010104" pitchFamily="34" charset="77"/>
                <a:sym typeface="Source Sans 3"/>
              </a:endParaRPr>
            </a:p>
          </p:txBody>
        </p:sp>
      </p:grpSp>
      <p:sp>
        <p:nvSpPr>
          <p:cNvPr id="4" name="TextBox 1">
            <a:extLst>
              <a:ext uri="{FF2B5EF4-FFF2-40B4-BE49-F238E27FC236}">
                <a16:creationId xmlns:a16="http://schemas.microsoft.com/office/drawing/2014/main" id="{B4778133-3516-A161-DFB7-8C2EEF1948FF}"/>
              </a:ext>
            </a:extLst>
          </p:cNvPr>
          <p:cNvSpPr txBox="1"/>
          <p:nvPr/>
        </p:nvSpPr>
        <p:spPr>
          <a:xfrm>
            <a:off x="6173145" y="3908336"/>
            <a:ext cx="3074638" cy="553710"/>
          </a:xfrm>
          <a:prstGeom prst="rect">
            <a:avLst/>
          </a:prstGeom>
          <a:ln w="12700">
            <a:miter lim="400000"/>
          </a:ln>
          <a:effectLst>
            <a:outerShdw blurRad="368300" dist="127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defTabSz="1279712">
              <a:lnSpc>
                <a:spcPct val="60000"/>
              </a:lnSpc>
              <a:defRPr sz="23000">
                <a:latin typeface="+mj-lt"/>
                <a:ea typeface="+mj-ea"/>
                <a:cs typeface="+mj-cs"/>
                <a:sym typeface="Source Sans 3"/>
              </a:defRPr>
            </a:lvl1pPr>
          </a:lstStyle>
          <a:p>
            <a:pPr algn="ctr" defTabSz="1278944">
              <a:lnSpc>
                <a:spcPct val="100000"/>
              </a:lnSpc>
              <a:defRPr>
                <a:solidFill>
                  <a:srgbClr val="8FFFDB"/>
                </a:solidFill>
              </a:defRPr>
            </a:pPr>
            <a:r>
              <a:rPr sz="2798">
                <a:solidFill>
                  <a:srgbClr val="FFFFFF">
                    <a:hueOff val="-6726316"/>
                    <a:satOff val="-100000"/>
                    <a:lumOff val="7450"/>
                  </a:srgbClr>
                </a:solidFill>
                <a:latin typeface="Source Sans 3" panose="020B0504040101010104" pitchFamily="34" charset="77"/>
              </a:rPr>
              <a:t>Data</a:t>
            </a:r>
            <a:r>
              <a:rPr lang="en-US" sz="2798">
                <a:solidFill>
                  <a:srgbClr val="FFFFFF">
                    <a:hueOff val="-6726316"/>
                    <a:satOff val="-100000"/>
                    <a:lumOff val="7450"/>
                  </a:srgbClr>
                </a:solidFill>
                <a:latin typeface="Source Sans 3" panose="020B0504040101010104" pitchFamily="34" charset="77"/>
              </a:rPr>
              <a:t> &amp; Analytics</a:t>
            </a:r>
            <a:endParaRPr sz="2798">
              <a:solidFill>
                <a:srgbClr val="FFFFFF">
                  <a:hueOff val="-6726316"/>
                  <a:satOff val="-100000"/>
                  <a:lumOff val="7450"/>
                </a:srgbClr>
              </a:solidFill>
              <a:latin typeface="Source Sans 3" panose="020B0504040101010104" pitchFamily="34" charset="77"/>
            </a:endParaRPr>
          </a:p>
        </p:txBody>
      </p:sp>
      <p:sp>
        <p:nvSpPr>
          <p:cNvPr id="14" name="Slide Number Placeholder 5">
            <a:extLst>
              <a:ext uri="{FF2B5EF4-FFF2-40B4-BE49-F238E27FC236}">
                <a16:creationId xmlns:a16="http://schemas.microsoft.com/office/drawing/2014/main" id="{C4FECF97-52AC-13E3-4AE1-8EB5E35DD78E}"/>
              </a:ext>
            </a:extLst>
          </p:cNvPr>
          <p:cNvSpPr txBox="1">
            <a:spLocks/>
          </p:cNvSpPr>
          <p:nvPr/>
        </p:nvSpPr>
        <p:spPr>
          <a:xfrm>
            <a:off x="11055407" y="6411699"/>
            <a:ext cx="578083" cy="22848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6903" rtl="0" eaLnBrk="1" fontAlgn="auto" latinLnBrk="0" hangingPunct="1">
              <a:lnSpc>
                <a:spcPct val="100000"/>
              </a:lnSpc>
              <a:spcBef>
                <a:spcPts val="0"/>
              </a:spcBef>
              <a:spcAft>
                <a:spcPts val="0"/>
              </a:spcAft>
              <a:buClrTx/>
              <a:buSzTx/>
              <a:buFontTx/>
              <a:buNone/>
              <a:tabLst/>
              <a:defRPr/>
            </a:pPr>
            <a:fld id="{A9B9714D-1B27-0B43-A9CC-9EF2921F49DC}" type="slidenum">
              <a:rPr kumimoji="0" lang="en-US" sz="800" b="0" i="0" u="none" strike="noStrike" kern="1200" cap="none" spc="0" normalizeH="0" baseline="0" noProof="0">
                <a:ln>
                  <a:noFill/>
                </a:ln>
                <a:solidFill>
                  <a:srgbClr val="FFFFFF"/>
                </a:solidFill>
                <a:effectLst/>
                <a:uLnTx/>
                <a:uFillTx/>
                <a:latin typeface="Source Sans 3"/>
                <a:ea typeface="+mn-ea"/>
                <a:cs typeface="+mn-cs"/>
              </a:rPr>
              <a:pPr marL="0" marR="0" lvl="0" indent="0" algn="r" defTabSz="456903"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FFFFFF"/>
              </a:solidFill>
              <a:effectLst/>
              <a:uLnTx/>
              <a:uFillTx/>
              <a:latin typeface="Source Sans 3"/>
              <a:ea typeface="+mn-ea"/>
              <a:cs typeface="+mn-cs"/>
            </a:endParaRPr>
          </a:p>
        </p:txBody>
      </p:sp>
      <p:pic>
        <p:nvPicPr>
          <p:cNvPr id="15" name="Picture 15">
            <a:extLst>
              <a:ext uri="{FF2B5EF4-FFF2-40B4-BE49-F238E27FC236}">
                <a16:creationId xmlns:a16="http://schemas.microsoft.com/office/drawing/2014/main" id="{5DAABC50-EDF8-E1AA-E77D-7511E1BF2152}"/>
              </a:ext>
              <a:ext uri="{C183D7F6-B498-43B3-948B-1728B52AA6E4}">
                <adec:decorative xmlns:adec="http://schemas.microsoft.com/office/drawing/2017/decorative" val="1"/>
              </a:ext>
            </a:extLst>
          </p:cNvPr>
          <p:cNvPicPr>
            <a:picLocks/>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9"/>
              </a:ext>
            </a:extLst>
          </a:blip>
          <a:srcRect/>
          <a:stretch/>
        </p:blipFill>
        <p:spPr>
          <a:xfrm>
            <a:off x="479837" y="6353915"/>
            <a:ext cx="980334" cy="280022"/>
          </a:xfrm>
          <a:prstGeom prst="rect">
            <a:avLst/>
          </a:prstGeom>
        </p:spPr>
      </p:pic>
      <p:sp>
        <p:nvSpPr>
          <p:cNvPr id="16" name="Slide Number Placeholder 5">
            <a:extLst>
              <a:ext uri="{FF2B5EF4-FFF2-40B4-BE49-F238E27FC236}">
                <a16:creationId xmlns:a16="http://schemas.microsoft.com/office/drawing/2014/main" id="{C75057F3-38C9-8505-8046-F14FDBE68812}"/>
              </a:ext>
            </a:extLst>
          </p:cNvPr>
          <p:cNvSpPr txBox="1">
            <a:spLocks/>
          </p:cNvSpPr>
          <p:nvPr/>
        </p:nvSpPr>
        <p:spPr>
          <a:xfrm>
            <a:off x="11056700" y="6411699"/>
            <a:ext cx="578234" cy="22848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6903" rtl="0" eaLnBrk="1" fontAlgn="auto" latinLnBrk="0" hangingPunct="1">
              <a:lnSpc>
                <a:spcPct val="100000"/>
              </a:lnSpc>
              <a:spcBef>
                <a:spcPts val="0"/>
              </a:spcBef>
              <a:spcAft>
                <a:spcPts val="0"/>
              </a:spcAft>
              <a:buClrTx/>
              <a:buSzTx/>
              <a:buFontTx/>
              <a:buNone/>
              <a:tabLst/>
              <a:defRPr/>
            </a:pPr>
            <a:fld id="{A9B9714D-1B27-0B43-A9CC-9EF2921F49DC}" type="slidenum">
              <a:rPr kumimoji="0" lang="en-US" sz="800" b="0" i="0" u="none" strike="noStrike" kern="1200" cap="none" spc="0" normalizeH="0" baseline="0" noProof="0">
                <a:ln>
                  <a:noFill/>
                </a:ln>
                <a:solidFill>
                  <a:srgbClr val="FFFFFF"/>
                </a:solidFill>
                <a:effectLst/>
                <a:uLnTx/>
                <a:uFillTx/>
                <a:latin typeface="Source Sans 3"/>
                <a:ea typeface="+mn-ea"/>
                <a:cs typeface="+mn-cs"/>
              </a:rPr>
              <a:pPr marL="0" marR="0" lvl="0" indent="0" algn="r" defTabSz="456903"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FFFFFF"/>
              </a:solidFill>
              <a:effectLst/>
              <a:uLnTx/>
              <a:uFillTx/>
              <a:latin typeface="Source Sans 3"/>
              <a:ea typeface="+mn-ea"/>
              <a:cs typeface="+mn-cs"/>
            </a:endParaRPr>
          </a:p>
        </p:txBody>
      </p:sp>
      <p:sp>
        <p:nvSpPr>
          <p:cNvPr id="17" name="Footer Placeholder 4">
            <a:extLst>
              <a:ext uri="{FF2B5EF4-FFF2-40B4-BE49-F238E27FC236}">
                <a16:creationId xmlns:a16="http://schemas.microsoft.com/office/drawing/2014/main" id="{64D23B2C-0942-46D2-681F-CAC765A4FF05}"/>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1088" name="Rectangle 1087"/>
          <p:cNvSpPr/>
          <p:nvPr/>
        </p:nvSpPr>
        <p:spPr>
          <a:xfrm>
            <a:off x="566928" y="5952744"/>
            <a:ext cx="10991088" cy="356616"/>
          </a:xfrm>
          <a:prstGeom prst="rect">
            <a:avLst/>
          </a:prstGeom>
          <a:solidFill>
            <a:srgbClr val="040E3D"/>
          </a:solidFill>
          <a:ln w="8255">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9" name="Diagnostic check label"/>
          <p:cNvSpPr txBox="1"/>
          <p:nvPr/>
        </p:nvSpPr>
        <p:spPr>
          <a:xfrm>
            <a:off x="722376" y="5980176"/>
            <a:ext cx="1097280" cy="274320"/>
          </a:xfrm>
          <a:prstGeom prst="rect">
            <a:avLst/>
          </a:prstGeom>
          <a:noFill/>
        </p:spPr>
        <p:txBody>
          <a:bodyPr wrap="square" lIns="32004" tIns="0" rIns="32004" bIns="0" anchor="ctr">
            <a:spAutoFit/>
          </a:bodyPr>
          <a:lstStyle/>
          <a:p>
            <a:pPr algn="l"/>
            <a:r>
              <a:rPr sz="1100" b="1">
                <a:solidFill>
                  <a:srgbClr val="8FFFDB"/>
                </a:solidFill>
                <a:latin typeface="Source Sans 3"/>
              </a:rPr>
              <a:t>CHECK 01</a:t>
            </a:r>
          </a:p>
        </p:txBody>
      </p:sp>
      <p:sp>
        <p:nvSpPr>
          <p:cNvPr id="1090" name="Diagnostic check caption"/>
          <p:cNvSpPr txBox="1"/>
          <p:nvPr/>
        </p:nvSpPr>
        <p:spPr>
          <a:xfrm>
            <a:off x="1764792" y="5980176"/>
            <a:ext cx="9509760" cy="274320"/>
          </a:xfrm>
          <a:prstGeom prst="rect">
            <a:avLst/>
          </a:prstGeom>
          <a:noFill/>
        </p:spPr>
        <p:txBody>
          <a:bodyPr wrap="square" lIns="32004" tIns="0" rIns="32004" bIns="0" anchor="ctr">
            <a:spAutoFit/>
          </a:bodyPr>
          <a:lstStyle/>
          <a:p>
            <a:pPr algn="l"/>
            <a:r>
              <a:rPr sz="1110" b="0" dirty="0">
                <a:solidFill>
                  <a:srgbClr val="F2F2F4"/>
                </a:solidFill>
                <a:latin typeface="Source Sans 3"/>
              </a:rPr>
              <a:t>Validate CMDB / CSDM, critical fields, ownership, freshness and data access before action.</a:t>
            </a:r>
          </a:p>
        </p:txBody>
      </p:sp>
    </p:spTree>
    <p:extLst>
      <p:ext uri="{BB962C8B-B14F-4D97-AF65-F5344CB8AC3E}">
        <p14:creationId xmlns:p14="http://schemas.microsoft.com/office/powerpoint/2010/main" val="284751426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870DE0-2B77-BA81-F571-FE689395A8A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FED3727D-62B2-5781-BC09-DB45AD41F063}"/>
              </a:ext>
            </a:extLst>
          </p:cNvPr>
          <p:cNvSpPr/>
          <p:nvPr/>
        </p:nvSpPr>
        <p:spPr>
          <a:xfrm>
            <a:off x="-1"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73" name="Picture 72">
            <a:extLst>
              <a:ext uri="{FF2B5EF4-FFF2-40B4-BE49-F238E27FC236}">
                <a16:creationId xmlns:a16="http://schemas.microsoft.com/office/drawing/2014/main" id="{B4537F97-03A0-0AEE-99A4-EBC16E3B7C64}"/>
              </a:ext>
            </a:extLst>
          </p:cNvPr>
          <p:cNvPicPr>
            <a:picLocks noChangeAspect="1"/>
          </p:cNvPicPr>
          <p:nvPr/>
        </p:nvPicPr>
        <p:blipFill rotWithShape="1">
          <a:blip r:embed="rId3" cstate="screen">
            <a:alphaModFix amt="20000"/>
            <a:extLst>
              <a:ext uri="{BEBA8EAE-BF5A-486C-A8C5-ECC9F3942E4B}">
                <a14:imgProps xmlns:a14="http://schemas.microsoft.com/office/drawing/2010/main">
                  <a14:imgLayer r:embed="rId4">
                    <a14:imgEffect>
                      <a14:artisticBlur radius="20"/>
                    </a14:imgEffect>
                  </a14:imgLayer>
                </a14:imgProps>
              </a:ext>
              <a:ext uri="{28A0092B-C50C-407E-A947-70E740481C1C}">
                <a14:useLocalDpi xmlns:a14="http://schemas.microsoft.com/office/drawing/2010/main"/>
              </a:ext>
            </a:extLst>
          </a:blip>
          <a:srcRect/>
          <a:stretch>
            <a:fillRect/>
          </a:stretch>
        </p:blipFill>
        <p:spPr>
          <a:xfrm>
            <a:off x="7125130" y="1311036"/>
            <a:ext cx="5601747" cy="5601747"/>
          </a:xfrm>
          <a:prstGeom prst="rect">
            <a:avLst/>
          </a:prstGeom>
        </p:spPr>
      </p:pic>
      <p:pic>
        <p:nvPicPr>
          <p:cNvPr id="76" name="Picture 75">
            <a:extLst>
              <a:ext uri="{FF2B5EF4-FFF2-40B4-BE49-F238E27FC236}">
                <a16:creationId xmlns:a16="http://schemas.microsoft.com/office/drawing/2014/main" id="{5D04B961-772F-AA66-F65E-FBC91BB2AAE7}"/>
              </a:ext>
            </a:extLst>
          </p:cNvPr>
          <p:cNvPicPr>
            <a:picLocks noChangeAspect="1"/>
          </p:cNvPicPr>
          <p:nvPr/>
        </p:nvPicPr>
        <p:blipFill rotWithShape="1">
          <a:blip r:embed="rId5" cstate="screen">
            <a:alphaModFix amt="20000"/>
            <a:extLst>
              <a:ext uri="{BEBA8EAE-BF5A-486C-A8C5-ECC9F3942E4B}">
                <a14:imgProps xmlns:a14="http://schemas.microsoft.com/office/drawing/2010/main">
                  <a14:imgLayer r:embed="rId6">
                    <a14:imgEffect>
                      <a14:artisticBlur radius="20"/>
                    </a14:imgEffect>
                  </a14:imgLayer>
                </a14:imgProps>
              </a:ext>
              <a:ext uri="{28A0092B-C50C-407E-A947-70E740481C1C}">
                <a14:useLocalDpi xmlns:a14="http://schemas.microsoft.com/office/drawing/2010/main"/>
              </a:ext>
            </a:extLst>
          </a:blip>
          <a:srcRect/>
          <a:stretch>
            <a:fillRect/>
          </a:stretch>
        </p:blipFill>
        <p:spPr>
          <a:xfrm>
            <a:off x="-310543" y="1506332"/>
            <a:ext cx="5110208" cy="5110208"/>
          </a:xfrm>
          <a:prstGeom prst="rect">
            <a:avLst/>
          </a:prstGeom>
        </p:spPr>
      </p:pic>
      <p:sp>
        <p:nvSpPr>
          <p:cNvPr id="2" name="TextBox 1">
            <a:extLst>
              <a:ext uri="{FF2B5EF4-FFF2-40B4-BE49-F238E27FC236}">
                <a16:creationId xmlns:a16="http://schemas.microsoft.com/office/drawing/2014/main" id="{20E0136B-BCF8-53AF-6649-ABE2FB78FE4A}"/>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7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Move Fast. Stay in Control.</a:t>
            </a:r>
          </a:p>
        </p:txBody>
      </p:sp>
      <p:sp>
        <p:nvSpPr>
          <p:cNvPr id="13" name="Slide Number Placeholder 5">
            <a:extLst>
              <a:ext uri="{FF2B5EF4-FFF2-40B4-BE49-F238E27FC236}">
                <a16:creationId xmlns:a16="http://schemas.microsoft.com/office/drawing/2014/main" id="{F1BCB071-DCA1-905E-7952-05F800B5FA5E}"/>
              </a:ext>
            </a:extLst>
          </p:cNvPr>
          <p:cNvSpPr txBox="1"/>
          <p:nvPr/>
        </p:nvSpPr>
        <p:spPr>
          <a:xfrm>
            <a:off x="11059579" y="6412476"/>
            <a:ext cx="667701" cy="228540"/>
          </a:xfrm>
          <a:prstGeom prst="rect">
            <a:avLst/>
          </a:prstGeom>
        </p:spPr>
        <p:txBody>
          <a:bodyPr/>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fld id="{A9B9714D-1B27-0B43-A9CC-9EF2921F49DC}" type="slidenum">
              <a:rPr kumimoji="0" lang="en-US" sz="80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504040101010104" pitchFamily="34" charset="77"/>
              </a:rPr>
              <a:pPr marL="0" marR="0" lvl="0" indent="0" algn="r" defTabSz="457040" rtl="0" eaLnBrk="1" fontAlgn="auto" latinLnBrk="0" hangingPunct="1">
                <a:lnSpc>
                  <a:spcPct val="100000"/>
                </a:lnSpc>
                <a:spcBef>
                  <a:spcPts val="0"/>
                </a:spcBef>
                <a:spcAft>
                  <a:spcPts val="0"/>
                </a:spcAft>
                <a:buClrTx/>
                <a:buSzTx/>
                <a:buFontTx/>
                <a:buNone/>
                <a:tabLst/>
                <a:defRPr/>
              </a:pPr>
              <a:t>21</a:t>
            </a:fld>
            <a:endParaRPr kumimoji="0" lang="en-US" sz="80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504040101010104" pitchFamily="34" charset="77"/>
            </a:endParaRPr>
          </a:p>
        </p:txBody>
      </p:sp>
      <p:pic>
        <p:nvPicPr>
          <p:cNvPr id="14" name="Picture 4">
            <a:extLst>
              <a:ext uri="{FF2B5EF4-FFF2-40B4-BE49-F238E27FC236}">
                <a16:creationId xmlns:a16="http://schemas.microsoft.com/office/drawing/2014/main" id="{2958EF9C-91D3-39FA-7E41-BF974A0547D0}"/>
              </a:ext>
            </a:extLst>
          </p:cNvPr>
          <p:cNvPicPr/>
          <p:nvPr/>
        </p:nvPicPr>
        <p:blipFill>
          <a:blip>
            <a:extLst>
              <a:ext uri="{96DAC541-7B7A-43D3-8B79-37D633B846F1}">
                <asvg:svgBlip xmlns:asvg="http://schemas.microsoft.com/office/drawing/2016/SVG/main" r:embed="rId7"/>
              </a:ext>
            </a:extLst>
          </a:blip>
          <a:srcRect/>
          <a:stretch/>
        </p:blipFill>
        <p:spPr>
          <a:xfrm>
            <a:off x="479837" y="6354675"/>
            <a:ext cx="980334" cy="280095"/>
          </a:xfrm>
          <a:prstGeom prst="rect">
            <a:avLst/>
          </a:prstGeom>
        </p:spPr>
      </p:pic>
      <p:sp>
        <p:nvSpPr>
          <p:cNvPr id="20" name="TextBox 19">
            <a:extLst>
              <a:ext uri="{FF2B5EF4-FFF2-40B4-BE49-F238E27FC236}">
                <a16:creationId xmlns:a16="http://schemas.microsoft.com/office/drawing/2014/main" id="{69B2564E-A488-ABC9-D0AA-D8B51A376FB0}"/>
              </a:ext>
            </a:extLst>
          </p:cNvPr>
          <p:cNvSpPr txBox="1"/>
          <p:nvPr/>
        </p:nvSpPr>
        <p:spPr>
          <a:xfrm>
            <a:off x="844069" y="4185561"/>
            <a:ext cx="2759277" cy="549099"/>
          </a:xfrm>
          <a:prstGeom prst="rect">
            <a:avLst/>
          </a:prstGeom>
          <a:noFill/>
        </p:spPr>
        <p:txBody>
          <a:bodyPr wrap="square" lIns="0" tIns="0" rIns="0" bIns="0" rtlCol="0" anchor="t">
            <a:no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t>Protect enterprise data used </a:t>
            </a:r>
            <a:b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br>
            <a: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t>to power every AI interaction.</a:t>
            </a:r>
          </a:p>
        </p:txBody>
      </p:sp>
      <p:sp>
        <p:nvSpPr>
          <p:cNvPr id="30" name="TextBox 29">
            <a:extLst>
              <a:ext uri="{FF2B5EF4-FFF2-40B4-BE49-F238E27FC236}">
                <a16:creationId xmlns:a16="http://schemas.microsoft.com/office/drawing/2014/main" id="{35D421C3-5FAE-5685-1B28-E97BED31FC0C}"/>
              </a:ext>
            </a:extLst>
          </p:cNvPr>
          <p:cNvSpPr txBox="1"/>
          <p:nvPr/>
        </p:nvSpPr>
        <p:spPr>
          <a:xfrm>
            <a:off x="8600562" y="4185561"/>
            <a:ext cx="2814637" cy="549099"/>
          </a:xfrm>
          <a:prstGeom prst="rect">
            <a:avLst/>
          </a:prstGeom>
          <a:noFill/>
        </p:spPr>
        <p:txBody>
          <a:bodyPr wrap="square" lIns="0" tIns="0" rIns="0" bIns="0" rtlCol="0" anchor="t">
            <a:no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t>Embed policy and trust into every </a:t>
            </a:r>
            <a:b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br>
            <a: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t>autonomous workflow, automatically.</a:t>
            </a:r>
          </a:p>
        </p:txBody>
      </p:sp>
      <p:sp>
        <p:nvSpPr>
          <p:cNvPr id="33" name="TextBox 32">
            <a:extLst>
              <a:ext uri="{FF2B5EF4-FFF2-40B4-BE49-F238E27FC236}">
                <a16:creationId xmlns:a16="http://schemas.microsoft.com/office/drawing/2014/main" id="{295961A2-6C06-A1F5-FA7F-15DCBABF2512}"/>
              </a:ext>
            </a:extLst>
          </p:cNvPr>
          <p:cNvSpPr txBox="1"/>
          <p:nvPr/>
        </p:nvSpPr>
        <p:spPr>
          <a:xfrm>
            <a:off x="1356236" y="3516237"/>
            <a:ext cx="1734942" cy="612785"/>
          </a:xfrm>
          <a:prstGeom prst="rect">
            <a:avLst/>
          </a:prstGeom>
          <a:noFill/>
        </p:spPr>
        <p:txBody>
          <a:bodyPr wrap="square" lIns="0" tIns="0" rIns="0" bIns="0" rtlCol="0" anchor="t">
            <a:noAutofit/>
          </a:bodyPr>
          <a:lstStyle/>
          <a:p>
            <a:pPr marL="0" marR="0" lvl="0" indent="0" algn="ctr" defTabSz="456766" rtl="0" eaLnBrk="1" fontAlgn="auto" latinLnBrk="0" hangingPunct="1">
              <a:lnSpc>
                <a:spcPct val="80000"/>
              </a:lnSpc>
              <a:spcBef>
                <a:spcPts val="0"/>
              </a:spcBef>
              <a:spcAft>
                <a:spcPts val="0"/>
              </a:spcAft>
              <a:buClrTx/>
              <a:buSzTx/>
              <a:buFontTx/>
              <a:buNone/>
              <a:tabLst/>
              <a:defRPr/>
            </a:pPr>
            <a: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t>Secure</a:t>
            </a:r>
            <a:b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br>
            <a: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t>your Data</a:t>
            </a:r>
          </a:p>
        </p:txBody>
      </p:sp>
      <p:sp>
        <p:nvSpPr>
          <p:cNvPr id="8" name="TextBox 7">
            <a:extLst>
              <a:ext uri="{FF2B5EF4-FFF2-40B4-BE49-F238E27FC236}">
                <a16:creationId xmlns:a16="http://schemas.microsoft.com/office/drawing/2014/main" id="{DABBA113-46C6-DD85-C50F-6ABB2B0DC8C5}"/>
              </a:ext>
            </a:extLst>
          </p:cNvPr>
          <p:cNvSpPr txBox="1"/>
          <p:nvPr/>
        </p:nvSpPr>
        <p:spPr>
          <a:xfrm>
            <a:off x="8733194" y="3516237"/>
            <a:ext cx="2549372" cy="612785"/>
          </a:xfrm>
          <a:prstGeom prst="rect">
            <a:avLst/>
          </a:prstGeom>
          <a:noFill/>
        </p:spPr>
        <p:txBody>
          <a:bodyPr wrap="square" lIns="0" tIns="0" rIns="0" bIns="0" rtlCol="0" anchor="t">
            <a:noAutofit/>
          </a:bodyPr>
          <a:lstStyle/>
          <a:p>
            <a:pPr marL="0" marR="0" lvl="0" indent="0" algn="ctr" defTabSz="456766" rtl="0" eaLnBrk="1" fontAlgn="auto" latinLnBrk="0" hangingPunct="1">
              <a:lnSpc>
                <a:spcPct val="80000"/>
              </a:lnSpc>
              <a:spcBef>
                <a:spcPts val="0"/>
              </a:spcBef>
              <a:spcAft>
                <a:spcPts val="0"/>
              </a:spcAft>
              <a:buClrTx/>
              <a:buSzTx/>
              <a:buFontTx/>
              <a:buNone/>
              <a:tabLst/>
              <a:defRPr/>
            </a:pPr>
            <a: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t>Govern </a:t>
            </a:r>
            <a:b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br>
            <a: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t>your workflows</a:t>
            </a:r>
          </a:p>
        </p:txBody>
      </p:sp>
      <p:sp>
        <p:nvSpPr>
          <p:cNvPr id="5" name="TextBox 4">
            <a:extLst>
              <a:ext uri="{FF2B5EF4-FFF2-40B4-BE49-F238E27FC236}">
                <a16:creationId xmlns:a16="http://schemas.microsoft.com/office/drawing/2014/main" id="{2B572B7E-84F1-E986-AB12-4BACB068816C}"/>
              </a:ext>
            </a:extLst>
          </p:cNvPr>
          <p:cNvSpPr txBox="1"/>
          <p:nvPr/>
        </p:nvSpPr>
        <p:spPr>
          <a:xfrm>
            <a:off x="2722607" y="1283161"/>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a:ln>
                  <a:noFill/>
                </a:ln>
                <a:solidFill>
                  <a:srgbClr val="F2F2F4"/>
                </a:solidFill>
                <a:effectLst/>
                <a:uLnTx/>
                <a:uFillTx/>
                <a:latin typeface="Source Sans 3"/>
                <a:ea typeface="+mn-ea"/>
                <a:cs typeface="Source Sans 3" panose="020B0504040101010104" pitchFamily="34" charset="77"/>
              </a:rPr>
              <a:t>Check the controls that apply before autonomous execution.</a:t>
            </a:r>
            <a:endParaRPr kumimoji="0" lang="en-US" sz="2000" b="0" i="0" u="none" strike="noStrike" kern="1200" cap="none" spc="0" normalizeH="0" baseline="0" noProof="0">
              <a:ln>
                <a:noFill/>
              </a:ln>
              <a:solidFill>
                <a:srgbClr val="FFFFFF"/>
              </a:solidFill>
              <a:effectLst/>
              <a:uLnTx/>
              <a:uFillTx/>
              <a:latin typeface="Source Sans 3"/>
              <a:ea typeface="+mn-ea"/>
              <a:cs typeface="+mn-cs"/>
            </a:endParaRPr>
          </a:p>
        </p:txBody>
      </p:sp>
      <p:sp>
        <p:nvSpPr>
          <p:cNvPr id="55" name="Oval 60">
            <a:extLst>
              <a:ext uri="{FF2B5EF4-FFF2-40B4-BE49-F238E27FC236}">
                <a16:creationId xmlns:a16="http://schemas.microsoft.com/office/drawing/2014/main" id="{E7A21EFF-3EEA-4516-9670-BF01BF17B698}"/>
              </a:ext>
            </a:extLst>
          </p:cNvPr>
          <p:cNvSpPr/>
          <p:nvPr/>
        </p:nvSpPr>
        <p:spPr>
          <a:xfrm rot="12650287">
            <a:off x="7002859" y="-4425190"/>
            <a:ext cx="556158" cy="1353973"/>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904341"/>
              <a:gd name="csY0" fmla="*/ 0 h 889632"/>
              <a:gd name="csX1" fmla="*/ 904015 w 904341"/>
              <a:gd name="csY1" fmla="*/ 889567 h 889632"/>
              <a:gd name="csX0" fmla="*/ 0 w 572014"/>
              <a:gd name="csY0" fmla="*/ 1040509 h 1090045"/>
              <a:gd name="csX1" fmla="*/ 476997 w 572014"/>
              <a:gd name="csY1" fmla="*/ 0 h 1090045"/>
              <a:gd name="csX0" fmla="*/ 0 w 562472"/>
              <a:gd name="csY0" fmla="*/ 1378521 h 1419304"/>
              <a:gd name="csX1" fmla="*/ 458813 w 562472"/>
              <a:gd name="csY1" fmla="*/ 0 h 1419304"/>
              <a:gd name="csX0" fmla="*/ 0 w 458928"/>
              <a:gd name="csY0" fmla="*/ 1378521 h 1378521"/>
              <a:gd name="csX1" fmla="*/ 458813 w 458928"/>
              <a:gd name="csY1" fmla="*/ 0 h 1378521"/>
              <a:gd name="csX0" fmla="*/ 0 w 556158"/>
              <a:gd name="csY0" fmla="*/ 1353973 h 1353973"/>
              <a:gd name="csX1" fmla="*/ 556095 w 556158"/>
              <a:gd name="csY1" fmla="*/ 0 h 1353973"/>
            </a:gdLst>
            <a:ahLst/>
            <a:cxnLst>
              <a:cxn ang="0">
                <a:pos x="csX0" y="csY0"/>
              </a:cxn>
              <a:cxn ang="0">
                <a:pos x="csX1" y="csY1"/>
              </a:cxn>
            </a:cxnLst>
            <a:rect l="l" t="t" r="r" b="b"/>
            <a:pathLst>
              <a:path w="556158" h="1353973">
                <a:moveTo>
                  <a:pt x="0" y="1353973"/>
                </a:moveTo>
                <a:cubicBezTo>
                  <a:pt x="348866" y="719327"/>
                  <a:pt x="560383" y="7095"/>
                  <a:pt x="556095" y="0"/>
                </a:cubicBezTo>
              </a:path>
            </a:pathLst>
          </a:custGeom>
          <a:noFill/>
          <a:ln w="15875">
            <a:gradFill>
              <a:gsLst>
                <a:gs pos="100000">
                  <a:schemeClr val="accent1">
                    <a:lumMod val="5000"/>
                    <a:lumOff val="95000"/>
                    <a:alpha val="34730"/>
                  </a:schemeClr>
                </a:gs>
                <a:gs pos="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pic>
        <p:nvPicPr>
          <p:cNvPr id="58" name="Picture 57" descr="A group of bubbles in the sky&#10;&#10;AI-generated content may be incorrect.">
            <a:extLst>
              <a:ext uri="{FF2B5EF4-FFF2-40B4-BE49-F238E27FC236}">
                <a16:creationId xmlns:a16="http://schemas.microsoft.com/office/drawing/2014/main" id="{8A32608B-694E-7C0D-FF71-8EF829FD7E23}"/>
              </a:ext>
            </a:extLst>
          </p:cNvPr>
          <p:cNvPicPr>
            <a:picLocks noChangeAspect="1"/>
          </p:cNvPicPr>
          <p:nvPr/>
        </p:nvPicPr>
        <p:blipFill rotWithShape="1">
          <a:blip r:embed="rId8" cstate="screen">
            <a:alphaModFix/>
            <a:extLst>
              <a:ext uri="{28A0092B-C50C-407E-A947-70E740481C1C}">
                <a14:useLocalDpi xmlns:a14="http://schemas.microsoft.com/office/drawing/2010/main"/>
              </a:ext>
            </a:extLst>
          </a:blip>
          <a:srcRect/>
          <a:stretch>
            <a:fillRect/>
          </a:stretch>
        </p:blipFill>
        <p:spPr>
          <a:xfrm rot="15863620">
            <a:off x="8962427" y="-4858279"/>
            <a:ext cx="362676" cy="400070"/>
          </a:xfrm>
          <a:prstGeom prst="rect">
            <a:avLst/>
          </a:prstGeom>
        </p:spPr>
      </p:pic>
      <p:sp>
        <p:nvSpPr>
          <p:cNvPr id="77" name="TextBox 76">
            <a:extLst>
              <a:ext uri="{FF2B5EF4-FFF2-40B4-BE49-F238E27FC236}">
                <a16:creationId xmlns:a16="http://schemas.microsoft.com/office/drawing/2014/main" id="{B2D7F457-30E3-323F-2DF2-97EAA17E9D99}"/>
              </a:ext>
            </a:extLst>
          </p:cNvPr>
          <p:cNvSpPr txBox="1"/>
          <p:nvPr/>
        </p:nvSpPr>
        <p:spPr>
          <a:xfrm>
            <a:off x="782266" y="2876931"/>
            <a:ext cx="2882882" cy="553998"/>
          </a:xfrm>
          <a:prstGeom prst="rect">
            <a:avLst/>
          </a:prstGeom>
          <a:noFill/>
        </p:spPr>
        <p:txBody>
          <a:bodyPr wrap="square" lIns="0" tIns="0" rIns="0" bIns="0" rtlCol="0">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800" u="none" strike="noStrike" kern="1200" cap="none" spc="300" normalizeH="0" baseline="0" noProof="0">
                <a:ln>
                  <a:noFill/>
                </a:ln>
                <a:solidFill>
                  <a:srgbClr val="2CB0CD"/>
                </a:solidFill>
                <a:effectLst/>
                <a:uLnTx/>
                <a:uFillTx/>
                <a:latin typeface="Source Sans 3" panose="020B0503040101010104" pitchFamily="34" charset="77"/>
                <a:cs typeface="Source Sans 3" panose="020B0404040101010104" pitchFamily="34" charset="77"/>
              </a:rPr>
              <a:t>SERVICENOW VAULT</a:t>
            </a:r>
          </a:p>
        </p:txBody>
      </p:sp>
      <p:sp>
        <p:nvSpPr>
          <p:cNvPr id="78" name="TextBox 77">
            <a:extLst>
              <a:ext uri="{FF2B5EF4-FFF2-40B4-BE49-F238E27FC236}">
                <a16:creationId xmlns:a16="http://schemas.microsoft.com/office/drawing/2014/main" id="{E3C15FD0-F451-B49D-1011-57EA5C1CC6D2}"/>
              </a:ext>
            </a:extLst>
          </p:cNvPr>
          <p:cNvSpPr txBox="1"/>
          <p:nvPr/>
        </p:nvSpPr>
        <p:spPr>
          <a:xfrm>
            <a:off x="8744230" y="2916008"/>
            <a:ext cx="2527300" cy="276999"/>
          </a:xfrm>
          <a:prstGeom prst="rect">
            <a:avLst/>
          </a:prstGeom>
          <a:noFill/>
        </p:spPr>
        <p:txBody>
          <a:bodyPr wrap="square" lIns="0" tIns="0" rIns="0" bIns="0" rtlCol="0">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800" u="none" strike="noStrike" kern="1200" cap="none" spc="300" normalizeH="0" baseline="0" noProof="0" dirty="0">
                <a:ln>
                  <a:noFill/>
                </a:ln>
                <a:solidFill>
                  <a:srgbClr val="2CB0CD"/>
                </a:solidFill>
                <a:effectLst/>
                <a:uLnTx/>
                <a:uFillTx/>
                <a:latin typeface="Source Sans 3" panose="020B0503040101010104" pitchFamily="34" charset="77"/>
                <a:cs typeface="Source Sans 3" panose="020B0404040101010104" pitchFamily="34" charset="77"/>
              </a:rPr>
              <a:t>AI GUARDIAN</a:t>
            </a:r>
          </a:p>
        </p:txBody>
      </p:sp>
      <p:grpSp>
        <p:nvGrpSpPr>
          <p:cNvPr id="108" name="Group 107">
            <a:extLst>
              <a:ext uri="{FF2B5EF4-FFF2-40B4-BE49-F238E27FC236}">
                <a16:creationId xmlns:a16="http://schemas.microsoft.com/office/drawing/2014/main" id="{4093DD81-DDF3-6343-DF0C-D5793676564D}"/>
              </a:ext>
            </a:extLst>
          </p:cNvPr>
          <p:cNvGrpSpPr/>
          <p:nvPr/>
        </p:nvGrpSpPr>
        <p:grpSpPr>
          <a:xfrm>
            <a:off x="3767265" y="2627033"/>
            <a:ext cx="4654294" cy="2734974"/>
            <a:chOff x="3767265" y="2399048"/>
            <a:chExt cx="4654294" cy="2734974"/>
          </a:xfrm>
        </p:grpSpPr>
        <p:pic>
          <p:nvPicPr>
            <p:cNvPr id="6" name="Picture 5">
              <a:extLst>
                <a:ext uri="{FF2B5EF4-FFF2-40B4-BE49-F238E27FC236}">
                  <a16:creationId xmlns:a16="http://schemas.microsoft.com/office/drawing/2014/main" id="{E9D19544-A352-C544-DC7F-974DCF296C51}"/>
                </a:ext>
              </a:extLst>
            </p:cNvPr>
            <p:cNvPicPr/>
            <p:nvPr/>
          </p:nvPicPr>
          <p:blipFill>
            <a:blip r:embed="rId9" cstate="print">
              <a:extLst>
                <a:ext uri="{28A0092B-C50C-407E-A947-70E740481C1C}">
                  <a14:useLocalDpi xmlns:a14="http://schemas.microsoft.com/office/drawing/2010/main"/>
                </a:ext>
              </a:extLst>
            </a:blip>
            <a:srcRect/>
            <a:stretch>
              <a:fillRect/>
            </a:stretch>
          </p:blipFill>
          <p:spPr>
            <a:xfrm>
              <a:off x="3778952" y="2432057"/>
              <a:ext cx="4642607" cy="2701965"/>
            </a:xfrm>
            <a:prstGeom prst="roundRect">
              <a:avLst>
                <a:gd name="adj" fmla="val 6958"/>
              </a:avLst>
            </a:prstGeom>
          </p:spPr>
        </p:pic>
        <p:grpSp>
          <p:nvGrpSpPr>
            <p:cNvPr id="106" name="Group 105">
              <a:extLst>
                <a:ext uri="{FF2B5EF4-FFF2-40B4-BE49-F238E27FC236}">
                  <a16:creationId xmlns:a16="http://schemas.microsoft.com/office/drawing/2014/main" id="{C4D3ADA7-3583-E882-74BC-CB046322FED2}"/>
                </a:ext>
              </a:extLst>
            </p:cNvPr>
            <p:cNvGrpSpPr/>
            <p:nvPr/>
          </p:nvGrpSpPr>
          <p:grpSpPr>
            <a:xfrm>
              <a:off x="3767265" y="2399048"/>
              <a:ext cx="4654294" cy="2703864"/>
              <a:chOff x="4251144" y="-2364111"/>
              <a:chExt cx="3377680" cy="1660967"/>
            </a:xfrm>
          </p:grpSpPr>
          <p:sp>
            <p:nvSpPr>
              <p:cNvPr id="103" name="frosted 3">
                <a:extLst>
                  <a:ext uri="{FF2B5EF4-FFF2-40B4-BE49-F238E27FC236}">
                    <a16:creationId xmlns:a16="http://schemas.microsoft.com/office/drawing/2014/main" id="{12E8F5DA-BF50-D5F1-C60D-A3F985AE57D4}"/>
                  </a:ext>
                </a:extLst>
              </p:cNvPr>
              <p:cNvSpPr/>
              <p:nvPr/>
            </p:nvSpPr>
            <p:spPr>
              <a:xfrm>
                <a:off x="4254913" y="-2364111"/>
                <a:ext cx="3373911" cy="1634067"/>
              </a:xfrm>
              <a:prstGeom prst="roundRect">
                <a:avLst>
                  <a:gd name="adj" fmla="val 12773"/>
                </a:avLst>
              </a:prstGeom>
              <a:gradFill flip="none" rotWithShape="1">
                <a:gsLst>
                  <a:gs pos="0">
                    <a:srgbClr val="2CB0CD">
                      <a:alpha val="9589"/>
                    </a:srgbClr>
                  </a:gs>
                  <a:gs pos="100000">
                    <a:srgbClr val="F2F2F4">
                      <a:alpha val="9647"/>
                    </a:srgbClr>
                  </a:gs>
                </a:gsLst>
                <a:lin ang="189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u="none" strike="noStrike" kern="1200" cap="none" spc="0" normalizeH="0" baseline="0" noProof="0">
                  <a:ln>
                    <a:noFill/>
                  </a:ln>
                  <a:solidFill>
                    <a:srgbClr val="000000"/>
                  </a:solidFill>
                  <a:effectLst/>
                  <a:uLnTx/>
                  <a:uFillTx/>
                  <a:latin typeface="Source Sans 3" panose="020B0504040101010104" pitchFamily="34" charset="77"/>
                  <a:ea typeface="+mn-ea"/>
                  <a:cs typeface="Source Sans 3" panose="020B0604020202020204" charset="0"/>
                </a:endParaRPr>
              </a:p>
            </p:txBody>
          </p:sp>
          <p:sp>
            <p:nvSpPr>
              <p:cNvPr id="104" name="Rounded Rectangle 103">
                <a:extLst>
                  <a:ext uri="{FF2B5EF4-FFF2-40B4-BE49-F238E27FC236}">
                    <a16:creationId xmlns:a16="http://schemas.microsoft.com/office/drawing/2014/main" id="{3D99DFD9-D368-F526-EF7A-1AB8282544E7}"/>
                  </a:ext>
                </a:extLst>
              </p:cNvPr>
              <p:cNvSpPr/>
              <p:nvPr/>
            </p:nvSpPr>
            <p:spPr>
              <a:xfrm>
                <a:off x="4251144" y="-2343783"/>
                <a:ext cx="3366751" cy="1640639"/>
              </a:xfrm>
              <a:prstGeom prst="roundRect">
                <a:avLst>
                  <a:gd name="adj" fmla="val 7406"/>
                </a:avLst>
              </a:prstGeom>
              <a:gradFill>
                <a:gsLst>
                  <a:gs pos="0">
                    <a:schemeClr val="tx2">
                      <a:lumMod val="75000"/>
                      <a:lumOff val="25000"/>
                    </a:schemeClr>
                  </a:gs>
                  <a:gs pos="30000">
                    <a:srgbClr val="040E3D"/>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1"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grpSp>
      <p:grpSp>
        <p:nvGrpSpPr>
          <p:cNvPr id="94" name="Group 93">
            <a:extLst>
              <a:ext uri="{FF2B5EF4-FFF2-40B4-BE49-F238E27FC236}">
                <a16:creationId xmlns:a16="http://schemas.microsoft.com/office/drawing/2014/main" id="{B6E3E985-1628-FBC7-A7C2-4696B4C09EF0}"/>
              </a:ext>
            </a:extLst>
          </p:cNvPr>
          <p:cNvGrpSpPr/>
          <p:nvPr/>
        </p:nvGrpSpPr>
        <p:grpSpPr>
          <a:xfrm rot="13944115">
            <a:off x="2886603" y="1968570"/>
            <a:ext cx="1495343" cy="1771284"/>
            <a:chOff x="8832999" y="-2958149"/>
            <a:chExt cx="1495343" cy="1771284"/>
          </a:xfrm>
        </p:grpSpPr>
        <p:sp>
          <p:nvSpPr>
            <p:cNvPr id="51" name="Oval 60">
              <a:extLst>
                <a:ext uri="{FF2B5EF4-FFF2-40B4-BE49-F238E27FC236}">
                  <a16:creationId xmlns:a16="http://schemas.microsoft.com/office/drawing/2014/main" id="{52DA9AEC-E95C-A35C-EA75-6BB64EE1E164}"/>
                </a:ext>
              </a:extLst>
            </p:cNvPr>
            <p:cNvSpPr/>
            <p:nvPr/>
          </p:nvSpPr>
          <p:spPr>
            <a:xfrm rot="9514601" flipH="1">
              <a:off x="8980013" y="-1882898"/>
              <a:ext cx="1348329" cy="264409"/>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1740229"/>
                <a:gd name="csY0" fmla="*/ 0 h 830999"/>
                <a:gd name="csX1" fmla="*/ 1740214 w 1740229"/>
                <a:gd name="csY1" fmla="*/ 830927 h 830999"/>
                <a:gd name="csX0" fmla="*/ 0 w 1679183"/>
                <a:gd name="csY0" fmla="*/ 0 h 745749"/>
                <a:gd name="csX1" fmla="*/ 1679166 w 1679183"/>
                <a:gd name="csY1" fmla="*/ 745663 h 745749"/>
                <a:gd name="csX0" fmla="*/ 0 w 1679194"/>
                <a:gd name="csY0" fmla="*/ 0 h 745713"/>
                <a:gd name="csX1" fmla="*/ 1679166 w 1679194"/>
                <a:gd name="csY1" fmla="*/ 745663 h 745713"/>
                <a:gd name="csX0" fmla="*/ 0 w 1652634"/>
                <a:gd name="csY0" fmla="*/ 0 h 599302"/>
                <a:gd name="csX1" fmla="*/ 1652604 w 1652634"/>
                <a:gd name="csY1" fmla="*/ 599240 h 599302"/>
                <a:gd name="csX0" fmla="*/ 0 w 1652626"/>
                <a:gd name="csY0" fmla="*/ 64239 h 663519"/>
                <a:gd name="csX1" fmla="*/ 1652604 w 1652626"/>
                <a:gd name="csY1" fmla="*/ 663479 h 663519"/>
                <a:gd name="csX0" fmla="*/ 0 w 1434794"/>
                <a:gd name="csY0" fmla="*/ 89270 h 371785"/>
                <a:gd name="csX1" fmla="*/ 1434760 w 1434794"/>
                <a:gd name="csY1" fmla="*/ 371723 h 371785"/>
                <a:gd name="csX0" fmla="*/ 0 w 1389196"/>
                <a:gd name="csY0" fmla="*/ 87350 h 387756"/>
                <a:gd name="csX1" fmla="*/ 1389158 w 1389196"/>
                <a:gd name="csY1" fmla="*/ 387696 h 387756"/>
                <a:gd name="csX0" fmla="*/ 0 w 1389179"/>
                <a:gd name="csY0" fmla="*/ 45770 h 346190"/>
                <a:gd name="csX1" fmla="*/ 1389158 w 1389179"/>
                <a:gd name="csY1" fmla="*/ 346116 h 346190"/>
                <a:gd name="csX0" fmla="*/ 0 w 1348329"/>
                <a:gd name="csY0" fmla="*/ 53188 h 264409"/>
                <a:gd name="csX1" fmla="*/ 1348307 w 1348329"/>
                <a:gd name="csY1" fmla="*/ 264320 h 264409"/>
              </a:gdLst>
              <a:ahLst/>
              <a:cxnLst>
                <a:cxn ang="0">
                  <a:pos x="csX0" y="csY0"/>
                </a:cxn>
                <a:cxn ang="0">
                  <a:pos x="csX1" y="csY1"/>
                </a:cxn>
              </a:cxnLst>
              <a:rect l="l" t="t" r="r" b="b"/>
              <a:pathLst>
                <a:path w="1348329" h="264409">
                  <a:moveTo>
                    <a:pt x="0" y="53188"/>
                  </a:moveTo>
                  <a:cubicBezTo>
                    <a:pt x="754357" y="-144082"/>
                    <a:pt x="1352595" y="271415"/>
                    <a:pt x="1348307" y="264320"/>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
          <p:nvSpPr>
            <p:cNvPr id="52" name="Oval 60">
              <a:extLst>
                <a:ext uri="{FF2B5EF4-FFF2-40B4-BE49-F238E27FC236}">
                  <a16:creationId xmlns:a16="http://schemas.microsoft.com/office/drawing/2014/main" id="{95BD187F-87E7-BA9E-5B5C-8FA5EA606900}"/>
                </a:ext>
              </a:extLst>
            </p:cNvPr>
            <p:cNvSpPr/>
            <p:nvPr/>
          </p:nvSpPr>
          <p:spPr>
            <a:xfrm rot="7547997" flipH="1">
              <a:off x="9572885" y="-2539979"/>
              <a:ext cx="1064354" cy="228014"/>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1740229"/>
                <a:gd name="csY0" fmla="*/ 0 h 830999"/>
                <a:gd name="csX1" fmla="*/ 1740214 w 1740229"/>
                <a:gd name="csY1" fmla="*/ 830927 h 830999"/>
                <a:gd name="csX0" fmla="*/ 0 w 1679183"/>
                <a:gd name="csY0" fmla="*/ 0 h 745749"/>
                <a:gd name="csX1" fmla="*/ 1679166 w 1679183"/>
                <a:gd name="csY1" fmla="*/ 745663 h 745749"/>
                <a:gd name="csX0" fmla="*/ 0 w 1679194"/>
                <a:gd name="csY0" fmla="*/ 0 h 745713"/>
                <a:gd name="csX1" fmla="*/ 1679166 w 1679194"/>
                <a:gd name="csY1" fmla="*/ 745663 h 745713"/>
                <a:gd name="csX0" fmla="*/ 0 w 1652634"/>
                <a:gd name="csY0" fmla="*/ 0 h 599302"/>
                <a:gd name="csX1" fmla="*/ 1652604 w 1652634"/>
                <a:gd name="csY1" fmla="*/ 599240 h 599302"/>
                <a:gd name="csX0" fmla="*/ 0 w 1652626"/>
                <a:gd name="csY0" fmla="*/ 64239 h 663519"/>
                <a:gd name="csX1" fmla="*/ 1652604 w 1652626"/>
                <a:gd name="csY1" fmla="*/ 663479 h 663519"/>
                <a:gd name="csX0" fmla="*/ 0 w 1434794"/>
                <a:gd name="csY0" fmla="*/ 89270 h 371785"/>
                <a:gd name="csX1" fmla="*/ 1434760 w 1434794"/>
                <a:gd name="csY1" fmla="*/ 371723 h 371785"/>
                <a:gd name="csX0" fmla="*/ 0 w 1389196"/>
                <a:gd name="csY0" fmla="*/ 87350 h 387756"/>
                <a:gd name="csX1" fmla="*/ 1389158 w 1389196"/>
                <a:gd name="csY1" fmla="*/ 387696 h 387756"/>
                <a:gd name="csX0" fmla="*/ 0 w 1389179"/>
                <a:gd name="csY0" fmla="*/ 45770 h 346190"/>
                <a:gd name="csX1" fmla="*/ 1389158 w 1389179"/>
                <a:gd name="csY1" fmla="*/ 346116 h 346190"/>
                <a:gd name="csX0" fmla="*/ 0 w 1348329"/>
                <a:gd name="csY0" fmla="*/ 53188 h 264409"/>
                <a:gd name="csX1" fmla="*/ 1348307 w 1348329"/>
                <a:gd name="csY1" fmla="*/ 264320 h 264409"/>
                <a:gd name="csX0" fmla="*/ 0 w 1284256"/>
                <a:gd name="csY0" fmla="*/ 40528 h 423594"/>
                <a:gd name="csX1" fmla="*/ 1284232 w 1284256"/>
                <a:gd name="csY1" fmla="*/ 423531 h 423594"/>
                <a:gd name="csX0" fmla="*/ 0 w 1276768"/>
                <a:gd name="csY0" fmla="*/ 38599 h 457700"/>
                <a:gd name="csX1" fmla="*/ 1276743 w 1276768"/>
                <a:gd name="csY1" fmla="*/ 457640 h 457700"/>
                <a:gd name="csX0" fmla="*/ 0 w 1276769"/>
                <a:gd name="csY0" fmla="*/ 35710 h 454812"/>
                <a:gd name="csX1" fmla="*/ 1276743 w 1276769"/>
                <a:gd name="csY1" fmla="*/ 454751 h 454812"/>
                <a:gd name="csX0" fmla="*/ 0 w 1289899"/>
                <a:gd name="csY0" fmla="*/ 37366 h 423616"/>
                <a:gd name="csX1" fmla="*/ 1289873 w 1289899"/>
                <a:gd name="csY1" fmla="*/ 423552 h 423616"/>
                <a:gd name="csX0" fmla="*/ 0 w 1362111"/>
                <a:gd name="csY0" fmla="*/ 50144 h 255723"/>
                <a:gd name="csX1" fmla="*/ 1362088 w 1362111"/>
                <a:gd name="csY1" fmla="*/ 255630 h 255723"/>
                <a:gd name="csX0" fmla="*/ 0 w 1362105"/>
                <a:gd name="csY0" fmla="*/ 23341 h 228941"/>
                <a:gd name="csX1" fmla="*/ 1362088 w 1362105"/>
                <a:gd name="csY1" fmla="*/ 228827 h 228941"/>
                <a:gd name="csX0" fmla="*/ 0 w 1360207"/>
                <a:gd name="csY0" fmla="*/ 22819 h 237548"/>
                <a:gd name="csX1" fmla="*/ 1360190 w 1360207"/>
                <a:gd name="csY1" fmla="*/ 237437 h 237548"/>
                <a:gd name="csX0" fmla="*/ 0 w 1360217"/>
                <a:gd name="csY0" fmla="*/ 13273 h 228014"/>
                <a:gd name="csX1" fmla="*/ 1360190 w 1360217"/>
                <a:gd name="csY1" fmla="*/ 227891 h 228014"/>
              </a:gdLst>
              <a:ahLst/>
              <a:cxnLst>
                <a:cxn ang="0">
                  <a:pos x="csX0" y="csY0"/>
                </a:cxn>
                <a:cxn ang="0">
                  <a:pos x="csX1" y="csY1"/>
                </a:cxn>
              </a:cxnLst>
              <a:rect l="l" t="t" r="r" b="b"/>
              <a:pathLst>
                <a:path w="1360217" h="228014">
                  <a:moveTo>
                    <a:pt x="0" y="13273"/>
                  </a:moveTo>
                  <a:cubicBezTo>
                    <a:pt x="873300" y="-65858"/>
                    <a:pt x="1364478" y="234986"/>
                    <a:pt x="1360190" y="227891"/>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grpSp>
        <p:nvGrpSpPr>
          <p:cNvPr id="83" name="Group 82">
            <a:extLst>
              <a:ext uri="{FF2B5EF4-FFF2-40B4-BE49-F238E27FC236}">
                <a16:creationId xmlns:a16="http://schemas.microsoft.com/office/drawing/2014/main" id="{E3C8912E-8959-DBEB-C112-BDA3F9185E5F}"/>
              </a:ext>
            </a:extLst>
          </p:cNvPr>
          <p:cNvGrpSpPr/>
          <p:nvPr/>
        </p:nvGrpSpPr>
        <p:grpSpPr>
          <a:xfrm rot="18800863">
            <a:off x="2225355" y="3989386"/>
            <a:ext cx="2040648" cy="2134430"/>
            <a:chOff x="1381536" y="-3249254"/>
            <a:chExt cx="2040648" cy="2134430"/>
          </a:xfrm>
        </p:grpSpPr>
        <p:grpSp>
          <p:nvGrpSpPr>
            <p:cNvPr id="82" name="Group 81">
              <a:extLst>
                <a:ext uri="{FF2B5EF4-FFF2-40B4-BE49-F238E27FC236}">
                  <a16:creationId xmlns:a16="http://schemas.microsoft.com/office/drawing/2014/main" id="{42720F41-FFFC-F467-AEF3-8D8DE0F2599C}"/>
                </a:ext>
              </a:extLst>
            </p:cNvPr>
            <p:cNvGrpSpPr/>
            <p:nvPr/>
          </p:nvGrpSpPr>
          <p:grpSpPr>
            <a:xfrm>
              <a:off x="1569122" y="-2532034"/>
              <a:ext cx="1853062" cy="1417210"/>
              <a:chOff x="1569122" y="-2532034"/>
              <a:chExt cx="1853062" cy="1417210"/>
            </a:xfrm>
          </p:grpSpPr>
          <p:sp>
            <p:nvSpPr>
              <p:cNvPr id="50" name="Oval 60">
                <a:extLst>
                  <a:ext uri="{FF2B5EF4-FFF2-40B4-BE49-F238E27FC236}">
                    <a16:creationId xmlns:a16="http://schemas.microsoft.com/office/drawing/2014/main" id="{E57C6AA3-3364-8EA1-5BB6-9A455C45FDB4}"/>
                  </a:ext>
                </a:extLst>
              </p:cNvPr>
              <p:cNvSpPr/>
              <p:nvPr/>
            </p:nvSpPr>
            <p:spPr>
              <a:xfrm rot="12650287">
                <a:off x="1569122" y="-2532034"/>
                <a:ext cx="1652626" cy="663519"/>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1740229"/>
                  <a:gd name="csY0" fmla="*/ 0 h 830999"/>
                  <a:gd name="csX1" fmla="*/ 1740214 w 1740229"/>
                  <a:gd name="csY1" fmla="*/ 830927 h 830999"/>
                  <a:gd name="csX0" fmla="*/ 0 w 1679183"/>
                  <a:gd name="csY0" fmla="*/ 0 h 745749"/>
                  <a:gd name="csX1" fmla="*/ 1679166 w 1679183"/>
                  <a:gd name="csY1" fmla="*/ 745663 h 745749"/>
                  <a:gd name="csX0" fmla="*/ 0 w 1679194"/>
                  <a:gd name="csY0" fmla="*/ 0 h 745713"/>
                  <a:gd name="csX1" fmla="*/ 1679166 w 1679194"/>
                  <a:gd name="csY1" fmla="*/ 745663 h 745713"/>
                  <a:gd name="csX0" fmla="*/ 0 w 1652634"/>
                  <a:gd name="csY0" fmla="*/ 0 h 599302"/>
                  <a:gd name="csX1" fmla="*/ 1652604 w 1652634"/>
                  <a:gd name="csY1" fmla="*/ 599240 h 599302"/>
                  <a:gd name="csX0" fmla="*/ 0 w 1652626"/>
                  <a:gd name="csY0" fmla="*/ 64239 h 663519"/>
                  <a:gd name="csX1" fmla="*/ 1652604 w 1652626"/>
                  <a:gd name="csY1" fmla="*/ 663479 h 663519"/>
                </a:gdLst>
                <a:ahLst/>
                <a:cxnLst>
                  <a:cxn ang="0">
                    <a:pos x="csX0" y="csY0"/>
                  </a:cxn>
                  <a:cxn ang="0">
                    <a:pos x="csX1" y="csY1"/>
                  </a:cxn>
                </a:cxnLst>
                <a:rect l="l" t="t" r="r" b="b"/>
                <a:pathLst>
                  <a:path w="1652626" h="663519">
                    <a:moveTo>
                      <a:pt x="0" y="64239"/>
                    </a:moveTo>
                    <a:cubicBezTo>
                      <a:pt x="1043165" y="-246349"/>
                      <a:pt x="1656892" y="670574"/>
                      <a:pt x="1652604" y="663479"/>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grpSp>
          <p:nvGrpSpPr>
            <p:cNvPr id="81" name="Group 80">
              <a:extLst>
                <a:ext uri="{FF2B5EF4-FFF2-40B4-BE49-F238E27FC236}">
                  <a16:creationId xmlns:a16="http://schemas.microsoft.com/office/drawing/2014/main" id="{539F9EA6-6A4C-C34C-03BB-05490ED40C53}"/>
                </a:ext>
              </a:extLst>
            </p:cNvPr>
            <p:cNvGrpSpPr/>
            <p:nvPr/>
          </p:nvGrpSpPr>
          <p:grpSpPr>
            <a:xfrm>
              <a:off x="1381536" y="-3249254"/>
              <a:ext cx="878309" cy="1646564"/>
              <a:chOff x="1553954" y="-3294121"/>
              <a:chExt cx="878309" cy="1646564"/>
            </a:xfrm>
          </p:grpSpPr>
          <p:grpSp>
            <p:nvGrpSpPr>
              <p:cNvPr id="80" name="Group 79">
                <a:extLst>
                  <a:ext uri="{FF2B5EF4-FFF2-40B4-BE49-F238E27FC236}">
                    <a16:creationId xmlns:a16="http://schemas.microsoft.com/office/drawing/2014/main" id="{1C97F5B8-9EF3-E3C2-D5CB-82867A831DE6}"/>
                  </a:ext>
                </a:extLst>
              </p:cNvPr>
              <p:cNvGrpSpPr/>
              <p:nvPr/>
            </p:nvGrpSpPr>
            <p:grpSpPr>
              <a:xfrm>
                <a:off x="1553954" y="-3294121"/>
                <a:ext cx="878309" cy="1468571"/>
                <a:chOff x="1553954" y="-3294121"/>
                <a:chExt cx="878309" cy="1468571"/>
              </a:xfrm>
            </p:grpSpPr>
            <p:sp>
              <p:nvSpPr>
                <p:cNvPr id="49" name="Oval 60">
                  <a:extLst>
                    <a:ext uri="{FF2B5EF4-FFF2-40B4-BE49-F238E27FC236}">
                      <a16:creationId xmlns:a16="http://schemas.microsoft.com/office/drawing/2014/main" id="{5BCF98A3-6645-943C-EA3A-AB876F81911A}"/>
                    </a:ext>
                  </a:extLst>
                </p:cNvPr>
                <p:cNvSpPr/>
                <p:nvPr/>
              </p:nvSpPr>
              <p:spPr>
                <a:xfrm rot="12650287">
                  <a:off x="1553954" y="-3294121"/>
                  <a:ext cx="878309" cy="1153171"/>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Lst>
                  <a:ahLst/>
                  <a:cxnLst>
                    <a:cxn ang="0">
                      <a:pos x="csX0" y="csY0"/>
                    </a:cxn>
                    <a:cxn ang="0">
                      <a:pos x="csX1" y="csY1"/>
                    </a:cxn>
                  </a:cxnLst>
                  <a:rect l="l" t="t" r="r" b="b"/>
                  <a:pathLst>
                    <a:path w="878309" h="1153171">
                      <a:moveTo>
                        <a:pt x="0" y="0"/>
                      </a:moveTo>
                      <a:cubicBezTo>
                        <a:pt x="883466" y="322311"/>
                        <a:pt x="882039" y="1160222"/>
                        <a:pt x="877751" y="1153127"/>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grpSp>
      </p:grpSp>
      <p:grpSp>
        <p:nvGrpSpPr>
          <p:cNvPr id="17" name="Group 16">
            <a:extLst>
              <a:ext uri="{FF2B5EF4-FFF2-40B4-BE49-F238E27FC236}">
                <a16:creationId xmlns:a16="http://schemas.microsoft.com/office/drawing/2014/main" id="{53CF0C9B-5389-195F-137F-D8FDAB89E7D0}"/>
              </a:ext>
            </a:extLst>
          </p:cNvPr>
          <p:cNvGrpSpPr/>
          <p:nvPr/>
        </p:nvGrpSpPr>
        <p:grpSpPr>
          <a:xfrm>
            <a:off x="4359470" y="3809561"/>
            <a:ext cx="3469884" cy="1264754"/>
            <a:chOff x="4359470" y="3117988"/>
            <a:chExt cx="3469884" cy="1264754"/>
          </a:xfrm>
        </p:grpSpPr>
        <p:sp>
          <p:nvSpPr>
            <p:cNvPr id="29" name="TextBox 28">
              <a:extLst>
                <a:ext uri="{FF2B5EF4-FFF2-40B4-BE49-F238E27FC236}">
                  <a16:creationId xmlns:a16="http://schemas.microsoft.com/office/drawing/2014/main" id="{1B243C78-0ECE-12F5-5BBB-E58396433034}"/>
                </a:ext>
              </a:extLst>
            </p:cNvPr>
            <p:cNvSpPr txBox="1"/>
            <p:nvPr/>
          </p:nvSpPr>
          <p:spPr>
            <a:xfrm>
              <a:off x="4359470" y="3833643"/>
              <a:ext cx="3469884" cy="549099"/>
            </a:xfrm>
            <a:prstGeom prst="rect">
              <a:avLst/>
            </a:prstGeom>
            <a:noFill/>
          </p:spPr>
          <p:txBody>
            <a:bodyPr wrap="square" lIns="0" tIns="0" rIns="0" bIns="0" rtlCol="0" anchor="t">
              <a:no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rgbClr val="FFFFFF"/>
                  </a:solidFill>
                  <a:effectLst/>
                  <a:uLnTx/>
                  <a:uFillTx/>
                  <a:latin typeface="Source Sans 3"/>
                  <a:ea typeface="+mn-ea"/>
                  <a:cs typeface="Source Sans 3" panose="020B0504040101010104" pitchFamily="34" charset="77"/>
                </a:rPr>
                <a:t>Connect strategy to execution. See performance, cost, and risk in one place.</a:t>
              </a:r>
            </a:p>
          </p:txBody>
        </p:sp>
        <p:sp>
          <p:nvSpPr>
            <p:cNvPr id="34" name="TextBox 33">
              <a:extLst>
                <a:ext uri="{FF2B5EF4-FFF2-40B4-BE49-F238E27FC236}">
                  <a16:creationId xmlns:a16="http://schemas.microsoft.com/office/drawing/2014/main" id="{EC4ADDE5-EB1E-E610-140E-145B0D82471C}"/>
                </a:ext>
              </a:extLst>
            </p:cNvPr>
            <p:cNvSpPr txBox="1"/>
            <p:nvPr/>
          </p:nvSpPr>
          <p:spPr>
            <a:xfrm>
              <a:off x="4359470" y="3117988"/>
              <a:ext cx="3469884" cy="952373"/>
            </a:xfrm>
            <a:prstGeom prst="rect">
              <a:avLst/>
            </a:prstGeom>
            <a:noFill/>
          </p:spPr>
          <p:txBody>
            <a:bodyPr wrap="square" lIns="0" tIns="0" rIns="0" bIns="0" rtlCol="0" anchor="t">
              <a:noAutofit/>
            </a:bodyPr>
            <a:lstStyle/>
            <a:p>
              <a:pPr marL="0" marR="0" lvl="0" indent="0" algn="ctr" defTabSz="456766" rtl="0" eaLnBrk="1" fontAlgn="auto" latinLnBrk="0" hangingPunct="1">
                <a:lnSpc>
                  <a:spcPct val="80000"/>
                </a:lnSpc>
                <a:spcBef>
                  <a:spcPts val="0"/>
                </a:spcBef>
                <a:spcAft>
                  <a:spcPts val="0"/>
                </a:spcAft>
                <a:buClrTx/>
                <a:buSzTx/>
                <a:buFontTx/>
                <a:buNone/>
                <a:tabLst/>
                <a:defRPr/>
              </a:pPr>
              <a: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t>Control, Manage, </a:t>
              </a:r>
              <a:b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br>
              <a:r>
                <a:rPr kumimoji="0" lang="en-US" sz="2200" b="1" u="none" strike="noStrike" kern="1200" cap="none" spc="0" normalizeH="0" baseline="0" noProof="0">
                  <a:ln>
                    <a:noFill/>
                  </a:ln>
                  <a:solidFill>
                    <a:srgbClr val="FFFFFF"/>
                  </a:solidFill>
                  <a:effectLst/>
                  <a:uLnTx/>
                  <a:uFillTx/>
                  <a:latin typeface="Source Sans 3" panose="020B0504040101010104" pitchFamily="34" charset="77"/>
                </a:rPr>
                <a:t>&amp; Measure your AI</a:t>
              </a:r>
            </a:p>
          </p:txBody>
        </p:sp>
      </p:grpSp>
      <p:sp>
        <p:nvSpPr>
          <p:cNvPr id="79" name="TextBox 78">
            <a:extLst>
              <a:ext uri="{FF2B5EF4-FFF2-40B4-BE49-F238E27FC236}">
                <a16:creationId xmlns:a16="http://schemas.microsoft.com/office/drawing/2014/main" id="{AEC27B9C-30FC-94ED-A7B9-6AC9D3D43CEF}"/>
              </a:ext>
            </a:extLst>
          </p:cNvPr>
          <p:cNvSpPr txBox="1"/>
          <p:nvPr/>
        </p:nvSpPr>
        <p:spPr>
          <a:xfrm>
            <a:off x="3713036" y="3259360"/>
            <a:ext cx="4760272" cy="430887"/>
          </a:xfrm>
          <a:prstGeom prst="rect">
            <a:avLst/>
          </a:prstGeom>
          <a:noFill/>
        </p:spPr>
        <p:txBody>
          <a:bodyPr wrap="square" lIns="0" tIns="0" rIns="0" bIns="0" rtlCol="0">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300" normalizeH="0" baseline="0" noProof="0">
                <a:ln>
                  <a:noFill/>
                </a:ln>
                <a:solidFill>
                  <a:srgbClr val="8FFFDB"/>
                </a:solidFill>
                <a:effectLst/>
                <a:uLnTx/>
                <a:uFillTx/>
                <a:latin typeface="Source Sans 3"/>
                <a:ea typeface="+mn-ea"/>
                <a:cs typeface="Source Sans 3" panose="020B0404040101010104" pitchFamily="34" charset="77"/>
              </a:rPr>
              <a:t>AI CONTROL TOWER</a:t>
            </a:r>
          </a:p>
        </p:txBody>
      </p:sp>
      <p:grpSp>
        <p:nvGrpSpPr>
          <p:cNvPr id="84" name="Group 83">
            <a:extLst>
              <a:ext uri="{FF2B5EF4-FFF2-40B4-BE49-F238E27FC236}">
                <a16:creationId xmlns:a16="http://schemas.microsoft.com/office/drawing/2014/main" id="{7BEE9267-2834-B1C9-85D3-906A7B6EA72E}"/>
              </a:ext>
            </a:extLst>
          </p:cNvPr>
          <p:cNvGrpSpPr/>
          <p:nvPr/>
        </p:nvGrpSpPr>
        <p:grpSpPr>
          <a:xfrm rot="18105153" flipH="1" flipV="1">
            <a:off x="7574368" y="1729243"/>
            <a:ext cx="2040648" cy="2134430"/>
            <a:chOff x="1381536" y="-3249254"/>
            <a:chExt cx="2040648" cy="2134430"/>
          </a:xfrm>
        </p:grpSpPr>
        <p:grpSp>
          <p:nvGrpSpPr>
            <p:cNvPr id="85" name="Group 84">
              <a:extLst>
                <a:ext uri="{FF2B5EF4-FFF2-40B4-BE49-F238E27FC236}">
                  <a16:creationId xmlns:a16="http://schemas.microsoft.com/office/drawing/2014/main" id="{8CDC86FC-C9C2-BE64-A13C-8FF1557BE31B}"/>
                </a:ext>
              </a:extLst>
            </p:cNvPr>
            <p:cNvGrpSpPr/>
            <p:nvPr/>
          </p:nvGrpSpPr>
          <p:grpSpPr>
            <a:xfrm>
              <a:off x="1569122" y="-2532034"/>
              <a:ext cx="1853062" cy="1417210"/>
              <a:chOff x="1569122" y="-2532034"/>
              <a:chExt cx="1853062" cy="1417210"/>
            </a:xfrm>
          </p:grpSpPr>
          <p:sp>
            <p:nvSpPr>
              <p:cNvPr id="91" name="Oval 60">
                <a:extLst>
                  <a:ext uri="{FF2B5EF4-FFF2-40B4-BE49-F238E27FC236}">
                    <a16:creationId xmlns:a16="http://schemas.microsoft.com/office/drawing/2014/main" id="{86890D92-E0F8-023D-D294-DFD43056DC49}"/>
                  </a:ext>
                </a:extLst>
              </p:cNvPr>
              <p:cNvSpPr/>
              <p:nvPr/>
            </p:nvSpPr>
            <p:spPr>
              <a:xfrm rot="12650287">
                <a:off x="1569122" y="-2532034"/>
                <a:ext cx="1652626" cy="663519"/>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1740229"/>
                  <a:gd name="csY0" fmla="*/ 0 h 830999"/>
                  <a:gd name="csX1" fmla="*/ 1740214 w 1740229"/>
                  <a:gd name="csY1" fmla="*/ 830927 h 830999"/>
                  <a:gd name="csX0" fmla="*/ 0 w 1679183"/>
                  <a:gd name="csY0" fmla="*/ 0 h 745749"/>
                  <a:gd name="csX1" fmla="*/ 1679166 w 1679183"/>
                  <a:gd name="csY1" fmla="*/ 745663 h 745749"/>
                  <a:gd name="csX0" fmla="*/ 0 w 1679194"/>
                  <a:gd name="csY0" fmla="*/ 0 h 745713"/>
                  <a:gd name="csX1" fmla="*/ 1679166 w 1679194"/>
                  <a:gd name="csY1" fmla="*/ 745663 h 745713"/>
                  <a:gd name="csX0" fmla="*/ 0 w 1652634"/>
                  <a:gd name="csY0" fmla="*/ 0 h 599302"/>
                  <a:gd name="csX1" fmla="*/ 1652604 w 1652634"/>
                  <a:gd name="csY1" fmla="*/ 599240 h 599302"/>
                  <a:gd name="csX0" fmla="*/ 0 w 1652626"/>
                  <a:gd name="csY0" fmla="*/ 64239 h 663519"/>
                  <a:gd name="csX1" fmla="*/ 1652604 w 1652626"/>
                  <a:gd name="csY1" fmla="*/ 663479 h 663519"/>
                </a:gdLst>
                <a:ahLst/>
                <a:cxnLst>
                  <a:cxn ang="0">
                    <a:pos x="csX0" y="csY0"/>
                  </a:cxn>
                  <a:cxn ang="0">
                    <a:pos x="csX1" y="csY1"/>
                  </a:cxn>
                </a:cxnLst>
                <a:rect l="l" t="t" r="r" b="b"/>
                <a:pathLst>
                  <a:path w="1652626" h="663519">
                    <a:moveTo>
                      <a:pt x="0" y="64239"/>
                    </a:moveTo>
                    <a:cubicBezTo>
                      <a:pt x="1043165" y="-246349"/>
                      <a:pt x="1656892" y="670574"/>
                      <a:pt x="1652604" y="663479"/>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grpSp>
          <p:nvGrpSpPr>
            <p:cNvPr id="86" name="Group 85">
              <a:extLst>
                <a:ext uri="{FF2B5EF4-FFF2-40B4-BE49-F238E27FC236}">
                  <a16:creationId xmlns:a16="http://schemas.microsoft.com/office/drawing/2014/main" id="{27D2F087-22E9-CC5C-2926-DB4F2ECADDE3}"/>
                </a:ext>
              </a:extLst>
            </p:cNvPr>
            <p:cNvGrpSpPr/>
            <p:nvPr/>
          </p:nvGrpSpPr>
          <p:grpSpPr>
            <a:xfrm>
              <a:off x="1381536" y="-3249254"/>
              <a:ext cx="878309" cy="1646564"/>
              <a:chOff x="1553954" y="-3294121"/>
              <a:chExt cx="878309" cy="1646564"/>
            </a:xfrm>
          </p:grpSpPr>
          <p:grpSp>
            <p:nvGrpSpPr>
              <p:cNvPr id="87" name="Group 86">
                <a:extLst>
                  <a:ext uri="{FF2B5EF4-FFF2-40B4-BE49-F238E27FC236}">
                    <a16:creationId xmlns:a16="http://schemas.microsoft.com/office/drawing/2014/main" id="{E98BC80B-6322-9E2D-D278-1452E849BDE0}"/>
                  </a:ext>
                </a:extLst>
              </p:cNvPr>
              <p:cNvGrpSpPr/>
              <p:nvPr/>
            </p:nvGrpSpPr>
            <p:grpSpPr>
              <a:xfrm>
                <a:off x="1553954" y="-3294121"/>
                <a:ext cx="878309" cy="1468571"/>
                <a:chOff x="1553954" y="-3294121"/>
                <a:chExt cx="878309" cy="1468571"/>
              </a:xfrm>
            </p:grpSpPr>
            <p:sp>
              <p:nvSpPr>
                <p:cNvPr id="89" name="Oval 60">
                  <a:extLst>
                    <a:ext uri="{FF2B5EF4-FFF2-40B4-BE49-F238E27FC236}">
                      <a16:creationId xmlns:a16="http://schemas.microsoft.com/office/drawing/2014/main" id="{D1E8D69D-2E89-F679-800E-FDD4FACC5EF9}"/>
                    </a:ext>
                  </a:extLst>
                </p:cNvPr>
                <p:cNvSpPr/>
                <p:nvPr/>
              </p:nvSpPr>
              <p:spPr>
                <a:xfrm rot="12650287">
                  <a:off x="1553954" y="-3294121"/>
                  <a:ext cx="878309" cy="1153171"/>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Lst>
                  <a:ahLst/>
                  <a:cxnLst>
                    <a:cxn ang="0">
                      <a:pos x="csX0" y="csY0"/>
                    </a:cxn>
                    <a:cxn ang="0">
                      <a:pos x="csX1" y="csY1"/>
                    </a:cxn>
                  </a:cxnLst>
                  <a:rect l="l" t="t" r="r" b="b"/>
                  <a:pathLst>
                    <a:path w="878309" h="1153171">
                      <a:moveTo>
                        <a:pt x="0" y="0"/>
                      </a:moveTo>
                      <a:cubicBezTo>
                        <a:pt x="883466" y="322311"/>
                        <a:pt x="882039" y="1160222"/>
                        <a:pt x="877751" y="1153127"/>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grpSp>
      </p:grpSp>
      <p:grpSp>
        <p:nvGrpSpPr>
          <p:cNvPr id="95" name="Group 94">
            <a:extLst>
              <a:ext uri="{FF2B5EF4-FFF2-40B4-BE49-F238E27FC236}">
                <a16:creationId xmlns:a16="http://schemas.microsoft.com/office/drawing/2014/main" id="{9B2C5D45-41D0-4FDE-E30E-561056867421}"/>
              </a:ext>
            </a:extLst>
          </p:cNvPr>
          <p:cNvGrpSpPr/>
          <p:nvPr/>
        </p:nvGrpSpPr>
        <p:grpSpPr>
          <a:xfrm rot="2173428">
            <a:off x="7846766" y="4055715"/>
            <a:ext cx="1495343" cy="1771284"/>
            <a:chOff x="8832999" y="-2958149"/>
            <a:chExt cx="1495343" cy="1771284"/>
          </a:xfrm>
        </p:grpSpPr>
        <p:sp>
          <p:nvSpPr>
            <p:cNvPr id="96" name="Oval 60">
              <a:extLst>
                <a:ext uri="{FF2B5EF4-FFF2-40B4-BE49-F238E27FC236}">
                  <a16:creationId xmlns:a16="http://schemas.microsoft.com/office/drawing/2014/main" id="{ED87A19D-A371-38DF-BA76-CB6F47567E59}"/>
                </a:ext>
              </a:extLst>
            </p:cNvPr>
            <p:cNvSpPr/>
            <p:nvPr/>
          </p:nvSpPr>
          <p:spPr>
            <a:xfrm rot="9514601" flipH="1">
              <a:off x="8980013" y="-1882898"/>
              <a:ext cx="1348329" cy="264409"/>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1740229"/>
                <a:gd name="csY0" fmla="*/ 0 h 830999"/>
                <a:gd name="csX1" fmla="*/ 1740214 w 1740229"/>
                <a:gd name="csY1" fmla="*/ 830927 h 830999"/>
                <a:gd name="csX0" fmla="*/ 0 w 1679183"/>
                <a:gd name="csY0" fmla="*/ 0 h 745749"/>
                <a:gd name="csX1" fmla="*/ 1679166 w 1679183"/>
                <a:gd name="csY1" fmla="*/ 745663 h 745749"/>
                <a:gd name="csX0" fmla="*/ 0 w 1679194"/>
                <a:gd name="csY0" fmla="*/ 0 h 745713"/>
                <a:gd name="csX1" fmla="*/ 1679166 w 1679194"/>
                <a:gd name="csY1" fmla="*/ 745663 h 745713"/>
                <a:gd name="csX0" fmla="*/ 0 w 1652634"/>
                <a:gd name="csY0" fmla="*/ 0 h 599302"/>
                <a:gd name="csX1" fmla="*/ 1652604 w 1652634"/>
                <a:gd name="csY1" fmla="*/ 599240 h 599302"/>
                <a:gd name="csX0" fmla="*/ 0 w 1652626"/>
                <a:gd name="csY0" fmla="*/ 64239 h 663519"/>
                <a:gd name="csX1" fmla="*/ 1652604 w 1652626"/>
                <a:gd name="csY1" fmla="*/ 663479 h 663519"/>
                <a:gd name="csX0" fmla="*/ 0 w 1434794"/>
                <a:gd name="csY0" fmla="*/ 89270 h 371785"/>
                <a:gd name="csX1" fmla="*/ 1434760 w 1434794"/>
                <a:gd name="csY1" fmla="*/ 371723 h 371785"/>
                <a:gd name="csX0" fmla="*/ 0 w 1389196"/>
                <a:gd name="csY0" fmla="*/ 87350 h 387756"/>
                <a:gd name="csX1" fmla="*/ 1389158 w 1389196"/>
                <a:gd name="csY1" fmla="*/ 387696 h 387756"/>
                <a:gd name="csX0" fmla="*/ 0 w 1389179"/>
                <a:gd name="csY0" fmla="*/ 45770 h 346190"/>
                <a:gd name="csX1" fmla="*/ 1389158 w 1389179"/>
                <a:gd name="csY1" fmla="*/ 346116 h 346190"/>
                <a:gd name="csX0" fmla="*/ 0 w 1348329"/>
                <a:gd name="csY0" fmla="*/ 53188 h 264409"/>
                <a:gd name="csX1" fmla="*/ 1348307 w 1348329"/>
                <a:gd name="csY1" fmla="*/ 264320 h 264409"/>
              </a:gdLst>
              <a:ahLst/>
              <a:cxnLst>
                <a:cxn ang="0">
                  <a:pos x="csX0" y="csY0"/>
                </a:cxn>
                <a:cxn ang="0">
                  <a:pos x="csX1" y="csY1"/>
                </a:cxn>
              </a:cxnLst>
              <a:rect l="l" t="t" r="r" b="b"/>
              <a:pathLst>
                <a:path w="1348329" h="264409">
                  <a:moveTo>
                    <a:pt x="0" y="53188"/>
                  </a:moveTo>
                  <a:cubicBezTo>
                    <a:pt x="754357" y="-144082"/>
                    <a:pt x="1352595" y="271415"/>
                    <a:pt x="1348307" y="264320"/>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
          <p:nvSpPr>
            <p:cNvPr id="97" name="Oval 60">
              <a:extLst>
                <a:ext uri="{FF2B5EF4-FFF2-40B4-BE49-F238E27FC236}">
                  <a16:creationId xmlns:a16="http://schemas.microsoft.com/office/drawing/2014/main" id="{2EF0F903-99FC-8155-E34C-40D48CDAAC18}"/>
                </a:ext>
              </a:extLst>
            </p:cNvPr>
            <p:cNvSpPr/>
            <p:nvPr/>
          </p:nvSpPr>
          <p:spPr>
            <a:xfrm rot="7547997" flipH="1">
              <a:off x="9572885" y="-2539979"/>
              <a:ext cx="1064354" cy="228014"/>
            </a:xfrm>
            <a:custGeom>
              <a:avLst/>
              <a:gdLst>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076"/>
                <a:gd name="csY0" fmla="*/ 1576929 h 3153858"/>
                <a:gd name="csX1" fmla="*/ 1831538 w 3663076"/>
                <a:gd name="csY1" fmla="*/ 0 h 3153858"/>
                <a:gd name="csX2" fmla="*/ 3663076 w 3663076"/>
                <a:gd name="csY2" fmla="*/ 1576929 h 3153858"/>
                <a:gd name="csX3" fmla="*/ 1831538 w 3663076"/>
                <a:gd name="csY3" fmla="*/ 3153858 h 3153858"/>
                <a:gd name="csX4" fmla="*/ 0 w 3663076"/>
                <a:gd name="csY4" fmla="*/ 1576929 h 3153858"/>
                <a:gd name="csX0" fmla="*/ 0 w 3663103"/>
                <a:gd name="csY0" fmla="*/ 1576929 h 3153858"/>
                <a:gd name="csX1" fmla="*/ 1831538 w 3663103"/>
                <a:gd name="csY1" fmla="*/ 0 h 3153858"/>
                <a:gd name="csX2" fmla="*/ 3663076 w 3663103"/>
                <a:gd name="csY2" fmla="*/ 1576929 h 3153858"/>
                <a:gd name="csX3" fmla="*/ 1831538 w 3663103"/>
                <a:gd name="csY3" fmla="*/ 3153858 h 3153858"/>
                <a:gd name="csX4" fmla="*/ 0 w 3663103"/>
                <a:gd name="csY4" fmla="*/ 1576929 h 3153858"/>
                <a:gd name="csX0" fmla="*/ 3 w 3663082"/>
                <a:gd name="csY0" fmla="*/ 1210074 h 2787003"/>
                <a:gd name="csX1" fmla="*/ 1820590 w 3663082"/>
                <a:gd name="csY1" fmla="*/ 0 h 2787003"/>
                <a:gd name="csX2" fmla="*/ 3663079 w 3663082"/>
                <a:gd name="csY2" fmla="*/ 1210074 h 2787003"/>
                <a:gd name="csX3" fmla="*/ 1831541 w 3663082"/>
                <a:gd name="csY3" fmla="*/ 2787003 h 2787003"/>
                <a:gd name="csX4" fmla="*/ 3 w 3663082"/>
                <a:gd name="csY4" fmla="*/ 1210074 h 2787003"/>
                <a:gd name="csX0" fmla="*/ 3466 w 3668830"/>
                <a:gd name="csY0" fmla="*/ 1555028 h 3131957"/>
                <a:gd name="csX1" fmla="*/ 1517428 w 3668830"/>
                <a:gd name="csY1" fmla="*/ 0 h 3131957"/>
                <a:gd name="csX2" fmla="*/ 3666542 w 3668830"/>
                <a:gd name="csY2" fmla="*/ 1555028 h 3131957"/>
                <a:gd name="csX3" fmla="*/ 1835004 w 3668830"/>
                <a:gd name="csY3" fmla="*/ 3131957 h 3131957"/>
                <a:gd name="csX4" fmla="*/ 3466 w 3668830"/>
                <a:gd name="csY4" fmla="*/ 1555028 h 3131957"/>
                <a:gd name="csX0" fmla="*/ 2836 w 3667707"/>
                <a:gd name="csY0" fmla="*/ 1555028 h 1905456"/>
                <a:gd name="csX1" fmla="*/ 1516798 w 3667707"/>
                <a:gd name="csY1" fmla="*/ 0 h 1905456"/>
                <a:gd name="csX2" fmla="*/ 3665912 w 3667707"/>
                <a:gd name="csY2" fmla="*/ 1555028 h 1905456"/>
                <a:gd name="csX3" fmla="*/ 1801522 w 3667707"/>
                <a:gd name="csY3" fmla="*/ 1905456 h 1905456"/>
                <a:gd name="csX4" fmla="*/ 2836 w 3667707"/>
                <a:gd name="csY4" fmla="*/ 1555028 h 1905456"/>
                <a:gd name="csX0" fmla="*/ 608 w 3663998"/>
                <a:gd name="csY0" fmla="*/ 1555028 h 3077202"/>
                <a:gd name="csX1" fmla="*/ 1514570 w 3663998"/>
                <a:gd name="csY1" fmla="*/ 0 h 3077202"/>
                <a:gd name="csX2" fmla="*/ 3663684 w 3663998"/>
                <a:gd name="csY2" fmla="*/ 1555028 h 3077202"/>
                <a:gd name="csX3" fmla="*/ 1640506 w 3663998"/>
                <a:gd name="csY3" fmla="*/ 3077202 h 3077202"/>
                <a:gd name="csX4" fmla="*/ 608 w 3663998"/>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0 w 3663390"/>
                <a:gd name="csY4" fmla="*/ 1555028 h 3077202"/>
                <a:gd name="csX0" fmla="*/ 0 w 3663390"/>
                <a:gd name="csY0" fmla="*/ 1555028 h 3077202"/>
                <a:gd name="csX1" fmla="*/ 1513962 w 3663390"/>
                <a:gd name="csY1" fmla="*/ 0 h 3077202"/>
                <a:gd name="csX2" fmla="*/ 3663076 w 3663390"/>
                <a:gd name="csY2" fmla="*/ 1555028 h 3077202"/>
                <a:gd name="csX3" fmla="*/ 1639898 w 3663390"/>
                <a:gd name="csY3" fmla="*/ 3077202 h 3077202"/>
                <a:gd name="csX4" fmla="*/ 91440 w 3663390"/>
                <a:gd name="csY4" fmla="*/ 1646468 h 3077202"/>
                <a:gd name="csX0" fmla="*/ 1422848 w 3572276"/>
                <a:gd name="csY0" fmla="*/ 0 h 3077202"/>
                <a:gd name="csX1" fmla="*/ 3571962 w 3572276"/>
                <a:gd name="csY1" fmla="*/ 1555028 h 3077202"/>
                <a:gd name="csX2" fmla="*/ 1548784 w 3572276"/>
                <a:gd name="csY2" fmla="*/ 3077202 h 3077202"/>
                <a:gd name="csX3" fmla="*/ 326 w 3572276"/>
                <a:gd name="csY3" fmla="*/ 1646468 h 3077202"/>
                <a:gd name="csX0" fmla="*/ 0 w 2149428"/>
                <a:gd name="csY0" fmla="*/ 0 h 3077202"/>
                <a:gd name="csX1" fmla="*/ 2149114 w 2149428"/>
                <a:gd name="csY1" fmla="*/ 1555028 h 3077202"/>
                <a:gd name="csX2" fmla="*/ 125936 w 2149428"/>
                <a:gd name="csY2" fmla="*/ 3077202 h 3077202"/>
                <a:gd name="csX0" fmla="*/ 0 w 2149114"/>
                <a:gd name="csY0" fmla="*/ 0 h 1555028"/>
                <a:gd name="csX1" fmla="*/ 2149114 w 2149114"/>
                <a:gd name="csY1" fmla="*/ 1555028 h 1555028"/>
                <a:gd name="csX0" fmla="*/ 0 w 1398977"/>
                <a:gd name="csY0" fmla="*/ 0 h 569447"/>
                <a:gd name="csX1" fmla="*/ 1398977 w 1398977"/>
                <a:gd name="csY1" fmla="*/ 569447 h 569447"/>
                <a:gd name="csX0" fmla="*/ 0 w 1398977"/>
                <a:gd name="csY0" fmla="*/ 0 h 569447"/>
                <a:gd name="csX1" fmla="*/ 1398977 w 1398977"/>
                <a:gd name="csY1" fmla="*/ 569447 h 569447"/>
                <a:gd name="csX0" fmla="*/ 0 w 1398977"/>
                <a:gd name="csY0" fmla="*/ 530 h 569977"/>
                <a:gd name="csX1" fmla="*/ 1398977 w 1398977"/>
                <a:gd name="csY1" fmla="*/ 569977 h 569977"/>
                <a:gd name="csX0" fmla="*/ 0 w 1169008"/>
                <a:gd name="csY0" fmla="*/ 539 h 564511"/>
                <a:gd name="csX1" fmla="*/ 1169008 w 1169008"/>
                <a:gd name="csY1" fmla="*/ 564511 h 564511"/>
                <a:gd name="csX0" fmla="*/ 0 w 1169008"/>
                <a:gd name="csY0" fmla="*/ 0 h 563972"/>
                <a:gd name="csX1" fmla="*/ 1169008 w 1169008"/>
                <a:gd name="csY1" fmla="*/ 563972 h 563972"/>
                <a:gd name="csX0" fmla="*/ 0 w 1169008"/>
                <a:gd name="csY0" fmla="*/ 0 h 563972"/>
                <a:gd name="csX1" fmla="*/ 1169008 w 1169008"/>
                <a:gd name="csY1" fmla="*/ 563972 h 563972"/>
                <a:gd name="csX0" fmla="*/ 0 w 1169036"/>
                <a:gd name="csY0" fmla="*/ 0 h 564058"/>
                <a:gd name="csX1" fmla="*/ 1169008 w 1169036"/>
                <a:gd name="csY1" fmla="*/ 563972 h 564058"/>
                <a:gd name="csX0" fmla="*/ 0 w 1169029"/>
                <a:gd name="csY0" fmla="*/ 0 h 564047"/>
                <a:gd name="csX1" fmla="*/ 1169008 w 1169029"/>
                <a:gd name="csY1" fmla="*/ 563972 h 564047"/>
                <a:gd name="csX0" fmla="*/ 0 w 1169034"/>
                <a:gd name="csY0" fmla="*/ 0 h 564050"/>
                <a:gd name="csX1" fmla="*/ 1169008 w 1169034"/>
                <a:gd name="csY1" fmla="*/ 563972 h 564050"/>
                <a:gd name="csX0" fmla="*/ 0 w 845832"/>
                <a:gd name="csY0" fmla="*/ 0 h 897658"/>
                <a:gd name="csX1" fmla="*/ 845764 w 845832"/>
                <a:gd name="csY1" fmla="*/ 897612 h 897658"/>
                <a:gd name="csX0" fmla="*/ 0 w 845820"/>
                <a:gd name="csY0" fmla="*/ 0 h 897660"/>
                <a:gd name="csX1" fmla="*/ 845764 w 845820"/>
                <a:gd name="csY1" fmla="*/ 897612 h 897660"/>
                <a:gd name="csX0" fmla="*/ 0 w 848033"/>
                <a:gd name="csY0" fmla="*/ 0 h 1237916"/>
                <a:gd name="csX1" fmla="*/ 847977 w 848033"/>
                <a:gd name="csY1" fmla="*/ 1237883 h 1237916"/>
                <a:gd name="csX0" fmla="*/ 0 w 849129"/>
                <a:gd name="csY0" fmla="*/ 0 h 1237923"/>
                <a:gd name="csX1" fmla="*/ 847977 w 849129"/>
                <a:gd name="csY1" fmla="*/ 1237883 h 1237923"/>
                <a:gd name="csX0" fmla="*/ 0 w 878309"/>
                <a:gd name="csY0" fmla="*/ 0 h 1153171"/>
                <a:gd name="csX1" fmla="*/ 877751 w 878309"/>
                <a:gd name="csY1" fmla="*/ 1153127 h 1153171"/>
                <a:gd name="csX0" fmla="*/ 0 w 1740229"/>
                <a:gd name="csY0" fmla="*/ 0 h 830999"/>
                <a:gd name="csX1" fmla="*/ 1740214 w 1740229"/>
                <a:gd name="csY1" fmla="*/ 830927 h 830999"/>
                <a:gd name="csX0" fmla="*/ 0 w 1679183"/>
                <a:gd name="csY0" fmla="*/ 0 h 745749"/>
                <a:gd name="csX1" fmla="*/ 1679166 w 1679183"/>
                <a:gd name="csY1" fmla="*/ 745663 h 745749"/>
                <a:gd name="csX0" fmla="*/ 0 w 1679194"/>
                <a:gd name="csY0" fmla="*/ 0 h 745713"/>
                <a:gd name="csX1" fmla="*/ 1679166 w 1679194"/>
                <a:gd name="csY1" fmla="*/ 745663 h 745713"/>
                <a:gd name="csX0" fmla="*/ 0 w 1652634"/>
                <a:gd name="csY0" fmla="*/ 0 h 599302"/>
                <a:gd name="csX1" fmla="*/ 1652604 w 1652634"/>
                <a:gd name="csY1" fmla="*/ 599240 h 599302"/>
                <a:gd name="csX0" fmla="*/ 0 w 1652626"/>
                <a:gd name="csY0" fmla="*/ 64239 h 663519"/>
                <a:gd name="csX1" fmla="*/ 1652604 w 1652626"/>
                <a:gd name="csY1" fmla="*/ 663479 h 663519"/>
                <a:gd name="csX0" fmla="*/ 0 w 1434794"/>
                <a:gd name="csY0" fmla="*/ 89270 h 371785"/>
                <a:gd name="csX1" fmla="*/ 1434760 w 1434794"/>
                <a:gd name="csY1" fmla="*/ 371723 h 371785"/>
                <a:gd name="csX0" fmla="*/ 0 w 1389196"/>
                <a:gd name="csY0" fmla="*/ 87350 h 387756"/>
                <a:gd name="csX1" fmla="*/ 1389158 w 1389196"/>
                <a:gd name="csY1" fmla="*/ 387696 h 387756"/>
                <a:gd name="csX0" fmla="*/ 0 w 1389179"/>
                <a:gd name="csY0" fmla="*/ 45770 h 346190"/>
                <a:gd name="csX1" fmla="*/ 1389158 w 1389179"/>
                <a:gd name="csY1" fmla="*/ 346116 h 346190"/>
                <a:gd name="csX0" fmla="*/ 0 w 1348329"/>
                <a:gd name="csY0" fmla="*/ 53188 h 264409"/>
                <a:gd name="csX1" fmla="*/ 1348307 w 1348329"/>
                <a:gd name="csY1" fmla="*/ 264320 h 264409"/>
                <a:gd name="csX0" fmla="*/ 0 w 1284256"/>
                <a:gd name="csY0" fmla="*/ 40528 h 423594"/>
                <a:gd name="csX1" fmla="*/ 1284232 w 1284256"/>
                <a:gd name="csY1" fmla="*/ 423531 h 423594"/>
                <a:gd name="csX0" fmla="*/ 0 w 1276768"/>
                <a:gd name="csY0" fmla="*/ 38599 h 457700"/>
                <a:gd name="csX1" fmla="*/ 1276743 w 1276768"/>
                <a:gd name="csY1" fmla="*/ 457640 h 457700"/>
                <a:gd name="csX0" fmla="*/ 0 w 1276769"/>
                <a:gd name="csY0" fmla="*/ 35710 h 454812"/>
                <a:gd name="csX1" fmla="*/ 1276743 w 1276769"/>
                <a:gd name="csY1" fmla="*/ 454751 h 454812"/>
                <a:gd name="csX0" fmla="*/ 0 w 1289899"/>
                <a:gd name="csY0" fmla="*/ 37366 h 423616"/>
                <a:gd name="csX1" fmla="*/ 1289873 w 1289899"/>
                <a:gd name="csY1" fmla="*/ 423552 h 423616"/>
                <a:gd name="csX0" fmla="*/ 0 w 1362111"/>
                <a:gd name="csY0" fmla="*/ 50144 h 255723"/>
                <a:gd name="csX1" fmla="*/ 1362088 w 1362111"/>
                <a:gd name="csY1" fmla="*/ 255630 h 255723"/>
                <a:gd name="csX0" fmla="*/ 0 w 1362105"/>
                <a:gd name="csY0" fmla="*/ 23341 h 228941"/>
                <a:gd name="csX1" fmla="*/ 1362088 w 1362105"/>
                <a:gd name="csY1" fmla="*/ 228827 h 228941"/>
                <a:gd name="csX0" fmla="*/ 0 w 1360207"/>
                <a:gd name="csY0" fmla="*/ 22819 h 237548"/>
                <a:gd name="csX1" fmla="*/ 1360190 w 1360207"/>
                <a:gd name="csY1" fmla="*/ 237437 h 237548"/>
                <a:gd name="csX0" fmla="*/ 0 w 1360217"/>
                <a:gd name="csY0" fmla="*/ 13273 h 228014"/>
                <a:gd name="csX1" fmla="*/ 1360190 w 1360217"/>
                <a:gd name="csY1" fmla="*/ 227891 h 228014"/>
              </a:gdLst>
              <a:ahLst/>
              <a:cxnLst>
                <a:cxn ang="0">
                  <a:pos x="csX0" y="csY0"/>
                </a:cxn>
                <a:cxn ang="0">
                  <a:pos x="csX1" y="csY1"/>
                </a:cxn>
              </a:cxnLst>
              <a:rect l="l" t="t" r="r" b="b"/>
              <a:pathLst>
                <a:path w="1360217" h="228014">
                  <a:moveTo>
                    <a:pt x="0" y="13273"/>
                  </a:moveTo>
                  <a:cubicBezTo>
                    <a:pt x="873300" y="-65858"/>
                    <a:pt x="1364478" y="234986"/>
                    <a:pt x="1360190" y="227891"/>
                  </a:cubicBezTo>
                </a:path>
              </a:pathLst>
            </a:custGeom>
            <a:noFill/>
            <a:ln w="15875">
              <a:gradFill>
                <a:gsLst>
                  <a:gs pos="0">
                    <a:schemeClr val="accent1">
                      <a:lumMod val="5000"/>
                      <a:lumOff val="95000"/>
                      <a:alpha val="34730"/>
                    </a:schemeClr>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grpSp>
      <p:sp>
        <p:nvSpPr>
          <p:cNvPr id="3" name="Footer Placeholder 4">
            <a:extLst>
              <a:ext uri="{FF2B5EF4-FFF2-40B4-BE49-F238E27FC236}">
                <a16:creationId xmlns:a16="http://schemas.microsoft.com/office/drawing/2014/main" id="{D4B711B7-D460-B5EE-D7B9-E1662102930B}"/>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109" name="Rectangle 108"/>
          <p:cNvSpPr/>
          <p:nvPr/>
        </p:nvSpPr>
        <p:spPr>
          <a:xfrm>
            <a:off x="566928" y="5952744"/>
            <a:ext cx="10991088" cy="356616"/>
          </a:xfrm>
          <a:prstGeom prst="rect">
            <a:avLst/>
          </a:prstGeom>
          <a:solidFill>
            <a:srgbClr val="040E3D"/>
          </a:solidFill>
          <a:ln w="8255">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Diagnostic check label"/>
          <p:cNvSpPr txBox="1"/>
          <p:nvPr/>
        </p:nvSpPr>
        <p:spPr>
          <a:xfrm>
            <a:off x="722376" y="5980176"/>
            <a:ext cx="1097280" cy="274320"/>
          </a:xfrm>
          <a:prstGeom prst="rect">
            <a:avLst/>
          </a:prstGeom>
          <a:noFill/>
        </p:spPr>
        <p:txBody>
          <a:bodyPr wrap="square" lIns="32004" tIns="0" rIns="32004" bIns="0" anchor="ctr">
            <a:spAutoFit/>
          </a:bodyPr>
          <a:lstStyle/>
          <a:p>
            <a:pPr algn="l"/>
            <a:r>
              <a:rPr sz="1100" b="1">
                <a:solidFill>
                  <a:srgbClr val="8FFFDB"/>
                </a:solidFill>
                <a:latin typeface="Source Sans 3"/>
              </a:rPr>
              <a:t>CHECK 03</a:t>
            </a:r>
          </a:p>
        </p:txBody>
      </p:sp>
      <p:sp>
        <p:nvSpPr>
          <p:cNvPr id="111" name="Diagnostic check caption"/>
          <p:cNvSpPr txBox="1"/>
          <p:nvPr/>
        </p:nvSpPr>
        <p:spPr>
          <a:xfrm>
            <a:off x="1764792" y="5980176"/>
            <a:ext cx="9509760" cy="274320"/>
          </a:xfrm>
          <a:prstGeom prst="rect">
            <a:avLst/>
          </a:prstGeom>
          <a:noFill/>
        </p:spPr>
        <p:txBody>
          <a:bodyPr wrap="square" lIns="32004" tIns="0" rIns="32004" bIns="0" anchor="ctr">
            <a:spAutoFit/>
          </a:bodyPr>
          <a:lstStyle/>
          <a:p>
            <a:pPr algn="l"/>
            <a:r>
              <a:rPr sz="1110" b="0">
                <a:solidFill>
                  <a:srgbClr val="F2F2F4"/>
                </a:solidFill>
                <a:latin typeface="Source Sans 3"/>
              </a:rPr>
              <a:t>Inventory · Risk tier · Authority · Explainability · Exceptions · Kill switch · Rollback</a:t>
            </a:r>
          </a:p>
        </p:txBody>
      </p:sp>
    </p:spTree>
    <p:extLst>
      <p:ext uri="{BB962C8B-B14F-4D97-AF65-F5344CB8AC3E}">
        <p14:creationId xmlns:p14="http://schemas.microsoft.com/office/powerpoint/2010/main" val="239693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1B14A4E-DD55-4E43-2289-F654E1D99606}"/>
            </a:ext>
          </a:extLst>
        </p:cNvPr>
        <p:cNvGrpSpPr/>
        <p:nvPr/>
      </p:nvGrpSpPr>
      <p:grpSpPr>
        <a:xfrm>
          <a:off x="0" y="0"/>
          <a:ext cx="0" cy="0"/>
          <a:chOff x="0" y="0"/>
          <a:chExt cx="0" cy="0"/>
        </a:xfrm>
      </p:grpSpPr>
      <p:grpSp>
        <p:nvGrpSpPr>
          <p:cNvPr id="26" name="circles">
            <a:extLst>
              <a:ext uri="{FF2B5EF4-FFF2-40B4-BE49-F238E27FC236}">
                <a16:creationId xmlns:a16="http://schemas.microsoft.com/office/drawing/2014/main" id="{B392FC7D-AA21-680E-25B6-45B073CB3A63}"/>
              </a:ext>
            </a:extLst>
          </p:cNvPr>
          <p:cNvGrpSpPr/>
          <p:nvPr/>
        </p:nvGrpSpPr>
        <p:grpSpPr>
          <a:xfrm>
            <a:off x="6134432" y="854144"/>
            <a:ext cx="5298703" cy="5316759"/>
            <a:chOff x="6135475" y="789500"/>
            <a:chExt cx="5298703" cy="5316759"/>
          </a:xfrm>
        </p:grpSpPr>
        <p:grpSp>
          <p:nvGrpSpPr>
            <p:cNvPr id="22" name="circle_02">
              <a:extLst>
                <a:ext uri="{FF2B5EF4-FFF2-40B4-BE49-F238E27FC236}">
                  <a16:creationId xmlns:a16="http://schemas.microsoft.com/office/drawing/2014/main" id="{C3479913-A57C-8853-10C0-552F79EB8C14}"/>
                </a:ext>
              </a:extLst>
            </p:cNvPr>
            <p:cNvGrpSpPr/>
            <p:nvPr/>
          </p:nvGrpSpPr>
          <p:grpSpPr>
            <a:xfrm>
              <a:off x="7155756" y="1790078"/>
              <a:ext cx="3316275" cy="3324104"/>
              <a:chOff x="7155756" y="1790078"/>
              <a:chExt cx="3316275" cy="3324104"/>
            </a:xfrm>
          </p:grpSpPr>
          <p:sp>
            <p:nvSpPr>
              <p:cNvPr id="357" name="Oval 356">
                <a:extLst>
                  <a:ext uri="{FF2B5EF4-FFF2-40B4-BE49-F238E27FC236}">
                    <a16:creationId xmlns:a16="http://schemas.microsoft.com/office/drawing/2014/main" id="{E5A881F7-6DF4-4021-DE34-6692A09B22F5}"/>
                  </a:ext>
                </a:extLst>
              </p:cNvPr>
              <p:cNvSpPr>
                <a:spLocks noChangeAspect="1"/>
              </p:cNvSpPr>
              <p:nvPr/>
            </p:nvSpPr>
            <p:spPr>
              <a:xfrm>
                <a:off x="7155756" y="1790078"/>
                <a:ext cx="3277844" cy="3277844"/>
              </a:xfrm>
              <a:prstGeom prst="ellipse">
                <a:avLst/>
              </a:prstGeom>
              <a:noFill/>
              <a:ln w="6350" cap="flat">
                <a:solidFill>
                  <a:schemeClr val="accent4">
                    <a:alpha val="59642"/>
                  </a:schemeClr>
                </a:solidFill>
                <a:prstDash val="solid"/>
                <a:miter/>
              </a:ln>
            </p:spPr>
            <p:txBody>
              <a:bodyPr rtlCol="0" anchor="ctr"/>
              <a:lstStyle/>
              <a:p>
                <a:endParaRPr lang="en-US" err="1"/>
              </a:p>
            </p:txBody>
          </p:sp>
          <p:sp>
            <p:nvSpPr>
              <p:cNvPr id="367" name="Oval 366">
                <a:extLst>
                  <a:ext uri="{FF2B5EF4-FFF2-40B4-BE49-F238E27FC236}">
                    <a16:creationId xmlns:a16="http://schemas.microsoft.com/office/drawing/2014/main" id="{B92A4102-E024-2052-7101-86CBB4770C01}"/>
                  </a:ext>
                </a:extLst>
              </p:cNvPr>
              <p:cNvSpPr>
                <a:spLocks noChangeAspect="1"/>
              </p:cNvSpPr>
              <p:nvPr/>
            </p:nvSpPr>
            <p:spPr>
              <a:xfrm>
                <a:off x="8759545" y="5025723"/>
                <a:ext cx="88459" cy="88459"/>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69" name="Oval 368">
                <a:extLst>
                  <a:ext uri="{FF2B5EF4-FFF2-40B4-BE49-F238E27FC236}">
                    <a16:creationId xmlns:a16="http://schemas.microsoft.com/office/drawing/2014/main" id="{DAB0245C-6A13-FB40-65EE-5C68A2597DF9}"/>
                  </a:ext>
                </a:extLst>
              </p:cNvPr>
              <p:cNvSpPr>
                <a:spLocks noChangeAspect="1"/>
              </p:cNvSpPr>
              <p:nvPr/>
            </p:nvSpPr>
            <p:spPr>
              <a:xfrm>
                <a:off x="7285835" y="2670382"/>
                <a:ext cx="80417" cy="80417"/>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71" name="Oval 370">
                <a:extLst>
                  <a:ext uri="{FF2B5EF4-FFF2-40B4-BE49-F238E27FC236}">
                    <a16:creationId xmlns:a16="http://schemas.microsoft.com/office/drawing/2014/main" id="{0B79960F-91C2-96F6-915E-21327A2A0452}"/>
                  </a:ext>
                </a:extLst>
              </p:cNvPr>
              <p:cNvSpPr>
                <a:spLocks noChangeAspect="1"/>
              </p:cNvSpPr>
              <p:nvPr/>
            </p:nvSpPr>
            <p:spPr>
              <a:xfrm>
                <a:off x="10398925" y="3464767"/>
                <a:ext cx="73106" cy="73106"/>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1" name="circle_01">
              <a:extLst>
                <a:ext uri="{FF2B5EF4-FFF2-40B4-BE49-F238E27FC236}">
                  <a16:creationId xmlns:a16="http://schemas.microsoft.com/office/drawing/2014/main" id="{856ADCB6-29FE-F5DA-CDE1-7E2A6E7269DE}"/>
                </a:ext>
              </a:extLst>
            </p:cNvPr>
            <p:cNvGrpSpPr/>
            <p:nvPr/>
          </p:nvGrpSpPr>
          <p:grpSpPr>
            <a:xfrm>
              <a:off x="7658717" y="2309594"/>
              <a:ext cx="2255367" cy="2238812"/>
              <a:chOff x="7658717" y="2309594"/>
              <a:chExt cx="2255367" cy="2238812"/>
            </a:xfrm>
          </p:grpSpPr>
          <p:sp>
            <p:nvSpPr>
              <p:cNvPr id="356" name="Oval 355">
                <a:extLst>
                  <a:ext uri="{FF2B5EF4-FFF2-40B4-BE49-F238E27FC236}">
                    <a16:creationId xmlns:a16="http://schemas.microsoft.com/office/drawing/2014/main" id="{5A7147A4-B1FA-DB2D-360D-7A7B594241FE}"/>
                  </a:ext>
                </a:extLst>
              </p:cNvPr>
              <p:cNvSpPr>
                <a:spLocks noChangeAspect="1"/>
              </p:cNvSpPr>
              <p:nvPr/>
            </p:nvSpPr>
            <p:spPr>
              <a:xfrm>
                <a:off x="7675272" y="2309594"/>
                <a:ext cx="2238812" cy="2238812"/>
              </a:xfrm>
              <a:prstGeom prst="ellipse">
                <a:avLst/>
              </a:prstGeom>
              <a:noFill/>
              <a:ln w="6350" cap="flat">
                <a:solidFill>
                  <a:schemeClr val="accent4">
                    <a:alpha val="59642"/>
                  </a:schemeClr>
                </a:solidFill>
                <a:prstDash val="solid"/>
                <a:miter/>
              </a:ln>
            </p:spPr>
            <p:txBody>
              <a:bodyPr rtlCol="0" anchor="ctr"/>
              <a:lstStyle/>
              <a:p>
                <a:endParaRPr lang="en-US" err="1"/>
              </a:p>
            </p:txBody>
          </p:sp>
          <p:sp>
            <p:nvSpPr>
              <p:cNvPr id="372" name="Oval 371">
                <a:extLst>
                  <a:ext uri="{FF2B5EF4-FFF2-40B4-BE49-F238E27FC236}">
                    <a16:creationId xmlns:a16="http://schemas.microsoft.com/office/drawing/2014/main" id="{63AF8AE1-BCDF-D895-CB9C-29FA7A622593}"/>
                  </a:ext>
                </a:extLst>
              </p:cNvPr>
              <p:cNvSpPr>
                <a:spLocks noChangeAspect="1"/>
              </p:cNvSpPr>
              <p:nvPr/>
            </p:nvSpPr>
            <p:spPr>
              <a:xfrm>
                <a:off x="9792772" y="2947189"/>
                <a:ext cx="59847" cy="59847"/>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73" name="Oval 372">
                <a:extLst>
                  <a:ext uri="{FF2B5EF4-FFF2-40B4-BE49-F238E27FC236}">
                    <a16:creationId xmlns:a16="http://schemas.microsoft.com/office/drawing/2014/main" id="{F3B0D514-CE6E-DD7B-C049-EC9684C948F2}"/>
                  </a:ext>
                </a:extLst>
              </p:cNvPr>
              <p:cNvSpPr>
                <a:spLocks noChangeAspect="1"/>
              </p:cNvSpPr>
              <p:nvPr/>
            </p:nvSpPr>
            <p:spPr>
              <a:xfrm>
                <a:off x="9373738" y="4331555"/>
                <a:ext cx="72415" cy="72415"/>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74" name="Oval 373">
                <a:extLst>
                  <a:ext uri="{FF2B5EF4-FFF2-40B4-BE49-F238E27FC236}">
                    <a16:creationId xmlns:a16="http://schemas.microsoft.com/office/drawing/2014/main" id="{21C5BF8E-749C-73B4-4275-D895A2416C26}"/>
                  </a:ext>
                </a:extLst>
              </p:cNvPr>
              <p:cNvSpPr>
                <a:spLocks noChangeAspect="1"/>
              </p:cNvSpPr>
              <p:nvPr/>
            </p:nvSpPr>
            <p:spPr>
              <a:xfrm>
                <a:off x="7658717" y="3248359"/>
                <a:ext cx="54406" cy="54406"/>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grpSp>
        <p:grpSp>
          <p:nvGrpSpPr>
            <p:cNvPr id="23" name="circle_03">
              <a:extLst>
                <a:ext uri="{FF2B5EF4-FFF2-40B4-BE49-F238E27FC236}">
                  <a16:creationId xmlns:a16="http://schemas.microsoft.com/office/drawing/2014/main" id="{047209E2-E470-E5E7-45D9-F6A11BFCD4D6}"/>
                </a:ext>
              </a:extLst>
            </p:cNvPr>
            <p:cNvGrpSpPr/>
            <p:nvPr/>
          </p:nvGrpSpPr>
          <p:grpSpPr>
            <a:xfrm>
              <a:off x="6613273" y="1247595"/>
              <a:ext cx="4362810" cy="4362810"/>
              <a:chOff x="6613273" y="1247595"/>
              <a:chExt cx="4362810" cy="4362810"/>
            </a:xfrm>
          </p:grpSpPr>
          <p:sp>
            <p:nvSpPr>
              <p:cNvPr id="358" name="Oval 357">
                <a:extLst>
                  <a:ext uri="{FF2B5EF4-FFF2-40B4-BE49-F238E27FC236}">
                    <a16:creationId xmlns:a16="http://schemas.microsoft.com/office/drawing/2014/main" id="{65AAB8D9-D2EE-FF33-4861-4168E1ADE1C5}"/>
                  </a:ext>
                </a:extLst>
              </p:cNvPr>
              <p:cNvSpPr>
                <a:spLocks noChangeAspect="1"/>
              </p:cNvSpPr>
              <p:nvPr/>
            </p:nvSpPr>
            <p:spPr>
              <a:xfrm>
                <a:off x="6613273" y="1247595"/>
                <a:ext cx="4362810" cy="4362810"/>
              </a:xfrm>
              <a:prstGeom prst="ellipse">
                <a:avLst/>
              </a:prstGeom>
              <a:noFill/>
              <a:ln w="6350" cap="flat">
                <a:solidFill>
                  <a:schemeClr val="accent4">
                    <a:alpha val="59642"/>
                  </a:schemeClr>
                </a:solidFill>
                <a:prstDash val="solid"/>
                <a:miter/>
              </a:ln>
            </p:spPr>
            <p:txBody>
              <a:bodyPr rtlCol="0" anchor="ctr"/>
              <a:lstStyle/>
              <a:p>
                <a:endParaRPr lang="en-US"/>
              </a:p>
            </p:txBody>
          </p:sp>
          <p:sp>
            <p:nvSpPr>
              <p:cNvPr id="361" name="Oval 360">
                <a:extLst>
                  <a:ext uri="{FF2B5EF4-FFF2-40B4-BE49-F238E27FC236}">
                    <a16:creationId xmlns:a16="http://schemas.microsoft.com/office/drawing/2014/main" id="{DD8EAB99-7DC5-2B12-6274-618A5FA9558E}"/>
                  </a:ext>
                </a:extLst>
              </p:cNvPr>
              <p:cNvSpPr>
                <a:spLocks noChangeAspect="1"/>
              </p:cNvSpPr>
              <p:nvPr/>
            </p:nvSpPr>
            <p:spPr>
              <a:xfrm>
                <a:off x="6847212" y="2257959"/>
                <a:ext cx="142465" cy="142465"/>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63" name="Oval 362">
                <a:extLst>
                  <a:ext uri="{FF2B5EF4-FFF2-40B4-BE49-F238E27FC236}">
                    <a16:creationId xmlns:a16="http://schemas.microsoft.com/office/drawing/2014/main" id="{4296E62A-49FF-31B4-672B-2B5DAB7EDA3C}"/>
                  </a:ext>
                </a:extLst>
              </p:cNvPr>
              <p:cNvSpPr>
                <a:spLocks noChangeAspect="1"/>
              </p:cNvSpPr>
              <p:nvPr/>
            </p:nvSpPr>
            <p:spPr>
              <a:xfrm>
                <a:off x="10679544" y="2362530"/>
                <a:ext cx="107036" cy="107036"/>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grpSp>
        <p:grpSp>
          <p:nvGrpSpPr>
            <p:cNvPr id="24" name="circle_04">
              <a:extLst>
                <a:ext uri="{FF2B5EF4-FFF2-40B4-BE49-F238E27FC236}">
                  <a16:creationId xmlns:a16="http://schemas.microsoft.com/office/drawing/2014/main" id="{55AE86BF-F9F7-9A3F-CC57-3AF6DA444789}"/>
                </a:ext>
              </a:extLst>
            </p:cNvPr>
            <p:cNvGrpSpPr/>
            <p:nvPr/>
          </p:nvGrpSpPr>
          <p:grpSpPr>
            <a:xfrm>
              <a:off x="6135475" y="789500"/>
              <a:ext cx="5298703" cy="5316759"/>
              <a:chOff x="6135475" y="789500"/>
              <a:chExt cx="5298703" cy="5316759"/>
            </a:xfrm>
          </p:grpSpPr>
          <p:sp>
            <p:nvSpPr>
              <p:cNvPr id="359" name="Oval 358">
                <a:extLst>
                  <a:ext uri="{FF2B5EF4-FFF2-40B4-BE49-F238E27FC236}">
                    <a16:creationId xmlns:a16="http://schemas.microsoft.com/office/drawing/2014/main" id="{060E209F-B2F5-FBBB-37A3-A36A120FD20D}"/>
                  </a:ext>
                </a:extLst>
              </p:cNvPr>
              <p:cNvSpPr>
                <a:spLocks noChangeAspect="1"/>
              </p:cNvSpPr>
              <p:nvPr/>
            </p:nvSpPr>
            <p:spPr>
              <a:xfrm>
                <a:off x="6155178" y="789500"/>
                <a:ext cx="5279000" cy="5279000"/>
              </a:xfrm>
              <a:prstGeom prst="ellipse">
                <a:avLst/>
              </a:prstGeom>
              <a:noFill/>
              <a:ln w="6350" cap="flat">
                <a:solidFill>
                  <a:schemeClr val="accent4">
                    <a:alpha val="59642"/>
                  </a:schemeClr>
                </a:solidFill>
                <a:prstDash val="solid"/>
                <a:miter/>
              </a:ln>
            </p:spPr>
            <p:txBody>
              <a:bodyPr rtlCol="0" anchor="ctr"/>
              <a:lstStyle/>
              <a:p>
                <a:endParaRPr lang="en-US" err="1"/>
              </a:p>
            </p:txBody>
          </p:sp>
          <p:sp>
            <p:nvSpPr>
              <p:cNvPr id="362" name="Oval 361">
                <a:extLst>
                  <a:ext uri="{FF2B5EF4-FFF2-40B4-BE49-F238E27FC236}">
                    <a16:creationId xmlns:a16="http://schemas.microsoft.com/office/drawing/2014/main" id="{E17ABFD5-388F-4A6F-9531-51824D12AD17}"/>
                  </a:ext>
                </a:extLst>
              </p:cNvPr>
              <p:cNvSpPr>
                <a:spLocks noChangeAspect="1"/>
              </p:cNvSpPr>
              <p:nvPr/>
            </p:nvSpPr>
            <p:spPr>
              <a:xfrm>
                <a:off x="6135475" y="3771075"/>
                <a:ext cx="107036" cy="107036"/>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64" name="Oval 363">
                <a:extLst>
                  <a:ext uri="{FF2B5EF4-FFF2-40B4-BE49-F238E27FC236}">
                    <a16:creationId xmlns:a16="http://schemas.microsoft.com/office/drawing/2014/main" id="{99266DA9-F3CC-82CA-F9AA-F0015CEAB92A}"/>
                  </a:ext>
                </a:extLst>
              </p:cNvPr>
              <p:cNvSpPr>
                <a:spLocks noChangeAspect="1"/>
              </p:cNvSpPr>
              <p:nvPr/>
            </p:nvSpPr>
            <p:spPr>
              <a:xfrm>
                <a:off x="6920039" y="1495787"/>
                <a:ext cx="80417" cy="80417"/>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65" name="Oval 364">
                <a:extLst>
                  <a:ext uri="{FF2B5EF4-FFF2-40B4-BE49-F238E27FC236}">
                    <a16:creationId xmlns:a16="http://schemas.microsoft.com/office/drawing/2014/main" id="{79756003-7BAA-B468-BF1E-271A26FC1F34}"/>
                  </a:ext>
                </a:extLst>
              </p:cNvPr>
              <p:cNvSpPr>
                <a:spLocks noChangeAspect="1"/>
              </p:cNvSpPr>
              <p:nvPr/>
            </p:nvSpPr>
            <p:spPr>
              <a:xfrm>
                <a:off x="10428545" y="1332903"/>
                <a:ext cx="97305" cy="97305"/>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66" name="Oval 365">
                <a:extLst>
                  <a:ext uri="{FF2B5EF4-FFF2-40B4-BE49-F238E27FC236}">
                    <a16:creationId xmlns:a16="http://schemas.microsoft.com/office/drawing/2014/main" id="{C5F04A9A-6BA2-7042-A7AC-5E5FC616D499}"/>
                  </a:ext>
                </a:extLst>
              </p:cNvPr>
              <p:cNvSpPr>
                <a:spLocks noChangeAspect="1"/>
              </p:cNvSpPr>
              <p:nvPr/>
            </p:nvSpPr>
            <p:spPr>
              <a:xfrm>
                <a:off x="9183028" y="5976745"/>
                <a:ext cx="129514" cy="129514"/>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68" name="Oval 367">
                <a:extLst>
                  <a:ext uri="{FF2B5EF4-FFF2-40B4-BE49-F238E27FC236}">
                    <a16:creationId xmlns:a16="http://schemas.microsoft.com/office/drawing/2014/main" id="{5D7FD278-1577-4C8F-73E3-861376E59F3A}"/>
                  </a:ext>
                </a:extLst>
              </p:cNvPr>
              <p:cNvSpPr>
                <a:spLocks noChangeAspect="1"/>
              </p:cNvSpPr>
              <p:nvPr/>
            </p:nvSpPr>
            <p:spPr>
              <a:xfrm>
                <a:off x="11359880" y="2952945"/>
                <a:ext cx="66460" cy="66460"/>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sp>
            <p:nvSpPr>
              <p:cNvPr id="370" name="Oval 369">
                <a:extLst>
                  <a:ext uri="{FF2B5EF4-FFF2-40B4-BE49-F238E27FC236}">
                    <a16:creationId xmlns:a16="http://schemas.microsoft.com/office/drawing/2014/main" id="{BCEBE5B4-874D-5467-A24F-D4F5A3E63D62}"/>
                  </a:ext>
                </a:extLst>
              </p:cNvPr>
              <p:cNvSpPr>
                <a:spLocks noChangeAspect="1"/>
              </p:cNvSpPr>
              <p:nvPr/>
            </p:nvSpPr>
            <p:spPr>
              <a:xfrm>
                <a:off x="7252794" y="5566622"/>
                <a:ext cx="80417" cy="80417"/>
              </a:xfrm>
              <a:prstGeom prst="ellipse">
                <a:avLst/>
              </a:prstGeom>
              <a:solidFill>
                <a:srgbClr val="2CB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p>
            </p:txBody>
          </p:sp>
        </p:grpSp>
      </p:grpSp>
      <p:grpSp>
        <p:nvGrpSpPr>
          <p:cNvPr id="28" name="GROUPS">
            <a:extLst>
              <a:ext uri="{FF2B5EF4-FFF2-40B4-BE49-F238E27FC236}">
                <a16:creationId xmlns:a16="http://schemas.microsoft.com/office/drawing/2014/main" id="{861A07F9-574A-2AF3-5FE9-71FC86E19440}"/>
              </a:ext>
            </a:extLst>
          </p:cNvPr>
          <p:cNvGrpSpPr/>
          <p:nvPr/>
        </p:nvGrpSpPr>
        <p:grpSpPr>
          <a:xfrm>
            <a:off x="5878330" y="614298"/>
            <a:ext cx="5539265" cy="5221342"/>
            <a:chOff x="5988606" y="752353"/>
            <a:chExt cx="5539265" cy="5221342"/>
          </a:xfrm>
        </p:grpSpPr>
        <p:grpSp>
          <p:nvGrpSpPr>
            <p:cNvPr id="376" name="knowledge-graph">
              <a:extLst>
                <a:ext uri="{FF2B5EF4-FFF2-40B4-BE49-F238E27FC236}">
                  <a16:creationId xmlns:a16="http://schemas.microsoft.com/office/drawing/2014/main" id="{12C436D7-6B0E-5ABB-EA9E-12715190BF0E}"/>
                </a:ext>
              </a:extLst>
            </p:cNvPr>
            <p:cNvGrpSpPr/>
            <p:nvPr/>
          </p:nvGrpSpPr>
          <p:grpSpPr>
            <a:xfrm>
              <a:off x="8272467" y="2906789"/>
              <a:ext cx="1044423" cy="1044423"/>
              <a:chOff x="7955946" y="2906789"/>
              <a:chExt cx="1044423" cy="1044423"/>
            </a:xfrm>
          </p:grpSpPr>
          <p:sp>
            <p:nvSpPr>
              <p:cNvPr id="377" name="Oval 376">
                <a:extLst>
                  <a:ext uri="{FF2B5EF4-FFF2-40B4-BE49-F238E27FC236}">
                    <a16:creationId xmlns:a16="http://schemas.microsoft.com/office/drawing/2014/main" id="{43F5001D-0B82-ADD6-36AC-0C4FAFD13A08}"/>
                  </a:ext>
                </a:extLst>
              </p:cNvPr>
              <p:cNvSpPr>
                <a:spLocks noChangeAspect="1"/>
              </p:cNvSpPr>
              <p:nvPr/>
            </p:nvSpPr>
            <p:spPr>
              <a:xfrm>
                <a:off x="7955946" y="2906789"/>
                <a:ext cx="1044423" cy="1044423"/>
              </a:xfrm>
              <a:prstGeom prst="ellipse">
                <a:avLst/>
              </a:prstGeom>
              <a:noFill/>
              <a:ln w="25400">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8" name="TextBox 377">
                <a:extLst>
                  <a:ext uri="{FF2B5EF4-FFF2-40B4-BE49-F238E27FC236}">
                    <a16:creationId xmlns:a16="http://schemas.microsoft.com/office/drawing/2014/main" id="{CF00A92B-F8CF-6BB4-BACB-B1960ADE8A7D}"/>
                  </a:ext>
                </a:extLst>
              </p:cNvPr>
              <p:cNvSpPr txBox="1"/>
              <p:nvPr/>
            </p:nvSpPr>
            <p:spPr>
              <a:xfrm>
                <a:off x="8009528" y="3259724"/>
                <a:ext cx="937258" cy="338554"/>
              </a:xfrm>
              <a:prstGeom prst="rect">
                <a:avLst/>
              </a:prstGeom>
              <a:noFill/>
            </p:spPr>
            <p:txBody>
              <a:bodyPr wrap="square" lIns="0" tIns="0" rIns="0" bIns="0" rtlCol="0" anchor="ctr">
                <a:spAutoFit/>
              </a:bodyPr>
              <a:lstStyle/>
              <a:p>
                <a:pPr algn="ctr"/>
                <a:r>
                  <a:rPr lang="en-US" sz="1100" b="1">
                    <a:solidFill>
                      <a:schemeClr val="accent1"/>
                    </a:solidFill>
                  </a:rPr>
                  <a:t>Knowledge Graph</a:t>
                </a:r>
              </a:p>
            </p:txBody>
          </p:sp>
        </p:grpSp>
        <p:grpSp>
          <p:nvGrpSpPr>
            <p:cNvPr id="20" name="SERVICES">
              <a:extLst>
                <a:ext uri="{FF2B5EF4-FFF2-40B4-BE49-F238E27FC236}">
                  <a16:creationId xmlns:a16="http://schemas.microsoft.com/office/drawing/2014/main" id="{EA2AB44B-9260-CE56-10B8-8BDCCBCBC15E}"/>
                </a:ext>
              </a:extLst>
            </p:cNvPr>
            <p:cNvGrpSpPr/>
            <p:nvPr/>
          </p:nvGrpSpPr>
          <p:grpSpPr>
            <a:xfrm>
              <a:off x="9180441" y="3780258"/>
              <a:ext cx="2347430" cy="1862038"/>
              <a:chOff x="9180441" y="3780258"/>
              <a:chExt cx="2347430" cy="1862038"/>
            </a:xfrm>
          </p:grpSpPr>
          <p:grpSp>
            <p:nvGrpSpPr>
              <p:cNvPr id="382" name="software-licenses">
                <a:extLst>
                  <a:ext uri="{FF2B5EF4-FFF2-40B4-BE49-F238E27FC236}">
                    <a16:creationId xmlns:a16="http://schemas.microsoft.com/office/drawing/2014/main" id="{6139B076-E309-5402-94D5-2A0A3BA43D2D}"/>
                  </a:ext>
                </a:extLst>
              </p:cNvPr>
              <p:cNvGrpSpPr/>
              <p:nvPr/>
            </p:nvGrpSpPr>
            <p:grpSpPr>
              <a:xfrm>
                <a:off x="10700244" y="4343338"/>
                <a:ext cx="827627" cy="774772"/>
                <a:chOff x="10519390" y="4218688"/>
                <a:chExt cx="827627" cy="774772"/>
              </a:xfrm>
            </p:grpSpPr>
            <p:sp>
              <p:nvSpPr>
                <p:cNvPr id="383" name="software-circle">
                  <a:extLst>
                    <a:ext uri="{FF2B5EF4-FFF2-40B4-BE49-F238E27FC236}">
                      <a16:creationId xmlns:a16="http://schemas.microsoft.com/office/drawing/2014/main" id="{492083D2-5720-54F0-70B1-FAFB8B4E4F91}"/>
                    </a:ext>
                  </a:extLst>
                </p:cNvPr>
                <p:cNvSpPr>
                  <a:spLocks noChangeAspect="1"/>
                </p:cNvSpPr>
                <p:nvPr/>
              </p:nvSpPr>
              <p:spPr>
                <a:xfrm>
                  <a:off x="10519390" y="4218688"/>
                  <a:ext cx="774772" cy="774772"/>
                </a:xfrm>
                <a:prstGeom prst="ellipse">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384" name="software-text">
                  <a:extLst>
                    <a:ext uri="{FF2B5EF4-FFF2-40B4-BE49-F238E27FC236}">
                      <a16:creationId xmlns:a16="http://schemas.microsoft.com/office/drawing/2014/main" id="{B3C8EB6B-C7F0-87CE-3954-6A096F7C2EC7}"/>
                    </a:ext>
                  </a:extLst>
                </p:cNvPr>
                <p:cNvSpPr txBox="1"/>
                <p:nvPr/>
              </p:nvSpPr>
              <p:spPr>
                <a:xfrm>
                  <a:off x="10569189" y="4457237"/>
                  <a:ext cx="777828" cy="369332"/>
                </a:xfrm>
                <a:prstGeom prst="rect">
                  <a:avLst/>
                </a:prstGeom>
                <a:noFill/>
              </p:spPr>
              <p:txBody>
                <a:bodyPr wrap="square">
                  <a:spAutoFit/>
                </a:bodyPr>
                <a:lstStyle/>
                <a:p>
                  <a:pPr algn="ctr"/>
                  <a:r>
                    <a:rPr lang="en-US" sz="900">
                      <a:solidFill>
                        <a:schemeClr val="bg1"/>
                      </a:solidFill>
                    </a:rPr>
                    <a:t>Software Licenses</a:t>
                  </a:r>
                </a:p>
              </p:txBody>
            </p:sp>
          </p:grpSp>
          <p:grpSp>
            <p:nvGrpSpPr>
              <p:cNvPr id="385" name="SERVICES">
                <a:extLst>
                  <a:ext uri="{FF2B5EF4-FFF2-40B4-BE49-F238E27FC236}">
                    <a16:creationId xmlns:a16="http://schemas.microsoft.com/office/drawing/2014/main" id="{04449561-2066-23D6-01A8-80A1BB5C59B9}"/>
                  </a:ext>
                </a:extLst>
              </p:cNvPr>
              <p:cNvGrpSpPr/>
              <p:nvPr/>
            </p:nvGrpSpPr>
            <p:grpSpPr>
              <a:xfrm>
                <a:off x="9642823" y="4087041"/>
                <a:ext cx="1148865" cy="1148865"/>
                <a:chOff x="9326302" y="4087041"/>
                <a:chExt cx="1148865" cy="1148865"/>
              </a:xfrm>
            </p:grpSpPr>
            <p:sp>
              <p:nvSpPr>
                <p:cNvPr id="386" name="services-circle">
                  <a:extLst>
                    <a:ext uri="{FF2B5EF4-FFF2-40B4-BE49-F238E27FC236}">
                      <a16:creationId xmlns:a16="http://schemas.microsoft.com/office/drawing/2014/main" id="{7C08DD4F-5A43-03E1-3D3D-E53232C87C33}"/>
                    </a:ext>
                  </a:extLst>
                </p:cNvPr>
                <p:cNvSpPr>
                  <a:spLocks noChangeAspect="1"/>
                </p:cNvSpPr>
                <p:nvPr/>
              </p:nvSpPr>
              <p:spPr>
                <a:xfrm>
                  <a:off x="9326302" y="4087041"/>
                  <a:ext cx="1148865" cy="1148865"/>
                </a:xfrm>
                <a:prstGeom prst="ellipse">
                  <a:avLst/>
                </a:prstGeom>
                <a:gradFill flip="none" rotWithShape="1">
                  <a:gsLst>
                    <a:gs pos="49000">
                      <a:schemeClr val="tx2"/>
                    </a:gs>
                    <a:gs pos="99000">
                      <a:srgbClr val="040E3D"/>
                    </a:gs>
                  </a:gsLst>
                  <a:lin ang="16200000" scaled="1"/>
                  <a:tileRect/>
                </a:gra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387" name="services-text">
                  <a:extLst>
                    <a:ext uri="{FF2B5EF4-FFF2-40B4-BE49-F238E27FC236}">
                      <a16:creationId xmlns:a16="http://schemas.microsoft.com/office/drawing/2014/main" id="{FE66DD22-080B-F2C9-8BFB-BD85FBD0CA0D}"/>
                    </a:ext>
                  </a:extLst>
                </p:cNvPr>
                <p:cNvSpPr txBox="1"/>
                <p:nvPr/>
              </p:nvSpPr>
              <p:spPr>
                <a:xfrm>
                  <a:off x="9481174" y="4476808"/>
                  <a:ext cx="839120" cy="369332"/>
                </a:xfrm>
                <a:prstGeom prst="rect">
                  <a:avLst/>
                </a:prstGeom>
                <a:noFill/>
              </p:spPr>
              <p:txBody>
                <a:bodyPr wrap="square" lIns="0" tIns="0" rIns="0" bIns="0" anchor="ctr">
                  <a:spAutoFit/>
                </a:bodyPr>
                <a:lstStyle/>
                <a:p>
                  <a:pPr algn="ctr"/>
                  <a:r>
                    <a:rPr lang="en-US" sz="1200" b="1">
                      <a:solidFill>
                        <a:schemeClr val="bg1"/>
                      </a:solidFill>
                    </a:rPr>
                    <a:t>Service</a:t>
                  </a:r>
                </a:p>
                <a:p>
                  <a:pPr algn="ctr"/>
                  <a:r>
                    <a:rPr lang="en-US" sz="1200" b="1">
                      <a:solidFill>
                        <a:schemeClr val="bg1"/>
                      </a:solidFill>
                    </a:rPr>
                    <a:t>Graph</a:t>
                  </a:r>
                </a:p>
              </p:txBody>
            </p:sp>
          </p:grpSp>
          <p:sp>
            <p:nvSpPr>
              <p:cNvPr id="421" name="Oval 420">
                <a:extLst>
                  <a:ext uri="{FF2B5EF4-FFF2-40B4-BE49-F238E27FC236}">
                    <a16:creationId xmlns:a16="http://schemas.microsoft.com/office/drawing/2014/main" id="{67E882FA-CEA8-A272-55F5-955454B8F335}"/>
                  </a:ext>
                </a:extLst>
              </p:cNvPr>
              <p:cNvSpPr>
                <a:spLocks noChangeAspect="1"/>
              </p:cNvSpPr>
              <p:nvPr/>
            </p:nvSpPr>
            <p:spPr>
              <a:xfrm>
                <a:off x="9229407" y="4668115"/>
                <a:ext cx="640307" cy="640307"/>
              </a:xfrm>
              <a:prstGeom prst="ellipse">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422" name="TextBox 421">
                <a:extLst>
                  <a:ext uri="{FF2B5EF4-FFF2-40B4-BE49-F238E27FC236}">
                    <a16:creationId xmlns:a16="http://schemas.microsoft.com/office/drawing/2014/main" id="{62CCB45F-38A8-08A6-17F2-CCF37317032D}"/>
                  </a:ext>
                </a:extLst>
              </p:cNvPr>
              <p:cNvSpPr txBox="1"/>
              <p:nvPr/>
            </p:nvSpPr>
            <p:spPr>
              <a:xfrm>
                <a:off x="9257363" y="4865158"/>
                <a:ext cx="584394" cy="230832"/>
              </a:xfrm>
              <a:prstGeom prst="rect">
                <a:avLst/>
              </a:prstGeom>
              <a:noFill/>
            </p:spPr>
            <p:txBody>
              <a:bodyPr wrap="square">
                <a:spAutoFit/>
              </a:bodyPr>
              <a:lstStyle/>
              <a:p>
                <a:pPr algn="ctr"/>
                <a:r>
                  <a:rPr lang="en-US" sz="900">
                    <a:solidFill>
                      <a:schemeClr val="bg1"/>
                    </a:solidFill>
                  </a:rPr>
                  <a:t>Assets</a:t>
                </a:r>
              </a:p>
            </p:txBody>
          </p:sp>
          <p:grpSp>
            <p:nvGrpSpPr>
              <p:cNvPr id="423" name="Group 422">
                <a:extLst>
                  <a:ext uri="{FF2B5EF4-FFF2-40B4-BE49-F238E27FC236}">
                    <a16:creationId xmlns:a16="http://schemas.microsoft.com/office/drawing/2014/main" id="{5281AE7C-BF0A-9A64-B42F-C440D5D59045}"/>
                  </a:ext>
                </a:extLst>
              </p:cNvPr>
              <p:cNvGrpSpPr/>
              <p:nvPr/>
            </p:nvGrpSpPr>
            <p:grpSpPr>
              <a:xfrm>
                <a:off x="10184186" y="5001989"/>
                <a:ext cx="777828" cy="640307"/>
                <a:chOff x="9867665" y="5001989"/>
                <a:chExt cx="777828" cy="640307"/>
              </a:xfrm>
            </p:grpSpPr>
            <p:sp>
              <p:nvSpPr>
                <p:cNvPr id="424" name="Oval 423">
                  <a:extLst>
                    <a:ext uri="{FF2B5EF4-FFF2-40B4-BE49-F238E27FC236}">
                      <a16:creationId xmlns:a16="http://schemas.microsoft.com/office/drawing/2014/main" id="{A531D3C3-D0E7-7BAD-69A2-2C2C8D669594}"/>
                    </a:ext>
                  </a:extLst>
                </p:cNvPr>
                <p:cNvSpPr>
                  <a:spLocks noChangeAspect="1"/>
                </p:cNvSpPr>
                <p:nvPr/>
              </p:nvSpPr>
              <p:spPr>
                <a:xfrm>
                  <a:off x="9948648" y="5001989"/>
                  <a:ext cx="640307" cy="640307"/>
                </a:xfrm>
                <a:prstGeom prst="ellipse">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425" name="TextBox 424">
                  <a:extLst>
                    <a:ext uri="{FF2B5EF4-FFF2-40B4-BE49-F238E27FC236}">
                      <a16:creationId xmlns:a16="http://schemas.microsoft.com/office/drawing/2014/main" id="{2272C2BB-058B-C263-6421-6D8188155B4B}"/>
                    </a:ext>
                  </a:extLst>
                </p:cNvPr>
                <p:cNvSpPr txBox="1"/>
                <p:nvPr/>
              </p:nvSpPr>
              <p:spPr>
                <a:xfrm>
                  <a:off x="9867665" y="5201214"/>
                  <a:ext cx="777828" cy="246221"/>
                </a:xfrm>
                <a:prstGeom prst="rect">
                  <a:avLst/>
                </a:prstGeom>
                <a:noFill/>
              </p:spPr>
              <p:txBody>
                <a:bodyPr wrap="square">
                  <a:spAutoFit/>
                </a:bodyPr>
                <a:lstStyle/>
                <a:p>
                  <a:pPr algn="ctr"/>
                  <a:r>
                    <a:rPr lang="en-US" sz="1000" b="1">
                      <a:solidFill>
                        <a:schemeClr val="bg1"/>
                      </a:solidFill>
                    </a:rPr>
                    <a:t>CMDB</a:t>
                  </a:r>
                </a:p>
              </p:txBody>
            </p:sp>
          </p:grpSp>
          <p:cxnSp>
            <p:nvCxnSpPr>
              <p:cNvPr id="451" name="services-connector">
                <a:extLst>
                  <a:ext uri="{FF2B5EF4-FFF2-40B4-BE49-F238E27FC236}">
                    <a16:creationId xmlns:a16="http://schemas.microsoft.com/office/drawing/2014/main" id="{A227F024-6C47-5735-D7A5-CD11C693F632}"/>
                  </a:ext>
                </a:extLst>
              </p:cNvPr>
              <p:cNvCxnSpPr>
                <a:cxnSpLocks/>
              </p:cNvCxnSpPr>
              <p:nvPr/>
            </p:nvCxnSpPr>
            <p:spPr>
              <a:xfrm>
                <a:off x="9180441" y="3780258"/>
                <a:ext cx="581025" cy="520479"/>
              </a:xfrm>
              <a:prstGeom prst="line">
                <a:avLst/>
              </a:prstGeom>
              <a:noFill/>
              <a:ln w="25400" cap="flat">
                <a:gradFill flip="none" rotWithShape="1">
                  <a:gsLst>
                    <a:gs pos="16000">
                      <a:srgbClr val="2CB0CD"/>
                    </a:gs>
                    <a:gs pos="99000">
                      <a:schemeClr val="accent3"/>
                    </a:gs>
                  </a:gsLst>
                  <a:lin ang="5400000" scaled="1"/>
                  <a:tileRect/>
                </a:gradFill>
                <a:prstDash val="solid"/>
                <a:miter/>
              </a:ln>
            </p:spPr>
          </p:cxnSp>
        </p:grpSp>
        <p:grpSp>
          <p:nvGrpSpPr>
            <p:cNvPr id="17" name="PEOPLE">
              <a:extLst>
                <a:ext uri="{FF2B5EF4-FFF2-40B4-BE49-F238E27FC236}">
                  <a16:creationId xmlns:a16="http://schemas.microsoft.com/office/drawing/2014/main" id="{0AB90CD9-79DF-FC86-741A-554AF8AC56FE}"/>
                </a:ext>
              </a:extLst>
            </p:cNvPr>
            <p:cNvGrpSpPr/>
            <p:nvPr/>
          </p:nvGrpSpPr>
          <p:grpSpPr>
            <a:xfrm>
              <a:off x="7391781" y="752353"/>
              <a:ext cx="2493303" cy="2154436"/>
              <a:chOff x="7391781" y="752353"/>
              <a:chExt cx="2493303" cy="2154436"/>
            </a:xfrm>
          </p:grpSpPr>
          <p:grpSp>
            <p:nvGrpSpPr>
              <p:cNvPr id="379" name="PEOPLE">
                <a:extLst>
                  <a:ext uri="{FF2B5EF4-FFF2-40B4-BE49-F238E27FC236}">
                    <a16:creationId xmlns:a16="http://schemas.microsoft.com/office/drawing/2014/main" id="{69433747-7DEF-C5F0-B4D4-C48EC44A41C1}"/>
                  </a:ext>
                </a:extLst>
              </p:cNvPr>
              <p:cNvGrpSpPr/>
              <p:nvPr/>
            </p:nvGrpSpPr>
            <p:grpSpPr>
              <a:xfrm>
                <a:off x="8222956" y="1135932"/>
                <a:ext cx="1148865" cy="1148865"/>
                <a:chOff x="7906435" y="1135932"/>
                <a:chExt cx="1148865" cy="1148865"/>
              </a:xfrm>
            </p:grpSpPr>
            <p:sp>
              <p:nvSpPr>
                <p:cNvPr id="380" name="Oval 379">
                  <a:extLst>
                    <a:ext uri="{FF2B5EF4-FFF2-40B4-BE49-F238E27FC236}">
                      <a16:creationId xmlns:a16="http://schemas.microsoft.com/office/drawing/2014/main" id="{616F1763-5552-93B8-C108-1F158263A8C7}"/>
                    </a:ext>
                  </a:extLst>
                </p:cNvPr>
                <p:cNvSpPr>
                  <a:spLocks noChangeAspect="1"/>
                </p:cNvSpPr>
                <p:nvPr/>
              </p:nvSpPr>
              <p:spPr>
                <a:xfrm>
                  <a:off x="7906435" y="1135932"/>
                  <a:ext cx="1148865" cy="1148865"/>
                </a:xfrm>
                <a:prstGeom prst="ellipse">
                  <a:avLst/>
                </a:prstGeom>
                <a:gradFill flip="none" rotWithShape="1">
                  <a:gsLst>
                    <a:gs pos="11000">
                      <a:schemeClr val="tx2"/>
                    </a:gs>
                    <a:gs pos="100000">
                      <a:srgbClr val="2CB0CD"/>
                    </a:gs>
                  </a:gsLst>
                  <a:lin ang="16200000" scaled="1"/>
                  <a:tileRect/>
                </a:gra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1" name="TextBox 380">
                  <a:extLst>
                    <a:ext uri="{FF2B5EF4-FFF2-40B4-BE49-F238E27FC236}">
                      <a16:creationId xmlns:a16="http://schemas.microsoft.com/office/drawing/2014/main" id="{CA8F88FD-2B12-41A0-91B6-2E0E0AFC4ACF}"/>
                    </a:ext>
                  </a:extLst>
                </p:cNvPr>
                <p:cNvSpPr txBox="1"/>
                <p:nvPr/>
              </p:nvSpPr>
              <p:spPr>
                <a:xfrm>
                  <a:off x="8061307" y="1602643"/>
                  <a:ext cx="839120" cy="215444"/>
                </a:xfrm>
                <a:prstGeom prst="rect">
                  <a:avLst/>
                </a:prstGeom>
                <a:noFill/>
              </p:spPr>
              <p:txBody>
                <a:bodyPr wrap="square" lIns="0" tIns="0" rIns="0" bIns="0" anchor="ctr">
                  <a:spAutoFit/>
                </a:bodyPr>
                <a:lstStyle/>
                <a:p>
                  <a:pPr algn="ctr"/>
                  <a:r>
                    <a:rPr lang="en-US" sz="1400" b="1">
                      <a:solidFill>
                        <a:schemeClr val="bg1"/>
                      </a:solidFill>
                    </a:rPr>
                    <a:t>People</a:t>
                  </a:r>
                </a:p>
              </p:txBody>
            </p:sp>
          </p:grpSp>
          <p:grpSp>
            <p:nvGrpSpPr>
              <p:cNvPr id="391" name="Requests">
                <a:extLst>
                  <a:ext uri="{FF2B5EF4-FFF2-40B4-BE49-F238E27FC236}">
                    <a16:creationId xmlns:a16="http://schemas.microsoft.com/office/drawing/2014/main" id="{9F552BDC-50AE-51D1-2E7C-712AD6D99043}"/>
                  </a:ext>
                </a:extLst>
              </p:cNvPr>
              <p:cNvGrpSpPr/>
              <p:nvPr/>
            </p:nvGrpSpPr>
            <p:grpSpPr>
              <a:xfrm>
                <a:off x="8821366" y="752353"/>
                <a:ext cx="777828" cy="774772"/>
                <a:chOff x="8504845" y="752353"/>
                <a:chExt cx="777828" cy="774772"/>
              </a:xfrm>
            </p:grpSpPr>
            <p:sp>
              <p:nvSpPr>
                <p:cNvPr id="392" name="Oval 391">
                  <a:extLst>
                    <a:ext uri="{FF2B5EF4-FFF2-40B4-BE49-F238E27FC236}">
                      <a16:creationId xmlns:a16="http://schemas.microsoft.com/office/drawing/2014/main" id="{3BEAC439-6ED1-71E3-E11F-CC99757FCDA2}"/>
                    </a:ext>
                  </a:extLst>
                </p:cNvPr>
                <p:cNvSpPr>
                  <a:spLocks noChangeAspect="1"/>
                </p:cNvSpPr>
                <p:nvPr/>
              </p:nvSpPr>
              <p:spPr>
                <a:xfrm>
                  <a:off x="8506373" y="752353"/>
                  <a:ext cx="774772" cy="774772"/>
                </a:xfrm>
                <a:prstGeom prst="ellipse">
                  <a:avLst/>
                </a:prstGeom>
                <a:solidFill>
                  <a:schemeClr val="tx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393" name="TextBox 392">
                  <a:extLst>
                    <a:ext uri="{FF2B5EF4-FFF2-40B4-BE49-F238E27FC236}">
                      <a16:creationId xmlns:a16="http://schemas.microsoft.com/office/drawing/2014/main" id="{46B5FCF8-E875-7CA4-CDF9-DD0DE6991268}"/>
                    </a:ext>
                  </a:extLst>
                </p:cNvPr>
                <p:cNvSpPr txBox="1"/>
                <p:nvPr/>
              </p:nvSpPr>
              <p:spPr>
                <a:xfrm>
                  <a:off x="8504845" y="1027306"/>
                  <a:ext cx="777828" cy="230832"/>
                </a:xfrm>
                <a:prstGeom prst="rect">
                  <a:avLst/>
                </a:prstGeom>
                <a:noFill/>
              </p:spPr>
              <p:txBody>
                <a:bodyPr wrap="square">
                  <a:spAutoFit/>
                </a:bodyPr>
                <a:lstStyle/>
                <a:p>
                  <a:pPr algn="ctr"/>
                  <a:r>
                    <a:rPr lang="en-US" sz="900">
                      <a:solidFill>
                        <a:schemeClr val="bg1"/>
                      </a:solidFill>
                    </a:rPr>
                    <a:t>Requests</a:t>
                  </a:r>
                </a:p>
              </p:txBody>
            </p:sp>
          </p:grpSp>
          <p:grpSp>
            <p:nvGrpSpPr>
              <p:cNvPr id="394" name="Location">
                <a:extLst>
                  <a:ext uri="{FF2B5EF4-FFF2-40B4-BE49-F238E27FC236}">
                    <a16:creationId xmlns:a16="http://schemas.microsoft.com/office/drawing/2014/main" id="{C3A8036A-2CC3-A922-B72B-5193E620648E}"/>
                  </a:ext>
                </a:extLst>
              </p:cNvPr>
              <p:cNvGrpSpPr/>
              <p:nvPr/>
            </p:nvGrpSpPr>
            <p:grpSpPr>
              <a:xfrm>
                <a:off x="7570247" y="1624544"/>
                <a:ext cx="777828" cy="774772"/>
                <a:chOff x="7484984" y="1838008"/>
                <a:chExt cx="777828" cy="774772"/>
              </a:xfrm>
            </p:grpSpPr>
            <p:sp>
              <p:nvSpPr>
                <p:cNvPr id="395" name="Oval 394">
                  <a:extLst>
                    <a:ext uri="{FF2B5EF4-FFF2-40B4-BE49-F238E27FC236}">
                      <a16:creationId xmlns:a16="http://schemas.microsoft.com/office/drawing/2014/main" id="{0A74892C-24EB-E231-0672-436DE1702AA4}"/>
                    </a:ext>
                  </a:extLst>
                </p:cNvPr>
                <p:cNvSpPr>
                  <a:spLocks noChangeAspect="1"/>
                </p:cNvSpPr>
                <p:nvPr/>
              </p:nvSpPr>
              <p:spPr>
                <a:xfrm>
                  <a:off x="7486512" y="1838008"/>
                  <a:ext cx="774772" cy="774772"/>
                </a:xfrm>
                <a:prstGeom prst="ellipse">
                  <a:avLst/>
                </a:prstGeom>
                <a:solidFill>
                  <a:schemeClr val="tx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396" name="TextBox 395">
                  <a:extLst>
                    <a:ext uri="{FF2B5EF4-FFF2-40B4-BE49-F238E27FC236}">
                      <a16:creationId xmlns:a16="http://schemas.microsoft.com/office/drawing/2014/main" id="{B437E141-957C-3188-777D-04B5CD0370B9}"/>
                    </a:ext>
                  </a:extLst>
                </p:cNvPr>
                <p:cNvSpPr txBox="1"/>
                <p:nvPr/>
              </p:nvSpPr>
              <p:spPr>
                <a:xfrm>
                  <a:off x="7484984" y="2112251"/>
                  <a:ext cx="777828" cy="230832"/>
                </a:xfrm>
                <a:prstGeom prst="rect">
                  <a:avLst/>
                </a:prstGeom>
                <a:noFill/>
              </p:spPr>
              <p:txBody>
                <a:bodyPr wrap="square">
                  <a:spAutoFit/>
                </a:bodyPr>
                <a:lstStyle/>
                <a:p>
                  <a:pPr algn="ctr"/>
                  <a:r>
                    <a:rPr lang="en-US" sz="900">
                      <a:solidFill>
                        <a:schemeClr val="bg1"/>
                      </a:solidFill>
                    </a:rPr>
                    <a:t>Location</a:t>
                  </a:r>
                </a:p>
              </p:txBody>
            </p:sp>
          </p:grpSp>
          <p:grpSp>
            <p:nvGrpSpPr>
              <p:cNvPr id="397" name="Org Structure">
                <a:extLst>
                  <a:ext uri="{FF2B5EF4-FFF2-40B4-BE49-F238E27FC236}">
                    <a16:creationId xmlns:a16="http://schemas.microsoft.com/office/drawing/2014/main" id="{717A7C7B-7B64-1812-9A6A-2058A78B47FD}"/>
                  </a:ext>
                </a:extLst>
              </p:cNvPr>
              <p:cNvGrpSpPr/>
              <p:nvPr/>
            </p:nvGrpSpPr>
            <p:grpSpPr>
              <a:xfrm>
                <a:off x="9029473" y="1735122"/>
                <a:ext cx="855611" cy="774772"/>
                <a:chOff x="8712952" y="1735122"/>
                <a:chExt cx="855611" cy="774772"/>
              </a:xfrm>
            </p:grpSpPr>
            <p:sp>
              <p:nvSpPr>
                <p:cNvPr id="398" name="Oval 397">
                  <a:extLst>
                    <a:ext uri="{FF2B5EF4-FFF2-40B4-BE49-F238E27FC236}">
                      <a16:creationId xmlns:a16="http://schemas.microsoft.com/office/drawing/2014/main" id="{FB2C7DDF-2302-9387-A22B-7C4730763E7A}"/>
                    </a:ext>
                  </a:extLst>
                </p:cNvPr>
                <p:cNvSpPr>
                  <a:spLocks noChangeAspect="1"/>
                </p:cNvSpPr>
                <p:nvPr/>
              </p:nvSpPr>
              <p:spPr>
                <a:xfrm>
                  <a:off x="8777507" y="1735122"/>
                  <a:ext cx="774772" cy="774772"/>
                </a:xfrm>
                <a:prstGeom prst="ellipse">
                  <a:avLst/>
                </a:prstGeom>
                <a:solidFill>
                  <a:schemeClr val="tx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399" name="TextBox 398">
                  <a:extLst>
                    <a:ext uri="{FF2B5EF4-FFF2-40B4-BE49-F238E27FC236}">
                      <a16:creationId xmlns:a16="http://schemas.microsoft.com/office/drawing/2014/main" id="{0EA14F22-3AA7-BBE8-F62C-39CE3E674795}"/>
                    </a:ext>
                  </a:extLst>
                </p:cNvPr>
                <p:cNvSpPr txBox="1"/>
                <p:nvPr/>
              </p:nvSpPr>
              <p:spPr>
                <a:xfrm>
                  <a:off x="8712952" y="1913084"/>
                  <a:ext cx="855611" cy="369332"/>
                </a:xfrm>
                <a:prstGeom prst="rect">
                  <a:avLst/>
                </a:prstGeom>
                <a:noFill/>
              </p:spPr>
              <p:txBody>
                <a:bodyPr wrap="square" anchor="ctr">
                  <a:spAutoFit/>
                </a:bodyPr>
                <a:lstStyle/>
                <a:p>
                  <a:pPr algn="ctr"/>
                  <a:r>
                    <a:rPr lang="en-US" sz="900">
                      <a:solidFill>
                        <a:schemeClr val="bg1"/>
                      </a:solidFill>
                    </a:rPr>
                    <a:t>Org Structures</a:t>
                  </a:r>
                </a:p>
              </p:txBody>
            </p:sp>
          </p:grpSp>
          <p:grpSp>
            <p:nvGrpSpPr>
              <p:cNvPr id="400" name="persona">
                <a:extLst>
                  <a:ext uri="{FF2B5EF4-FFF2-40B4-BE49-F238E27FC236}">
                    <a16:creationId xmlns:a16="http://schemas.microsoft.com/office/drawing/2014/main" id="{1C6CA55C-5A90-6AD2-2783-015DC06C2A04}"/>
                  </a:ext>
                </a:extLst>
              </p:cNvPr>
              <p:cNvGrpSpPr>
                <a:grpSpLocks noChangeAspect="1"/>
              </p:cNvGrpSpPr>
              <p:nvPr/>
            </p:nvGrpSpPr>
            <p:grpSpPr>
              <a:xfrm>
                <a:off x="8051103" y="935530"/>
                <a:ext cx="457200" cy="521939"/>
                <a:chOff x="3070126" y="2872358"/>
                <a:chExt cx="1581423" cy="1805350"/>
              </a:xfrm>
            </p:grpSpPr>
            <p:sp>
              <p:nvSpPr>
                <p:cNvPr id="401" name="Oval 400">
                  <a:extLst>
                    <a:ext uri="{FF2B5EF4-FFF2-40B4-BE49-F238E27FC236}">
                      <a16:creationId xmlns:a16="http://schemas.microsoft.com/office/drawing/2014/main" id="{444FAA84-3D7F-17A4-754D-A294CFB115EA}"/>
                    </a:ext>
                  </a:extLst>
                </p:cNvPr>
                <p:cNvSpPr/>
                <p:nvPr/>
              </p:nvSpPr>
              <p:spPr>
                <a:xfrm>
                  <a:off x="3070126" y="3081816"/>
                  <a:ext cx="1573592" cy="1573592"/>
                </a:xfrm>
                <a:prstGeom prst="ellipse">
                  <a:avLst/>
                </a:prstGeom>
                <a:gradFill>
                  <a:gsLst>
                    <a:gs pos="0">
                      <a:schemeClr val="tx2"/>
                    </a:gs>
                    <a:gs pos="100000">
                      <a:schemeClr val="tx2">
                        <a:lumMod val="90000"/>
                        <a:lumOff val="10000"/>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grpSp>
              <p:nvGrpSpPr>
                <p:cNvPr id="402" name="Group 401">
                  <a:extLst>
                    <a:ext uri="{FF2B5EF4-FFF2-40B4-BE49-F238E27FC236}">
                      <a16:creationId xmlns:a16="http://schemas.microsoft.com/office/drawing/2014/main" id="{E4E9B59F-3FC4-11E0-8360-031E00D51ED9}"/>
                    </a:ext>
                  </a:extLst>
                </p:cNvPr>
                <p:cNvGrpSpPr/>
                <p:nvPr/>
              </p:nvGrpSpPr>
              <p:grpSpPr>
                <a:xfrm>
                  <a:off x="3072105" y="2872358"/>
                  <a:ext cx="1579444" cy="1805350"/>
                  <a:chOff x="3031466" y="2547939"/>
                  <a:chExt cx="1579444" cy="1805350"/>
                </a:xfrm>
              </p:grpSpPr>
              <p:sp>
                <p:nvSpPr>
                  <p:cNvPr id="404" name="BG">
                    <a:extLst>
                      <a:ext uri="{FF2B5EF4-FFF2-40B4-BE49-F238E27FC236}">
                        <a16:creationId xmlns:a16="http://schemas.microsoft.com/office/drawing/2014/main" id="{CE474A2B-5F86-DF99-74C8-851B45464ED2}"/>
                      </a:ext>
                    </a:extLst>
                  </p:cNvPr>
                  <p:cNvSpPr/>
                  <p:nvPr/>
                </p:nvSpPr>
                <p:spPr>
                  <a:xfrm>
                    <a:off x="3031466" y="2779697"/>
                    <a:ext cx="1573592" cy="1573592"/>
                  </a:xfrm>
                  <a:prstGeom prst="ellips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grpSp>
          </p:grpSp>
          <p:cxnSp>
            <p:nvCxnSpPr>
              <p:cNvPr id="450" name="people-connector">
                <a:extLst>
                  <a:ext uri="{FF2B5EF4-FFF2-40B4-BE49-F238E27FC236}">
                    <a16:creationId xmlns:a16="http://schemas.microsoft.com/office/drawing/2014/main" id="{ACE426E3-1D55-B279-AA49-30E40A6F2402}"/>
                  </a:ext>
                </a:extLst>
              </p:cNvPr>
              <p:cNvCxnSpPr>
                <a:cxnSpLocks/>
                <a:stCxn id="380" idx="4"/>
                <a:endCxn id="377" idx="0"/>
              </p:cNvCxnSpPr>
              <p:nvPr/>
            </p:nvCxnSpPr>
            <p:spPr>
              <a:xfrm flipH="1">
                <a:off x="8806402" y="2284797"/>
                <a:ext cx="2710" cy="621992"/>
              </a:xfrm>
              <a:prstGeom prst="line">
                <a:avLst/>
              </a:prstGeom>
              <a:noFill/>
              <a:ln w="25400" cap="flat">
                <a:gradFill flip="none" rotWithShape="1">
                  <a:gsLst>
                    <a:gs pos="20000">
                      <a:srgbClr val="2CB0CD"/>
                    </a:gs>
                    <a:gs pos="99000">
                      <a:schemeClr val="accent2"/>
                    </a:gs>
                  </a:gsLst>
                  <a:lin ang="16200000" scaled="1"/>
                  <a:tileRect/>
                </a:gradFill>
                <a:prstDash val="solid"/>
                <a:miter/>
              </a:ln>
            </p:spPr>
          </p:cxnSp>
          <p:grpSp>
            <p:nvGrpSpPr>
              <p:cNvPr id="453" name="Persona">
                <a:extLst>
                  <a:ext uri="{FF2B5EF4-FFF2-40B4-BE49-F238E27FC236}">
                    <a16:creationId xmlns:a16="http://schemas.microsoft.com/office/drawing/2014/main" id="{3A176DF5-BA71-D6C4-E5AA-F72FFAAA2878}"/>
                  </a:ext>
                </a:extLst>
              </p:cNvPr>
              <p:cNvGrpSpPr>
                <a:grpSpLocks noChangeAspect="1"/>
              </p:cNvGrpSpPr>
              <p:nvPr/>
            </p:nvGrpSpPr>
            <p:grpSpPr>
              <a:xfrm>
                <a:off x="9403223" y="1166305"/>
                <a:ext cx="455503" cy="458239"/>
                <a:chOff x="7421164" y="2825794"/>
                <a:chExt cx="1844440" cy="1855511"/>
              </a:xfrm>
            </p:grpSpPr>
            <p:sp>
              <p:nvSpPr>
                <p:cNvPr id="454" name="Oval 453">
                  <a:extLst>
                    <a:ext uri="{FF2B5EF4-FFF2-40B4-BE49-F238E27FC236}">
                      <a16:creationId xmlns:a16="http://schemas.microsoft.com/office/drawing/2014/main" id="{F00C83E7-E105-EC75-8BFB-D56302A2DC8D}"/>
                    </a:ext>
                  </a:extLst>
                </p:cNvPr>
                <p:cNvSpPr/>
                <p:nvPr/>
              </p:nvSpPr>
              <p:spPr>
                <a:xfrm>
                  <a:off x="7567619" y="3068269"/>
                  <a:ext cx="1573592" cy="1573592"/>
                </a:xfrm>
                <a:prstGeom prst="ellipse">
                  <a:avLst/>
                </a:prstGeom>
                <a:gradFill>
                  <a:gsLst>
                    <a:gs pos="0">
                      <a:schemeClr val="tx2"/>
                    </a:gs>
                    <a:gs pos="100000">
                      <a:schemeClr val="tx2">
                        <a:lumMod val="90000"/>
                        <a:lumOff val="10000"/>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grpSp>
              <p:nvGrpSpPr>
                <p:cNvPr id="455" name="Group 454">
                  <a:extLst>
                    <a:ext uri="{FF2B5EF4-FFF2-40B4-BE49-F238E27FC236}">
                      <a16:creationId xmlns:a16="http://schemas.microsoft.com/office/drawing/2014/main" id="{90BFCBC0-5F9B-1AB0-DA6E-683C20925E9E}"/>
                    </a:ext>
                  </a:extLst>
                </p:cNvPr>
                <p:cNvGrpSpPr/>
                <p:nvPr/>
              </p:nvGrpSpPr>
              <p:grpSpPr>
                <a:xfrm>
                  <a:off x="7421164" y="2825794"/>
                  <a:ext cx="1844440" cy="1855511"/>
                  <a:chOff x="7385719" y="2322885"/>
                  <a:chExt cx="2057895" cy="2070248"/>
                </a:xfrm>
              </p:grpSpPr>
              <p:sp>
                <p:nvSpPr>
                  <p:cNvPr id="457" name="Oval 456">
                    <a:extLst>
                      <a:ext uri="{FF2B5EF4-FFF2-40B4-BE49-F238E27FC236}">
                        <a16:creationId xmlns:a16="http://schemas.microsoft.com/office/drawing/2014/main" id="{DBCC0DA4-D192-B7E1-C2DD-8A6DC4F45F59}"/>
                      </a:ext>
                    </a:extLst>
                  </p:cNvPr>
                  <p:cNvSpPr/>
                  <p:nvPr/>
                </p:nvSpPr>
                <p:spPr>
                  <a:xfrm>
                    <a:off x="7547317" y="2633416"/>
                    <a:ext cx="1755702" cy="1755702"/>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grpSp>
          </p:grpSp>
        </p:grpSp>
        <p:grpSp>
          <p:nvGrpSpPr>
            <p:cNvPr id="18" name="INTEGRATIONS">
              <a:extLst>
                <a:ext uri="{FF2B5EF4-FFF2-40B4-BE49-F238E27FC236}">
                  <a16:creationId xmlns:a16="http://schemas.microsoft.com/office/drawing/2014/main" id="{4B0373CB-C246-3A52-8F2D-DAEC5B39BD16}"/>
                </a:ext>
              </a:extLst>
            </p:cNvPr>
            <p:cNvGrpSpPr/>
            <p:nvPr/>
          </p:nvGrpSpPr>
          <p:grpSpPr>
            <a:xfrm>
              <a:off x="5988606" y="3176425"/>
              <a:ext cx="2762911" cy="2797270"/>
              <a:chOff x="5988606" y="3176425"/>
              <a:chExt cx="2762911" cy="2797270"/>
            </a:xfrm>
          </p:grpSpPr>
          <p:grpSp>
            <p:nvGrpSpPr>
              <p:cNvPr id="388" name="INTEGRATIONS">
                <a:extLst>
                  <a:ext uri="{FF2B5EF4-FFF2-40B4-BE49-F238E27FC236}">
                    <a16:creationId xmlns:a16="http://schemas.microsoft.com/office/drawing/2014/main" id="{840F7F53-40BD-DE53-6999-C53CF196087D}"/>
                  </a:ext>
                </a:extLst>
              </p:cNvPr>
              <p:cNvGrpSpPr/>
              <p:nvPr/>
            </p:nvGrpSpPr>
            <p:grpSpPr>
              <a:xfrm>
                <a:off x="6806631" y="4088144"/>
                <a:ext cx="1146658" cy="1146658"/>
                <a:chOff x="6490110" y="4088144"/>
                <a:chExt cx="1146658" cy="1146658"/>
              </a:xfrm>
            </p:grpSpPr>
            <p:sp>
              <p:nvSpPr>
                <p:cNvPr id="389" name="Oval 388">
                  <a:extLst>
                    <a:ext uri="{FF2B5EF4-FFF2-40B4-BE49-F238E27FC236}">
                      <a16:creationId xmlns:a16="http://schemas.microsoft.com/office/drawing/2014/main" id="{FFE251C6-836C-BCBF-3FDE-0E07129928B8}"/>
                    </a:ext>
                  </a:extLst>
                </p:cNvPr>
                <p:cNvSpPr>
                  <a:spLocks noChangeAspect="1"/>
                </p:cNvSpPr>
                <p:nvPr/>
              </p:nvSpPr>
              <p:spPr>
                <a:xfrm>
                  <a:off x="6490110" y="4088144"/>
                  <a:ext cx="1146658" cy="1146658"/>
                </a:xfrm>
                <a:prstGeom prst="ellipse">
                  <a:avLst/>
                </a:prstGeom>
                <a:gradFill flip="none" rotWithShape="1">
                  <a:gsLst>
                    <a:gs pos="32000">
                      <a:schemeClr val="tx2"/>
                    </a:gs>
                    <a:gs pos="100000">
                      <a:srgbClr val="2CB0CD"/>
                    </a:gs>
                  </a:gsLst>
                  <a:lin ang="16200000" scaled="1"/>
                  <a:tileRect/>
                </a:gra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0" name="TextBox 389">
                  <a:extLst>
                    <a:ext uri="{FF2B5EF4-FFF2-40B4-BE49-F238E27FC236}">
                      <a16:creationId xmlns:a16="http://schemas.microsoft.com/office/drawing/2014/main" id="{BAD47EC0-6247-286C-A2D6-B6AC81FA0784}"/>
                    </a:ext>
                  </a:extLst>
                </p:cNvPr>
                <p:cNvSpPr txBox="1"/>
                <p:nvPr/>
              </p:nvSpPr>
              <p:spPr>
                <a:xfrm>
                  <a:off x="6601923" y="4476807"/>
                  <a:ext cx="923032" cy="369332"/>
                </a:xfrm>
                <a:prstGeom prst="rect">
                  <a:avLst/>
                </a:prstGeom>
                <a:noFill/>
              </p:spPr>
              <p:txBody>
                <a:bodyPr wrap="square" lIns="0" tIns="0" rIns="0" bIns="0" anchor="ctr">
                  <a:spAutoFit/>
                </a:bodyPr>
                <a:lstStyle/>
                <a:p>
                  <a:pPr algn="ctr"/>
                  <a:r>
                    <a:rPr lang="en-US" sz="1200" b="1">
                      <a:solidFill>
                        <a:schemeClr val="bg1"/>
                      </a:solidFill>
                    </a:rPr>
                    <a:t>Discovery &amp; Integrations</a:t>
                  </a:r>
                </a:p>
              </p:txBody>
            </p:sp>
          </p:grpSp>
          <p:sp>
            <p:nvSpPr>
              <p:cNvPr id="407" name="Oval 406">
                <a:extLst>
                  <a:ext uri="{FF2B5EF4-FFF2-40B4-BE49-F238E27FC236}">
                    <a16:creationId xmlns:a16="http://schemas.microsoft.com/office/drawing/2014/main" id="{008A263C-F0B8-3E7B-B062-323D58311222}"/>
                  </a:ext>
                </a:extLst>
              </p:cNvPr>
              <p:cNvSpPr>
                <a:spLocks noChangeAspect="1"/>
              </p:cNvSpPr>
              <p:nvPr/>
            </p:nvSpPr>
            <p:spPr>
              <a:xfrm>
                <a:off x="6594523" y="4954889"/>
                <a:ext cx="628781" cy="628781"/>
              </a:xfrm>
              <a:prstGeom prst="ellipse">
                <a:avLst/>
              </a:prstGeom>
              <a:solidFill>
                <a:schemeClr val="tx2"/>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410" name="Oval 409">
                <a:extLst>
                  <a:ext uri="{FF2B5EF4-FFF2-40B4-BE49-F238E27FC236}">
                    <a16:creationId xmlns:a16="http://schemas.microsoft.com/office/drawing/2014/main" id="{A754715B-5BA8-AFFE-69CA-239E739B488D}"/>
                  </a:ext>
                </a:extLst>
              </p:cNvPr>
              <p:cNvSpPr>
                <a:spLocks noChangeAspect="1"/>
              </p:cNvSpPr>
              <p:nvPr/>
            </p:nvSpPr>
            <p:spPr>
              <a:xfrm>
                <a:off x="7265580" y="5069791"/>
                <a:ext cx="603916" cy="603916"/>
              </a:xfrm>
              <a:prstGeom prst="ellipse">
                <a:avLst/>
              </a:prstGeom>
              <a:solidFill>
                <a:schemeClr val="tx2"/>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413" name="Oval 412">
                <a:extLst>
                  <a:ext uri="{FF2B5EF4-FFF2-40B4-BE49-F238E27FC236}">
                    <a16:creationId xmlns:a16="http://schemas.microsoft.com/office/drawing/2014/main" id="{8AF6DC02-E660-1AD2-79C1-1E639DFF4C59}"/>
                  </a:ext>
                </a:extLst>
              </p:cNvPr>
              <p:cNvSpPr>
                <a:spLocks noChangeAspect="1"/>
              </p:cNvSpPr>
              <p:nvPr/>
            </p:nvSpPr>
            <p:spPr>
              <a:xfrm>
                <a:off x="5988606" y="4070966"/>
                <a:ext cx="726961" cy="726961"/>
              </a:xfrm>
              <a:prstGeom prst="ellipse">
                <a:avLst/>
              </a:prstGeom>
              <a:solidFill>
                <a:schemeClr val="tx2"/>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416" name="Oval 415">
                <a:extLst>
                  <a:ext uri="{FF2B5EF4-FFF2-40B4-BE49-F238E27FC236}">
                    <a16:creationId xmlns:a16="http://schemas.microsoft.com/office/drawing/2014/main" id="{BB96979D-19D3-AC24-1697-135008AD2BB7}"/>
                  </a:ext>
                </a:extLst>
              </p:cNvPr>
              <p:cNvSpPr>
                <a:spLocks noChangeAspect="1"/>
              </p:cNvSpPr>
              <p:nvPr/>
            </p:nvSpPr>
            <p:spPr>
              <a:xfrm>
                <a:off x="8111210" y="5333388"/>
                <a:ext cx="640307" cy="640307"/>
              </a:xfrm>
              <a:prstGeom prst="ellipse">
                <a:avLst/>
              </a:prstGeom>
              <a:solidFill>
                <a:schemeClr val="tx2"/>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419" name="Oval 418">
                <a:extLst>
                  <a:ext uri="{FF2B5EF4-FFF2-40B4-BE49-F238E27FC236}">
                    <a16:creationId xmlns:a16="http://schemas.microsoft.com/office/drawing/2014/main" id="{A1271D1E-E711-9082-8554-E880C411815C}"/>
                  </a:ext>
                </a:extLst>
              </p:cNvPr>
              <p:cNvSpPr>
                <a:spLocks noChangeAspect="1"/>
              </p:cNvSpPr>
              <p:nvPr/>
            </p:nvSpPr>
            <p:spPr>
              <a:xfrm>
                <a:off x="6804588" y="3176425"/>
                <a:ext cx="774772" cy="774772"/>
              </a:xfrm>
              <a:prstGeom prst="ellipse">
                <a:avLst/>
              </a:prstGeom>
              <a:solidFill>
                <a:schemeClr val="tx2"/>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cxnSp>
            <p:nvCxnSpPr>
              <p:cNvPr id="452" name="integrations-connector">
                <a:extLst>
                  <a:ext uri="{FF2B5EF4-FFF2-40B4-BE49-F238E27FC236}">
                    <a16:creationId xmlns:a16="http://schemas.microsoft.com/office/drawing/2014/main" id="{F1C42E52-28CF-95FA-51E5-979DF80C4FA2}"/>
                  </a:ext>
                </a:extLst>
              </p:cNvPr>
              <p:cNvCxnSpPr>
                <a:cxnSpLocks/>
              </p:cNvCxnSpPr>
              <p:nvPr/>
            </p:nvCxnSpPr>
            <p:spPr>
              <a:xfrm flipH="1">
                <a:off x="7827891" y="3780258"/>
                <a:ext cx="581025" cy="520479"/>
              </a:xfrm>
              <a:prstGeom prst="line">
                <a:avLst/>
              </a:prstGeom>
              <a:noFill/>
              <a:ln w="25400" cap="flat">
                <a:gradFill flip="none" rotWithShape="1">
                  <a:gsLst>
                    <a:gs pos="94000">
                      <a:srgbClr val="2CB0CD"/>
                    </a:gs>
                    <a:gs pos="0">
                      <a:schemeClr val="accent4"/>
                    </a:gs>
                  </a:gsLst>
                  <a:lin ang="16200000" scaled="1"/>
                  <a:tileRect/>
                </a:gradFill>
                <a:prstDash val="solid"/>
                <a:miter/>
              </a:ln>
            </p:spPr>
          </p:cxnSp>
          <p:sp>
            <p:nvSpPr>
              <p:cNvPr id="460" name="Oval 459">
                <a:extLst>
                  <a:ext uri="{FF2B5EF4-FFF2-40B4-BE49-F238E27FC236}">
                    <a16:creationId xmlns:a16="http://schemas.microsoft.com/office/drawing/2014/main" id="{38C80154-E022-4DBC-6B7A-3F1A7E68EA37}"/>
                  </a:ext>
                </a:extLst>
              </p:cNvPr>
              <p:cNvSpPr>
                <a:spLocks noChangeAspect="1"/>
              </p:cNvSpPr>
              <p:nvPr/>
            </p:nvSpPr>
            <p:spPr>
              <a:xfrm>
                <a:off x="6192622" y="5219679"/>
                <a:ext cx="471250" cy="475488"/>
              </a:xfrm>
              <a:prstGeom prst="ellipse">
                <a:avLst/>
              </a:prstGeom>
              <a:solidFill>
                <a:schemeClr val="tx2"/>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grpSp>
      </p:grpSp>
      <p:sp>
        <p:nvSpPr>
          <p:cNvPr id="7" name="Title 6">
            <a:extLst>
              <a:ext uri="{FF2B5EF4-FFF2-40B4-BE49-F238E27FC236}">
                <a16:creationId xmlns:a16="http://schemas.microsoft.com/office/drawing/2014/main" id="{C0FB0068-04F3-187D-A187-7EF57B1FD9C9}"/>
              </a:ext>
            </a:extLst>
          </p:cNvPr>
          <p:cNvSpPr>
            <a:spLocks noGrp="1"/>
          </p:cNvSpPr>
          <p:nvPr>
            <p:ph type="title"/>
          </p:nvPr>
        </p:nvSpPr>
        <p:spPr/>
        <p:txBody>
          <a:bodyPr wrap="square" anchor="t"/>
          <a:lstStyle/>
          <a:p>
            <a:r>
              <a:rPr lang="en-US" sz="3700" dirty="0">
                <a:solidFill>
                  <a:srgbClr val="8FFFDB"/>
                </a:solidFill>
              </a:rPr>
              <a:t>Knowledge Graph</a:t>
            </a:r>
          </a:p>
        </p:txBody>
      </p:sp>
      <p:sp>
        <p:nvSpPr>
          <p:cNvPr id="8" name="Text Placeholder 7">
            <a:extLst>
              <a:ext uri="{FF2B5EF4-FFF2-40B4-BE49-F238E27FC236}">
                <a16:creationId xmlns:a16="http://schemas.microsoft.com/office/drawing/2014/main" id="{FF9DE2A4-A8CF-AD1E-4DA0-E22D5B321FE5}"/>
              </a:ext>
            </a:extLst>
          </p:cNvPr>
          <p:cNvSpPr>
            <a:spLocks noGrp="1"/>
          </p:cNvSpPr>
          <p:nvPr>
            <p:ph type="body" sz="quarter" idx="4294967295"/>
          </p:nvPr>
        </p:nvSpPr>
        <p:spPr>
          <a:xfrm>
            <a:off x="635330" y="1397547"/>
            <a:ext cx="4248150" cy="671513"/>
          </a:xfrm>
        </p:spPr>
        <p:txBody>
          <a:bodyPr/>
          <a:lstStyle/>
          <a:p>
            <a:r>
              <a:rPr lang="en-US"/>
              <a:t>Full situational awareness of business and technical context</a:t>
            </a:r>
          </a:p>
        </p:txBody>
      </p:sp>
      <p:pic>
        <p:nvPicPr>
          <p:cNvPr id="3" name="Picture 2" descr="Amazon-Web-Services-Logo-White - MTI">
            <a:extLst>
              <a:ext uri="{FF2B5EF4-FFF2-40B4-BE49-F238E27FC236}">
                <a16:creationId xmlns:a16="http://schemas.microsoft.com/office/drawing/2014/main" id="{2975969C-1314-F35F-338A-12AAD50132A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62189" y="4166076"/>
            <a:ext cx="547581" cy="3166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F1608659-420E-AFDA-CFD8-EEAADB3947E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698940" y="3259125"/>
            <a:ext cx="727753" cy="227961"/>
          </a:xfrm>
          <a:prstGeom prst="rect">
            <a:avLst/>
          </a:prstGeom>
          <a:noFill/>
          <a:extLst>
            <a:ext uri="{909E8E84-426E-40DD-AFC4-6F175D3DCCD1}">
              <a14:hiddenFill xmlns:a14="http://schemas.microsoft.com/office/drawing/2010/main">
                <a:solidFill>
                  <a:srgbClr val="FFFFFF"/>
                </a:solidFill>
              </a14:hiddenFill>
            </a:ext>
          </a:extLst>
        </p:spPr>
      </p:pic>
      <p:pic>
        <p:nvPicPr>
          <p:cNvPr id="32" name="Graphic 31">
            <a:extLst>
              <a:ext uri="{FF2B5EF4-FFF2-40B4-BE49-F238E27FC236}">
                <a16:creationId xmlns:a16="http://schemas.microsoft.com/office/drawing/2014/main" id="{02A33320-5A36-5512-1133-B08C0BC6DD9E}"/>
              </a:ext>
            </a:extLst>
          </p:cNvPr>
          <p:cNvPicPr>
            <a:picLocks noChangeAspect="1"/>
          </p:cNvPicPr>
          <p:nvPr/>
        </p:nvPicPr>
        <p:blipFill>
          <a:blip>
            <a:extLst>
              <a:ext uri="{96DAC541-7B7A-43D3-8B79-37D633B846F1}">
                <asvg:svgBlip xmlns:asvg="http://schemas.microsoft.com/office/drawing/2016/SVG/main" r:embed="rId5"/>
              </a:ext>
            </a:extLst>
          </a:blip>
          <a:srcRect t="-1" r="77251" b="-2605"/>
          <a:stretch/>
        </p:blipFill>
        <p:spPr>
          <a:xfrm>
            <a:off x="7271788" y="5057669"/>
            <a:ext cx="476129" cy="334052"/>
          </a:xfrm>
          <a:prstGeom prst="rect">
            <a:avLst/>
          </a:prstGeom>
        </p:spPr>
      </p:pic>
      <p:pic>
        <p:nvPicPr>
          <p:cNvPr id="39" name="Picture 18">
            <a:extLst>
              <a:ext uri="{FF2B5EF4-FFF2-40B4-BE49-F238E27FC236}">
                <a16:creationId xmlns:a16="http://schemas.microsoft.com/office/drawing/2014/main" id="{A4CAB43C-FF4C-1CF3-8DE6-42C4ACAAFA45}"/>
              </a:ext>
            </a:extLst>
          </p:cNvPr>
          <p:cNvPicPr>
            <a:picLocks noChangeAspect="1" noChangeArrowheads="1"/>
          </p:cNvPicPr>
          <p:nvPr/>
        </p:nvPicPr>
        <p:blipFill>
          <a:blip r:embed="rId6" cstate="screen">
            <a:clrChange>
              <a:clrFrom>
                <a:srgbClr val="040E3D"/>
              </a:clrFrom>
              <a:clrTo>
                <a:srgbClr val="040E3D">
                  <a:alpha val="0"/>
                </a:srgbClr>
              </a:clrTo>
            </a:clrChange>
            <a:extLst>
              <a:ext uri="{28A0092B-C50C-407E-A947-70E740481C1C}">
                <a14:useLocalDpi xmlns:a14="http://schemas.microsoft.com/office/drawing/2010/main"/>
              </a:ext>
            </a:extLst>
          </a:blip>
          <a:srcRect/>
          <a:stretch>
            <a:fillRect/>
          </a:stretch>
        </p:blipFill>
        <p:spPr bwMode="auto">
          <a:xfrm>
            <a:off x="6544943" y="5041980"/>
            <a:ext cx="594017" cy="23100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Jamf Apple Device Management | Mac iPad iPhone TV Apple MDM">
            <a:extLst>
              <a:ext uri="{FF2B5EF4-FFF2-40B4-BE49-F238E27FC236}">
                <a16:creationId xmlns:a16="http://schemas.microsoft.com/office/drawing/2014/main" id="{6AA17C92-82E2-C2ED-6929-C8315D2D21BA}"/>
              </a:ext>
            </a:extLst>
          </p:cNvPr>
          <p:cNvPicPr>
            <a:picLocks noChangeAspect="1" noChangeArrowheads="1"/>
          </p:cNvPicPr>
          <p:nvPr/>
        </p:nvPicPr>
        <p:blipFill rotWithShape="1">
          <a:blip r:embed="rId7" cstate="screen">
            <a:clrChange>
              <a:clrFrom>
                <a:srgbClr val="040E3D"/>
              </a:clrFrom>
              <a:clrTo>
                <a:srgbClr val="040E3D">
                  <a:alpha val="0"/>
                </a:srgbClr>
              </a:clrTo>
            </a:clrChange>
            <a:extLst>
              <a:ext uri="{28A0092B-C50C-407E-A947-70E740481C1C}">
                <a14:useLocalDpi xmlns:a14="http://schemas.microsoft.com/office/drawing/2010/main"/>
              </a:ext>
            </a:extLst>
          </a:blip>
          <a:srcRect l="10084" t="35251" r="9186" b="35526"/>
          <a:stretch/>
        </p:blipFill>
        <p:spPr bwMode="auto">
          <a:xfrm>
            <a:off x="6072288" y="5259578"/>
            <a:ext cx="412991" cy="132143"/>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867ED324-4AA4-32C8-D29B-C7FBB8AAF7B9}"/>
              </a:ext>
            </a:extLst>
          </p:cNvPr>
          <p:cNvSpPr txBox="1"/>
          <p:nvPr/>
        </p:nvSpPr>
        <p:spPr>
          <a:xfrm>
            <a:off x="8008533" y="5372967"/>
            <a:ext cx="665157" cy="307777"/>
          </a:xfrm>
          <a:prstGeom prst="rect">
            <a:avLst/>
          </a:prstGeom>
          <a:noFill/>
        </p:spPr>
        <p:txBody>
          <a:bodyPr wrap="square" rtlCol="0">
            <a:spAutoFit/>
          </a:bodyPr>
          <a:lstStyle/>
          <a:p>
            <a:pPr algn="l"/>
            <a:r>
              <a:rPr lang="en-US" sz="1400">
                <a:solidFill>
                  <a:schemeClr val="bg1"/>
                </a:solidFill>
              </a:rPr>
              <a:t>ACC</a:t>
            </a:r>
          </a:p>
        </p:txBody>
      </p:sp>
      <p:sp>
        <p:nvSpPr>
          <p:cNvPr id="45" name="TextBox 44">
            <a:extLst>
              <a:ext uri="{FF2B5EF4-FFF2-40B4-BE49-F238E27FC236}">
                <a16:creationId xmlns:a16="http://schemas.microsoft.com/office/drawing/2014/main" id="{CCE510C6-75A3-AA70-551B-E295AA99253F}"/>
              </a:ext>
            </a:extLst>
          </p:cNvPr>
          <p:cNvSpPr txBox="1"/>
          <p:nvPr/>
        </p:nvSpPr>
        <p:spPr>
          <a:xfrm rot="21254502">
            <a:off x="8358118" y="3746894"/>
            <a:ext cx="799846" cy="307777"/>
          </a:xfrm>
          <a:prstGeom prst="rect">
            <a:avLst/>
          </a:prstGeom>
          <a:noFill/>
        </p:spPr>
        <p:txBody>
          <a:bodyPr wrap="square" rtlCol="0">
            <a:prstTxWarp prst="textArchDown">
              <a:avLst>
                <a:gd name="adj" fmla="val 2600932"/>
              </a:avLst>
            </a:prstTxWarp>
            <a:spAutoFit/>
          </a:bodyPr>
          <a:lstStyle/>
          <a:p>
            <a:pPr algn="l"/>
            <a:r>
              <a:rPr lang="en-US" sz="1200">
                <a:solidFill>
                  <a:schemeClr val="bg1"/>
                </a:solidFill>
              </a:rPr>
              <a:t>CSDM</a:t>
            </a:r>
          </a:p>
        </p:txBody>
      </p:sp>
      <p:sp>
        <p:nvSpPr>
          <p:cNvPr id="46" name="Block Arc 45">
            <a:extLst>
              <a:ext uri="{FF2B5EF4-FFF2-40B4-BE49-F238E27FC236}">
                <a16:creationId xmlns:a16="http://schemas.microsoft.com/office/drawing/2014/main" id="{3DE88ECA-7E9B-E735-F9FC-FCBD4AC92E5C}"/>
              </a:ext>
            </a:extLst>
          </p:cNvPr>
          <p:cNvSpPr/>
          <p:nvPr/>
        </p:nvSpPr>
        <p:spPr>
          <a:xfrm rot="10800000">
            <a:off x="8346748" y="3911243"/>
            <a:ext cx="727220" cy="396981"/>
          </a:xfrm>
          <a:prstGeom prst="blockArc">
            <a:avLst>
              <a:gd name="adj1" fmla="val 10800000"/>
              <a:gd name="adj2" fmla="val 0"/>
              <a:gd name="adj3" fmla="val 25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47" name="Oval 46">
            <a:extLst>
              <a:ext uri="{FF2B5EF4-FFF2-40B4-BE49-F238E27FC236}">
                <a16:creationId xmlns:a16="http://schemas.microsoft.com/office/drawing/2014/main" id="{53C25B57-E1F4-394E-B9C6-E540D9B4F9AC}"/>
              </a:ext>
            </a:extLst>
          </p:cNvPr>
          <p:cNvSpPr>
            <a:spLocks noChangeAspect="1"/>
          </p:cNvSpPr>
          <p:nvPr/>
        </p:nvSpPr>
        <p:spPr>
          <a:xfrm>
            <a:off x="10063185" y="3463020"/>
            <a:ext cx="738151" cy="738151"/>
          </a:xfrm>
          <a:prstGeom prst="ellipse">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lt1"/>
              </a:solidFill>
            </a:endParaRPr>
          </a:p>
        </p:txBody>
      </p:sp>
      <p:sp>
        <p:nvSpPr>
          <p:cNvPr id="49" name="TextBox 48">
            <a:extLst>
              <a:ext uri="{FF2B5EF4-FFF2-40B4-BE49-F238E27FC236}">
                <a16:creationId xmlns:a16="http://schemas.microsoft.com/office/drawing/2014/main" id="{5C5C0023-D1EE-0D92-1C44-37759800F0AE}"/>
              </a:ext>
            </a:extLst>
          </p:cNvPr>
          <p:cNvSpPr txBox="1"/>
          <p:nvPr/>
        </p:nvSpPr>
        <p:spPr>
          <a:xfrm>
            <a:off x="10136017" y="3682950"/>
            <a:ext cx="738151" cy="338554"/>
          </a:xfrm>
          <a:prstGeom prst="rect">
            <a:avLst/>
          </a:prstGeom>
          <a:noFill/>
        </p:spPr>
        <p:txBody>
          <a:bodyPr wrap="square" rtlCol="0">
            <a:spAutoFit/>
          </a:bodyPr>
          <a:lstStyle/>
          <a:p>
            <a:pPr algn="l"/>
            <a:r>
              <a:rPr lang="en-US" sz="800">
                <a:solidFill>
                  <a:schemeClr val="bg1"/>
                </a:solidFill>
              </a:rPr>
              <a:t>Current</a:t>
            </a:r>
          </a:p>
          <a:p>
            <a:pPr algn="l"/>
            <a:r>
              <a:rPr lang="en-US" sz="800">
                <a:solidFill>
                  <a:schemeClr val="bg1"/>
                </a:solidFill>
              </a:rPr>
              <a:t>Changes</a:t>
            </a:r>
            <a:endParaRPr lang="en-US"/>
          </a:p>
        </p:txBody>
      </p:sp>
      <p:sp>
        <p:nvSpPr>
          <p:cNvPr id="51" name="Oval 50">
            <a:extLst>
              <a:ext uri="{FF2B5EF4-FFF2-40B4-BE49-F238E27FC236}">
                <a16:creationId xmlns:a16="http://schemas.microsoft.com/office/drawing/2014/main" id="{9556D7FA-57B8-73C4-195E-DDFFA5557CFF}"/>
              </a:ext>
            </a:extLst>
          </p:cNvPr>
          <p:cNvSpPr>
            <a:spLocks noChangeAspect="1"/>
          </p:cNvSpPr>
          <p:nvPr/>
        </p:nvSpPr>
        <p:spPr>
          <a:xfrm>
            <a:off x="10725752" y="3461437"/>
            <a:ext cx="738151" cy="738151"/>
          </a:xfrm>
          <a:prstGeom prst="ellipse">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lt1"/>
              </a:solidFill>
            </a:endParaRPr>
          </a:p>
        </p:txBody>
      </p:sp>
      <p:sp>
        <p:nvSpPr>
          <p:cNvPr id="50" name="TextBox 49">
            <a:extLst>
              <a:ext uri="{FF2B5EF4-FFF2-40B4-BE49-F238E27FC236}">
                <a16:creationId xmlns:a16="http://schemas.microsoft.com/office/drawing/2014/main" id="{DD6D4C23-40B6-1A50-9B78-8AFB801B1514}"/>
              </a:ext>
            </a:extLst>
          </p:cNvPr>
          <p:cNvSpPr txBox="1"/>
          <p:nvPr/>
        </p:nvSpPr>
        <p:spPr>
          <a:xfrm>
            <a:off x="10788950" y="3668614"/>
            <a:ext cx="738151" cy="338554"/>
          </a:xfrm>
          <a:prstGeom prst="rect">
            <a:avLst/>
          </a:prstGeom>
          <a:noFill/>
        </p:spPr>
        <p:txBody>
          <a:bodyPr wrap="square" rtlCol="0">
            <a:spAutoFit/>
          </a:bodyPr>
          <a:lstStyle/>
          <a:p>
            <a:pPr algn="l"/>
            <a:r>
              <a:rPr lang="en-US" sz="800">
                <a:solidFill>
                  <a:schemeClr val="bg1"/>
                </a:solidFill>
              </a:rPr>
              <a:t>Prior Incidents</a:t>
            </a:r>
            <a:endParaRPr lang="en-US"/>
          </a:p>
        </p:txBody>
      </p:sp>
      <p:sp>
        <p:nvSpPr>
          <p:cNvPr id="52" name="Oval 51">
            <a:extLst>
              <a:ext uri="{FF2B5EF4-FFF2-40B4-BE49-F238E27FC236}">
                <a16:creationId xmlns:a16="http://schemas.microsoft.com/office/drawing/2014/main" id="{AFBD8979-AA47-E162-FBD3-D6E5899FC35D}"/>
              </a:ext>
            </a:extLst>
          </p:cNvPr>
          <p:cNvSpPr>
            <a:spLocks noChangeAspect="1"/>
          </p:cNvSpPr>
          <p:nvPr/>
        </p:nvSpPr>
        <p:spPr>
          <a:xfrm>
            <a:off x="9600777" y="2414794"/>
            <a:ext cx="774772" cy="774772"/>
          </a:xfrm>
          <a:prstGeom prst="ellipse">
            <a:avLst/>
          </a:prstGeom>
          <a:solidFill>
            <a:schemeClr val="tx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endParaRPr>
          </a:p>
        </p:txBody>
      </p:sp>
      <p:sp>
        <p:nvSpPr>
          <p:cNvPr id="53" name="TextBox 52">
            <a:extLst>
              <a:ext uri="{FF2B5EF4-FFF2-40B4-BE49-F238E27FC236}">
                <a16:creationId xmlns:a16="http://schemas.microsoft.com/office/drawing/2014/main" id="{DA45133C-5287-34BF-EFF8-8CDB42825C5D}"/>
              </a:ext>
            </a:extLst>
          </p:cNvPr>
          <p:cNvSpPr txBox="1"/>
          <p:nvPr/>
        </p:nvSpPr>
        <p:spPr>
          <a:xfrm>
            <a:off x="9520698" y="2609306"/>
            <a:ext cx="855611" cy="369332"/>
          </a:xfrm>
          <a:prstGeom prst="rect">
            <a:avLst/>
          </a:prstGeom>
          <a:noFill/>
        </p:spPr>
        <p:txBody>
          <a:bodyPr wrap="square" anchor="ctr">
            <a:spAutoFit/>
          </a:bodyPr>
          <a:lstStyle/>
          <a:p>
            <a:pPr algn="ctr"/>
            <a:r>
              <a:rPr lang="en-US" sz="900">
                <a:solidFill>
                  <a:schemeClr val="bg1"/>
                </a:solidFill>
              </a:rPr>
              <a:t>External / Internal </a:t>
            </a:r>
            <a:r>
              <a:rPr lang="en-US" sz="900" b="1">
                <a:solidFill>
                  <a:schemeClr val="bg1"/>
                </a:solidFill>
              </a:rPr>
              <a:t>KB</a:t>
            </a:r>
          </a:p>
        </p:txBody>
      </p:sp>
      <p:sp>
        <p:nvSpPr>
          <p:cNvPr id="4" name="01-subheadline">
            <a:extLst>
              <a:ext uri="{FF2B5EF4-FFF2-40B4-BE49-F238E27FC236}">
                <a16:creationId xmlns:a16="http://schemas.microsoft.com/office/drawing/2014/main" id="{5615F787-59AA-1EDB-1BEE-A31DF33CA310}"/>
              </a:ext>
            </a:extLst>
          </p:cNvPr>
          <p:cNvSpPr txBox="1"/>
          <p:nvPr/>
        </p:nvSpPr>
        <p:spPr>
          <a:xfrm>
            <a:off x="874459" y="1960918"/>
            <a:ext cx="4188634" cy="3688189"/>
          </a:xfrm>
          <a:prstGeom prst="rect">
            <a:avLst/>
          </a:prstGeom>
          <a:noFill/>
        </p:spPr>
        <p:txBody>
          <a:bodyPr wrap="square" lIns="91440" tIns="45720" rIns="91440" bIns="45720" rtlCol="0" anchor="b">
            <a:spAutoFit/>
          </a:bodyPr>
          <a:lstStyle/>
          <a:p>
            <a:pPr algn="l">
              <a:spcBef>
                <a:spcPts val="400"/>
              </a:spcBef>
              <a:spcAft>
                <a:spcPts val="600"/>
              </a:spcAft>
            </a:pPr>
            <a:r>
              <a:rPr lang="en-US" sz="1600">
                <a:solidFill>
                  <a:schemeClr val="accent1"/>
                </a:solidFill>
                <a:latin typeface="Source Sans 3" panose="020B0504040101010104" pitchFamily="34" charset="77"/>
              </a:rPr>
              <a:t>Unified data, clear picture</a:t>
            </a:r>
          </a:p>
          <a:p>
            <a:pPr algn="l">
              <a:spcBef>
                <a:spcPts val="400"/>
              </a:spcBef>
              <a:spcAft>
                <a:spcPts val="600"/>
              </a:spcAft>
            </a:pPr>
            <a:r>
              <a:rPr lang="en-US" sz="1600" b="1">
                <a:solidFill>
                  <a:schemeClr val="bg1"/>
                </a:solidFill>
              </a:rPr>
              <a:t>Knowledge Graph connects data from across your systems into one coherent view of your environment.</a:t>
            </a:r>
          </a:p>
          <a:p>
            <a:pPr>
              <a:spcBef>
                <a:spcPts val="400"/>
              </a:spcBef>
              <a:spcAft>
                <a:spcPts val="600"/>
              </a:spcAft>
            </a:pPr>
            <a:r>
              <a:rPr lang="en-US" sz="1600">
                <a:solidFill>
                  <a:schemeClr val="accent1"/>
                </a:solidFill>
                <a:latin typeface="Source Sans 3" panose="020B0504040101010104" pitchFamily="34" charset="77"/>
              </a:rPr>
              <a:t>Context that makes AI smarter</a:t>
            </a:r>
          </a:p>
          <a:p>
            <a:pPr algn="l">
              <a:spcBef>
                <a:spcPts val="400"/>
              </a:spcBef>
              <a:spcAft>
                <a:spcPts val="600"/>
              </a:spcAft>
            </a:pPr>
            <a:r>
              <a:rPr lang="en-US" sz="1600" b="1">
                <a:solidFill>
                  <a:schemeClr val="bg1"/>
                </a:solidFill>
              </a:rPr>
              <a:t>Business context and institutional knowledge, built in — so AI understands your environment, not just your data.</a:t>
            </a:r>
          </a:p>
          <a:p>
            <a:pPr algn="l">
              <a:spcBef>
                <a:spcPts val="400"/>
              </a:spcBef>
              <a:spcAft>
                <a:spcPts val="600"/>
              </a:spcAft>
            </a:pPr>
            <a:r>
              <a:rPr lang="en-US" sz="1600">
                <a:solidFill>
                  <a:schemeClr val="accent1"/>
                </a:solidFill>
                <a:latin typeface="Source Sans 3" panose="020B0504040101010104" pitchFamily="34" charset="77"/>
              </a:rPr>
              <a:t>AI that acts, not just answers</a:t>
            </a:r>
          </a:p>
          <a:p>
            <a:pPr algn="l">
              <a:spcBef>
                <a:spcPts val="400"/>
              </a:spcBef>
              <a:spcAft>
                <a:spcPts val="600"/>
              </a:spcAft>
            </a:pPr>
            <a:r>
              <a:rPr lang="en-US" sz="1600" b="1">
                <a:solidFill>
                  <a:schemeClr val="bg1"/>
                </a:solidFill>
              </a:rPr>
              <a:t>AI that reasons against your Knowledge Graph takes informed action and delivers measurable outcomes.</a:t>
            </a:r>
            <a:endParaRPr lang="en-US" sz="1400">
              <a:solidFill>
                <a:schemeClr val="bg1"/>
              </a:solidFill>
              <a:effectLst/>
              <a:latin typeface="Source Sans 3" panose="020B0504040101010104" pitchFamily="34" charset="77"/>
              <a:ea typeface="Source Sans 3" panose="020B0604020202020204" pitchFamily="34" charset="0"/>
              <a:cs typeface="Source Sans 3" panose="020F0502020204030204" pitchFamily="34" charset="0"/>
            </a:endParaRPr>
          </a:p>
        </p:txBody>
      </p:sp>
      <p:sp>
        <p:nvSpPr>
          <p:cNvPr id="9" name="Footer Placeholder 4">
            <a:extLst>
              <a:ext uri="{FF2B5EF4-FFF2-40B4-BE49-F238E27FC236}">
                <a16:creationId xmlns:a16="http://schemas.microsoft.com/office/drawing/2014/main" id="{F459CA0B-B975-B994-EBC5-74AD6A746075}"/>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461" name="Rectangle 460"/>
          <p:cNvSpPr/>
          <p:nvPr/>
        </p:nvSpPr>
        <p:spPr>
          <a:xfrm>
            <a:off x="566928" y="5952744"/>
            <a:ext cx="10991088" cy="356616"/>
          </a:xfrm>
          <a:prstGeom prst="rect">
            <a:avLst/>
          </a:prstGeom>
          <a:solidFill>
            <a:srgbClr val="040E3D"/>
          </a:solidFill>
          <a:ln w="8255">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Diagnostic check label"/>
          <p:cNvSpPr txBox="1"/>
          <p:nvPr/>
        </p:nvSpPr>
        <p:spPr>
          <a:xfrm>
            <a:off x="722376" y="5980176"/>
            <a:ext cx="1097280" cy="274320"/>
          </a:xfrm>
          <a:prstGeom prst="rect">
            <a:avLst/>
          </a:prstGeom>
          <a:noFill/>
        </p:spPr>
        <p:txBody>
          <a:bodyPr wrap="square" lIns="32004" tIns="0" rIns="32004" bIns="0" anchor="ctr">
            <a:spAutoFit/>
          </a:bodyPr>
          <a:lstStyle/>
          <a:p>
            <a:pPr algn="l"/>
            <a:r>
              <a:rPr sz="1100" b="1">
                <a:solidFill>
                  <a:srgbClr val="8FFFDB"/>
                </a:solidFill>
                <a:latin typeface="Source Sans 3"/>
              </a:rPr>
              <a:t>CHECK 02</a:t>
            </a:r>
          </a:p>
        </p:txBody>
      </p:sp>
      <p:sp>
        <p:nvSpPr>
          <p:cNvPr id="463" name="Diagnostic check caption"/>
          <p:cNvSpPr txBox="1"/>
          <p:nvPr/>
        </p:nvSpPr>
        <p:spPr>
          <a:xfrm>
            <a:off x="1764792" y="5980176"/>
            <a:ext cx="9509760" cy="274320"/>
          </a:xfrm>
          <a:prstGeom prst="rect">
            <a:avLst/>
          </a:prstGeom>
          <a:noFill/>
        </p:spPr>
        <p:txBody>
          <a:bodyPr wrap="square" lIns="32004" tIns="0" rIns="32004" bIns="0" anchor="ctr">
            <a:spAutoFit/>
          </a:bodyPr>
          <a:lstStyle/>
          <a:p>
            <a:pPr algn="l"/>
            <a:r>
              <a:rPr sz="1110" b="0">
                <a:solidFill>
                  <a:srgbClr val="F2F2F4"/>
                </a:solidFill>
                <a:latin typeface="Source Sans 3"/>
              </a:rPr>
              <a:t>Confirm trusted articles, named owners, review dates and business-context relationships.</a:t>
            </a:r>
          </a:p>
        </p:txBody>
      </p:sp>
    </p:spTree>
    <p:extLst>
      <p:ext uri="{BB962C8B-B14F-4D97-AF65-F5344CB8AC3E}">
        <p14:creationId xmlns:p14="http://schemas.microsoft.com/office/powerpoint/2010/main" val="99269972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15FBA-16ED-1E15-47A2-DF4821C67258}"/>
            </a:ext>
          </a:extLst>
        </p:cNvPr>
        <p:cNvGrpSpPr/>
        <p:nvPr/>
      </p:nvGrpSpPr>
      <p:grpSpPr>
        <a:xfrm>
          <a:off x="0" y="0"/>
          <a:ext cx="0" cy="0"/>
          <a:chOff x="0" y="0"/>
          <a:chExt cx="0" cy="0"/>
        </a:xfrm>
      </p:grpSpPr>
      <p:pic>
        <p:nvPicPr>
          <p:cNvPr id="4" name="Picture 3" descr="A blue and purple background&#10;&#10;AI-generated content may be incorrect.">
            <a:extLst>
              <a:ext uri="{FF2B5EF4-FFF2-40B4-BE49-F238E27FC236}">
                <a16:creationId xmlns:a16="http://schemas.microsoft.com/office/drawing/2014/main" id="{50FE5AB5-D3E2-22E9-F8F7-0C9AC74EB1D2}"/>
              </a:ext>
            </a:extLst>
          </p:cNvPr>
          <p:cNvPicPr>
            <a:picLocks/>
          </p:cNvPicPr>
          <p:nvPr/>
        </p:nvPicPr>
        <p:blipFill>
          <a:blip r:embed="rId3"/>
          <a:stretch>
            <a:fillRect/>
          </a:stretch>
        </p:blipFill>
        <p:spPr>
          <a:xfrm>
            <a:off x="-1254" y="1"/>
            <a:ext cx="12180889" cy="6859991"/>
          </a:xfrm>
          <a:prstGeom prst="rect">
            <a:avLst/>
          </a:prstGeom>
        </p:spPr>
      </p:pic>
      <p:sp>
        <p:nvSpPr>
          <p:cNvPr id="20" name="TextBox 19">
            <a:extLst>
              <a:ext uri="{FF2B5EF4-FFF2-40B4-BE49-F238E27FC236}">
                <a16:creationId xmlns:a16="http://schemas.microsoft.com/office/drawing/2014/main" id="{03218F67-CDB1-408E-F428-1A9E049C62D6}"/>
              </a:ext>
            </a:extLst>
          </p:cNvPr>
          <p:cNvSpPr txBox="1"/>
          <p:nvPr/>
        </p:nvSpPr>
        <p:spPr>
          <a:xfrm>
            <a:off x="399597" y="305257"/>
            <a:ext cx="11160693" cy="1200329"/>
          </a:xfrm>
          <a:prstGeom prst="rect">
            <a:avLst/>
          </a:prstGeom>
          <a:noFill/>
        </p:spPr>
        <p:txBody>
          <a:bodyPr wrap="square">
            <a:spAutoFit/>
          </a:bodyPr>
          <a:lstStyle/>
          <a:p>
            <a:pPr marL="0" marR="0" lvl="0" indent="0" algn="l" defTabSz="456217" rtl="0" eaLnBrk="1" fontAlgn="auto" latinLnBrk="0" hangingPunct="1">
              <a:lnSpc>
                <a:spcPct val="100000"/>
              </a:lnSpc>
              <a:spcBef>
                <a:spcPts val="0"/>
              </a:spcBef>
              <a:spcAft>
                <a:spcPts val="0"/>
              </a:spcAft>
              <a:buClrTx/>
              <a:buSzTx/>
              <a:buFontTx/>
              <a:buNone/>
              <a:tabLst/>
              <a:defRPr/>
            </a:pPr>
            <a:r>
              <a:rPr lang="en-US" sz="2900" b="1">
                <a:solidFill>
                  <a:srgbClr val="F2F2F4"/>
                </a:solidFill>
                <a:latin typeface="Source Sans 3"/>
                <a:sym typeface="Source Sans 3"/>
              </a:rPr>
              <a:t>Build the workflow. Not another disconnected pilot.</a:t>
            </a:r>
          </a:p>
        </p:txBody>
      </p:sp>
      <p:sp>
        <p:nvSpPr>
          <p:cNvPr id="21" name="TextBox 20">
            <a:extLst>
              <a:ext uri="{FF2B5EF4-FFF2-40B4-BE49-F238E27FC236}">
                <a16:creationId xmlns:a16="http://schemas.microsoft.com/office/drawing/2014/main" id="{5CA8C0A9-5AD7-BB2C-F730-4809660BAB4F}"/>
              </a:ext>
            </a:extLst>
          </p:cNvPr>
          <p:cNvSpPr txBox="1"/>
          <p:nvPr/>
        </p:nvSpPr>
        <p:spPr>
          <a:xfrm>
            <a:off x="338789" y="1533146"/>
            <a:ext cx="4908382" cy="424635"/>
          </a:xfrm>
          <a:prstGeom prst="rect">
            <a:avLst/>
          </a:prstGeom>
          <a:noFill/>
        </p:spPr>
        <p:txBody>
          <a:bodyPr wrap="square" lIns="91345" tIns="45672" rIns="91345" bIns="45672" anchor="b">
            <a:spAutoFit/>
          </a:bodyPr>
          <a:lstStyle/>
          <a:p>
            <a:pPr marL="0" marR="0" lvl="0" indent="0" algn="l" defTabSz="455397" rtl="0" eaLnBrk="1" fontAlgn="auto" latinLnBrk="0" hangingPunct="1">
              <a:lnSpc>
                <a:spcPct val="90000"/>
              </a:lnSpc>
              <a:spcBef>
                <a:spcPts val="0"/>
              </a:spcBef>
              <a:spcAft>
                <a:spcPts val="0"/>
              </a:spcAft>
              <a:buClrTx/>
              <a:buSzTx/>
              <a:buFontTx/>
              <a:buNone/>
              <a:tabLst/>
              <a:defRPr/>
            </a:pPr>
            <a:r>
              <a:rPr kumimoji="0" lang="en-US" sz="2100" b="1" i="0" u="none" strike="noStrike" kern="1200" cap="none" spc="0" normalizeH="0" baseline="0" noProof="0">
                <a:ln>
                  <a:noFill/>
                </a:ln>
                <a:solidFill>
                  <a:srgbClr val="8FFFDB"/>
                </a:solidFill>
                <a:effectLst/>
                <a:uLnTx/>
                <a:uFillTx/>
                <a:ea typeface="+mn-ea"/>
                <a:cs typeface="+mn-cs"/>
                <a:sym typeface="Source Sans 3"/>
              </a:rPr>
              <a:t>App Engine &amp; Build Agent</a:t>
            </a:r>
          </a:p>
        </p:txBody>
      </p:sp>
      <p:sp>
        <p:nvSpPr>
          <p:cNvPr id="60" name="Rounded Rectangle 59">
            <a:extLst>
              <a:ext uri="{FF2B5EF4-FFF2-40B4-BE49-F238E27FC236}">
                <a16:creationId xmlns:a16="http://schemas.microsoft.com/office/drawing/2014/main" id="{47339812-B6F9-F372-72BF-524BEE02078F}"/>
              </a:ext>
            </a:extLst>
          </p:cNvPr>
          <p:cNvSpPr/>
          <p:nvPr/>
        </p:nvSpPr>
        <p:spPr>
          <a:xfrm>
            <a:off x="399599" y="4001248"/>
            <a:ext cx="7226531" cy="2403902"/>
          </a:xfrm>
          <a:prstGeom prst="roundRect">
            <a:avLst>
              <a:gd name="adj" fmla="val 4230"/>
            </a:avLst>
          </a:prstGeom>
        </p:spPr>
        <p:txBody>
          <a:bodyPr vert="horz" lIns="91203" tIns="45600" rIns="91203" bIns="45600" rtlCol="0" anchor="t">
            <a:noAutofit/>
          </a:bodyPr>
          <a:lstStyle/>
          <a:p>
            <a:pPr marL="0" marR="0" lvl="0" indent="0" algn="l" defTabSz="910839" rtl="0" eaLnBrk="1" fontAlgn="auto" latinLnBrk="0" hangingPunct="1">
              <a:lnSpc>
                <a:spcPct val="100000"/>
              </a:lnSpc>
              <a:spcBef>
                <a:spcPts val="400"/>
              </a:spcBef>
              <a:spcAft>
                <a:spcPts val="598"/>
              </a:spcAft>
              <a:buClr>
                <a:srgbClr val="8FFFDB"/>
              </a:buClr>
              <a:buSzTx/>
              <a:buFontTx/>
              <a:buNone/>
              <a:tabLst/>
              <a:defRPr/>
            </a:pPr>
            <a:endParaRPr kumimoji="0" lang="en-US" sz="1097" u="none" strike="noStrike" kern="1200" cap="none" spc="0" normalizeH="0" baseline="0" noProof="0">
              <a:ln>
                <a:noFill/>
              </a:ln>
              <a:solidFill>
                <a:srgbClr val="FFFFFF"/>
              </a:solidFill>
              <a:effectLst/>
              <a:uLnTx/>
              <a:uFillTx/>
              <a:latin typeface="Source Sans 3" panose="020B0504040101010104" pitchFamily="34" charset="77"/>
              <a:ea typeface="+mn-ea"/>
              <a:cs typeface="+mn-cs"/>
              <a:sym typeface="Source Sans 3"/>
            </a:endParaRPr>
          </a:p>
        </p:txBody>
      </p:sp>
      <p:pic>
        <p:nvPicPr>
          <p:cNvPr id="6" name="Picture 15">
            <a:extLst>
              <a:ext uri="{FF2B5EF4-FFF2-40B4-BE49-F238E27FC236}">
                <a16:creationId xmlns:a16="http://schemas.microsoft.com/office/drawing/2014/main" id="{67CB5013-0241-125E-BFD3-3D952C6262F0}"/>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82764" y="6352389"/>
            <a:ext cx="979823" cy="279876"/>
          </a:xfrm>
          <a:prstGeom prst="rect">
            <a:avLst/>
          </a:prstGeom>
        </p:spPr>
      </p:pic>
      <p:sp>
        <p:nvSpPr>
          <p:cNvPr id="55" name="TextBox 54">
            <a:extLst>
              <a:ext uri="{FF2B5EF4-FFF2-40B4-BE49-F238E27FC236}">
                <a16:creationId xmlns:a16="http://schemas.microsoft.com/office/drawing/2014/main" id="{25DA96CB-FCD7-8152-6693-38C73E5E32F3}"/>
              </a:ext>
            </a:extLst>
          </p:cNvPr>
          <p:cNvSpPr txBox="1"/>
          <p:nvPr/>
        </p:nvSpPr>
        <p:spPr>
          <a:xfrm>
            <a:off x="393177" y="2214730"/>
            <a:ext cx="4237855" cy="2707793"/>
          </a:xfrm>
          <a:prstGeom prst="rect">
            <a:avLst/>
          </a:prstGeom>
          <a:noFill/>
        </p:spPr>
        <p:txBody>
          <a:bodyPr wrap="square" rtlCol="0">
            <a:spAutoFit/>
          </a:bodyPr>
          <a:lstStyle/>
          <a:p>
            <a:pPr marL="0" marR="0" lvl="0" indent="0" algn="l" defTabSz="456582" rtl="0" eaLnBrk="1" fontAlgn="auto" latinLnBrk="0" hangingPunct="0">
              <a:lnSpc>
                <a:spcPct val="100000"/>
              </a:lnSpc>
              <a:spcBef>
                <a:spcPts val="0"/>
              </a:spcBef>
              <a:spcAft>
                <a:spcPts val="0"/>
              </a:spcAft>
              <a:buClrTx/>
              <a:buSzTx/>
              <a:buFontTx/>
              <a:buNone/>
              <a:tabLst/>
              <a:defRPr/>
            </a:pPr>
            <a:r>
              <a:rPr kumimoji="0" lang="en-US" sz="1500" b="1" i="0" u="none" strike="noStrike" kern="0" cap="none" spc="0" normalizeH="0" baseline="0" noProof="0">
                <a:ln>
                  <a:noFill/>
                </a:ln>
                <a:solidFill>
                  <a:srgbClr val="F2F2F4"/>
                </a:solidFill>
                <a:effectLst/>
                <a:uLnTx/>
                <a:uFillTx/>
                <a:latin typeface="Source Sans 3" panose="020B0504040101010104" pitchFamily="34" charset="77"/>
                <a:ea typeface="+mn-ea"/>
                <a:cs typeface="+mn-cs"/>
                <a:sym typeface="Source Sans 3"/>
              </a:rPr>
              <a:t>Define the work
Map each action, decision and exception.
Design for control
Use approved platform rules and data.
Validate before live use
Test hand-offs, failure paths and rollback.
Release and improve
Ship a bounded use case, then measure.</a:t>
            </a: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F2F2F4"/>
              </a:solidFill>
              <a:effectLst/>
              <a:uLnTx/>
              <a:uFillTx/>
              <a:latin typeface="Source Sans 3" panose="020B0504040101010104" pitchFamily="34" charset="77"/>
              <a:ea typeface="+mn-ea"/>
              <a:cs typeface="+mn-cs"/>
              <a:sym typeface="Source Sans 3"/>
            </a:endParaRP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98" b="0" i="0" u="none" strike="noStrike" kern="0" cap="none" spc="0" normalizeH="0" baseline="0" noProof="0">
              <a:ln>
                <a:noFill/>
              </a:ln>
              <a:solidFill>
                <a:srgbClr val="FFFFFF"/>
              </a:solidFill>
              <a:effectLst/>
              <a:uLnTx/>
              <a:uFillTx/>
              <a:latin typeface="Source Sans 3" panose="020B0504040101010104" pitchFamily="34" charset="77"/>
              <a:ea typeface="+mn-ea"/>
              <a:cs typeface="Source Sans 3" panose="020B0404040101010104" pitchFamily="34" charset="77"/>
              <a:sym typeface="Source Sans 3"/>
            </a:endParaRP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98" b="0" i="0" u="none" strike="noStrike" kern="0" cap="none" spc="0" normalizeH="0" baseline="0" noProof="0">
              <a:ln>
                <a:noFill/>
              </a:ln>
              <a:solidFill>
                <a:srgbClr val="FFFFFF"/>
              </a:solidFill>
              <a:effectLst/>
              <a:uLnTx/>
              <a:uFillTx/>
              <a:latin typeface="Source Sans 3" panose="020B0504040101010104" pitchFamily="34" charset="77"/>
              <a:ea typeface="+mn-ea"/>
              <a:cs typeface="Source Sans 3" panose="020B0404040101010104" pitchFamily="34" charset="77"/>
              <a:sym typeface="Source Sans 3"/>
            </a:endParaRP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98" b="0" i="0" u="none" strike="noStrike" kern="0" cap="none" spc="0" normalizeH="0" baseline="0" noProof="0">
              <a:ln>
                <a:noFill/>
              </a:ln>
              <a:solidFill>
                <a:srgbClr val="FFFFFF"/>
              </a:solidFill>
              <a:effectLst/>
              <a:uLnTx/>
              <a:uFillTx/>
              <a:latin typeface="Source Sans 3" panose="020B0504040101010104" pitchFamily="34" charset="77"/>
              <a:ea typeface="+mn-ea"/>
              <a:cs typeface="Source Sans 3" panose="020B0404040101010104" pitchFamily="34" charset="77"/>
              <a:sym typeface="Source Sans 3"/>
            </a:endParaRP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98" b="1" i="0" u="none" strike="noStrike" kern="0" cap="none" spc="0" normalizeH="0" baseline="0" noProof="0">
              <a:ln>
                <a:noFill/>
              </a:ln>
              <a:solidFill>
                <a:srgbClr val="FFFFFF"/>
              </a:solidFill>
              <a:effectLst/>
              <a:uLnTx/>
              <a:uFillTx/>
              <a:latin typeface="Source Sans 3" panose="020B0504040101010104" pitchFamily="34" charset="77"/>
              <a:ea typeface="+mn-ea"/>
              <a:cs typeface="Source Sans 3" panose="020B0404040101010104" pitchFamily="34" charset="77"/>
              <a:sym typeface="Source Sans 3"/>
            </a:endParaRP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98" b="1" i="0" u="none" strike="noStrike" kern="0" cap="none" spc="0" normalizeH="0" baseline="0" noProof="0">
              <a:ln>
                <a:noFill/>
              </a:ln>
              <a:solidFill>
                <a:srgbClr val="FFFFFF"/>
              </a:solidFill>
              <a:effectLst/>
              <a:uLnTx/>
              <a:uFillTx/>
              <a:latin typeface="Source Sans 3" panose="020B0504040101010104" pitchFamily="34" charset="77"/>
              <a:ea typeface="+mn-ea"/>
              <a:cs typeface="Source Sans 3" panose="020B0404040101010104" pitchFamily="34" charset="77"/>
              <a:sym typeface="Source Sans 3"/>
            </a:endParaRPr>
          </a:p>
          <a:p>
            <a:pPr marL="0" marR="0" lvl="0" indent="0" algn="l" defTabSz="456582" rtl="0" eaLnBrk="1" fontAlgn="auto" latinLnBrk="0" hangingPunct="0">
              <a:lnSpc>
                <a:spcPct val="100000"/>
              </a:lnSpc>
              <a:spcBef>
                <a:spcPts val="0"/>
              </a:spcBef>
              <a:spcAft>
                <a:spcPts val="0"/>
              </a:spcAft>
              <a:buClrTx/>
              <a:buSzTx/>
              <a:buFontTx/>
              <a:buNone/>
              <a:tabLst/>
              <a:defRPr/>
            </a:pPr>
            <a:endParaRPr kumimoji="0" lang="en-US" sz="1598" b="1" i="0" u="none" strike="noStrike" kern="0" cap="none" spc="0" normalizeH="0" baseline="0" noProof="0">
              <a:ln>
                <a:noFill/>
              </a:ln>
              <a:solidFill>
                <a:srgbClr val="FFFFFF"/>
              </a:solidFill>
              <a:effectLst/>
              <a:uLnTx/>
              <a:uFillTx/>
              <a:latin typeface="Source Sans 3" panose="020B0504040101010104" pitchFamily="34" charset="77"/>
              <a:ea typeface="+mn-ea"/>
              <a:cs typeface="Source Sans 3" panose="020B0404040101010104" pitchFamily="34" charset="77"/>
              <a:sym typeface="Source Sans 3"/>
            </a:endParaRPr>
          </a:p>
        </p:txBody>
      </p:sp>
      <p:sp>
        <p:nvSpPr>
          <p:cNvPr id="61" name="Rounded Rectangle 16">
            <a:extLst>
              <a:ext uri="{FF2B5EF4-FFF2-40B4-BE49-F238E27FC236}">
                <a16:creationId xmlns:a16="http://schemas.microsoft.com/office/drawing/2014/main" id="{CBBC6520-C9A2-51E9-4CB8-5A8F9AA76845}"/>
              </a:ext>
              <a:ext uri="{C183D7F6-B498-43B3-948B-1728B52AA6E4}">
                <adec:decorative xmlns:adec="http://schemas.microsoft.com/office/drawing/2017/decorative" val="1"/>
              </a:ext>
            </a:extLst>
          </p:cNvPr>
          <p:cNvSpPr/>
          <p:nvPr/>
        </p:nvSpPr>
        <p:spPr>
          <a:xfrm>
            <a:off x="5186363" y="1233037"/>
            <a:ext cx="9147713" cy="4722564"/>
          </a:xfrm>
          <a:prstGeom prst="roundRect">
            <a:avLst>
              <a:gd name="adj" fmla="val 4550"/>
            </a:avLst>
          </a:prstGeom>
          <a:solidFill>
            <a:schemeClr val="tx2">
              <a:alpha val="5289"/>
            </a:schemeClr>
          </a:solidFill>
          <a:ln w="6350">
            <a:solidFill>
              <a:schemeClr val="tx1"/>
            </a:solidFill>
          </a:ln>
          <a:scene3d>
            <a:camera prst="orthographicFront"/>
            <a:lightRig rig="brightRoom" dir="t">
              <a:rot lat="0" lon="0" rev="0"/>
            </a:lightRig>
          </a:scene3d>
          <a:sp3d extrusionH="38100" prstMaterial="translucentPowder">
            <a:bevelT w="114300" h="1143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486" rtl="0" eaLnBrk="1" fontAlgn="auto" latinLnBrk="0" hangingPunct="1">
              <a:lnSpc>
                <a:spcPct val="100000"/>
              </a:lnSpc>
              <a:spcBef>
                <a:spcPts val="0"/>
              </a:spcBef>
              <a:spcAft>
                <a:spcPts val="0"/>
              </a:spcAft>
              <a:buClrTx/>
              <a:buSzTx/>
              <a:buFontTx/>
              <a:buNone/>
              <a:tabLst/>
              <a:defRPr/>
            </a:pPr>
            <a:endParaRPr kumimoji="0" lang="en-US" sz="1798" b="1" i="0" u="none" strike="noStrike" kern="1200" cap="none" spc="0" normalizeH="0" baseline="0" noProof="0">
              <a:ln>
                <a:noFill/>
              </a:ln>
              <a:solidFill>
                <a:srgbClr val="000000"/>
              </a:solidFill>
              <a:effectLst/>
              <a:uLnTx/>
              <a:uFillTx/>
              <a:latin typeface="Source Sans 3" panose="020B0504040101010104" pitchFamily="34" charset="77"/>
              <a:ea typeface="+mn-ea"/>
              <a:cs typeface="+mn-cs"/>
              <a:sym typeface="Source Sans 3"/>
            </a:endParaRPr>
          </a:p>
        </p:txBody>
      </p:sp>
      <p:sp>
        <p:nvSpPr>
          <p:cNvPr id="2" name="TextBox 1">
            <a:extLst>
              <a:ext uri="{FF2B5EF4-FFF2-40B4-BE49-F238E27FC236}">
                <a16:creationId xmlns:a16="http://schemas.microsoft.com/office/drawing/2014/main" id="{F766BAB1-A36C-8A6A-B4E3-E67BA19AE4CF}"/>
              </a:ext>
            </a:extLst>
          </p:cNvPr>
          <p:cNvSpPr txBox="1"/>
          <p:nvPr/>
        </p:nvSpPr>
        <p:spPr>
          <a:xfrm>
            <a:off x="5474361" y="1320920"/>
            <a:ext cx="6711696" cy="553998"/>
          </a:xfrm>
          <a:prstGeom prst="rect">
            <a:avLst/>
          </a:prstGeom>
          <a:noFill/>
        </p:spPr>
        <p:txBody>
          <a:bodyPr wrap="square">
            <a:spAutoFit/>
          </a:bodyPr>
          <a:lstStyle/>
          <a:p>
            <a:pPr marL="0" marR="0" lvl="0" indent="0" algn="ctr" defTabSz="913029" rtl="0" eaLnBrk="1" fontAlgn="auto" latinLnBrk="0" hangingPunct="1">
              <a:lnSpc>
                <a:spcPct val="100000"/>
              </a:lnSpc>
              <a:spcBef>
                <a:spcPts val="0"/>
              </a:spcBef>
              <a:spcAft>
                <a:spcPts val="0"/>
              </a:spcAft>
              <a:buClrTx/>
              <a:buSzTx/>
              <a:buFontTx/>
              <a:buNone/>
              <a:tabLst/>
              <a:defRPr sz="6000" b="1">
                <a:solidFill>
                  <a:srgbClr val="8FFFDB"/>
                </a:solidFill>
                <a:latin typeface="Source Sans 3"/>
                <a:ea typeface="Source Sans 3"/>
                <a:cs typeface="Source Sans 3"/>
                <a:sym typeface="Source Sans 3"/>
              </a:defRPr>
            </a:pPr>
            <a:r>
              <a:rPr kumimoji="0" lang="en-US" sz="1300" u="none" strike="noStrike" kern="1200" cap="none" spc="0" normalizeH="0" baseline="0" noProof="0">
                <a:ln>
                  <a:noFill/>
                </a:ln>
                <a:solidFill>
                  <a:srgbClr val="F2F2F4"/>
                </a:solidFill>
                <a:effectLst/>
                <a:uLnTx/>
                <a:uFillTx/>
                <a:latin typeface="Source Sans 3" panose="020B0404040101010104" pitchFamily="34" charset="77"/>
                <a:cs typeface="Source Sans 3" panose="020B0404040101010104" pitchFamily="34" charset="77"/>
                <a:sym typeface="Source Sans 3"/>
              </a:rPr>
              <a:t>Example: governed access-request workflow
Scope  →  configure  →  test  →  release</a:t>
            </a:r>
          </a:p>
          <a:p>
            <a:pPr marL="0" marR="0" lvl="0" indent="0" algn="ctr" defTabSz="913029" rtl="0" eaLnBrk="1" fontAlgn="auto" latinLnBrk="0" hangingPunct="1">
              <a:lnSpc>
                <a:spcPct val="100000"/>
              </a:lnSpc>
              <a:spcBef>
                <a:spcPts val="0"/>
              </a:spcBef>
              <a:spcAft>
                <a:spcPts val="0"/>
              </a:spcAft>
              <a:buClrTx/>
              <a:buSzTx/>
              <a:buFontTx/>
              <a:buNone/>
              <a:tabLst/>
              <a:defRPr sz="6000" b="1">
                <a:solidFill>
                  <a:srgbClr val="8FFFDB"/>
                </a:solidFill>
                <a:latin typeface="Source Sans 3"/>
                <a:ea typeface="Source Sans 3"/>
                <a:cs typeface="Source Sans 3"/>
                <a:sym typeface="Source Sans 3"/>
              </a:defRPr>
            </a:pPr>
            <a:endParaRPr kumimoji="0" lang="en-US" sz="1000" u="none" strike="noStrike" kern="1200" cap="none" spc="0" normalizeH="0" baseline="0" noProof="0">
              <a:ln>
                <a:noFill/>
              </a:ln>
              <a:solidFill>
                <a:srgbClr val="FFFFFF"/>
              </a:solidFill>
              <a:effectLst/>
              <a:uLnTx/>
              <a:uFillTx/>
              <a:latin typeface="Source Sans 3" panose="020B0404040101010104" pitchFamily="34" charset="77"/>
              <a:cs typeface="Source Sans 3" panose="020B0404040101010104" pitchFamily="34" charset="77"/>
              <a:sym typeface="Source Sans 3"/>
            </a:endParaRPr>
          </a:p>
          <a:p>
            <a:pPr marL="0" marR="0" lvl="0" indent="0" algn="ctr" defTabSz="913029" rtl="0" eaLnBrk="1" fontAlgn="auto" latinLnBrk="0" hangingPunct="1">
              <a:lnSpc>
                <a:spcPct val="100000"/>
              </a:lnSpc>
              <a:spcBef>
                <a:spcPts val="0"/>
              </a:spcBef>
              <a:spcAft>
                <a:spcPts val="0"/>
              </a:spcAft>
              <a:buClrTx/>
              <a:buSzTx/>
              <a:buFontTx/>
              <a:buNone/>
              <a:tabLst/>
              <a:defRPr sz="6000" b="1">
                <a:solidFill>
                  <a:srgbClr val="8FFFDB"/>
                </a:solidFill>
                <a:latin typeface="Source Sans 3"/>
                <a:ea typeface="Source Sans 3"/>
                <a:cs typeface="Source Sans 3"/>
                <a:sym typeface="Source Sans 3"/>
              </a:defRPr>
            </a:pPr>
            <a:endParaRPr kumimoji="0" lang="en-US" sz="1000" u="none" strike="noStrike" kern="0" cap="none" spc="0" normalizeH="0" baseline="0" noProof="0">
              <a:ln>
                <a:noFill/>
              </a:ln>
              <a:solidFill>
                <a:srgbClr val="FFFFFF"/>
              </a:solidFill>
              <a:effectLst/>
              <a:uLnTx/>
              <a:uFillTx/>
              <a:latin typeface="Source Sans 3" panose="020B0404040101010104" pitchFamily="34" charset="77"/>
              <a:sym typeface="Source Sans 3"/>
            </a:endParaRPr>
          </a:p>
        </p:txBody>
      </p:sp>
      <p:sp>
        <p:nvSpPr>
          <p:cNvPr id="5" name="TextBox 4">
            <a:extLst>
              <a:ext uri="{FF2B5EF4-FFF2-40B4-BE49-F238E27FC236}">
                <a16:creationId xmlns:a16="http://schemas.microsoft.com/office/drawing/2014/main" id="{1D96F023-663B-5DDF-3C1F-50BEA565B459}"/>
              </a:ext>
            </a:extLst>
          </p:cNvPr>
          <p:cNvSpPr txBox="1"/>
          <p:nvPr/>
        </p:nvSpPr>
        <p:spPr>
          <a:xfrm>
            <a:off x="430160" y="5325966"/>
            <a:ext cx="3786885" cy="307777"/>
          </a:xfrm>
          <a:prstGeom prst="rect">
            <a:avLst/>
          </a:prstGeom>
          <a:noFill/>
        </p:spPr>
        <p:txBody>
          <a:bodyPr wrap="square" rtlCol="0">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FFFDB"/>
              </a:solidFill>
              <a:effectLst/>
              <a:uLnTx/>
              <a:uFillTx/>
              <a:latin typeface="Source Sans 3" panose="020B0404040101010104" pitchFamily="34" charset="77"/>
              <a:ea typeface="+mn-ea"/>
              <a:cs typeface="Source Sans 3" panose="020B0404040101010104" pitchFamily="34" charset="77"/>
            </a:endParaRPr>
          </a:p>
        </p:txBody>
      </p:sp>
      <p:sp>
        <p:nvSpPr>
          <p:cNvPr id="8" name="TextBox 7">
            <a:extLst>
              <a:ext uri="{FF2B5EF4-FFF2-40B4-BE49-F238E27FC236}">
                <a16:creationId xmlns:a16="http://schemas.microsoft.com/office/drawing/2014/main" id="{1CBCB26E-5D0A-3EE6-A8DE-40A7251E85CE}"/>
              </a:ext>
            </a:extLst>
          </p:cNvPr>
          <p:cNvSpPr txBox="1"/>
          <p:nvPr/>
        </p:nvSpPr>
        <p:spPr>
          <a:xfrm>
            <a:off x="393177" y="6075390"/>
            <a:ext cx="8280956" cy="276999"/>
          </a:xfrm>
          <a:prstGeom prst="rect">
            <a:avLst/>
          </a:prstGeom>
          <a:noFill/>
        </p:spPr>
        <p:txBody>
          <a:bodyPr wrap="square" rtlCol="0">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2F2F4"/>
                </a:solidFill>
                <a:effectLst/>
                <a:uLnTx/>
                <a:uFillTx/>
                <a:latin typeface="Source Sans 3" panose="020B0404040101010104" pitchFamily="34" charset="77"/>
                <a:ea typeface="+mn-ea"/>
                <a:cs typeface="Source Sans 3" panose="020B0404040101010104" pitchFamily="34" charset="77"/>
              </a:rPr>
              <a:t>Illustrative design pathway. Feature availability and configuration depend on the customer environment.</a:t>
            </a:r>
            <a:endParaRPr kumimoji="0" lang="en-US" sz="1200" b="0" i="0" u="none" strike="noStrike" kern="1200" cap="none" spc="0" normalizeH="0" baseline="0" noProof="0">
              <a:ln>
                <a:noFill/>
              </a:ln>
              <a:solidFill>
                <a:srgbClr val="FFFFFF"/>
              </a:solidFill>
              <a:effectLst/>
              <a:uLnTx/>
              <a:uFillTx/>
              <a:latin typeface="Source Sans 3" panose="020B0404040101010104" pitchFamily="34" charset="77"/>
              <a:ea typeface="+mn-ea"/>
              <a:cs typeface="Source Sans 3" panose="020B0404040101010104" pitchFamily="34" charset="77"/>
            </a:endParaRPr>
          </a:p>
        </p:txBody>
      </p:sp>
      <p:pic>
        <p:nvPicPr>
          <p:cNvPr id="10" name="Picture 9">
            <a:extLst>
              <a:ext uri="{FF2B5EF4-FFF2-40B4-BE49-F238E27FC236}">
                <a16:creationId xmlns:a16="http://schemas.microsoft.com/office/drawing/2014/main" id="{5EBB5482-7D4D-EA1E-DCB0-679671A1792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68790" y="1874918"/>
            <a:ext cx="7104914" cy="3922633"/>
          </a:xfrm>
          <a:prstGeom prst="roundRect">
            <a:avLst>
              <a:gd name="adj" fmla="val 2373"/>
            </a:avLst>
          </a:prstGeom>
          <a:solidFill>
            <a:srgbClr val="FFFFFF"/>
          </a:solidFill>
          <a:ln>
            <a:noFill/>
          </a:ln>
          <a:effectLst>
            <a:outerShdw blurRad="50800" dist="38100" dir="10800000" algn="r" rotWithShape="0">
              <a:prstClr val="black">
                <a:alpha val="40000"/>
              </a:prstClr>
            </a:outerShdw>
          </a:effectLst>
        </p:spPr>
      </p:pic>
      <p:sp>
        <p:nvSpPr>
          <p:cNvPr id="3" name="Footer Placeholder 4">
            <a:extLst>
              <a:ext uri="{FF2B5EF4-FFF2-40B4-BE49-F238E27FC236}">
                <a16:creationId xmlns:a16="http://schemas.microsoft.com/office/drawing/2014/main" id="{5E883BFC-ED71-B8B7-23E6-E84B164C518B}"/>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7" name="Slide Number Placeholder 5">
            <a:extLst>
              <a:ext uri="{FF2B5EF4-FFF2-40B4-BE49-F238E27FC236}">
                <a16:creationId xmlns:a16="http://schemas.microsoft.com/office/drawing/2014/main" id="{8D52CA14-56CA-787D-AF9B-40FF8CE4D019}"/>
              </a:ext>
            </a:extLst>
          </p:cNvPr>
          <p:cNvSpPr txBox="1"/>
          <p:nvPr/>
        </p:nvSpPr>
        <p:spPr>
          <a:xfrm>
            <a:off x="11059579" y="6412476"/>
            <a:ext cx="667701" cy="228540"/>
          </a:xfrm>
          <a:prstGeom prst="rect">
            <a:avLst/>
          </a:prstGeom>
        </p:spPr>
        <p:txBody>
          <a:bodyPr/>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fld id="{A9B9714D-1B27-0B43-A9CC-9EF2921F49DC}" type="slidenum">
              <a:rPr kumimoji="0" lang="en-US" sz="80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504040101010104" pitchFamily="34" charset="77"/>
              </a:rPr>
              <a:pPr marL="0" marR="0" lvl="0" indent="0" algn="r" defTabSz="457040" rtl="0" eaLnBrk="1" fontAlgn="auto" latinLnBrk="0" hangingPunct="1">
                <a:lnSpc>
                  <a:spcPct val="100000"/>
                </a:lnSpc>
                <a:spcBef>
                  <a:spcPts val="0"/>
                </a:spcBef>
                <a:spcAft>
                  <a:spcPts val="0"/>
                </a:spcAft>
                <a:buClrTx/>
                <a:buSzTx/>
                <a:buFontTx/>
                <a:buNone/>
                <a:tabLst/>
                <a:defRPr/>
              </a:pPr>
              <a:t>23</a:t>
            </a:fld>
            <a:endParaRPr kumimoji="0" lang="en-US" sz="800" u="none" strike="noStrike" kern="1200" cap="none" spc="0" normalizeH="0" baseline="0" noProof="0" dirty="0">
              <a:ln>
                <a:noFill/>
              </a:ln>
              <a:solidFill>
                <a:srgbClr val="FFFFFF"/>
              </a:solidFill>
              <a:effectLst/>
              <a:uLnTx/>
              <a:uFillTx/>
              <a:latin typeface="Source Sans 3" panose="020B0504040101010104" pitchFamily="34" charset="77"/>
              <a:ea typeface="+mn-ea"/>
              <a:cs typeface="Source Sans 3" panose="020B0504040101010104" pitchFamily="34" charset="77"/>
            </a:endParaRPr>
          </a:p>
        </p:txBody>
      </p:sp>
    </p:spTree>
    <p:extLst>
      <p:ext uri="{BB962C8B-B14F-4D97-AF65-F5344CB8AC3E}">
        <p14:creationId xmlns:p14="http://schemas.microsoft.com/office/powerpoint/2010/main" val="45415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390572-4474-F032-9B0E-FBB9F0D64300}"/>
            </a:ext>
          </a:extLst>
        </p:cNvPr>
        <p:cNvGrpSpPr/>
        <p:nvPr/>
      </p:nvGrpSpPr>
      <p:grpSpPr>
        <a:xfrm>
          <a:off x="0" y="0"/>
          <a:ext cx="0" cy="0"/>
          <a:chOff x="0" y="0"/>
          <a:chExt cx="0" cy="0"/>
        </a:xfrm>
      </p:grpSpPr>
      <p:pic>
        <p:nvPicPr>
          <p:cNvPr id="101" name="Picture 100" descr="A blue and purple background&#10;&#10;AI-generated content may be incorrect.">
            <a:extLst>
              <a:ext uri="{FF2B5EF4-FFF2-40B4-BE49-F238E27FC236}">
                <a16:creationId xmlns:a16="http://schemas.microsoft.com/office/drawing/2014/main" id="{7FCBD2EE-7C64-FC87-C5D1-A4511D05C068}"/>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795" y="893"/>
            <a:ext cx="12190415" cy="6857107"/>
          </a:xfrm>
          <a:prstGeom prst="rect">
            <a:avLst/>
          </a:prstGeom>
        </p:spPr>
      </p:pic>
      <p:sp>
        <p:nvSpPr>
          <p:cNvPr id="3" name="Donut 2" hidden="1">
            <a:extLst>
              <a:ext uri="{FF2B5EF4-FFF2-40B4-BE49-F238E27FC236}">
                <a16:creationId xmlns:a16="http://schemas.microsoft.com/office/drawing/2014/main" id="{019D6D9A-91CB-B3BB-F5D2-0CA04822F181}"/>
              </a:ext>
            </a:extLst>
          </p:cNvPr>
          <p:cNvSpPr>
            <a:spLocks noChangeAspect="1"/>
          </p:cNvSpPr>
          <p:nvPr/>
        </p:nvSpPr>
        <p:spPr>
          <a:xfrm>
            <a:off x="2322513" y="1390565"/>
            <a:ext cx="7543800" cy="7543800"/>
          </a:xfrm>
          <a:prstGeom prst="donut">
            <a:avLst>
              <a:gd name="adj" fmla="val 19363"/>
            </a:avLst>
          </a:prstGeom>
          <a:gradFill>
            <a:gsLst>
              <a:gs pos="16000">
                <a:schemeClr val="tx2">
                  <a:lumMod val="90000"/>
                  <a:lumOff val="10000"/>
                </a:schemeClr>
              </a:gs>
              <a:gs pos="100000">
                <a:schemeClr val="accent1"/>
              </a:gs>
            </a:gsLst>
            <a:lin ang="16200000" scaled="0"/>
          </a:gradFill>
          <a:ln w="6350" cap="flat">
            <a:noFill/>
            <a:prstDash val="solid"/>
            <a:miter/>
          </a:ln>
        </p:spPr>
        <p:txBody>
          <a:bodyPr/>
          <a:lstStyle/>
          <a:p>
            <a:endParaRPr lang="en-US" dirty="0">
              <a:solidFill>
                <a:schemeClr val="tx1"/>
              </a:solidFill>
            </a:endParaRPr>
          </a:p>
        </p:txBody>
      </p:sp>
      <p:sp>
        <p:nvSpPr>
          <p:cNvPr id="152" name="Title 1">
            <a:extLst>
              <a:ext uri="{FF2B5EF4-FFF2-40B4-BE49-F238E27FC236}">
                <a16:creationId xmlns:a16="http://schemas.microsoft.com/office/drawing/2014/main" id="{0DC71C00-9851-0CE5-3189-E9AC1E034370}"/>
              </a:ext>
            </a:extLst>
          </p:cNvPr>
          <p:cNvSpPr>
            <a:spLocks noGrp="1"/>
          </p:cNvSpPr>
          <p:nvPr>
            <p:ph type="title"/>
          </p:nvPr>
        </p:nvSpPr>
        <p:spPr>
          <a:xfrm>
            <a:off x="860901" y="530352"/>
            <a:ext cx="10467023" cy="737654"/>
          </a:xfrm>
        </p:spPr>
        <p:txBody>
          <a:bodyPr wrap="square"/>
          <a:lstStyle/>
          <a:p>
            <a:pPr algn="ctr"/>
            <a:r>
              <a:rPr lang="en-US" sz="3100" b="1" dirty="0">
                <a:solidFill>
                  <a:srgbClr val="8FFFDB"/>
                </a:solidFill>
                <a:latin typeface="Source Sans 3" panose="020B0504040101010104" pitchFamily="34" charset="77"/>
              </a:rPr>
              <a:t>Value and consumption. Model them together.</a:t>
            </a:r>
          </a:p>
        </p:txBody>
      </p:sp>
      <p:sp>
        <p:nvSpPr>
          <p:cNvPr id="7" name="Slide Number Placeholder 5">
            <a:extLst>
              <a:ext uri="{FF2B5EF4-FFF2-40B4-BE49-F238E27FC236}">
                <a16:creationId xmlns:a16="http://schemas.microsoft.com/office/drawing/2014/main" id="{6FBF2045-6CDB-F109-D820-F11486C523D6}"/>
              </a:ext>
            </a:extLst>
          </p:cNvPr>
          <p:cNvSpPr txBox="1">
            <a:spLocks/>
          </p:cNvSpPr>
          <p:nvPr/>
        </p:nvSpPr>
        <p:spPr>
          <a:xfrm>
            <a:off x="11076630" y="6536306"/>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24</a:t>
            </a:fld>
            <a:endParaRPr lang="en-US" sz="800" b="0" kern="1200">
              <a:solidFill>
                <a:schemeClr val="bg1"/>
              </a:solidFill>
              <a:ea typeface="+mn-ea"/>
              <a:cs typeface="+mn-cs"/>
            </a:endParaRPr>
          </a:p>
        </p:txBody>
      </p:sp>
      <p:sp>
        <p:nvSpPr>
          <p:cNvPr id="15" name="Footer Placeholder 4">
            <a:extLst>
              <a:ext uri="{FF2B5EF4-FFF2-40B4-BE49-F238E27FC236}">
                <a16:creationId xmlns:a16="http://schemas.microsoft.com/office/drawing/2014/main" id="{00B445E0-AE33-A7E2-1368-65BFC2798E3F}"/>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19" name="Picture 18">
            <a:extLst>
              <a:ext uri="{FF2B5EF4-FFF2-40B4-BE49-F238E27FC236}">
                <a16:creationId xmlns:a16="http://schemas.microsoft.com/office/drawing/2014/main" id="{570566C6-A02D-9930-3293-6CD6D3BC0A2D}"/>
              </a:ext>
            </a:extLst>
          </p:cNvPr>
          <p:cNvPicPr>
            <a:picLocks noChangeAspect="1"/>
          </p:cNvPicPr>
          <p:nvPr/>
        </p:nvPicPr>
        <p:blipFill>
          <a:blip r:embed="rId4"/>
          <a:stretch>
            <a:fillRect/>
          </a:stretch>
        </p:blipFill>
        <p:spPr>
          <a:xfrm>
            <a:off x="2208212" y="1172047"/>
            <a:ext cx="7772400" cy="4513906"/>
          </a:xfrm>
          <a:prstGeom prst="rect">
            <a:avLst/>
          </a:prstGeom>
        </p:spPr>
      </p:pic>
    </p:spTree>
    <p:extLst>
      <p:ext uri="{BB962C8B-B14F-4D97-AF65-F5344CB8AC3E}">
        <p14:creationId xmlns:p14="http://schemas.microsoft.com/office/powerpoint/2010/main" val="2066734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1000" fill="hold"/>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E8EEAC-B1C5-2688-063F-5640881C4CBD}"/>
            </a:ext>
          </a:extLst>
        </p:cNvPr>
        <p:cNvGrpSpPr/>
        <p:nvPr/>
      </p:nvGrpSpPr>
      <p:grpSpPr>
        <a:xfrm>
          <a:off x="0" y="0"/>
          <a:ext cx="0" cy="0"/>
          <a:chOff x="0" y="0"/>
          <a:chExt cx="0" cy="0"/>
        </a:xfrm>
      </p:grpSpPr>
      <p:pic>
        <p:nvPicPr>
          <p:cNvPr id="101" name="Picture 100" descr="A blue and purple background&#10;&#10;AI-generated content may be incorrect.">
            <a:extLst>
              <a:ext uri="{FF2B5EF4-FFF2-40B4-BE49-F238E27FC236}">
                <a16:creationId xmlns:a16="http://schemas.microsoft.com/office/drawing/2014/main" id="{7A1A3C9C-4252-4EE0-440A-10F8FF1B3809}"/>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795" y="893"/>
            <a:ext cx="12190415" cy="6857107"/>
          </a:xfrm>
          <a:prstGeom prst="rect">
            <a:avLst/>
          </a:prstGeom>
        </p:spPr>
      </p:pic>
      <p:sp>
        <p:nvSpPr>
          <p:cNvPr id="3" name="Donut 2" hidden="1">
            <a:extLst>
              <a:ext uri="{FF2B5EF4-FFF2-40B4-BE49-F238E27FC236}">
                <a16:creationId xmlns:a16="http://schemas.microsoft.com/office/drawing/2014/main" id="{6BB2361F-512B-A2D2-7D8E-A0B75EDC6343}"/>
              </a:ext>
            </a:extLst>
          </p:cNvPr>
          <p:cNvSpPr>
            <a:spLocks noChangeAspect="1"/>
          </p:cNvSpPr>
          <p:nvPr/>
        </p:nvSpPr>
        <p:spPr>
          <a:xfrm>
            <a:off x="2322513" y="1390565"/>
            <a:ext cx="7543800" cy="7543800"/>
          </a:xfrm>
          <a:prstGeom prst="donut">
            <a:avLst>
              <a:gd name="adj" fmla="val 19363"/>
            </a:avLst>
          </a:prstGeom>
          <a:gradFill>
            <a:gsLst>
              <a:gs pos="16000">
                <a:schemeClr val="tx2">
                  <a:lumMod val="90000"/>
                  <a:lumOff val="10000"/>
                </a:schemeClr>
              </a:gs>
              <a:gs pos="100000">
                <a:schemeClr val="accent1"/>
              </a:gs>
            </a:gsLst>
            <a:lin ang="16200000" scaled="0"/>
          </a:gradFill>
          <a:ln w="6350" cap="flat">
            <a:noFill/>
            <a:prstDash val="solid"/>
            <a:miter/>
          </a:ln>
        </p:spPr>
        <p:txBody>
          <a:bodyPr/>
          <a:lstStyle/>
          <a:p>
            <a:endParaRPr lang="en-US" dirty="0">
              <a:solidFill>
                <a:schemeClr val="tx1"/>
              </a:solidFill>
            </a:endParaRPr>
          </a:p>
        </p:txBody>
      </p:sp>
      <p:sp>
        <p:nvSpPr>
          <p:cNvPr id="152" name="Title 1">
            <a:extLst>
              <a:ext uri="{FF2B5EF4-FFF2-40B4-BE49-F238E27FC236}">
                <a16:creationId xmlns:a16="http://schemas.microsoft.com/office/drawing/2014/main" id="{AFE59F6A-725A-2C9F-084E-84E6BF10DCD8}"/>
              </a:ext>
            </a:extLst>
          </p:cNvPr>
          <p:cNvSpPr>
            <a:spLocks noGrp="1"/>
          </p:cNvSpPr>
          <p:nvPr>
            <p:ph type="title"/>
          </p:nvPr>
        </p:nvSpPr>
        <p:spPr>
          <a:xfrm>
            <a:off x="860901" y="530352"/>
            <a:ext cx="10467023" cy="737654"/>
          </a:xfrm>
        </p:spPr>
        <p:txBody>
          <a:bodyPr wrap="square"/>
          <a:lstStyle/>
          <a:p>
            <a:pPr algn="ctr"/>
            <a:r>
              <a:rPr lang="en-US" sz="3100" b="1" dirty="0">
                <a:solidFill>
                  <a:srgbClr val="8FFFDB"/>
                </a:solidFill>
                <a:latin typeface="Source Sans 3" panose="020B0504040101010104" pitchFamily="34" charset="77"/>
              </a:rPr>
              <a:t>Value and consumption. Model them together.</a:t>
            </a:r>
          </a:p>
        </p:txBody>
      </p:sp>
      <p:sp>
        <p:nvSpPr>
          <p:cNvPr id="7" name="Slide Number Placeholder 5">
            <a:extLst>
              <a:ext uri="{FF2B5EF4-FFF2-40B4-BE49-F238E27FC236}">
                <a16:creationId xmlns:a16="http://schemas.microsoft.com/office/drawing/2014/main" id="{497EA929-DF4E-844B-78C2-ADDAB75396BD}"/>
              </a:ext>
            </a:extLst>
          </p:cNvPr>
          <p:cNvSpPr txBox="1">
            <a:spLocks/>
          </p:cNvSpPr>
          <p:nvPr/>
        </p:nvSpPr>
        <p:spPr>
          <a:xfrm>
            <a:off x="11076630" y="6536306"/>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25</a:t>
            </a:fld>
            <a:endParaRPr lang="en-US" sz="800" b="0" kern="1200">
              <a:solidFill>
                <a:schemeClr val="bg1"/>
              </a:solidFill>
              <a:ea typeface="+mn-ea"/>
              <a:cs typeface="+mn-cs"/>
            </a:endParaRPr>
          </a:p>
        </p:txBody>
      </p:sp>
      <p:sp>
        <p:nvSpPr>
          <p:cNvPr id="15" name="Footer Placeholder 4">
            <a:extLst>
              <a:ext uri="{FF2B5EF4-FFF2-40B4-BE49-F238E27FC236}">
                <a16:creationId xmlns:a16="http://schemas.microsoft.com/office/drawing/2014/main" id="{E64A8399-A655-83B6-E8B1-9D253CDD86B2}"/>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13" name="Picture 12">
            <a:extLst>
              <a:ext uri="{FF2B5EF4-FFF2-40B4-BE49-F238E27FC236}">
                <a16:creationId xmlns:a16="http://schemas.microsoft.com/office/drawing/2014/main" id="{57FC28A8-CEC0-6A2D-BDEC-13AFD54D5C92}"/>
              </a:ext>
            </a:extLst>
          </p:cNvPr>
          <p:cNvPicPr>
            <a:picLocks noChangeAspect="1"/>
          </p:cNvPicPr>
          <p:nvPr/>
        </p:nvPicPr>
        <p:blipFill>
          <a:blip r:embed="rId4"/>
          <a:stretch>
            <a:fillRect/>
          </a:stretch>
        </p:blipFill>
        <p:spPr>
          <a:xfrm>
            <a:off x="2208212" y="1172047"/>
            <a:ext cx="7772400" cy="4513906"/>
          </a:xfrm>
          <a:prstGeom prst="rect">
            <a:avLst/>
          </a:prstGeom>
        </p:spPr>
      </p:pic>
    </p:spTree>
    <p:extLst>
      <p:ext uri="{BB962C8B-B14F-4D97-AF65-F5344CB8AC3E}">
        <p14:creationId xmlns:p14="http://schemas.microsoft.com/office/powerpoint/2010/main" val="4148859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1000" fill="hold"/>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12488" y="503682"/>
            <a:ext cx="10055781" cy="215388"/>
          </a:xfrm>
          <a:prstGeom prst="rect">
            <a:avLst/>
          </a:prstGeom>
          <a:noFill/>
        </p:spPr>
        <p:txBody>
          <a:bodyPr wrap="square" lIns="0" tIns="0" rIns="0" bIns="0" anchor="t">
            <a:spAutoFit/>
          </a:bodyPr>
          <a:lstStyle/>
          <a:p>
            <a:pPr defTabSz="914126"/>
            <a:r>
              <a:rPr sz="1400" b="1" spc="300">
                <a:solidFill>
                  <a:srgbClr val="2CB0CD"/>
                </a:solidFill>
                <a:latin typeface="Source Sans Pro"/>
              </a:rPr>
              <a:t>CONCEPT 04</a:t>
            </a:r>
          </a:p>
        </p:txBody>
      </p:sp>
      <p:sp>
        <p:nvSpPr>
          <p:cNvPr id="3" name="TextBox 2"/>
          <p:cNvSpPr txBox="1"/>
          <p:nvPr/>
        </p:nvSpPr>
        <p:spPr>
          <a:xfrm>
            <a:off x="612488" y="777930"/>
            <a:ext cx="10969943" cy="522956"/>
          </a:xfrm>
          <a:prstGeom prst="rect">
            <a:avLst/>
          </a:prstGeom>
          <a:noFill/>
        </p:spPr>
        <p:txBody>
          <a:bodyPr wrap="square" lIns="0" tIns="0" rIns="0" bIns="0" anchor="t">
            <a:spAutoFit/>
          </a:bodyPr>
          <a:lstStyle/>
          <a:p>
            <a:pPr defTabSz="914126"/>
            <a:r>
              <a:rPr sz="3399" b="1">
                <a:solidFill>
                  <a:srgbClr val="040E3D"/>
                </a:solidFill>
                <a:latin typeface="Source Sans Pro"/>
              </a:rPr>
              <a:t>The Annual Wheel</a:t>
            </a:r>
          </a:p>
        </p:txBody>
      </p:sp>
      <p:sp>
        <p:nvSpPr>
          <p:cNvPr id="4" name="TextBox 3"/>
          <p:cNvSpPr txBox="1"/>
          <p:nvPr/>
        </p:nvSpPr>
        <p:spPr>
          <a:xfrm>
            <a:off x="612488" y="6052645"/>
            <a:ext cx="8684538" cy="169233"/>
          </a:xfrm>
          <a:prstGeom prst="rect">
            <a:avLst/>
          </a:prstGeom>
          <a:noFill/>
        </p:spPr>
        <p:txBody>
          <a:bodyPr wrap="square" lIns="0" tIns="0" rIns="0" bIns="0" anchor="t">
            <a:spAutoFit/>
          </a:bodyPr>
          <a:lstStyle/>
          <a:p>
            <a:pPr defTabSz="914126"/>
            <a:r>
              <a:rPr sz="1100">
                <a:solidFill>
                  <a:srgbClr val="5A6383"/>
                </a:solidFill>
                <a:latin typeface="Source Sans Pro"/>
              </a:rPr>
              <a:t>Best for: a single-glance view of the whole year that reads like a calendar.</a:t>
            </a:r>
          </a:p>
        </p:txBody>
      </p:sp>
      <p:sp>
        <p:nvSpPr>
          <p:cNvPr id="5" name="Oval 4"/>
          <p:cNvSpPr/>
          <p:nvPr/>
        </p:nvSpPr>
        <p:spPr>
          <a:xfrm>
            <a:off x="3654488" y="1644691"/>
            <a:ext cx="767896" cy="767896"/>
          </a:xfrm>
          <a:prstGeom prst="ellipse">
            <a:avLst/>
          </a:prstGeom>
          <a:solidFill>
            <a:srgbClr val="8FF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6" name="TextBox 5"/>
          <p:cNvSpPr txBox="1"/>
          <p:nvPr/>
        </p:nvSpPr>
        <p:spPr>
          <a:xfrm>
            <a:off x="3654488" y="1920945"/>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M1</a:t>
            </a:r>
          </a:p>
        </p:txBody>
      </p:sp>
      <p:sp>
        <p:nvSpPr>
          <p:cNvPr id="7" name="Oval 6"/>
          <p:cNvSpPr/>
          <p:nvPr/>
        </p:nvSpPr>
        <p:spPr>
          <a:xfrm>
            <a:off x="4474102" y="2117897"/>
            <a:ext cx="767896" cy="767896"/>
          </a:xfrm>
          <a:prstGeom prst="ellipse">
            <a:avLst/>
          </a:prstGeom>
          <a:solidFill>
            <a:srgbClr val="8FF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8" name="TextBox 7"/>
          <p:cNvSpPr txBox="1"/>
          <p:nvPr/>
        </p:nvSpPr>
        <p:spPr>
          <a:xfrm>
            <a:off x="4474102" y="2394151"/>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M2</a:t>
            </a:r>
          </a:p>
        </p:txBody>
      </p:sp>
      <p:sp>
        <p:nvSpPr>
          <p:cNvPr id="9" name="Oval 8"/>
          <p:cNvSpPr/>
          <p:nvPr/>
        </p:nvSpPr>
        <p:spPr>
          <a:xfrm>
            <a:off x="4947308" y="2937511"/>
            <a:ext cx="767896" cy="767896"/>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0" name="TextBox 9"/>
          <p:cNvSpPr txBox="1"/>
          <p:nvPr/>
        </p:nvSpPr>
        <p:spPr>
          <a:xfrm>
            <a:off x="4947308" y="3213765"/>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M3</a:t>
            </a:r>
          </a:p>
        </p:txBody>
      </p:sp>
      <p:sp>
        <p:nvSpPr>
          <p:cNvPr id="11" name="Oval 10"/>
          <p:cNvSpPr/>
          <p:nvPr/>
        </p:nvSpPr>
        <p:spPr>
          <a:xfrm>
            <a:off x="5514088" y="2910086"/>
            <a:ext cx="237682" cy="237682"/>
          </a:xfrm>
          <a:prstGeom prst="ellipse">
            <a:avLst/>
          </a:prstGeom>
          <a:solidFill>
            <a:srgbClr val="DC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2" name="Oval 11"/>
          <p:cNvSpPr/>
          <p:nvPr/>
        </p:nvSpPr>
        <p:spPr>
          <a:xfrm>
            <a:off x="4947308" y="3883921"/>
            <a:ext cx="767896" cy="767896"/>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3" name="TextBox 12"/>
          <p:cNvSpPr txBox="1"/>
          <p:nvPr/>
        </p:nvSpPr>
        <p:spPr>
          <a:xfrm>
            <a:off x="4947308" y="4160175"/>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M4</a:t>
            </a:r>
          </a:p>
        </p:txBody>
      </p:sp>
      <p:sp>
        <p:nvSpPr>
          <p:cNvPr id="14" name="Oval 13"/>
          <p:cNvSpPr/>
          <p:nvPr/>
        </p:nvSpPr>
        <p:spPr>
          <a:xfrm>
            <a:off x="5514088" y="3856497"/>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5" name="Oval 14"/>
          <p:cNvSpPr/>
          <p:nvPr/>
        </p:nvSpPr>
        <p:spPr>
          <a:xfrm>
            <a:off x="4474102" y="4703536"/>
            <a:ext cx="767896" cy="767896"/>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6" name="TextBox 15"/>
          <p:cNvSpPr txBox="1"/>
          <p:nvPr/>
        </p:nvSpPr>
        <p:spPr>
          <a:xfrm>
            <a:off x="4474102" y="4979790"/>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M5</a:t>
            </a:r>
          </a:p>
        </p:txBody>
      </p:sp>
      <p:sp>
        <p:nvSpPr>
          <p:cNvPr id="17" name="Oval 16"/>
          <p:cNvSpPr/>
          <p:nvPr/>
        </p:nvSpPr>
        <p:spPr>
          <a:xfrm>
            <a:off x="5040882" y="4676111"/>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8" name="Oval 17"/>
          <p:cNvSpPr/>
          <p:nvPr/>
        </p:nvSpPr>
        <p:spPr>
          <a:xfrm>
            <a:off x="3654488" y="5176742"/>
            <a:ext cx="767896" cy="767896"/>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19" name="TextBox 18"/>
          <p:cNvSpPr txBox="1"/>
          <p:nvPr/>
        </p:nvSpPr>
        <p:spPr>
          <a:xfrm>
            <a:off x="3654488" y="5452996"/>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M6</a:t>
            </a:r>
          </a:p>
        </p:txBody>
      </p:sp>
      <p:sp>
        <p:nvSpPr>
          <p:cNvPr id="20" name="Oval 19"/>
          <p:cNvSpPr/>
          <p:nvPr/>
        </p:nvSpPr>
        <p:spPr>
          <a:xfrm>
            <a:off x="4221268" y="5149317"/>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21" name="Oval 20"/>
          <p:cNvSpPr/>
          <p:nvPr/>
        </p:nvSpPr>
        <p:spPr>
          <a:xfrm>
            <a:off x="2708077" y="5176742"/>
            <a:ext cx="767896" cy="767896"/>
          </a:xfrm>
          <a:prstGeom prst="ellipse">
            <a:avLst/>
          </a:prstGeom>
          <a:solidFill>
            <a:srgbClr val="8FF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22" name="TextBox 21"/>
          <p:cNvSpPr txBox="1"/>
          <p:nvPr/>
        </p:nvSpPr>
        <p:spPr>
          <a:xfrm>
            <a:off x="2708077" y="5452996"/>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M7</a:t>
            </a:r>
          </a:p>
        </p:txBody>
      </p:sp>
      <p:sp>
        <p:nvSpPr>
          <p:cNvPr id="23" name="Oval 22"/>
          <p:cNvSpPr/>
          <p:nvPr/>
        </p:nvSpPr>
        <p:spPr>
          <a:xfrm>
            <a:off x="3274857" y="5149317"/>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24" name="Oval 23"/>
          <p:cNvSpPr/>
          <p:nvPr/>
        </p:nvSpPr>
        <p:spPr>
          <a:xfrm>
            <a:off x="1888463" y="4703536"/>
            <a:ext cx="767896" cy="767896"/>
          </a:xfrm>
          <a:prstGeom prst="ellipse">
            <a:avLst/>
          </a:prstGeom>
          <a:solidFill>
            <a:srgbClr val="8FF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25" name="TextBox 24"/>
          <p:cNvSpPr txBox="1"/>
          <p:nvPr/>
        </p:nvSpPr>
        <p:spPr>
          <a:xfrm>
            <a:off x="1888463" y="4979790"/>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M8</a:t>
            </a:r>
          </a:p>
        </p:txBody>
      </p:sp>
      <p:sp>
        <p:nvSpPr>
          <p:cNvPr id="26" name="Oval 25"/>
          <p:cNvSpPr/>
          <p:nvPr/>
        </p:nvSpPr>
        <p:spPr>
          <a:xfrm>
            <a:off x="2455243" y="4676111"/>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27" name="Oval 26"/>
          <p:cNvSpPr/>
          <p:nvPr/>
        </p:nvSpPr>
        <p:spPr>
          <a:xfrm>
            <a:off x="1415257" y="3883921"/>
            <a:ext cx="767896" cy="767896"/>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28" name="TextBox 27"/>
          <p:cNvSpPr txBox="1"/>
          <p:nvPr/>
        </p:nvSpPr>
        <p:spPr>
          <a:xfrm>
            <a:off x="1415257" y="4160175"/>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M9</a:t>
            </a:r>
          </a:p>
        </p:txBody>
      </p:sp>
      <p:sp>
        <p:nvSpPr>
          <p:cNvPr id="29" name="Oval 28"/>
          <p:cNvSpPr/>
          <p:nvPr/>
        </p:nvSpPr>
        <p:spPr>
          <a:xfrm>
            <a:off x="1982037" y="3856497"/>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0" name="Oval 29"/>
          <p:cNvSpPr/>
          <p:nvPr/>
        </p:nvSpPr>
        <p:spPr>
          <a:xfrm>
            <a:off x="1415257" y="2937511"/>
            <a:ext cx="767896" cy="767896"/>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1" name="TextBox 30"/>
          <p:cNvSpPr txBox="1"/>
          <p:nvPr/>
        </p:nvSpPr>
        <p:spPr>
          <a:xfrm>
            <a:off x="1415257" y="3213765"/>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M10</a:t>
            </a:r>
          </a:p>
        </p:txBody>
      </p:sp>
      <p:sp>
        <p:nvSpPr>
          <p:cNvPr id="32" name="Oval 31"/>
          <p:cNvSpPr/>
          <p:nvPr/>
        </p:nvSpPr>
        <p:spPr>
          <a:xfrm>
            <a:off x="1982037" y="2910086"/>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3" name="Oval 32"/>
          <p:cNvSpPr/>
          <p:nvPr/>
        </p:nvSpPr>
        <p:spPr>
          <a:xfrm>
            <a:off x="1888463" y="2117897"/>
            <a:ext cx="767896" cy="767896"/>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4" name="TextBox 33"/>
          <p:cNvSpPr txBox="1"/>
          <p:nvPr/>
        </p:nvSpPr>
        <p:spPr>
          <a:xfrm>
            <a:off x="1888463" y="2394151"/>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M11</a:t>
            </a:r>
          </a:p>
        </p:txBody>
      </p:sp>
      <p:sp>
        <p:nvSpPr>
          <p:cNvPr id="35" name="Oval 34"/>
          <p:cNvSpPr/>
          <p:nvPr/>
        </p:nvSpPr>
        <p:spPr>
          <a:xfrm>
            <a:off x="2455243" y="2090472"/>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6" name="Oval 35"/>
          <p:cNvSpPr/>
          <p:nvPr/>
        </p:nvSpPr>
        <p:spPr>
          <a:xfrm>
            <a:off x="2708077" y="1644691"/>
            <a:ext cx="767896" cy="767896"/>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7" name="TextBox 36"/>
          <p:cNvSpPr txBox="1"/>
          <p:nvPr/>
        </p:nvSpPr>
        <p:spPr>
          <a:xfrm>
            <a:off x="2708077" y="1920945"/>
            <a:ext cx="767896" cy="215388"/>
          </a:xfrm>
          <a:prstGeom prst="rect">
            <a:avLst/>
          </a:prstGeom>
          <a:noFill/>
        </p:spPr>
        <p:txBody>
          <a:bodyPr wrap="square" lIns="0" tIns="0" rIns="0" bIns="0" anchor="ctr">
            <a:spAutoFit/>
          </a:bodyPr>
          <a:lstStyle/>
          <a:p>
            <a:pPr algn="ctr" defTabSz="914126"/>
            <a:r>
              <a:rPr sz="1400" b="1">
                <a:solidFill>
                  <a:srgbClr val="040E3D"/>
                </a:solidFill>
                <a:latin typeface="Source Sans Pro"/>
              </a:rPr>
              <a:t>M12</a:t>
            </a:r>
          </a:p>
        </p:txBody>
      </p:sp>
      <p:sp>
        <p:nvSpPr>
          <p:cNvPr id="38" name="Oval 37"/>
          <p:cNvSpPr/>
          <p:nvPr/>
        </p:nvSpPr>
        <p:spPr>
          <a:xfrm>
            <a:off x="3274857" y="1617266"/>
            <a:ext cx="237682" cy="237682"/>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39" name="Rounded Rectangle 38"/>
          <p:cNvSpPr/>
          <p:nvPr/>
        </p:nvSpPr>
        <p:spPr>
          <a:xfrm>
            <a:off x="2651069" y="3291876"/>
            <a:ext cx="1828324" cy="1005578"/>
          </a:xfrm>
          <a:prstGeom prst="roundRect">
            <a:avLst>
              <a:gd name="adj" fmla="val 50000"/>
            </a:avLst>
          </a:prstGeom>
          <a:solidFill>
            <a:srgbClr val="04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40" name="TextBox 39"/>
          <p:cNvSpPr txBox="1"/>
          <p:nvPr/>
        </p:nvSpPr>
        <p:spPr>
          <a:xfrm>
            <a:off x="2651069" y="3671586"/>
            <a:ext cx="1828324" cy="246157"/>
          </a:xfrm>
          <a:prstGeom prst="rect">
            <a:avLst/>
          </a:prstGeom>
          <a:noFill/>
        </p:spPr>
        <p:txBody>
          <a:bodyPr wrap="square" lIns="0" tIns="0" rIns="0" bIns="0" anchor="ctr">
            <a:spAutoFit/>
          </a:bodyPr>
          <a:lstStyle/>
          <a:p>
            <a:pPr algn="ctr" defTabSz="914126"/>
            <a:r>
              <a:rPr sz="1600" b="1">
                <a:solidFill>
                  <a:srgbClr val="FFFFFF"/>
                </a:solidFill>
                <a:latin typeface="Source Sans Pro"/>
              </a:rPr>
              <a:t>12 months</a:t>
            </a:r>
          </a:p>
        </p:txBody>
      </p:sp>
      <p:sp>
        <p:nvSpPr>
          <p:cNvPr id="41" name="Oval 40"/>
          <p:cNvSpPr/>
          <p:nvPr/>
        </p:nvSpPr>
        <p:spPr>
          <a:xfrm>
            <a:off x="6581965" y="2103465"/>
            <a:ext cx="365665" cy="365665"/>
          </a:xfrm>
          <a:prstGeom prst="ellipse">
            <a:avLst/>
          </a:prstGeom>
          <a:solidFill>
            <a:srgbClr val="8FF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42" name="TextBox 41"/>
          <p:cNvSpPr txBox="1"/>
          <p:nvPr/>
        </p:nvSpPr>
        <p:spPr>
          <a:xfrm>
            <a:off x="7130462" y="2155591"/>
            <a:ext cx="4570809" cy="261414"/>
          </a:xfrm>
          <a:prstGeom prst="rect">
            <a:avLst/>
          </a:prstGeom>
          <a:noFill/>
        </p:spPr>
        <p:txBody>
          <a:bodyPr wrap="square" lIns="0" tIns="0" rIns="0" bIns="0" anchor="ctr">
            <a:spAutoFit/>
          </a:bodyPr>
          <a:lstStyle/>
          <a:p>
            <a:pPr defTabSz="914126"/>
            <a:r>
              <a:rPr sz="1699">
                <a:solidFill>
                  <a:srgbClr val="040E3D"/>
                </a:solidFill>
                <a:latin typeface="Source Sans Pro"/>
              </a:rPr>
              <a:t>Advisory month</a:t>
            </a:r>
          </a:p>
        </p:txBody>
      </p:sp>
      <p:sp>
        <p:nvSpPr>
          <p:cNvPr id="43" name="Oval 42"/>
          <p:cNvSpPr/>
          <p:nvPr/>
        </p:nvSpPr>
        <p:spPr>
          <a:xfrm>
            <a:off x="6581965" y="2834794"/>
            <a:ext cx="365665" cy="365665"/>
          </a:xfrm>
          <a:prstGeom prst="ellipse">
            <a:avLst/>
          </a:prstGeom>
          <a:solidFill>
            <a:srgbClr val="71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44" name="TextBox 43"/>
          <p:cNvSpPr txBox="1"/>
          <p:nvPr/>
        </p:nvSpPr>
        <p:spPr>
          <a:xfrm>
            <a:off x="7130462" y="2886919"/>
            <a:ext cx="4570809" cy="261414"/>
          </a:xfrm>
          <a:prstGeom prst="rect">
            <a:avLst/>
          </a:prstGeom>
          <a:noFill/>
        </p:spPr>
        <p:txBody>
          <a:bodyPr wrap="square" lIns="0" tIns="0" rIns="0" bIns="0" anchor="ctr">
            <a:spAutoFit/>
          </a:bodyPr>
          <a:lstStyle/>
          <a:p>
            <a:pPr defTabSz="914126"/>
            <a:r>
              <a:rPr sz="1699">
                <a:solidFill>
                  <a:srgbClr val="040E3D"/>
                </a:solidFill>
                <a:latin typeface="Source Sans Pro"/>
              </a:rPr>
              <a:t>Backlog cycle month</a:t>
            </a:r>
          </a:p>
        </p:txBody>
      </p:sp>
      <p:sp>
        <p:nvSpPr>
          <p:cNvPr id="45" name="Oval 44"/>
          <p:cNvSpPr/>
          <p:nvPr/>
        </p:nvSpPr>
        <p:spPr>
          <a:xfrm>
            <a:off x="6581965" y="3566124"/>
            <a:ext cx="365665" cy="365665"/>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46" name="TextBox 45"/>
          <p:cNvSpPr txBox="1"/>
          <p:nvPr/>
        </p:nvSpPr>
        <p:spPr>
          <a:xfrm>
            <a:off x="7130462" y="3618250"/>
            <a:ext cx="4570809" cy="261414"/>
          </a:xfrm>
          <a:prstGeom prst="rect">
            <a:avLst/>
          </a:prstGeom>
          <a:noFill/>
        </p:spPr>
        <p:txBody>
          <a:bodyPr wrap="square" lIns="0" tIns="0" rIns="0" bIns="0" anchor="ctr">
            <a:spAutoFit/>
          </a:bodyPr>
          <a:lstStyle/>
          <a:p>
            <a:pPr defTabSz="914126"/>
            <a:r>
              <a:rPr sz="1699">
                <a:solidFill>
                  <a:srgbClr val="040E3D"/>
                </a:solidFill>
                <a:latin typeface="Source Sans Pro"/>
              </a:rPr>
              <a:t>Extend only</a:t>
            </a:r>
          </a:p>
        </p:txBody>
      </p:sp>
      <p:sp>
        <p:nvSpPr>
          <p:cNvPr id="47" name="Oval 46"/>
          <p:cNvSpPr/>
          <p:nvPr/>
        </p:nvSpPr>
        <p:spPr>
          <a:xfrm>
            <a:off x="6581965" y="4297454"/>
            <a:ext cx="365665" cy="365665"/>
          </a:xfrm>
          <a:prstGeom prst="ellipse">
            <a:avLst/>
          </a:prstGeom>
          <a:solidFill>
            <a:srgbClr val="C0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126"/>
            <a:endParaRPr>
              <a:solidFill>
                <a:srgbClr val="FFFFFF"/>
              </a:solidFill>
              <a:latin typeface="Source Sans Pro"/>
            </a:endParaRPr>
          </a:p>
        </p:txBody>
      </p:sp>
      <p:sp>
        <p:nvSpPr>
          <p:cNvPr id="48" name="TextBox 47"/>
          <p:cNvSpPr txBox="1"/>
          <p:nvPr/>
        </p:nvSpPr>
        <p:spPr>
          <a:xfrm>
            <a:off x="7130462" y="4349579"/>
            <a:ext cx="4570809" cy="261414"/>
          </a:xfrm>
          <a:prstGeom prst="rect">
            <a:avLst/>
          </a:prstGeom>
          <a:noFill/>
        </p:spPr>
        <p:txBody>
          <a:bodyPr wrap="square" lIns="0" tIns="0" rIns="0" bIns="0" anchor="ctr">
            <a:spAutoFit/>
          </a:bodyPr>
          <a:lstStyle/>
          <a:p>
            <a:pPr defTabSz="914126"/>
            <a:r>
              <a:rPr sz="1699">
                <a:solidFill>
                  <a:srgbClr val="040E3D"/>
                </a:solidFill>
                <a:latin typeface="Source Sans Pro"/>
              </a:rPr>
              <a:t>Small dot: Extend running alongside</a:t>
            </a:r>
          </a:p>
        </p:txBody>
      </p:sp>
      <p:sp>
        <p:nvSpPr>
          <p:cNvPr id="49" name="TextBox 48"/>
          <p:cNvSpPr txBox="1"/>
          <p:nvPr/>
        </p:nvSpPr>
        <p:spPr>
          <a:xfrm>
            <a:off x="6581965" y="5120199"/>
            <a:ext cx="4936474" cy="215388"/>
          </a:xfrm>
          <a:prstGeom prst="rect">
            <a:avLst/>
          </a:prstGeom>
          <a:noFill/>
        </p:spPr>
        <p:txBody>
          <a:bodyPr wrap="square" lIns="0" tIns="0" rIns="0" bIns="0" anchor="t">
            <a:spAutoFit/>
          </a:bodyPr>
          <a:lstStyle/>
          <a:p>
            <a:pPr defTabSz="914126"/>
            <a:r>
              <a:rPr sz="1400">
                <a:solidFill>
                  <a:srgbClr val="5A6383"/>
                </a:solidFill>
                <a:latin typeface="Source Sans Pro"/>
              </a:rPr>
              <a:t>Month 3 adds onboarding before sprints start in month 4.</a:t>
            </a:r>
          </a:p>
        </p:txBody>
      </p:sp>
    </p:spTree>
    <p:extLst>
      <p:ext uri="{BB962C8B-B14F-4D97-AF65-F5344CB8AC3E}">
        <p14:creationId xmlns:p14="http://schemas.microsoft.com/office/powerpoint/2010/main" val="2178998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One repeating loop. Three distinct jobs.</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A plan only creates value when it becomes accepted, delivery-ready work.</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12</a:t>
            </a:r>
          </a:p>
        </p:txBody>
      </p:sp>
      <p:sp>
        <p:nvSpPr>
          <p:cNvPr id="13" name="Rounded Rectangle 12"/>
          <p:cNvSpPr/>
          <p:nvPr/>
        </p:nvSpPr>
        <p:spPr>
          <a:xfrm>
            <a:off x="621792" y="2176272"/>
            <a:ext cx="3502152" cy="2148840"/>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22960" y="2414016"/>
            <a:ext cx="521207" cy="521207"/>
          </a:xfrm>
          <a:prstGeom prst="ellipse">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2487168"/>
            <a:ext cx="475488" cy="219456"/>
          </a:xfrm>
          <a:prstGeom prst="rect">
            <a:avLst/>
          </a:prstGeom>
          <a:noFill/>
        </p:spPr>
        <p:txBody>
          <a:bodyPr wrap="square" lIns="0" tIns="0" rIns="0" bIns="0" anchor="ctr">
            <a:spAutoFit/>
          </a:bodyPr>
          <a:lstStyle/>
          <a:p>
            <a:pPr algn="ctr">
              <a:spcAft>
                <a:spcPts val="0"/>
              </a:spcAft>
            </a:pPr>
            <a:r>
              <a:rPr sz="1300" b="1" i="0">
                <a:solidFill>
                  <a:srgbClr val="040E3D"/>
                </a:solidFill>
                <a:latin typeface="Source Sans 3"/>
              </a:rPr>
              <a:t>01</a:t>
            </a:r>
          </a:p>
        </p:txBody>
      </p:sp>
      <p:sp>
        <p:nvSpPr>
          <p:cNvPr id="16" name="TextBox 15"/>
          <p:cNvSpPr txBox="1"/>
          <p:nvPr/>
        </p:nvSpPr>
        <p:spPr>
          <a:xfrm>
            <a:off x="822960" y="2990088"/>
            <a:ext cx="3108960" cy="292608"/>
          </a:xfrm>
          <a:prstGeom prst="rect">
            <a:avLst/>
          </a:prstGeom>
          <a:noFill/>
        </p:spPr>
        <p:txBody>
          <a:bodyPr wrap="square" lIns="0" tIns="0" rIns="0" bIns="0" anchor="ctr">
            <a:spAutoFit/>
          </a:bodyPr>
          <a:lstStyle/>
          <a:p>
            <a:pPr algn="l">
              <a:spcAft>
                <a:spcPts val="0"/>
              </a:spcAft>
            </a:pPr>
            <a:r>
              <a:rPr sz="1800" b="1" i="0">
                <a:solidFill>
                  <a:srgbClr val="8FFFDB"/>
                </a:solidFill>
                <a:latin typeface="Source Sans 3"/>
              </a:rPr>
              <a:t>ADVISORY</a:t>
            </a:r>
          </a:p>
        </p:txBody>
      </p:sp>
      <p:sp>
        <p:nvSpPr>
          <p:cNvPr id="17" name="TextBox 16"/>
          <p:cNvSpPr txBox="1"/>
          <p:nvPr/>
        </p:nvSpPr>
        <p:spPr>
          <a:xfrm>
            <a:off x="822960" y="3438144"/>
            <a:ext cx="3108960" cy="329184"/>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Define value and constraints</a:t>
            </a:r>
          </a:p>
        </p:txBody>
      </p:sp>
      <p:sp>
        <p:nvSpPr>
          <p:cNvPr id="18" name="TextBox 17"/>
          <p:cNvSpPr txBox="1"/>
          <p:nvPr/>
        </p:nvSpPr>
        <p:spPr>
          <a:xfrm>
            <a:off x="822960" y="3840480"/>
            <a:ext cx="3108960" cy="274320"/>
          </a:xfrm>
          <a:prstGeom prst="rect">
            <a:avLst/>
          </a:prstGeom>
          <a:noFill/>
        </p:spPr>
        <p:txBody>
          <a:bodyPr wrap="square" lIns="0" tIns="0" rIns="0" bIns="0" anchor="ctr">
            <a:spAutoFit/>
          </a:bodyPr>
          <a:lstStyle/>
          <a:p>
            <a:pPr algn="l">
              <a:spcAft>
                <a:spcPts val="0"/>
              </a:spcAft>
            </a:pPr>
            <a:r>
              <a:rPr sz="1000" b="0" i="0">
                <a:solidFill>
                  <a:srgbClr val="F2F2F4"/>
                </a:solidFill>
                <a:latin typeface="Source Sans 3"/>
              </a:rPr>
              <a:t>AI Action Plan + strategic refresh</a:t>
            </a:r>
          </a:p>
        </p:txBody>
      </p:sp>
      <p:sp>
        <p:nvSpPr>
          <p:cNvPr id="19" name="TextBox 18"/>
          <p:cNvSpPr txBox="1"/>
          <p:nvPr/>
        </p:nvSpPr>
        <p:spPr>
          <a:xfrm>
            <a:off x="4187952" y="3026664"/>
            <a:ext cx="237744" cy="310896"/>
          </a:xfrm>
          <a:prstGeom prst="rect">
            <a:avLst/>
          </a:prstGeom>
          <a:noFill/>
        </p:spPr>
        <p:txBody>
          <a:bodyPr wrap="square" lIns="0" tIns="0" rIns="0" bIns="0" anchor="ctr">
            <a:spAutoFit/>
          </a:bodyPr>
          <a:lstStyle/>
          <a:p>
            <a:pPr algn="ctr">
              <a:spcAft>
                <a:spcPts val="0"/>
              </a:spcAft>
            </a:pPr>
            <a:r>
              <a:rPr sz="2300" b="1" i="0">
                <a:solidFill>
                  <a:srgbClr val="2CB0CD"/>
                </a:solidFill>
                <a:latin typeface="Source Sans 3"/>
              </a:rPr>
              <a:t>➜</a:t>
            </a:r>
          </a:p>
        </p:txBody>
      </p:sp>
      <p:sp>
        <p:nvSpPr>
          <p:cNvPr id="20" name="Rounded Rectangle 19"/>
          <p:cNvSpPr/>
          <p:nvPr/>
        </p:nvSpPr>
        <p:spPr>
          <a:xfrm>
            <a:off x="4498848" y="2176272"/>
            <a:ext cx="3502152" cy="2148840"/>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700016" y="2414016"/>
            <a:ext cx="521207" cy="521207"/>
          </a:xfrm>
          <a:prstGeom prst="ellipse">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27448" y="2487168"/>
            <a:ext cx="475488" cy="219456"/>
          </a:xfrm>
          <a:prstGeom prst="rect">
            <a:avLst/>
          </a:prstGeom>
          <a:noFill/>
        </p:spPr>
        <p:txBody>
          <a:bodyPr wrap="square" lIns="0" tIns="0" rIns="0" bIns="0" anchor="ctr">
            <a:spAutoFit/>
          </a:bodyPr>
          <a:lstStyle/>
          <a:p>
            <a:pPr algn="ctr">
              <a:spcAft>
                <a:spcPts val="0"/>
              </a:spcAft>
            </a:pPr>
            <a:r>
              <a:rPr sz="1300" b="1" i="0">
                <a:solidFill>
                  <a:srgbClr val="040E3D"/>
                </a:solidFill>
                <a:latin typeface="Source Sans 3"/>
              </a:rPr>
              <a:t>02</a:t>
            </a:r>
          </a:p>
        </p:txBody>
      </p:sp>
      <p:sp>
        <p:nvSpPr>
          <p:cNvPr id="23" name="TextBox 22"/>
          <p:cNvSpPr txBox="1"/>
          <p:nvPr/>
        </p:nvSpPr>
        <p:spPr>
          <a:xfrm>
            <a:off x="4700016" y="2990088"/>
            <a:ext cx="3108960" cy="292608"/>
          </a:xfrm>
          <a:prstGeom prst="rect">
            <a:avLst/>
          </a:prstGeom>
          <a:noFill/>
        </p:spPr>
        <p:txBody>
          <a:bodyPr wrap="square" lIns="0" tIns="0" rIns="0" bIns="0" anchor="ctr">
            <a:spAutoFit/>
          </a:bodyPr>
          <a:lstStyle/>
          <a:p>
            <a:pPr algn="l">
              <a:spcAft>
                <a:spcPts val="0"/>
              </a:spcAft>
            </a:pPr>
            <a:r>
              <a:rPr sz="1800" b="1" i="0">
                <a:solidFill>
                  <a:srgbClr val="C0A6FF"/>
                </a:solidFill>
                <a:latin typeface="Source Sans 3"/>
              </a:rPr>
              <a:t>BACKLOG PRIORITIZATION</a:t>
            </a:r>
          </a:p>
        </p:txBody>
      </p:sp>
      <p:sp>
        <p:nvSpPr>
          <p:cNvPr id="24" name="TextBox 23"/>
          <p:cNvSpPr txBox="1"/>
          <p:nvPr/>
        </p:nvSpPr>
        <p:spPr>
          <a:xfrm>
            <a:off x="4700016" y="3438144"/>
            <a:ext cx="3108960" cy="329184"/>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Refine and approve stories</a:t>
            </a:r>
          </a:p>
        </p:txBody>
      </p:sp>
      <p:sp>
        <p:nvSpPr>
          <p:cNvPr id="25" name="TextBox 24"/>
          <p:cNvSpPr txBox="1"/>
          <p:nvPr/>
        </p:nvSpPr>
        <p:spPr>
          <a:xfrm>
            <a:off x="4700016" y="3840480"/>
            <a:ext cx="3108960" cy="274320"/>
          </a:xfrm>
          <a:prstGeom prst="rect">
            <a:avLst/>
          </a:prstGeom>
          <a:noFill/>
        </p:spPr>
        <p:txBody>
          <a:bodyPr wrap="square" lIns="0" tIns="0" rIns="0" bIns="0" anchor="ctr">
            <a:spAutoFit/>
          </a:bodyPr>
          <a:lstStyle/>
          <a:p>
            <a:pPr algn="l">
              <a:spcAft>
                <a:spcPts val="0"/>
              </a:spcAft>
            </a:pPr>
            <a:r>
              <a:rPr sz="1000" b="0" i="0">
                <a:solidFill>
                  <a:srgbClr val="F2F2F4"/>
                </a:solidFill>
                <a:latin typeface="Source Sans 3"/>
              </a:rPr>
              <a:t>Feasibility, acceptance &amp; estimates</a:t>
            </a:r>
          </a:p>
        </p:txBody>
      </p:sp>
      <p:sp>
        <p:nvSpPr>
          <p:cNvPr id="26" name="TextBox 25"/>
          <p:cNvSpPr txBox="1"/>
          <p:nvPr/>
        </p:nvSpPr>
        <p:spPr>
          <a:xfrm>
            <a:off x="8065008" y="3026664"/>
            <a:ext cx="237744" cy="310896"/>
          </a:xfrm>
          <a:prstGeom prst="rect">
            <a:avLst/>
          </a:prstGeom>
          <a:noFill/>
        </p:spPr>
        <p:txBody>
          <a:bodyPr wrap="square" lIns="0" tIns="0" rIns="0" bIns="0" anchor="ctr">
            <a:spAutoFit/>
          </a:bodyPr>
          <a:lstStyle/>
          <a:p>
            <a:pPr algn="ctr">
              <a:spcAft>
                <a:spcPts val="0"/>
              </a:spcAft>
            </a:pPr>
            <a:r>
              <a:rPr sz="2300" b="1" i="0">
                <a:solidFill>
                  <a:srgbClr val="2CB0CD"/>
                </a:solidFill>
                <a:latin typeface="Source Sans 3"/>
              </a:rPr>
              <a:t>➜</a:t>
            </a:r>
          </a:p>
        </p:txBody>
      </p:sp>
      <p:sp>
        <p:nvSpPr>
          <p:cNvPr id="27" name="Rounded Rectangle 26"/>
          <p:cNvSpPr/>
          <p:nvPr/>
        </p:nvSpPr>
        <p:spPr>
          <a:xfrm>
            <a:off x="8375904" y="2176272"/>
            <a:ext cx="3502152" cy="2148840"/>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577072" y="2414016"/>
            <a:ext cx="521207" cy="521207"/>
          </a:xfrm>
          <a:prstGeom prst="ellipse">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04504" y="2487168"/>
            <a:ext cx="475488" cy="219456"/>
          </a:xfrm>
          <a:prstGeom prst="rect">
            <a:avLst/>
          </a:prstGeom>
          <a:noFill/>
        </p:spPr>
        <p:txBody>
          <a:bodyPr wrap="square" lIns="0" tIns="0" rIns="0" bIns="0" anchor="ctr">
            <a:spAutoFit/>
          </a:bodyPr>
          <a:lstStyle/>
          <a:p>
            <a:pPr algn="ctr">
              <a:spcAft>
                <a:spcPts val="0"/>
              </a:spcAft>
            </a:pPr>
            <a:r>
              <a:rPr sz="1300" b="1" i="0">
                <a:solidFill>
                  <a:srgbClr val="040E3D"/>
                </a:solidFill>
                <a:latin typeface="Source Sans 3"/>
              </a:rPr>
              <a:t>03</a:t>
            </a:r>
          </a:p>
        </p:txBody>
      </p:sp>
      <p:sp>
        <p:nvSpPr>
          <p:cNvPr id="30" name="TextBox 29"/>
          <p:cNvSpPr txBox="1"/>
          <p:nvPr/>
        </p:nvSpPr>
        <p:spPr>
          <a:xfrm>
            <a:off x="8577072" y="2990088"/>
            <a:ext cx="3108960" cy="292608"/>
          </a:xfrm>
          <a:prstGeom prst="rect">
            <a:avLst/>
          </a:prstGeom>
          <a:noFill/>
        </p:spPr>
        <p:txBody>
          <a:bodyPr wrap="square" lIns="0" tIns="0" rIns="0" bIns="0" anchor="ctr">
            <a:spAutoFit/>
          </a:bodyPr>
          <a:lstStyle/>
          <a:p>
            <a:pPr algn="l">
              <a:spcAft>
                <a:spcPts val="0"/>
              </a:spcAft>
            </a:pPr>
            <a:r>
              <a:rPr sz="1800" b="1" i="0">
                <a:solidFill>
                  <a:srgbClr val="8FFFDB"/>
                </a:solidFill>
                <a:latin typeface="Source Sans 3"/>
              </a:rPr>
              <a:t>EXTEND</a:t>
            </a:r>
          </a:p>
        </p:txBody>
      </p:sp>
      <p:sp>
        <p:nvSpPr>
          <p:cNvPr id="31" name="TextBox 30"/>
          <p:cNvSpPr txBox="1"/>
          <p:nvPr/>
        </p:nvSpPr>
        <p:spPr>
          <a:xfrm>
            <a:off x="8577072" y="3438144"/>
            <a:ext cx="3108960" cy="329184"/>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Configure and test accepted work</a:t>
            </a:r>
          </a:p>
        </p:txBody>
      </p:sp>
      <p:sp>
        <p:nvSpPr>
          <p:cNvPr id="32" name="TextBox 31"/>
          <p:cNvSpPr txBox="1"/>
          <p:nvPr/>
        </p:nvSpPr>
        <p:spPr>
          <a:xfrm>
            <a:off x="8577072" y="3840480"/>
            <a:ext cx="3108960" cy="274320"/>
          </a:xfrm>
          <a:prstGeom prst="rect">
            <a:avLst/>
          </a:prstGeom>
          <a:noFill/>
        </p:spPr>
        <p:txBody>
          <a:bodyPr wrap="square" lIns="0" tIns="0" rIns="0" bIns="0" anchor="ctr">
            <a:spAutoFit/>
          </a:bodyPr>
          <a:lstStyle/>
          <a:p>
            <a:pPr algn="l">
              <a:spcAft>
                <a:spcPts val="0"/>
              </a:spcAft>
            </a:pPr>
            <a:r>
              <a:rPr sz="1000" b="0" i="0">
                <a:solidFill>
                  <a:srgbClr val="F2F2F4"/>
                </a:solidFill>
                <a:latin typeface="Source Sans 3"/>
              </a:rPr>
              <a:t>Nine months of monthly capacity</a:t>
            </a:r>
          </a:p>
        </p:txBody>
      </p:sp>
      <p:sp>
        <p:nvSpPr>
          <p:cNvPr id="33" name="Rounded Rectangle 32"/>
          <p:cNvSpPr/>
          <p:nvPr/>
        </p:nvSpPr>
        <p:spPr>
          <a:xfrm>
            <a:off x="804672" y="4690872"/>
            <a:ext cx="10607040" cy="79552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5840" y="4864608"/>
            <a:ext cx="1828800" cy="219456"/>
          </a:xfrm>
          <a:prstGeom prst="rect">
            <a:avLst/>
          </a:prstGeom>
          <a:noFill/>
        </p:spPr>
        <p:txBody>
          <a:bodyPr wrap="square" lIns="0" tIns="0" rIns="0" bIns="0" anchor="ctr">
            <a:spAutoFit/>
          </a:bodyPr>
          <a:lstStyle/>
          <a:p>
            <a:pPr algn="l">
              <a:spcAft>
                <a:spcPts val="0"/>
              </a:spcAft>
            </a:pPr>
            <a:r>
              <a:rPr sz="1200" b="1" i="0">
                <a:solidFill>
                  <a:srgbClr val="8FFFDB"/>
                </a:solidFill>
                <a:latin typeface="Source Sans 3"/>
              </a:rPr>
              <a:t>APPROVAL GATE</a:t>
            </a:r>
          </a:p>
        </p:txBody>
      </p:sp>
      <p:sp>
        <p:nvSpPr>
          <p:cNvPr id="35" name="TextBox 34"/>
          <p:cNvSpPr txBox="1"/>
          <p:nvPr/>
        </p:nvSpPr>
        <p:spPr>
          <a:xfrm>
            <a:off x="2798064" y="4791456"/>
            <a:ext cx="8366760" cy="329184"/>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Customer PO approves stories  ·  Technical Lead accepts them for Extend sprints</a:t>
            </a:r>
          </a:p>
        </p:txBody>
      </p:sp>
      <p:sp>
        <p:nvSpPr>
          <p:cNvPr id="36" name="TextBox 35"/>
          <p:cNvSpPr txBox="1"/>
          <p:nvPr/>
        </p:nvSpPr>
        <p:spPr>
          <a:xfrm>
            <a:off x="822960" y="5650992"/>
            <a:ext cx="10698480" cy="310896"/>
          </a:xfrm>
          <a:prstGeom prst="rect">
            <a:avLst/>
          </a:prstGeom>
          <a:noFill/>
        </p:spPr>
        <p:txBody>
          <a:bodyPr wrap="square" lIns="0" tIns="0" rIns="0" bIns="0" anchor="ctr">
            <a:spAutoFit/>
          </a:bodyPr>
          <a:lstStyle/>
          <a:p>
            <a:pPr algn="l">
              <a:spcAft>
                <a:spcPts val="0"/>
              </a:spcAft>
            </a:pPr>
            <a:r>
              <a:rPr sz="1100" b="0" i="0">
                <a:solidFill>
                  <a:srgbClr val="F2F2F4"/>
                </a:solidFill>
                <a:latin typeface="Source Sans 3"/>
              </a:rPr>
              <a:t>Repeat: advisory revisits direction · backlog cycles refresh priorities · Extend consumes accepted stories.</a:t>
            </a:r>
          </a:p>
        </p:txBody>
      </p:sp>
    </p:spTree>
    <p:extLst>
      <p:ext uri="{BB962C8B-B14F-4D97-AF65-F5344CB8AC3E}">
        <p14:creationId xmlns:p14="http://schemas.microsoft.com/office/powerpoint/2010/main" val="1504218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Clear ownership. One delivery record.</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Crossfuze and the customer each have decision-making and operational responsibilities.</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15</a:t>
            </a:r>
          </a:p>
        </p:txBody>
      </p:sp>
      <p:sp>
        <p:nvSpPr>
          <p:cNvPr id="13" name="Rounded Rectangle 12"/>
          <p:cNvSpPr/>
          <p:nvPr/>
        </p:nvSpPr>
        <p:spPr>
          <a:xfrm>
            <a:off x="658368" y="1956816"/>
            <a:ext cx="5221224" cy="328269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26480" y="1956816"/>
            <a:ext cx="5394960" cy="328269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2267712"/>
            <a:ext cx="4700016" cy="374904"/>
          </a:xfrm>
          <a:prstGeom prst="rect">
            <a:avLst/>
          </a:prstGeom>
          <a:noFill/>
        </p:spPr>
        <p:txBody>
          <a:bodyPr wrap="square" lIns="0" tIns="0" rIns="0" bIns="0" anchor="ctr">
            <a:spAutoFit/>
          </a:bodyPr>
          <a:lstStyle/>
          <a:p>
            <a:pPr algn="l">
              <a:spcAft>
                <a:spcPts val="0"/>
              </a:spcAft>
            </a:pPr>
            <a:r>
              <a:rPr sz="2100" b="1" i="0">
                <a:solidFill>
                  <a:srgbClr val="2CB0CD"/>
                </a:solidFill>
                <a:latin typeface="Source Sans 3"/>
              </a:rPr>
              <a:t>CUSTOMER</a:t>
            </a:r>
          </a:p>
        </p:txBody>
      </p:sp>
      <p:sp>
        <p:nvSpPr>
          <p:cNvPr id="16" name="TextBox 15"/>
          <p:cNvSpPr txBox="1"/>
          <p:nvPr/>
        </p:nvSpPr>
        <p:spPr>
          <a:xfrm>
            <a:off x="905256" y="2752344"/>
            <a:ext cx="4535424" cy="2185416"/>
          </a:xfrm>
          <a:prstGeom prst="rect">
            <a:avLst/>
          </a:prstGeom>
          <a:noFill/>
        </p:spPr>
        <p:txBody>
          <a:bodyPr wrap="square" lIns="0" tIns="0" rIns="0" bIns="0" anchor="t">
            <a:spAutoFit/>
          </a:bodyPr>
          <a:lstStyle/>
          <a:p>
            <a:pPr algn="l">
              <a:spcAft>
                <a:spcPts val="0"/>
              </a:spcAft>
            </a:pPr>
            <a:r>
              <a:rPr sz="1370" b="0" i="0">
                <a:solidFill>
                  <a:srgbClr val="F2F2F4"/>
                </a:solidFill>
                <a:latin typeface="Source Sans 3"/>
              </a:rPr>
              <a:t>• Appoint executive sponsor and Product Owner</a:t>
            </a:r>
          </a:p>
          <a:p>
            <a:pPr algn="l">
              <a:spcAft>
                <a:spcPts val="0"/>
              </a:spcAft>
            </a:pPr>
            <a:r>
              <a:rPr sz="1370" b="0" i="0">
                <a:solidFill>
                  <a:srgbClr val="F2F2F4"/>
                </a:solidFill>
                <a:latin typeface="Source Sans 3"/>
              </a:rPr>
              <a:t>• Supply access, licences and demand priorities</a:t>
            </a:r>
          </a:p>
          <a:p>
            <a:pPr algn="l">
              <a:spcAft>
                <a:spcPts val="0"/>
              </a:spcAft>
            </a:pPr>
            <a:r>
              <a:rPr sz="1370" b="0" i="0">
                <a:solidFill>
                  <a:srgbClr val="F2F2F4"/>
                </a:solidFill>
                <a:latin typeface="Source Sans 3"/>
              </a:rPr>
              <a:t>• Approve delivery-ready stories and changes</a:t>
            </a:r>
          </a:p>
          <a:p>
            <a:pPr algn="l">
              <a:spcAft>
                <a:spcPts val="0"/>
              </a:spcAft>
            </a:pPr>
            <a:r>
              <a:rPr sz="1370" b="0" i="0">
                <a:solidFill>
                  <a:srgbClr val="F2F2F4"/>
                </a:solidFill>
                <a:latin typeface="Source Sans 3"/>
              </a:rPr>
              <a:t>• Perform UAT and approve production use</a:t>
            </a:r>
          </a:p>
          <a:p>
            <a:pPr algn="l">
              <a:spcAft>
                <a:spcPts val="0"/>
              </a:spcAft>
            </a:pPr>
            <a:r>
              <a:rPr sz="1370" b="0" i="0">
                <a:solidFill>
                  <a:srgbClr val="F2F2F4"/>
                </a:solidFill>
                <a:latin typeface="Source Sans 3"/>
              </a:rPr>
              <a:t>• Own AI data, human oversight and monitoring</a:t>
            </a:r>
          </a:p>
        </p:txBody>
      </p:sp>
      <p:sp>
        <p:nvSpPr>
          <p:cNvPr id="17" name="TextBox 16"/>
          <p:cNvSpPr txBox="1"/>
          <p:nvPr/>
        </p:nvSpPr>
        <p:spPr>
          <a:xfrm>
            <a:off x="6355080" y="2267712"/>
            <a:ext cx="4681728" cy="374904"/>
          </a:xfrm>
          <a:prstGeom prst="rect">
            <a:avLst/>
          </a:prstGeom>
          <a:noFill/>
        </p:spPr>
        <p:txBody>
          <a:bodyPr wrap="square" lIns="0" tIns="0" rIns="0" bIns="0" anchor="ctr">
            <a:spAutoFit/>
          </a:bodyPr>
          <a:lstStyle/>
          <a:p>
            <a:pPr algn="l">
              <a:spcAft>
                <a:spcPts val="0"/>
              </a:spcAft>
            </a:pPr>
            <a:r>
              <a:rPr sz="2100" b="1" i="0">
                <a:solidFill>
                  <a:srgbClr val="8FFFDB"/>
                </a:solidFill>
                <a:latin typeface="Source Sans 3"/>
              </a:rPr>
              <a:t>CROSSFUZE</a:t>
            </a:r>
          </a:p>
        </p:txBody>
      </p:sp>
      <p:sp>
        <p:nvSpPr>
          <p:cNvPr id="18" name="TextBox 17"/>
          <p:cNvSpPr txBox="1"/>
          <p:nvPr/>
        </p:nvSpPr>
        <p:spPr>
          <a:xfrm>
            <a:off x="6373368" y="2752344"/>
            <a:ext cx="4562856" cy="2185416"/>
          </a:xfrm>
          <a:prstGeom prst="rect">
            <a:avLst/>
          </a:prstGeom>
          <a:noFill/>
        </p:spPr>
        <p:txBody>
          <a:bodyPr wrap="square" lIns="0" tIns="0" rIns="0" bIns="0" anchor="t">
            <a:spAutoFit/>
          </a:bodyPr>
          <a:lstStyle/>
          <a:p>
            <a:pPr algn="l">
              <a:spcAft>
                <a:spcPts val="0"/>
              </a:spcAft>
            </a:pPr>
            <a:r>
              <a:rPr sz="1370" b="0" i="0">
                <a:solidFill>
                  <a:srgbClr val="F2F2F4"/>
                </a:solidFill>
                <a:latin typeface="Source Sans 3"/>
              </a:rPr>
              <a:t>• Facilitate the AI Action Plan and reviews</a:t>
            </a:r>
          </a:p>
          <a:p>
            <a:pPr algn="l">
              <a:spcAft>
                <a:spcPts val="0"/>
              </a:spcAft>
            </a:pPr>
            <a:r>
              <a:rPr sz="1370" b="0" i="0">
                <a:solidFill>
                  <a:srgbClr val="F2F2F4"/>
                </a:solidFill>
                <a:latin typeface="Source Sans 3"/>
              </a:rPr>
              <a:t>• Refine, assess and estimate proposed stories</a:t>
            </a:r>
          </a:p>
          <a:p>
            <a:pPr algn="l">
              <a:spcAft>
                <a:spcPts val="0"/>
              </a:spcAft>
            </a:pPr>
            <a:r>
              <a:rPr sz="1370" b="0" i="0">
                <a:solidFill>
                  <a:srgbClr val="F2F2F4"/>
                </a:solidFill>
                <a:latin typeface="Source Sans 3"/>
              </a:rPr>
              <a:t>• Assign Technical Lead and schedule sprints</a:t>
            </a:r>
          </a:p>
          <a:p>
            <a:pPr algn="l">
              <a:spcAft>
                <a:spcPts val="0"/>
              </a:spcAft>
            </a:pPr>
            <a:r>
              <a:rPr sz="1370" b="0" i="0">
                <a:solidFill>
                  <a:srgbClr val="F2F2F4"/>
                </a:solidFill>
                <a:latin typeface="Source Sans 3"/>
              </a:rPr>
              <a:t>• Configure, test and review approved work</a:t>
            </a:r>
          </a:p>
          <a:p>
            <a:pPr algn="l">
              <a:spcAft>
                <a:spcPts val="0"/>
              </a:spcAft>
            </a:pPr>
            <a:r>
              <a:rPr sz="1370" b="0" i="0">
                <a:solidFill>
                  <a:srgbClr val="F2F2F4"/>
                </a:solidFill>
                <a:latin typeface="Source Sans 3"/>
              </a:rPr>
              <a:t>• Report delivery status through the CDP</a:t>
            </a:r>
          </a:p>
        </p:txBody>
      </p:sp>
      <p:sp>
        <p:nvSpPr>
          <p:cNvPr id="19" name="Rounded Rectangle 18"/>
          <p:cNvSpPr/>
          <p:nvPr/>
        </p:nvSpPr>
        <p:spPr>
          <a:xfrm>
            <a:off x="1014984" y="5522976"/>
            <a:ext cx="10122408" cy="557784"/>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632704"/>
            <a:ext cx="9710928" cy="274320"/>
          </a:xfrm>
          <a:prstGeom prst="rect">
            <a:avLst/>
          </a:prstGeom>
          <a:noFill/>
        </p:spPr>
        <p:txBody>
          <a:bodyPr wrap="square" lIns="0" tIns="0" rIns="0" bIns="0" anchor="ctr">
            <a:spAutoFit/>
          </a:bodyPr>
          <a:lstStyle/>
          <a:p>
            <a:pPr algn="ctr">
              <a:spcAft>
                <a:spcPts val="0"/>
              </a:spcAft>
            </a:pPr>
            <a:r>
              <a:rPr sz="1200" b="1" i="0">
                <a:solidFill>
                  <a:srgbClr val="8FFFDB"/>
                </a:solidFill>
                <a:latin typeface="Source Sans 3"/>
              </a:rPr>
              <a:t>CROSSFUZE DELIVERY PLATFORM (CDP)  ·  Stories, approvals, tests, risks, decisions and visibility</a:t>
            </a:r>
          </a:p>
        </p:txBody>
      </p:sp>
    </p:spTree>
    <p:extLst>
      <p:ext uri="{BB962C8B-B14F-4D97-AF65-F5344CB8AC3E}">
        <p14:creationId xmlns:p14="http://schemas.microsoft.com/office/powerpoint/2010/main" val="2752528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From accepted story to approved release.</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No backlog item automatically becomes a sprint deliverable.</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16</a:t>
            </a:r>
          </a:p>
        </p:txBody>
      </p:sp>
      <p:sp>
        <p:nvSpPr>
          <p:cNvPr id="13" name="Rounded Rectangle 12"/>
          <p:cNvSpPr/>
          <p:nvPr/>
        </p:nvSpPr>
        <p:spPr>
          <a:xfrm>
            <a:off x="667512" y="2331720"/>
            <a:ext cx="2103120" cy="23500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523744"/>
            <a:ext cx="1682496" cy="393192"/>
          </a:xfrm>
          <a:prstGeom prst="rect">
            <a:avLst/>
          </a:prstGeom>
          <a:noFill/>
        </p:spPr>
        <p:txBody>
          <a:bodyPr wrap="square" lIns="0" tIns="0" rIns="0" bIns="0" anchor="ctr">
            <a:spAutoFit/>
          </a:bodyPr>
          <a:lstStyle/>
          <a:p>
            <a:pPr algn="l">
              <a:spcAft>
                <a:spcPts val="0"/>
              </a:spcAft>
            </a:pPr>
            <a:r>
              <a:rPr sz="2400" b="1" i="0">
                <a:solidFill>
                  <a:srgbClr val="8FFFDB"/>
                </a:solidFill>
                <a:latin typeface="Source Sans 3"/>
              </a:rPr>
              <a:t>01</a:t>
            </a:r>
          </a:p>
        </p:txBody>
      </p:sp>
      <p:sp>
        <p:nvSpPr>
          <p:cNvPr id="15" name="TextBox 14"/>
          <p:cNvSpPr txBox="1"/>
          <p:nvPr/>
        </p:nvSpPr>
        <p:spPr>
          <a:xfrm>
            <a:off x="804672" y="3054096"/>
            <a:ext cx="1865376" cy="347472"/>
          </a:xfrm>
          <a:prstGeom prst="rect">
            <a:avLst/>
          </a:prstGeom>
          <a:noFill/>
        </p:spPr>
        <p:txBody>
          <a:bodyPr wrap="square" lIns="0" tIns="0" rIns="0" bIns="0" anchor="ctr">
            <a:spAutoFit/>
          </a:bodyPr>
          <a:lstStyle/>
          <a:p>
            <a:pPr algn="l">
              <a:spcAft>
                <a:spcPts val="0"/>
              </a:spcAft>
            </a:pPr>
            <a:r>
              <a:rPr sz="1400" b="1" i="0">
                <a:solidFill>
                  <a:srgbClr val="2CB0CD"/>
                </a:solidFill>
                <a:latin typeface="Source Sans 3"/>
              </a:rPr>
              <a:t>STORY</a:t>
            </a:r>
          </a:p>
        </p:txBody>
      </p:sp>
      <p:sp>
        <p:nvSpPr>
          <p:cNvPr id="16" name="TextBox 15"/>
          <p:cNvSpPr txBox="1"/>
          <p:nvPr/>
        </p:nvSpPr>
        <p:spPr>
          <a:xfrm>
            <a:off x="813816" y="3593592"/>
            <a:ext cx="1819656" cy="813816"/>
          </a:xfrm>
          <a:prstGeom prst="rect">
            <a:avLst/>
          </a:prstGeom>
          <a:noFill/>
        </p:spPr>
        <p:txBody>
          <a:bodyPr wrap="square" lIns="0" tIns="0" rIns="0" bIns="0" anchor="t">
            <a:spAutoFit/>
          </a:bodyPr>
          <a:lstStyle/>
          <a:p>
            <a:pPr algn="l">
              <a:spcAft>
                <a:spcPts val="0"/>
              </a:spcAft>
            </a:pPr>
            <a:r>
              <a:rPr sz="1100" b="0" i="0">
                <a:solidFill>
                  <a:srgbClr val="F2F2F4"/>
                </a:solidFill>
                <a:latin typeface="Source Sans 3"/>
              </a:rPr>
              <a:t>Customer PO approves scope and criteria</a:t>
            </a:r>
          </a:p>
        </p:txBody>
      </p:sp>
      <p:sp>
        <p:nvSpPr>
          <p:cNvPr id="17" name="TextBox 16"/>
          <p:cNvSpPr txBox="1"/>
          <p:nvPr/>
        </p:nvSpPr>
        <p:spPr>
          <a:xfrm>
            <a:off x="2761488" y="2971800"/>
            <a:ext cx="210312" cy="512064"/>
          </a:xfrm>
          <a:prstGeom prst="rect">
            <a:avLst/>
          </a:prstGeom>
          <a:noFill/>
        </p:spPr>
        <p:txBody>
          <a:bodyPr wrap="square" lIns="0" tIns="0" rIns="0" bIns="0" anchor="ctr">
            <a:spAutoFit/>
          </a:bodyPr>
          <a:lstStyle/>
          <a:p>
            <a:pPr algn="ctr">
              <a:spcAft>
                <a:spcPts val="0"/>
              </a:spcAft>
            </a:pPr>
            <a:r>
              <a:rPr sz="3000" b="1" i="0">
                <a:solidFill>
                  <a:srgbClr val="8FFFDB"/>
                </a:solidFill>
                <a:latin typeface="Source Sans 3"/>
              </a:rPr>
              <a:t>›</a:t>
            </a:r>
          </a:p>
        </p:txBody>
      </p:sp>
      <p:sp>
        <p:nvSpPr>
          <p:cNvPr id="18" name="Rounded Rectangle 17"/>
          <p:cNvSpPr/>
          <p:nvPr/>
        </p:nvSpPr>
        <p:spPr>
          <a:xfrm>
            <a:off x="2990088" y="2331720"/>
            <a:ext cx="2103120" cy="23500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27248" y="2523744"/>
            <a:ext cx="1682496" cy="393192"/>
          </a:xfrm>
          <a:prstGeom prst="rect">
            <a:avLst/>
          </a:prstGeom>
          <a:noFill/>
        </p:spPr>
        <p:txBody>
          <a:bodyPr wrap="square" lIns="0" tIns="0" rIns="0" bIns="0" anchor="ctr">
            <a:spAutoFit/>
          </a:bodyPr>
          <a:lstStyle/>
          <a:p>
            <a:pPr algn="l">
              <a:spcAft>
                <a:spcPts val="0"/>
              </a:spcAft>
            </a:pPr>
            <a:r>
              <a:rPr sz="2400" b="1" i="0">
                <a:solidFill>
                  <a:srgbClr val="8FFFDB"/>
                </a:solidFill>
                <a:latin typeface="Source Sans 3"/>
              </a:rPr>
              <a:t>02</a:t>
            </a:r>
          </a:p>
        </p:txBody>
      </p:sp>
      <p:sp>
        <p:nvSpPr>
          <p:cNvPr id="20" name="TextBox 19"/>
          <p:cNvSpPr txBox="1"/>
          <p:nvPr/>
        </p:nvSpPr>
        <p:spPr>
          <a:xfrm>
            <a:off x="3127248" y="3054096"/>
            <a:ext cx="1865376" cy="347472"/>
          </a:xfrm>
          <a:prstGeom prst="rect">
            <a:avLst/>
          </a:prstGeom>
          <a:noFill/>
        </p:spPr>
        <p:txBody>
          <a:bodyPr wrap="square" lIns="0" tIns="0" rIns="0" bIns="0" anchor="ctr">
            <a:spAutoFit/>
          </a:bodyPr>
          <a:lstStyle/>
          <a:p>
            <a:pPr algn="l">
              <a:spcAft>
                <a:spcPts val="0"/>
              </a:spcAft>
            </a:pPr>
            <a:r>
              <a:rPr sz="1400" b="1" i="0">
                <a:solidFill>
                  <a:srgbClr val="2CB0CD"/>
                </a:solidFill>
                <a:latin typeface="Source Sans 3"/>
              </a:rPr>
              <a:t>TECHNICAL</a:t>
            </a:r>
          </a:p>
        </p:txBody>
      </p:sp>
      <p:sp>
        <p:nvSpPr>
          <p:cNvPr id="21" name="TextBox 20"/>
          <p:cNvSpPr txBox="1"/>
          <p:nvPr/>
        </p:nvSpPr>
        <p:spPr>
          <a:xfrm>
            <a:off x="3136392" y="3593592"/>
            <a:ext cx="1819656" cy="813816"/>
          </a:xfrm>
          <a:prstGeom prst="rect">
            <a:avLst/>
          </a:prstGeom>
          <a:noFill/>
        </p:spPr>
        <p:txBody>
          <a:bodyPr wrap="square" lIns="0" tIns="0" rIns="0" bIns="0" anchor="t">
            <a:spAutoFit/>
          </a:bodyPr>
          <a:lstStyle/>
          <a:p>
            <a:pPr algn="l">
              <a:spcAft>
                <a:spcPts val="0"/>
              </a:spcAft>
            </a:pPr>
            <a:r>
              <a:rPr sz="1100" b="0" i="0">
                <a:solidFill>
                  <a:srgbClr val="F2F2F4"/>
                </a:solidFill>
                <a:latin typeface="Source Sans 3"/>
              </a:rPr>
              <a:t>TL assesses and accepts for sprint</a:t>
            </a:r>
          </a:p>
        </p:txBody>
      </p:sp>
      <p:sp>
        <p:nvSpPr>
          <p:cNvPr id="22" name="TextBox 21"/>
          <p:cNvSpPr txBox="1"/>
          <p:nvPr/>
        </p:nvSpPr>
        <p:spPr>
          <a:xfrm>
            <a:off x="5084064" y="2971800"/>
            <a:ext cx="210312" cy="512064"/>
          </a:xfrm>
          <a:prstGeom prst="rect">
            <a:avLst/>
          </a:prstGeom>
          <a:noFill/>
        </p:spPr>
        <p:txBody>
          <a:bodyPr wrap="square" lIns="0" tIns="0" rIns="0" bIns="0" anchor="ctr">
            <a:spAutoFit/>
          </a:bodyPr>
          <a:lstStyle/>
          <a:p>
            <a:pPr algn="ctr">
              <a:spcAft>
                <a:spcPts val="0"/>
              </a:spcAft>
            </a:pPr>
            <a:r>
              <a:rPr sz="3000" b="1" i="0">
                <a:solidFill>
                  <a:srgbClr val="8FFFDB"/>
                </a:solidFill>
                <a:latin typeface="Source Sans 3"/>
              </a:rPr>
              <a:t>›</a:t>
            </a:r>
          </a:p>
        </p:txBody>
      </p:sp>
      <p:sp>
        <p:nvSpPr>
          <p:cNvPr id="23" name="Rounded Rectangle 22"/>
          <p:cNvSpPr/>
          <p:nvPr/>
        </p:nvSpPr>
        <p:spPr>
          <a:xfrm>
            <a:off x="5312664" y="2331720"/>
            <a:ext cx="2103120" cy="23500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49824" y="2523744"/>
            <a:ext cx="1682496" cy="393192"/>
          </a:xfrm>
          <a:prstGeom prst="rect">
            <a:avLst/>
          </a:prstGeom>
          <a:noFill/>
        </p:spPr>
        <p:txBody>
          <a:bodyPr wrap="square" lIns="0" tIns="0" rIns="0" bIns="0" anchor="ctr">
            <a:spAutoFit/>
          </a:bodyPr>
          <a:lstStyle/>
          <a:p>
            <a:pPr algn="l">
              <a:spcAft>
                <a:spcPts val="0"/>
              </a:spcAft>
            </a:pPr>
            <a:r>
              <a:rPr sz="2400" b="1" i="0">
                <a:solidFill>
                  <a:srgbClr val="8FFFDB"/>
                </a:solidFill>
                <a:latin typeface="Source Sans 3"/>
              </a:rPr>
              <a:t>03</a:t>
            </a:r>
          </a:p>
        </p:txBody>
      </p:sp>
      <p:sp>
        <p:nvSpPr>
          <p:cNvPr id="25" name="TextBox 24"/>
          <p:cNvSpPr txBox="1"/>
          <p:nvPr/>
        </p:nvSpPr>
        <p:spPr>
          <a:xfrm>
            <a:off x="5449824" y="3054096"/>
            <a:ext cx="1865376" cy="347472"/>
          </a:xfrm>
          <a:prstGeom prst="rect">
            <a:avLst/>
          </a:prstGeom>
          <a:noFill/>
        </p:spPr>
        <p:txBody>
          <a:bodyPr wrap="square" lIns="0" tIns="0" rIns="0" bIns="0" anchor="ctr">
            <a:spAutoFit/>
          </a:bodyPr>
          <a:lstStyle/>
          <a:p>
            <a:pPr algn="l">
              <a:spcAft>
                <a:spcPts val="0"/>
              </a:spcAft>
            </a:pPr>
            <a:r>
              <a:rPr sz="1400" b="1" i="0">
                <a:solidFill>
                  <a:srgbClr val="2CB0CD"/>
                </a:solidFill>
                <a:latin typeface="Source Sans 3"/>
              </a:rPr>
              <a:t>DELIVERY</a:t>
            </a:r>
          </a:p>
        </p:txBody>
      </p:sp>
      <p:sp>
        <p:nvSpPr>
          <p:cNvPr id="26" name="TextBox 25"/>
          <p:cNvSpPr txBox="1"/>
          <p:nvPr/>
        </p:nvSpPr>
        <p:spPr>
          <a:xfrm>
            <a:off x="5458968" y="3593592"/>
            <a:ext cx="1819656" cy="813816"/>
          </a:xfrm>
          <a:prstGeom prst="rect">
            <a:avLst/>
          </a:prstGeom>
          <a:noFill/>
        </p:spPr>
        <p:txBody>
          <a:bodyPr wrap="square" lIns="0" tIns="0" rIns="0" bIns="0" anchor="t">
            <a:spAutoFit/>
          </a:bodyPr>
          <a:lstStyle/>
          <a:p>
            <a:pPr algn="l">
              <a:spcAft>
                <a:spcPts val="0"/>
              </a:spcAft>
            </a:pPr>
            <a:r>
              <a:rPr sz="1100" b="0" i="0">
                <a:solidFill>
                  <a:srgbClr val="F2F2F4"/>
                </a:solidFill>
                <a:latin typeface="Source Sans 3"/>
              </a:rPr>
              <a:t>Configure, test and show back</a:t>
            </a:r>
          </a:p>
        </p:txBody>
      </p:sp>
      <p:sp>
        <p:nvSpPr>
          <p:cNvPr id="27" name="TextBox 26"/>
          <p:cNvSpPr txBox="1"/>
          <p:nvPr/>
        </p:nvSpPr>
        <p:spPr>
          <a:xfrm>
            <a:off x="7406640" y="2971800"/>
            <a:ext cx="210312" cy="512064"/>
          </a:xfrm>
          <a:prstGeom prst="rect">
            <a:avLst/>
          </a:prstGeom>
          <a:noFill/>
        </p:spPr>
        <p:txBody>
          <a:bodyPr wrap="square" lIns="0" tIns="0" rIns="0" bIns="0" anchor="ctr">
            <a:spAutoFit/>
          </a:bodyPr>
          <a:lstStyle/>
          <a:p>
            <a:pPr algn="ctr">
              <a:spcAft>
                <a:spcPts val="0"/>
              </a:spcAft>
            </a:pPr>
            <a:r>
              <a:rPr sz="3000" b="1" i="0">
                <a:solidFill>
                  <a:srgbClr val="8FFFDB"/>
                </a:solidFill>
                <a:latin typeface="Source Sans 3"/>
              </a:rPr>
              <a:t>›</a:t>
            </a:r>
          </a:p>
        </p:txBody>
      </p:sp>
      <p:sp>
        <p:nvSpPr>
          <p:cNvPr id="28" name="Rounded Rectangle 27"/>
          <p:cNvSpPr/>
          <p:nvPr/>
        </p:nvSpPr>
        <p:spPr>
          <a:xfrm>
            <a:off x="7635240" y="2331720"/>
            <a:ext cx="2103120" cy="23500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0" y="2523744"/>
            <a:ext cx="1682496" cy="393192"/>
          </a:xfrm>
          <a:prstGeom prst="rect">
            <a:avLst/>
          </a:prstGeom>
          <a:noFill/>
        </p:spPr>
        <p:txBody>
          <a:bodyPr wrap="square" lIns="0" tIns="0" rIns="0" bIns="0" anchor="ctr">
            <a:spAutoFit/>
          </a:bodyPr>
          <a:lstStyle/>
          <a:p>
            <a:pPr algn="l">
              <a:spcAft>
                <a:spcPts val="0"/>
              </a:spcAft>
            </a:pPr>
            <a:r>
              <a:rPr sz="2400" b="1" i="0">
                <a:solidFill>
                  <a:srgbClr val="8FFFDB"/>
                </a:solidFill>
                <a:latin typeface="Source Sans 3"/>
              </a:rPr>
              <a:t>04</a:t>
            </a:r>
          </a:p>
        </p:txBody>
      </p:sp>
      <p:sp>
        <p:nvSpPr>
          <p:cNvPr id="30" name="TextBox 29"/>
          <p:cNvSpPr txBox="1"/>
          <p:nvPr/>
        </p:nvSpPr>
        <p:spPr>
          <a:xfrm>
            <a:off x="7772400" y="3054096"/>
            <a:ext cx="1865376" cy="347472"/>
          </a:xfrm>
          <a:prstGeom prst="rect">
            <a:avLst/>
          </a:prstGeom>
          <a:noFill/>
        </p:spPr>
        <p:txBody>
          <a:bodyPr wrap="square" lIns="0" tIns="0" rIns="0" bIns="0" anchor="ctr">
            <a:spAutoFit/>
          </a:bodyPr>
          <a:lstStyle/>
          <a:p>
            <a:pPr algn="l">
              <a:spcAft>
                <a:spcPts val="0"/>
              </a:spcAft>
            </a:pPr>
            <a:r>
              <a:rPr sz="1400" b="1" i="0">
                <a:solidFill>
                  <a:srgbClr val="2CB0CD"/>
                </a:solidFill>
                <a:latin typeface="Source Sans 3"/>
              </a:rPr>
              <a:t>CUSTOMER UAT</a:t>
            </a:r>
          </a:p>
        </p:txBody>
      </p:sp>
      <p:sp>
        <p:nvSpPr>
          <p:cNvPr id="31" name="TextBox 30"/>
          <p:cNvSpPr txBox="1"/>
          <p:nvPr/>
        </p:nvSpPr>
        <p:spPr>
          <a:xfrm>
            <a:off x="7781544" y="3593592"/>
            <a:ext cx="1819656" cy="813816"/>
          </a:xfrm>
          <a:prstGeom prst="rect">
            <a:avLst/>
          </a:prstGeom>
          <a:noFill/>
        </p:spPr>
        <p:txBody>
          <a:bodyPr wrap="square" lIns="0" tIns="0" rIns="0" bIns="0" anchor="t">
            <a:spAutoFit/>
          </a:bodyPr>
          <a:lstStyle/>
          <a:p>
            <a:pPr algn="l">
              <a:spcAft>
                <a:spcPts val="0"/>
              </a:spcAft>
            </a:pPr>
            <a:r>
              <a:rPr sz="1100" b="0" i="0">
                <a:solidFill>
                  <a:srgbClr val="F2F2F4"/>
                </a:solidFill>
                <a:latin typeface="Source Sans 3"/>
              </a:rPr>
              <a:t>Validate agreed acceptance criteria</a:t>
            </a:r>
          </a:p>
        </p:txBody>
      </p:sp>
      <p:sp>
        <p:nvSpPr>
          <p:cNvPr id="32" name="TextBox 31"/>
          <p:cNvSpPr txBox="1"/>
          <p:nvPr/>
        </p:nvSpPr>
        <p:spPr>
          <a:xfrm>
            <a:off x="9729216" y="2971800"/>
            <a:ext cx="210312" cy="512064"/>
          </a:xfrm>
          <a:prstGeom prst="rect">
            <a:avLst/>
          </a:prstGeom>
          <a:noFill/>
        </p:spPr>
        <p:txBody>
          <a:bodyPr wrap="square" lIns="0" tIns="0" rIns="0" bIns="0" anchor="ctr">
            <a:spAutoFit/>
          </a:bodyPr>
          <a:lstStyle/>
          <a:p>
            <a:pPr algn="ctr">
              <a:spcAft>
                <a:spcPts val="0"/>
              </a:spcAft>
            </a:pPr>
            <a:r>
              <a:rPr sz="3000" b="1" i="0">
                <a:solidFill>
                  <a:srgbClr val="8FFFDB"/>
                </a:solidFill>
                <a:latin typeface="Source Sans 3"/>
              </a:rPr>
              <a:t>›</a:t>
            </a:r>
          </a:p>
        </p:txBody>
      </p:sp>
      <p:sp>
        <p:nvSpPr>
          <p:cNvPr id="33" name="Rounded Rectangle 32"/>
          <p:cNvSpPr/>
          <p:nvPr/>
        </p:nvSpPr>
        <p:spPr>
          <a:xfrm>
            <a:off x="9957816" y="2331720"/>
            <a:ext cx="2103120" cy="23500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94976" y="2523744"/>
            <a:ext cx="1682496" cy="393192"/>
          </a:xfrm>
          <a:prstGeom prst="rect">
            <a:avLst/>
          </a:prstGeom>
          <a:noFill/>
        </p:spPr>
        <p:txBody>
          <a:bodyPr wrap="square" lIns="0" tIns="0" rIns="0" bIns="0" anchor="ctr">
            <a:spAutoFit/>
          </a:bodyPr>
          <a:lstStyle/>
          <a:p>
            <a:pPr algn="l">
              <a:spcAft>
                <a:spcPts val="0"/>
              </a:spcAft>
            </a:pPr>
            <a:r>
              <a:rPr sz="2400" b="1" i="0">
                <a:solidFill>
                  <a:srgbClr val="8FFFDB"/>
                </a:solidFill>
                <a:latin typeface="Source Sans 3"/>
              </a:rPr>
              <a:t>05</a:t>
            </a:r>
          </a:p>
        </p:txBody>
      </p:sp>
      <p:sp>
        <p:nvSpPr>
          <p:cNvPr id="35" name="TextBox 34"/>
          <p:cNvSpPr txBox="1"/>
          <p:nvPr/>
        </p:nvSpPr>
        <p:spPr>
          <a:xfrm>
            <a:off x="10094976" y="3054096"/>
            <a:ext cx="1865376" cy="347472"/>
          </a:xfrm>
          <a:prstGeom prst="rect">
            <a:avLst/>
          </a:prstGeom>
          <a:noFill/>
        </p:spPr>
        <p:txBody>
          <a:bodyPr wrap="square" lIns="0" tIns="0" rIns="0" bIns="0" anchor="ctr">
            <a:spAutoFit/>
          </a:bodyPr>
          <a:lstStyle/>
          <a:p>
            <a:pPr algn="l">
              <a:spcAft>
                <a:spcPts val="0"/>
              </a:spcAft>
            </a:pPr>
            <a:r>
              <a:rPr sz="1400" b="1" i="0">
                <a:solidFill>
                  <a:srgbClr val="2CB0CD"/>
                </a:solidFill>
                <a:latin typeface="Source Sans 3"/>
              </a:rPr>
              <a:t>RELEASE</a:t>
            </a:r>
          </a:p>
        </p:txBody>
      </p:sp>
      <p:sp>
        <p:nvSpPr>
          <p:cNvPr id="36" name="TextBox 35"/>
          <p:cNvSpPr txBox="1"/>
          <p:nvPr/>
        </p:nvSpPr>
        <p:spPr>
          <a:xfrm>
            <a:off x="10104120" y="3593592"/>
            <a:ext cx="1819656" cy="813816"/>
          </a:xfrm>
          <a:prstGeom prst="rect">
            <a:avLst/>
          </a:prstGeom>
          <a:noFill/>
        </p:spPr>
        <p:txBody>
          <a:bodyPr wrap="square" lIns="0" tIns="0" rIns="0" bIns="0" anchor="t">
            <a:spAutoFit/>
          </a:bodyPr>
          <a:lstStyle/>
          <a:p>
            <a:pPr algn="l">
              <a:spcAft>
                <a:spcPts val="0"/>
              </a:spcAft>
            </a:pPr>
            <a:r>
              <a:rPr sz="1100" b="0" i="0">
                <a:solidFill>
                  <a:srgbClr val="F2F2F4"/>
                </a:solidFill>
                <a:latin typeface="Source Sans 3"/>
              </a:rPr>
              <a:t>Customer authorises production use</a:t>
            </a:r>
          </a:p>
        </p:txBody>
      </p:sp>
      <p:sp>
        <p:nvSpPr>
          <p:cNvPr id="37" name="Rounded Rectangle 36"/>
          <p:cNvSpPr/>
          <p:nvPr/>
        </p:nvSpPr>
        <p:spPr>
          <a:xfrm>
            <a:off x="786384" y="5084064"/>
            <a:ext cx="5212080" cy="804672"/>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202936"/>
            <a:ext cx="4892040" cy="484632"/>
          </a:xfrm>
          <a:prstGeom prst="rect">
            <a:avLst/>
          </a:prstGeom>
          <a:noFill/>
        </p:spPr>
        <p:txBody>
          <a:bodyPr wrap="square" lIns="0" tIns="0" rIns="0" bIns="0" anchor="ctr">
            <a:spAutoFit/>
          </a:bodyPr>
          <a:lstStyle/>
          <a:p>
            <a:pPr algn="l">
              <a:spcAft>
                <a:spcPts val="0"/>
              </a:spcAft>
            </a:pPr>
            <a:r>
              <a:rPr sz="1100" b="0" i="0">
                <a:solidFill>
                  <a:srgbClr val="F2F2F4"/>
                </a:solidFill>
                <a:latin typeface="Source Sans 3"/>
              </a:rPr>
              <a:t>DEFECT  ·  Failure to meet approved criteria, where attributable to Crossfuze.</a:t>
            </a:r>
          </a:p>
        </p:txBody>
      </p:sp>
      <p:sp>
        <p:nvSpPr>
          <p:cNvPr id="39" name="Rounded Rectangle 38"/>
          <p:cNvSpPr/>
          <p:nvPr/>
        </p:nvSpPr>
        <p:spPr>
          <a:xfrm>
            <a:off x="6153912" y="5084064"/>
            <a:ext cx="5212080" cy="804672"/>
          </a:xfrm>
          <a:prstGeom prst="roundRect">
            <a:avLst/>
          </a:prstGeom>
          <a:solidFill>
            <a:srgbClr val="040E3D"/>
          </a:solidFill>
          <a:ln w="10160">
            <a:solidFill>
              <a:srgbClr val="C0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81928" y="5193792"/>
            <a:ext cx="4828032" cy="493776"/>
          </a:xfrm>
          <a:prstGeom prst="rect">
            <a:avLst/>
          </a:prstGeom>
          <a:noFill/>
        </p:spPr>
        <p:txBody>
          <a:bodyPr wrap="square" lIns="0" tIns="0" rIns="0" bIns="0" anchor="ctr">
            <a:spAutoFit/>
          </a:bodyPr>
          <a:lstStyle/>
          <a:p>
            <a:pPr algn="l">
              <a:spcAft>
                <a:spcPts val="0"/>
              </a:spcAft>
            </a:pPr>
            <a:r>
              <a:rPr sz="1100" b="0" i="0">
                <a:solidFill>
                  <a:srgbClr val="F2F2F4"/>
                </a:solidFill>
                <a:latin typeface="Source Sans 3"/>
              </a:rPr>
              <a:t>ENHANCEMENT  ·  New or changed functionality requires separate agreement.</a:t>
            </a:r>
          </a:p>
        </p:txBody>
      </p:sp>
    </p:spTree>
    <p:extLst>
      <p:ext uri="{BB962C8B-B14F-4D97-AF65-F5344CB8AC3E}">
        <p14:creationId xmlns:p14="http://schemas.microsoft.com/office/powerpoint/2010/main" val="2622419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How activity shifts through the year.</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An indicative effort heatmap, not a commitment to a fixed number of releases.</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18</a:t>
            </a:r>
          </a:p>
        </p:txBody>
      </p:sp>
      <p:sp>
        <p:nvSpPr>
          <p:cNvPr id="13" name="TextBox 12"/>
          <p:cNvSpPr txBox="1"/>
          <p:nvPr/>
        </p:nvSpPr>
        <p:spPr>
          <a:xfrm>
            <a:off x="2569464"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M1</a:t>
            </a:r>
          </a:p>
        </p:txBody>
      </p:sp>
      <p:sp>
        <p:nvSpPr>
          <p:cNvPr id="14" name="TextBox 13"/>
          <p:cNvSpPr txBox="1"/>
          <p:nvPr/>
        </p:nvSpPr>
        <p:spPr>
          <a:xfrm>
            <a:off x="3273552"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M2</a:t>
            </a:r>
          </a:p>
        </p:txBody>
      </p:sp>
      <p:sp>
        <p:nvSpPr>
          <p:cNvPr id="15" name="TextBox 14"/>
          <p:cNvSpPr txBox="1"/>
          <p:nvPr/>
        </p:nvSpPr>
        <p:spPr>
          <a:xfrm>
            <a:off x="3977639"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M3</a:t>
            </a:r>
          </a:p>
        </p:txBody>
      </p:sp>
      <p:sp>
        <p:nvSpPr>
          <p:cNvPr id="16" name="TextBox 15"/>
          <p:cNvSpPr txBox="1"/>
          <p:nvPr/>
        </p:nvSpPr>
        <p:spPr>
          <a:xfrm>
            <a:off x="4681728"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M4</a:t>
            </a:r>
          </a:p>
        </p:txBody>
      </p:sp>
      <p:sp>
        <p:nvSpPr>
          <p:cNvPr id="17" name="TextBox 16"/>
          <p:cNvSpPr txBox="1"/>
          <p:nvPr/>
        </p:nvSpPr>
        <p:spPr>
          <a:xfrm>
            <a:off x="5385816"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M5</a:t>
            </a:r>
          </a:p>
        </p:txBody>
      </p:sp>
      <p:sp>
        <p:nvSpPr>
          <p:cNvPr id="18" name="TextBox 17"/>
          <p:cNvSpPr txBox="1"/>
          <p:nvPr/>
        </p:nvSpPr>
        <p:spPr>
          <a:xfrm>
            <a:off x="6089904"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M6</a:t>
            </a:r>
          </a:p>
        </p:txBody>
      </p:sp>
      <p:sp>
        <p:nvSpPr>
          <p:cNvPr id="19" name="TextBox 18"/>
          <p:cNvSpPr txBox="1"/>
          <p:nvPr/>
        </p:nvSpPr>
        <p:spPr>
          <a:xfrm>
            <a:off x="6793992"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M7</a:t>
            </a:r>
          </a:p>
        </p:txBody>
      </p:sp>
      <p:sp>
        <p:nvSpPr>
          <p:cNvPr id="20" name="TextBox 19"/>
          <p:cNvSpPr txBox="1"/>
          <p:nvPr/>
        </p:nvSpPr>
        <p:spPr>
          <a:xfrm>
            <a:off x="7498080"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M8</a:t>
            </a:r>
          </a:p>
        </p:txBody>
      </p:sp>
      <p:sp>
        <p:nvSpPr>
          <p:cNvPr id="21" name="TextBox 20"/>
          <p:cNvSpPr txBox="1"/>
          <p:nvPr/>
        </p:nvSpPr>
        <p:spPr>
          <a:xfrm>
            <a:off x="8202168"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M9</a:t>
            </a:r>
          </a:p>
        </p:txBody>
      </p:sp>
      <p:sp>
        <p:nvSpPr>
          <p:cNvPr id="22" name="TextBox 21"/>
          <p:cNvSpPr txBox="1"/>
          <p:nvPr/>
        </p:nvSpPr>
        <p:spPr>
          <a:xfrm>
            <a:off x="8906256"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M10</a:t>
            </a:r>
          </a:p>
        </p:txBody>
      </p:sp>
      <p:sp>
        <p:nvSpPr>
          <p:cNvPr id="23" name="TextBox 22"/>
          <p:cNvSpPr txBox="1"/>
          <p:nvPr/>
        </p:nvSpPr>
        <p:spPr>
          <a:xfrm>
            <a:off x="9610344"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M11</a:t>
            </a:r>
          </a:p>
        </p:txBody>
      </p:sp>
      <p:sp>
        <p:nvSpPr>
          <p:cNvPr id="24" name="TextBox 23"/>
          <p:cNvSpPr txBox="1"/>
          <p:nvPr/>
        </p:nvSpPr>
        <p:spPr>
          <a:xfrm>
            <a:off x="10314432" y="2157984"/>
            <a:ext cx="630936" cy="246888"/>
          </a:xfrm>
          <a:prstGeom prst="rect">
            <a:avLst/>
          </a:prstGeom>
          <a:noFill/>
        </p:spPr>
        <p:txBody>
          <a:bodyPr wrap="square" lIns="0" tIns="0" rIns="0" bIns="0" anchor="ctr">
            <a:spAutoFit/>
          </a:bodyPr>
          <a:lstStyle/>
          <a:p>
            <a:pPr algn="ctr">
              <a:spcAft>
                <a:spcPts val="0"/>
              </a:spcAft>
            </a:pPr>
            <a:r>
              <a:rPr sz="1000" b="1" i="0">
                <a:solidFill>
                  <a:srgbClr val="F2F2F4"/>
                </a:solidFill>
                <a:latin typeface="Source Sans 3"/>
              </a:rPr>
              <a:t>M12</a:t>
            </a:r>
          </a:p>
        </p:txBody>
      </p:sp>
      <p:sp>
        <p:nvSpPr>
          <p:cNvPr id="25" name="TextBox 24"/>
          <p:cNvSpPr txBox="1"/>
          <p:nvPr/>
        </p:nvSpPr>
        <p:spPr>
          <a:xfrm>
            <a:off x="640080" y="2807208"/>
            <a:ext cx="1764792" cy="320040"/>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STRATEGY</a:t>
            </a:r>
          </a:p>
        </p:txBody>
      </p:sp>
      <p:sp>
        <p:nvSpPr>
          <p:cNvPr id="26" name="Rounded Rectangle 25"/>
          <p:cNvSpPr/>
          <p:nvPr/>
        </p:nvSpPr>
        <p:spPr>
          <a:xfrm>
            <a:off x="2569464"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73552"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977639"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681728"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385816"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089904"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793992"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498080"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202168"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906256"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9610344"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314432" y="2752344"/>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3593592"/>
            <a:ext cx="1764792" cy="320040"/>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PRIORITIZATION</a:t>
            </a:r>
          </a:p>
        </p:txBody>
      </p:sp>
      <p:sp>
        <p:nvSpPr>
          <p:cNvPr id="39" name="Rounded Rectangle 38"/>
          <p:cNvSpPr/>
          <p:nvPr/>
        </p:nvSpPr>
        <p:spPr>
          <a:xfrm>
            <a:off x="2569464"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3273552"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977639"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681728"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385816"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089904"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93992"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7498080"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202168"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906256"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610344"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0314432" y="3538728"/>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080" y="4379976"/>
            <a:ext cx="1764792" cy="320040"/>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EXECUTION</a:t>
            </a:r>
          </a:p>
        </p:txBody>
      </p:sp>
      <p:sp>
        <p:nvSpPr>
          <p:cNvPr id="52" name="Rounded Rectangle 51"/>
          <p:cNvSpPr/>
          <p:nvPr/>
        </p:nvSpPr>
        <p:spPr>
          <a:xfrm>
            <a:off x="2569464"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273552"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3977639"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4681728"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5385816"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6089904"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6793992"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7498080"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8202168"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8906256"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9610344"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0314432" y="4325112"/>
            <a:ext cx="621792" cy="47548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2569464" y="2752344"/>
            <a:ext cx="621792" cy="47548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3273552" y="2752344"/>
            <a:ext cx="621792" cy="47548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6793992" y="2752344"/>
            <a:ext cx="621792" cy="47548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7498080" y="2752344"/>
            <a:ext cx="621792" cy="47548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3977639"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4681728"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6089904"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6793992"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8202168"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8906256"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10314432" y="3538728"/>
            <a:ext cx="621792" cy="47548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4681728"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5385816"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6089904"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6793992"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7498080"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8202168"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8906256"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9610344"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10314432" y="4325112"/>
            <a:ext cx="621792" cy="47548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3977639" y="4325112"/>
            <a:ext cx="621792" cy="475488"/>
          </a:xfrm>
          <a:prstGeom prst="roundRect">
            <a:avLst/>
          </a:prstGeom>
          <a:solidFill>
            <a:srgbClr val="040E3D"/>
          </a:solidFill>
          <a:ln w="19050">
            <a:solidFill>
              <a:srgbClr val="C0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914400" y="5239512"/>
            <a:ext cx="10442448" cy="63093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97280" y="5385816"/>
            <a:ext cx="10094976" cy="283464"/>
          </a:xfrm>
          <a:prstGeom prst="rect">
            <a:avLst/>
          </a:prstGeom>
          <a:noFill/>
        </p:spPr>
        <p:txBody>
          <a:bodyPr wrap="square" lIns="0" tIns="0" rIns="0" bIns="0" anchor="ctr">
            <a:spAutoFit/>
          </a:bodyPr>
          <a:lstStyle/>
          <a:p>
            <a:pPr algn="ctr">
              <a:spcAft>
                <a:spcPts val="0"/>
              </a:spcAft>
            </a:pPr>
            <a:r>
              <a:rPr sz="1100" b="0" i="0">
                <a:solidFill>
                  <a:srgbClr val="F2F2F4"/>
                </a:solidFill>
                <a:latin typeface="Source Sans 3"/>
              </a:rPr>
              <a:t>M3 = Extend onboarding   ·   M4–M12 = 80 hours/month   ·   All bands indicate activity, not guaranteed output.</a:t>
            </a:r>
          </a:p>
        </p:txBody>
      </p:sp>
    </p:spTree>
    <p:extLst>
      <p:ext uri="{BB962C8B-B14F-4D97-AF65-F5344CB8AC3E}">
        <p14:creationId xmlns:p14="http://schemas.microsoft.com/office/powerpoint/2010/main" val="437777391"/>
      </p:ext>
    </p:extLst>
  </p:cSld>
  <p:clrMapOvr>
    <a:masterClrMapping/>
  </p:clrMapOvr>
</p:sld>
</file>

<file path=ppt/theme/theme1.xml><?xml version="1.0" encoding="utf-8"?>
<a:theme xmlns:a="http://schemas.openxmlformats.org/drawingml/2006/main" name="Crossfuze 2026">
  <a:themeElements>
    <a:clrScheme name="2026 Official Crossfuze Brand Colors">
      <a:dk1>
        <a:srgbClr val="000000"/>
      </a:dk1>
      <a:lt1>
        <a:srgbClr val="FFFFFF"/>
      </a:lt1>
      <a:dk2>
        <a:srgbClr val="040E3D"/>
      </a:dk2>
      <a:lt2>
        <a:srgbClr val="FFFFFF"/>
      </a:lt2>
      <a:accent1>
        <a:srgbClr val="8FFFDB"/>
      </a:accent1>
      <a:accent2>
        <a:srgbClr val="F2F2F4"/>
      </a:accent2>
      <a:accent3>
        <a:srgbClr val="2CB0CD"/>
      </a:accent3>
      <a:accent4>
        <a:srgbClr val="71F1F7"/>
      </a:accent4>
      <a:accent5>
        <a:srgbClr val="6400EC"/>
      </a:accent5>
      <a:accent6>
        <a:srgbClr val="C0A6FF"/>
      </a:accent6>
      <a:hlink>
        <a:srgbClr val="71F1F7"/>
      </a:hlink>
      <a:folHlink>
        <a:srgbClr val="C0A6FF"/>
      </a:folHlink>
    </a:clrScheme>
    <a:fontScheme name="Crossfuze Source Sans 3">
      <a:majorFont>
        <a:latin typeface="Source Sans 3"/>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l">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b="0" i="0" dirty="0" err="1" smtClean="0">
            <a:solidFill>
              <a:schemeClr val="bg1"/>
            </a:solidFill>
            <a:latin typeface="Source Sans 3" panose="020B0404040101010104" pitchFamily="34" charset="77"/>
            <a:cs typeface="Source Sans 3" panose="020B0404040101010104" pitchFamily="34" charset="77"/>
          </a:defRPr>
        </a:defPPr>
      </a:lstStyle>
    </a:txDef>
  </a:objectDefaults>
  <a:extraClrSchemeLst/>
  <a:custClrLst>
    <a:custClr name="Midnight Blue">
      <a:srgbClr val="040E3D"/>
    </a:custClr>
    <a:custClr name="Bright Green">
      <a:srgbClr val="8FFFDB"/>
    </a:custClr>
    <a:custClr name="Bright Blue">
      <a:srgbClr val="71F1F7"/>
    </a:custClr>
    <a:custClr name="Utility Blue">
      <a:srgbClr val="2CB0CD"/>
    </a:custClr>
    <a:custClr name="Purple">
      <a:srgbClr val="6400EC"/>
    </a:custClr>
    <a:custClr name="Lavender">
      <a:srgbClr val="C0A6FF"/>
    </a:custClr>
    <a:custClr name="Callout Red">
      <a:srgbClr val="F65275"/>
    </a:custClr>
    <a:custClr name="Crisp Grey">
      <a:srgbClr val="F2F2F4"/>
    </a:custClr>
  </a:custClrLst>
</a:theme>
</file>

<file path=ppt/theme/theme2.xml><?xml version="1.0" encoding="utf-8"?>
<a:theme xmlns:a="http://schemas.openxmlformats.org/drawingml/2006/main" name="Crossfuze 2026">
  <a:themeElements>
    <a:clrScheme name="2026 Official Crossfuze Brand Colors">
      <a:dk1>
        <a:srgbClr val="000000"/>
      </a:dk1>
      <a:lt1>
        <a:srgbClr val="FFFFFF"/>
      </a:lt1>
      <a:dk2>
        <a:srgbClr val="040E3D"/>
      </a:dk2>
      <a:lt2>
        <a:srgbClr val="FFFFFF"/>
      </a:lt2>
      <a:accent1>
        <a:srgbClr val="8FFFDB"/>
      </a:accent1>
      <a:accent2>
        <a:srgbClr val="F2F2F4"/>
      </a:accent2>
      <a:accent3>
        <a:srgbClr val="2CB0CD"/>
      </a:accent3>
      <a:accent4>
        <a:srgbClr val="71F1F7"/>
      </a:accent4>
      <a:accent5>
        <a:srgbClr val="6400EC"/>
      </a:accent5>
      <a:accent6>
        <a:srgbClr val="C0A6FF"/>
      </a:accent6>
      <a:hlink>
        <a:srgbClr val="71F1F7"/>
      </a:hlink>
      <a:folHlink>
        <a:srgbClr val="C0A6FF"/>
      </a:folHlink>
    </a:clrScheme>
    <a:fontScheme name="Crossfuze Source Sans 3">
      <a:majorFont>
        <a:latin typeface="Source Sans 3"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rossfuze 2026">
  <a:themeElements>
    <a:clrScheme name="Custom 3">
      <a:dk1>
        <a:srgbClr val="293E40"/>
      </a:dk1>
      <a:lt1>
        <a:srgbClr val="FFFFFF"/>
      </a:lt1>
      <a:dk2>
        <a:srgbClr val="D1232B"/>
      </a:dk2>
      <a:lt2>
        <a:srgbClr val="F7F7F7"/>
      </a:lt2>
      <a:accent1>
        <a:srgbClr val="81B5A1"/>
      </a:accent1>
      <a:accent2>
        <a:srgbClr val="68A1AF"/>
      </a:accent2>
      <a:accent3>
        <a:srgbClr val="8686BC"/>
      </a:accent3>
      <a:accent4>
        <a:srgbClr val="E5D87C"/>
      </a:accent4>
      <a:accent5>
        <a:srgbClr val="E8A679"/>
      </a:accent5>
      <a:accent6>
        <a:srgbClr val="DB8F8F"/>
      </a:accent6>
      <a:hlink>
        <a:srgbClr val="68A1AF"/>
      </a:hlink>
      <a:folHlink>
        <a:srgbClr val="81B5A1"/>
      </a:folHlink>
    </a:clrScheme>
    <a:fontScheme name="Crossfuze Source Sans 3">
      <a:majorFont>
        <a:latin typeface="Source Sans 3"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6871</Words>
  <Application>Microsoft Macintosh PowerPoint</Application>
  <PresentationFormat>Custom</PresentationFormat>
  <Paragraphs>722</Paragraphs>
  <Slides>30</Slides>
  <Notes>29</Notes>
  <HiddenSlides>14</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Source Sans 3</vt:lpstr>
      <vt:lpstr>Source Sans Pro</vt:lpstr>
      <vt:lpstr>Crossfuze 2026</vt:lpstr>
      <vt:lpstr>PowerPoint Presentation</vt:lpstr>
      <vt:lpstr>PowerPoint Presentation</vt:lpstr>
      <vt:lpstr>PowerPoint Presentation</vt:lpstr>
      <vt:lpstr>PowerPoint Presentation</vt:lpstr>
      <vt:lpstr>PowerPoint Presentation</vt:lpstr>
      <vt:lpstr>PowerPoint Presentation</vt:lpstr>
      <vt:lpstr>Value and consumption. Model them together.</vt:lpstr>
      <vt:lpstr>How will we prove the first outcome?</vt:lpstr>
      <vt:lpstr>Crossfuze AI RunState. Plan it. Prioritise it. Ship it.</vt:lpstr>
      <vt:lpstr>PowerPoint Presentation</vt:lpstr>
      <vt:lpstr>PowerPoint Presentation</vt:lpstr>
      <vt:lpstr>Continuous delivery. Shared accountability. </vt:lpstr>
      <vt:lpstr>PowerPoint Presentation</vt:lpstr>
      <vt:lpstr>PowerPoint Presentation</vt:lpstr>
      <vt:lpstr>What does your evidence say?</vt:lpstr>
      <vt:lpstr>PowerPoint Presentation</vt:lpstr>
      <vt:lpstr>PowerPoint Presentation</vt:lpstr>
      <vt:lpstr>PowerPoint Presentation</vt:lpstr>
      <vt:lpstr>PowerPoint Presentation</vt:lpstr>
      <vt:lpstr>Get your data AI-ready</vt:lpstr>
      <vt:lpstr>PowerPoint Presentation</vt:lpstr>
      <vt:lpstr>Knowledge Graph</vt:lpstr>
      <vt:lpstr>PowerPoint Presentation</vt:lpstr>
      <vt:lpstr>Value and consumption. Model them together.</vt:lpstr>
      <vt:lpstr>Value and consumption. Model them together.</vt:lpstr>
      <vt:lpstr>PowerPoint Presentation</vt:lpstr>
      <vt:lpstr>PowerPoint Presentation</vt:lpstr>
      <vt:lpstr>PowerPoint Presentation</vt:lpstr>
      <vt:lpstr>PowerPoint Presentation</vt:lpstr>
      <vt:lpstr>PowerPoint Presentation</vt:lpstr>
    </vt:vector>
  </TitlesOfParts>
  <Company>Crossfuze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Crossfuze | From readiness to results | AI RunState working session</dc:title>
  <dc:subject>The Road to Zero. Part of Preparing for the Autonomous Enterprise.</dc:subject>
  <dc:creator>Crossfuze</dc:creator>
  <cp:keywords>Crossfuze; AI Readiness; AI RunState; The Road to Zero</cp:keywords>
  <dc:description/>
  <cp:lastModifiedBy>Lee Farnsworth</cp:lastModifiedBy>
  <cp:revision>7</cp:revision>
  <dcterms:created xsi:type="dcterms:W3CDTF">2026-10-14T11:00:00Z</dcterms:created>
  <dcterms:modified xsi:type="dcterms:W3CDTF">2026-10-14T18:07:44Z</dcterms:modified>
</cp:coreProperties>
</file>